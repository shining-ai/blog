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21290400" cy="11973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290400" cy="1197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290400" cy="126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0000" y="216000"/>
            <a:ext cx="20520000" cy="864000"/>
          </a:xfrm>
          <a:prstGeom prst="rect">
            <a:avLst/>
          </a:prstGeom>
          <a:noFill/>
        </p:spPr>
        <p:txBody>
          <a:bodyPr wrap="square">
            <a:spAutoFit/>
          </a:bodyPr>
          <a:lstStyle/>
          <a:p>
            <a:pPr algn="ctr"/>
            <a:r>
              <a:rPr sz="3000" b="1">
                <a:solidFill>
                  <a:srgbClr val="FFFFFF"/>
                </a:solidFill>
              </a:rPr>
              <a:t>データフロー解析</a:t>
            </a:r>
          </a:p>
        </p:txBody>
      </p:sp>
      <p:sp>
        <p:nvSpPr>
          <p:cNvPr id="5" name="Rectangle 4"/>
          <p:cNvSpPr/>
          <p:nvPr/>
        </p:nvSpPr>
        <p:spPr>
          <a:xfrm>
            <a:off x="360000" y="1440000"/>
            <a:ext cx="20520000" cy="1260000"/>
          </a:xfrm>
          <a:prstGeom prst="rect">
            <a:avLst/>
          </a:prstGeom>
          <a:solidFill>
            <a:srgbClr val="BDE4FC"/>
          </a:solidFill>
          <a:ln w="19050">
            <a:solidFill>
              <a:srgbClr val="013C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0000" y="1548000"/>
            <a:ext cx="20160000" cy="1080000"/>
          </a:xfrm>
          <a:prstGeom prst="rect">
            <a:avLst/>
          </a:prstGeom>
          <a:noFill/>
        </p:spPr>
        <p:txBody>
          <a:bodyPr wrap="square">
            <a:spAutoFit/>
          </a:bodyPr>
          <a:lstStyle/>
          <a:p>
            <a:pPr algn="l"/>
            <a:r>
              <a:rPr sz="1800" b="0">
                <a:solidFill>
                  <a:srgbClr val="202020"/>
                </a:solidFill>
              </a:rPr>
              <a:t>プログラム内の変数の定義と使用の関係を解析する技法。最適化の多くがデータフロー解析を基盤とする。</a:t>
            </a:r>
          </a:p>
        </p:txBody>
      </p:sp>
      <p:sp>
        <p:nvSpPr>
          <p:cNvPr id="7" name="Rectangle 6"/>
          <p:cNvSpPr/>
          <p:nvPr/>
        </p:nvSpPr>
        <p:spPr>
          <a:xfrm>
            <a:off x="360000" y="2880000"/>
            <a:ext cx="6360000" cy="720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000" y="2988000"/>
            <a:ext cx="6360000" cy="540000"/>
          </a:xfrm>
          <a:prstGeom prst="rect">
            <a:avLst/>
          </a:prstGeom>
          <a:noFill/>
        </p:spPr>
        <p:txBody>
          <a:bodyPr wrap="square">
            <a:spAutoFit/>
          </a:bodyPr>
          <a:lstStyle/>
          <a:p>
            <a:pPr algn="ctr"/>
            <a:r>
              <a:rPr sz="2000" b="1">
                <a:solidFill>
                  <a:srgbClr val="FFFFFF"/>
                </a:solidFill>
              </a:rPr>
              <a:t>到達定義</a:t>
            </a:r>
          </a:p>
        </p:txBody>
      </p:sp>
      <p:sp>
        <p:nvSpPr>
          <p:cNvPr id="9" name="TextBox 8"/>
          <p:cNvSpPr txBox="1"/>
          <p:nvPr/>
        </p:nvSpPr>
        <p:spPr>
          <a:xfrm>
            <a:off x="360000" y="3528000"/>
            <a:ext cx="6360000" cy="6480000"/>
          </a:xfrm>
          <a:prstGeom prst="rect">
            <a:avLst/>
          </a:prstGeom>
          <a:noFill/>
        </p:spPr>
        <p:txBody>
          <a:bodyPr wrap="square">
            <a:spAutoFit/>
          </a:bodyPr>
          <a:lstStyle/>
          <a:p>
            <a:pPr algn="ctr"/>
            <a:r>
              <a:rPr sz="1600" b="0">
                <a:solidFill>
                  <a:srgbClr val="FFFFFF"/>
                </a:solidFill>
              </a:rPr>
              <a:t>各プログラム点でどの変数定義が到達しているかを前向き解析で計算</a:t>
            </a:r>
          </a:p>
        </p:txBody>
      </p:sp>
      <p:sp>
        <p:nvSpPr>
          <p:cNvPr id="10" name="Rectangle 9"/>
          <p:cNvSpPr/>
          <p:nvPr/>
        </p:nvSpPr>
        <p:spPr>
          <a:xfrm>
            <a:off x="7080000" y="2880000"/>
            <a:ext cx="6360000" cy="7200000"/>
          </a:xfrm>
          <a:prstGeom prst="rect">
            <a:avLst/>
          </a:prstGeom>
          <a:solidFill>
            <a:srgbClr val="015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0000" y="2988000"/>
            <a:ext cx="6360000" cy="540000"/>
          </a:xfrm>
          <a:prstGeom prst="rect">
            <a:avLst/>
          </a:prstGeom>
          <a:noFill/>
        </p:spPr>
        <p:txBody>
          <a:bodyPr wrap="square">
            <a:spAutoFit/>
          </a:bodyPr>
          <a:lstStyle/>
          <a:p>
            <a:pPr algn="ctr"/>
            <a:r>
              <a:rPr sz="2000" b="1">
                <a:solidFill>
                  <a:srgbClr val="FFFFFF"/>
                </a:solidFill>
              </a:rPr>
              <a:t>生存解析</a:t>
            </a:r>
          </a:p>
        </p:txBody>
      </p:sp>
      <p:sp>
        <p:nvSpPr>
          <p:cNvPr id="12" name="TextBox 11"/>
          <p:cNvSpPr txBox="1"/>
          <p:nvPr/>
        </p:nvSpPr>
        <p:spPr>
          <a:xfrm>
            <a:off x="7080000" y="3528000"/>
            <a:ext cx="6360000" cy="6480000"/>
          </a:xfrm>
          <a:prstGeom prst="rect">
            <a:avLst/>
          </a:prstGeom>
          <a:noFill/>
        </p:spPr>
        <p:txBody>
          <a:bodyPr wrap="square">
            <a:spAutoFit/>
          </a:bodyPr>
          <a:lstStyle/>
          <a:p>
            <a:pPr algn="ctr"/>
            <a:r>
              <a:rPr sz="1600" b="0">
                <a:solidFill>
                  <a:srgbClr val="FFFFFF"/>
                </a:solidFill>
              </a:rPr>
              <a:t>各プログラム点でどの変数が後で使われるか(生存)を後向き解析で計算。レジスタ割り付けに使用</a:t>
            </a:r>
          </a:p>
        </p:txBody>
      </p:sp>
      <p:sp>
        <p:nvSpPr>
          <p:cNvPr id="13" name="Rectangle 12"/>
          <p:cNvSpPr/>
          <p:nvPr/>
        </p:nvSpPr>
        <p:spPr>
          <a:xfrm>
            <a:off x="13800000" y="2880000"/>
            <a:ext cx="6360000" cy="7200000"/>
          </a:xfrm>
          <a:prstGeom prst="rect">
            <a:avLst/>
          </a:prstGeom>
          <a:solidFill>
            <a:srgbClr val="EBA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800000" y="2988000"/>
            <a:ext cx="6360000" cy="540000"/>
          </a:xfrm>
          <a:prstGeom prst="rect">
            <a:avLst/>
          </a:prstGeom>
          <a:noFill/>
        </p:spPr>
        <p:txBody>
          <a:bodyPr wrap="square">
            <a:spAutoFit/>
          </a:bodyPr>
          <a:lstStyle/>
          <a:p>
            <a:pPr algn="ctr"/>
            <a:r>
              <a:rPr sz="2000" b="1">
                <a:solidFill>
                  <a:srgbClr val="FFFFFF"/>
                </a:solidFill>
              </a:rPr>
              <a:t>不動点反復</a:t>
            </a:r>
          </a:p>
        </p:txBody>
      </p:sp>
      <p:sp>
        <p:nvSpPr>
          <p:cNvPr id="15" name="TextBox 14"/>
          <p:cNvSpPr txBox="1"/>
          <p:nvPr/>
        </p:nvSpPr>
        <p:spPr>
          <a:xfrm>
            <a:off x="13800000" y="3528000"/>
            <a:ext cx="6360000" cy="6480000"/>
          </a:xfrm>
          <a:prstGeom prst="rect">
            <a:avLst/>
          </a:prstGeom>
          <a:noFill/>
        </p:spPr>
        <p:txBody>
          <a:bodyPr wrap="square">
            <a:spAutoFit/>
          </a:bodyPr>
          <a:lstStyle/>
          <a:p>
            <a:pPr algn="ctr"/>
            <a:r>
              <a:rPr sz="1600" b="0">
                <a:solidFill>
                  <a:srgbClr val="FFFFFF"/>
                </a:solidFill>
              </a:rPr>
              <a:t>ビットベクタ方程式を反復計算して固定点を求める。前向き/後向きの単調フレームワーク</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13CA6"/>
      </a:dk2>
      <a:lt2>
        <a:srgbClr val="F3FAFE"/>
      </a:lt2>
      <a:accent1>
        <a:srgbClr val="013CA6"/>
      </a:accent1>
      <a:accent2>
        <a:srgbClr val="BDE4FC"/>
      </a:accent2>
      <a:accent3>
        <a:srgbClr val="F3FAFE"/>
      </a:accent3>
      <a:accent4>
        <a:srgbClr val="EBA81A"/>
      </a:accent4>
      <a:accent5>
        <a:srgbClr val="00B050"/>
      </a:accent5>
      <a:accent6>
        <a:srgbClr val="FF0000"/>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