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2進数と基数変換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34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① ビットの重み（8ビット）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128</a:t>
            </a:r>
          </a:p>
        </p:txBody>
      </p:sp>
      <p:sp>
        <p:nvSpPr>
          <p:cNvPr id="5" name="Rectangle 4"/>
          <p:cNvSpPr/>
          <p:nvPr/>
        </p:nvSpPr>
        <p:spPr>
          <a:xfrm>
            <a:off x="954000" y="4248000"/>
            <a:ext cx="1692000" cy="115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64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54000" y="4248000"/>
            <a:ext cx="1692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4000" y="4248000"/>
            <a:ext cx="1692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3999" y="4248000"/>
            <a:ext cx="1692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3999" y="4248000"/>
            <a:ext cx="1692000" cy="115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4000" y="4248000"/>
            <a:ext cx="1692000" cy="115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54000" y="4248000"/>
            <a:ext cx="1692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00000" y="2988000"/>
            <a:ext cx="1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554000" y="4248000"/>
            <a:ext cx="1692000" cy="115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5580000"/>
            <a:ext cx="1512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</a:rPr>
              <a:t>= 128+8+4+1 = 141₁₀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64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② 10進数 → 2進数（割り算）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" y="72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1A1A1A"/>
                </a:solidFill>
              </a:rPr>
              <a:t>13 ÷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1999" y="7200000"/>
            <a:ext cx="144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</a:rPr>
              <a:t>=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48000" y="7200000"/>
            <a:ext cx="1728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余り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0000" y="72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1A1A1A"/>
                </a:solidFill>
              </a:rPr>
              <a:t> 6 ÷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2000" y="7200000"/>
            <a:ext cx="144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</a:rPr>
              <a:t>=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8000" y="7200000"/>
            <a:ext cx="1728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余り 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60000" y="72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1A1A1A"/>
                </a:solidFill>
              </a:rPr>
              <a:t> 3 ÷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32000" y="7200000"/>
            <a:ext cx="144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</a:rPr>
              <a:t>=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7999" y="7200000"/>
            <a:ext cx="1728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余り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940000" y="7200000"/>
            <a:ext cx="27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1A1A1A"/>
                </a:solidFill>
              </a:rPr>
              <a:t> 1 ÷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712000" y="7200000"/>
            <a:ext cx="144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</a:rPr>
              <a:t>=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188000" y="7200000"/>
            <a:ext cx="1728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余り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8388000"/>
            <a:ext cx="1980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B050"/>
                </a:solidFill>
              </a:rPr>
              <a:t>↑ 余りを逆順に並べると 1101₂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9180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③ 2進数 → 16進数（4ビット単位）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0000" y="9828000"/>
            <a:ext cx="1224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8000" y="9828000"/>
            <a:ext cx="1224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16000" y="9828000"/>
            <a:ext cx="1224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3999" y="9828000"/>
            <a:ext cx="1224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0000" y="9828000"/>
            <a:ext cx="90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60000" y="9828000"/>
            <a:ext cx="162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00000" y="9828000"/>
            <a:ext cx="1224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68000" y="9828000"/>
            <a:ext cx="1224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36000" y="9828000"/>
            <a:ext cx="1224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C8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04000" y="9828000"/>
            <a:ext cx="1224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80000" y="9828000"/>
            <a:ext cx="900000" cy="1007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680000" y="9828000"/>
            <a:ext cx="162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000" y="10980000"/>
            <a:ext cx="190800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</a:rPr>
              <a:t>1101₂ = 0xD₁₆       0001₂ = 0x1₁₆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