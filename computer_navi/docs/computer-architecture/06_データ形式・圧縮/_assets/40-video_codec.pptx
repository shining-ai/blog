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21290400" cy="11973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1290400" cy="11973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20000" y="360000"/>
            <a:ext cx="19800000" cy="1260000"/>
          </a:xfrm>
          <a:prstGeom prst="rect">
            <a:avLst/>
          </a:prstGeom>
          <a:solidFill>
            <a:srgbClr val="013CA6"/>
          </a:solidFill>
          <a:ln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800" b="1">
                <a:solidFill>
                  <a:srgbClr val="FFFFFF"/>
                </a:solidFill>
              </a:rPr>
              <a:t>動画コーデックの概要</a:t>
            </a:r>
          </a:p>
        </p:txBody>
      </p:sp>
      <p:sp>
        <p:nvSpPr>
          <p:cNvPr id="4" name="Rectangle 3"/>
          <p:cNvSpPr/>
          <p:nvPr/>
        </p:nvSpPr>
        <p:spPr>
          <a:xfrm>
            <a:off x="720000" y="1980000"/>
            <a:ext cx="19800000" cy="720000"/>
          </a:xfrm>
          <a:prstGeom prst="rect">
            <a:avLst/>
          </a:prstGeom>
          <a:solidFill>
            <a:srgbClr val="013CA6"/>
          </a:solidFill>
          <a:ln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>
                <a:solidFill>
                  <a:srgbClr val="FFFFFF"/>
                </a:solidFill>
              </a:rPr>
              <a:t>フレーム種別</a:t>
            </a:r>
          </a:p>
        </p:txBody>
      </p:sp>
      <p:sp>
        <p:nvSpPr>
          <p:cNvPr id="5" name="Rectangle 4"/>
          <p:cNvSpPr/>
          <p:nvPr/>
        </p:nvSpPr>
        <p:spPr>
          <a:xfrm>
            <a:off x="720000" y="3060000"/>
            <a:ext cx="6120000" cy="1260000"/>
          </a:xfrm>
          <a:prstGeom prst="rect">
            <a:avLst/>
          </a:prstGeom>
          <a:solidFill>
            <a:srgbClr val="013CA6"/>
          </a:solidFill>
          <a:ln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</a:rPr>
              <a:t>I フレーム
(Intra)</a:t>
            </a:r>
          </a:p>
        </p:txBody>
      </p:sp>
      <p:sp>
        <p:nvSpPr>
          <p:cNvPr id="6" name="Rectangle 5"/>
          <p:cNvSpPr/>
          <p:nvPr/>
        </p:nvSpPr>
        <p:spPr>
          <a:xfrm>
            <a:off x="720000" y="4500000"/>
            <a:ext cx="6120000" cy="1440000"/>
          </a:xfrm>
          <a:prstGeom prst="rect">
            <a:avLst/>
          </a:prstGeom>
          <a:solidFill>
            <a:srgbClr val="F3FAFE"/>
          </a:solidFill>
          <a:ln>
            <a:solidFill>
              <a:srgbClr val="F3F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500" b="0">
                <a:solidFill>
                  <a:srgbClr val="013CA6"/>
                </a:solidFill>
              </a:rPr>
              <a:t>完全な静止画
圧縮率: 低
ランダムアクセス可</a:t>
            </a:r>
          </a:p>
        </p:txBody>
      </p:sp>
      <p:sp>
        <p:nvSpPr>
          <p:cNvPr id="7" name="Rectangle 6"/>
          <p:cNvSpPr/>
          <p:nvPr/>
        </p:nvSpPr>
        <p:spPr>
          <a:xfrm>
            <a:off x="7560000" y="3060000"/>
            <a:ext cx="6120000" cy="1260000"/>
          </a:xfrm>
          <a:prstGeom prst="rect">
            <a:avLst/>
          </a:prstGeom>
          <a:solidFill>
            <a:srgbClr val="EBA81A"/>
          </a:solidFill>
          <a:ln>
            <a:solidFill>
              <a:srgbClr val="EBA8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</a:rPr>
              <a:t>P フレーム
(Predictive)</a:t>
            </a:r>
          </a:p>
        </p:txBody>
      </p:sp>
      <p:sp>
        <p:nvSpPr>
          <p:cNvPr id="8" name="Rectangle 7"/>
          <p:cNvSpPr/>
          <p:nvPr/>
        </p:nvSpPr>
        <p:spPr>
          <a:xfrm>
            <a:off x="7560000" y="4500000"/>
            <a:ext cx="6120000" cy="1440000"/>
          </a:xfrm>
          <a:prstGeom prst="rect">
            <a:avLst/>
          </a:prstGeom>
          <a:solidFill>
            <a:srgbClr val="F3FAFE"/>
          </a:solidFill>
          <a:ln>
            <a:solidFill>
              <a:srgbClr val="F3F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500" b="0">
                <a:solidFill>
                  <a:srgbClr val="013CA6"/>
                </a:solidFill>
              </a:rPr>
              <a:t>前フレームからの差分
圧縮率: 中
前方参照のみ</a:t>
            </a:r>
          </a:p>
        </p:txBody>
      </p:sp>
      <p:sp>
        <p:nvSpPr>
          <p:cNvPr id="9" name="Rectangle 8"/>
          <p:cNvSpPr/>
          <p:nvPr/>
        </p:nvSpPr>
        <p:spPr>
          <a:xfrm>
            <a:off x="14400000" y="3060000"/>
            <a:ext cx="6120000" cy="1260000"/>
          </a:xfrm>
          <a:prstGeom prst="rect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</a:rPr>
              <a:t>B フレーム
(Bidirectional)</a:t>
            </a:r>
          </a:p>
        </p:txBody>
      </p:sp>
      <p:sp>
        <p:nvSpPr>
          <p:cNvPr id="10" name="Rectangle 9"/>
          <p:cNvSpPr/>
          <p:nvPr/>
        </p:nvSpPr>
        <p:spPr>
          <a:xfrm>
            <a:off x="14400000" y="4500000"/>
            <a:ext cx="6120000" cy="1440000"/>
          </a:xfrm>
          <a:prstGeom prst="rect">
            <a:avLst/>
          </a:prstGeom>
          <a:solidFill>
            <a:srgbClr val="F3FAFE"/>
          </a:solidFill>
          <a:ln>
            <a:solidFill>
              <a:srgbClr val="F3F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500" b="0">
                <a:solidFill>
                  <a:srgbClr val="013CA6"/>
                </a:solidFill>
              </a:rPr>
              <a:t>前後フレームからの差分
圧縮率: 高
前後方参照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20000" y="6480000"/>
            <a:ext cx="19800000" cy="720000"/>
          </a:xfrm>
          <a:prstGeom prst="rect">
            <a:avLst/>
          </a:prstGeom>
          <a:solidFill>
            <a:srgbClr val="013CA6"/>
          </a:solidFill>
          <a:ln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>
                <a:solidFill>
                  <a:srgbClr val="FFFFFF"/>
                </a:solidFill>
              </a:rPr>
              <a:t>コーデック比較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20000" y="7380000"/>
            <a:ext cx="3960000" cy="720000"/>
          </a:xfrm>
          <a:prstGeom prst="rect">
            <a:avLst/>
          </a:prstGeom>
          <a:solidFill>
            <a:srgbClr val="013CA6"/>
          </a:solidFill>
          <a:ln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コーデック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860000" y="7380000"/>
            <a:ext cx="2880000" cy="720000"/>
          </a:xfrm>
          <a:prstGeom prst="rect">
            <a:avLst/>
          </a:prstGeom>
          <a:solidFill>
            <a:srgbClr val="013CA6"/>
          </a:solidFill>
          <a:ln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標準化年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920000" y="7380000"/>
            <a:ext cx="2700000" cy="720000"/>
          </a:xfrm>
          <a:prstGeom prst="rect">
            <a:avLst/>
          </a:prstGeom>
          <a:solidFill>
            <a:srgbClr val="013CA6"/>
          </a:solidFill>
          <a:ln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相対圧縮率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800000" y="7380000"/>
            <a:ext cx="3420000" cy="720000"/>
          </a:xfrm>
          <a:prstGeom prst="rect">
            <a:avLst/>
          </a:prstGeom>
          <a:solidFill>
            <a:srgbClr val="013CA6"/>
          </a:solidFill>
          <a:ln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ライセンス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4400000" y="7380000"/>
            <a:ext cx="6120000" cy="720000"/>
          </a:xfrm>
          <a:prstGeom prst="rect">
            <a:avLst/>
          </a:prstGeom>
          <a:solidFill>
            <a:srgbClr val="013CA6"/>
          </a:solidFill>
          <a:ln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主な用途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20000" y="8280000"/>
            <a:ext cx="3960000" cy="720000"/>
          </a:xfrm>
          <a:prstGeom prst="rect">
            <a:avLst/>
          </a:prstGeom>
          <a:solidFill>
            <a:srgbClr val="F3FAFE"/>
          </a:solidFill>
          <a:ln>
            <a:solidFill>
              <a:srgbClr val="F3F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400" b="0">
                <a:solidFill>
                  <a:srgbClr val="013CA6"/>
                </a:solidFill>
              </a:rPr>
              <a:t>H.264/AVC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860000" y="8280000"/>
            <a:ext cx="2880000" cy="720000"/>
          </a:xfrm>
          <a:prstGeom prst="rect">
            <a:avLst/>
          </a:prstGeom>
          <a:solidFill>
            <a:srgbClr val="F3FAFE"/>
          </a:solidFill>
          <a:ln>
            <a:solidFill>
              <a:srgbClr val="F3F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400" b="0">
                <a:solidFill>
                  <a:srgbClr val="013CA6"/>
                </a:solidFill>
              </a:rPr>
              <a:t>2003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920000" y="8280000"/>
            <a:ext cx="2700000" cy="720000"/>
          </a:xfrm>
          <a:prstGeom prst="rect">
            <a:avLst/>
          </a:prstGeom>
          <a:solidFill>
            <a:srgbClr val="F3FAFE"/>
          </a:solidFill>
          <a:ln>
            <a:solidFill>
              <a:srgbClr val="F3F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400" b="0">
                <a:solidFill>
                  <a:srgbClr val="013CA6"/>
                </a:solidFill>
              </a:rPr>
              <a:t>基準(1x)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0800000" y="8280000"/>
            <a:ext cx="3420000" cy="720000"/>
          </a:xfrm>
          <a:prstGeom prst="rect">
            <a:avLst/>
          </a:prstGeom>
          <a:solidFill>
            <a:srgbClr val="F3FAFE"/>
          </a:solidFill>
          <a:ln>
            <a:solidFill>
              <a:srgbClr val="F3F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400" b="0">
                <a:solidFill>
                  <a:srgbClr val="013CA6"/>
                </a:solidFill>
              </a:rPr>
              <a:t>有償(MPEG-LA)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4400000" y="8280000"/>
            <a:ext cx="6120000" cy="720000"/>
          </a:xfrm>
          <a:prstGeom prst="rect">
            <a:avLst/>
          </a:prstGeom>
          <a:solidFill>
            <a:srgbClr val="F3FAFE"/>
          </a:solidFill>
          <a:ln>
            <a:solidFill>
              <a:srgbClr val="F3F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400" b="0">
                <a:solidFill>
                  <a:srgbClr val="013CA6"/>
                </a:solidFill>
              </a:rPr>
              <a:t>YouTube・Blu-ray・Zoom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20000" y="9108000"/>
            <a:ext cx="3960000" cy="720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400" b="0">
                <a:solidFill>
                  <a:srgbClr val="013CA6"/>
                </a:solidFill>
              </a:rPr>
              <a:t>H.265/HEVC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860000" y="9108000"/>
            <a:ext cx="2880000" cy="720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400" b="0">
                <a:solidFill>
                  <a:srgbClr val="013CA6"/>
                </a:solidFill>
              </a:rPr>
              <a:t>2013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920000" y="9108000"/>
            <a:ext cx="2700000" cy="720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400" b="0">
                <a:solidFill>
                  <a:srgbClr val="013CA6"/>
                </a:solidFill>
              </a:rPr>
              <a:t>約2x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0800000" y="9108000"/>
            <a:ext cx="3420000" cy="720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400" b="0">
                <a:solidFill>
                  <a:srgbClr val="013CA6"/>
                </a:solidFill>
              </a:rPr>
              <a:t>有償(複数団体)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4400000" y="9108000"/>
            <a:ext cx="6120000" cy="720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400" b="0">
                <a:solidFill>
                  <a:srgbClr val="013CA6"/>
                </a:solidFill>
              </a:rPr>
              <a:t>4K放送・Netflix・HEIF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20000" y="9936000"/>
            <a:ext cx="3960000" cy="720000"/>
          </a:xfrm>
          <a:prstGeom prst="rect">
            <a:avLst/>
          </a:prstGeom>
          <a:solidFill>
            <a:srgbClr val="F3FAFE"/>
          </a:solidFill>
          <a:ln>
            <a:solidFill>
              <a:srgbClr val="F3F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400" b="0">
                <a:solidFill>
                  <a:srgbClr val="013CA6"/>
                </a:solidFill>
              </a:rPr>
              <a:t>VP9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860000" y="9936000"/>
            <a:ext cx="2880000" cy="720000"/>
          </a:xfrm>
          <a:prstGeom prst="rect">
            <a:avLst/>
          </a:prstGeom>
          <a:solidFill>
            <a:srgbClr val="F3FAFE"/>
          </a:solidFill>
          <a:ln>
            <a:solidFill>
              <a:srgbClr val="F3F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400" b="0">
                <a:solidFill>
                  <a:srgbClr val="013CA6"/>
                </a:solidFill>
              </a:rPr>
              <a:t>2013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920000" y="9936000"/>
            <a:ext cx="2700000" cy="720000"/>
          </a:xfrm>
          <a:prstGeom prst="rect">
            <a:avLst/>
          </a:prstGeom>
          <a:solidFill>
            <a:srgbClr val="F3FAFE"/>
          </a:solidFill>
          <a:ln>
            <a:solidFill>
              <a:srgbClr val="F3F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400" b="0">
                <a:solidFill>
                  <a:srgbClr val="013CA6"/>
                </a:solidFill>
              </a:rPr>
              <a:t>約1.5x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0800000" y="9936000"/>
            <a:ext cx="3420000" cy="720000"/>
          </a:xfrm>
          <a:prstGeom prst="rect">
            <a:avLst/>
          </a:prstGeom>
          <a:solidFill>
            <a:srgbClr val="F3FAFE"/>
          </a:solidFill>
          <a:ln>
            <a:solidFill>
              <a:srgbClr val="F3F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400" b="0">
                <a:solidFill>
                  <a:srgbClr val="013CA6"/>
                </a:solidFill>
              </a:rPr>
              <a:t>無償(Google)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4400000" y="9936000"/>
            <a:ext cx="6120000" cy="720000"/>
          </a:xfrm>
          <a:prstGeom prst="rect">
            <a:avLst/>
          </a:prstGeom>
          <a:solidFill>
            <a:srgbClr val="F3FAFE"/>
          </a:solidFill>
          <a:ln>
            <a:solidFill>
              <a:srgbClr val="F3F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400" b="0">
                <a:solidFill>
                  <a:srgbClr val="013CA6"/>
                </a:solidFill>
              </a:rPr>
              <a:t>YouTube(HD)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20000" y="10764000"/>
            <a:ext cx="3960000" cy="720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400" b="0">
                <a:solidFill>
                  <a:srgbClr val="013CA6"/>
                </a:solidFill>
              </a:rPr>
              <a:t>AV1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860000" y="10764000"/>
            <a:ext cx="2880000" cy="720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400" b="0">
                <a:solidFill>
                  <a:srgbClr val="013CA6"/>
                </a:solidFill>
              </a:rPr>
              <a:t>2018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920000" y="10764000"/>
            <a:ext cx="2700000" cy="720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400" b="0">
                <a:solidFill>
                  <a:srgbClr val="013CA6"/>
                </a:solidFill>
              </a:rPr>
              <a:t>約2x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0800000" y="10764000"/>
            <a:ext cx="3420000" cy="720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400" b="0">
                <a:solidFill>
                  <a:srgbClr val="013CA6"/>
                </a:solidFill>
              </a:rPr>
              <a:t>無償(Alliance)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4400000" y="10764000"/>
            <a:ext cx="6120000" cy="720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400" b="0">
                <a:solidFill>
                  <a:srgbClr val="013CA6"/>
                </a:solidFill>
              </a:rPr>
              <a:t>YouTube 4K・Netflix・WebRTC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13CA6"/>
      </a:dk2>
      <a:lt2>
        <a:srgbClr val="F3FAFE"/>
      </a:lt2>
      <a:accent1>
        <a:srgbClr val="013CA6"/>
      </a:accent1>
      <a:accent2>
        <a:srgbClr val="BDE4FC"/>
      </a:accent2>
      <a:accent3>
        <a:srgbClr val="F3FAFE"/>
      </a:accent3>
      <a:accent4>
        <a:srgbClr val="EBA81A"/>
      </a:accent4>
      <a:accent5>
        <a:srgbClr val="00B050"/>
      </a:accent5>
      <a:accent6>
        <a:srgbClr val="FF0000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