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290400" cy="11973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19800000" cy="1260000"/>
          </a:xfrm>
          <a:prstGeom prst="rect">
            <a:avLst/>
          </a:prstGeom>
          <a:solidFill>
            <a:srgbClr val="013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4400" b="1">
                <a:solidFill>
                  <a:srgbClr val="FFFFFF"/>
                </a:solidFill>
              </a:rPr>
              <a:t>ランレングス符号化と LZ77 圧縮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268000"/>
            <a:ext cx="144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13CA6"/>
                </a:solidFill>
              </a:rPr>
              <a:t>① ランレングス符号化 (RLE)</a:t>
            </a:r>
          </a:p>
        </p:txBody>
      </p:sp>
      <p:sp>
        <p:nvSpPr>
          <p:cNvPr id="4" name="Rectangle 3"/>
          <p:cNvSpPr/>
          <p:nvPr/>
        </p:nvSpPr>
        <p:spPr>
          <a:xfrm>
            <a:off x="900000" y="2988000"/>
            <a:ext cx="1565999" cy="1152000"/>
          </a:xfrm>
          <a:prstGeom prst="rect">
            <a:avLst/>
          </a:prstGeom>
          <a:solidFill>
            <a:srgbClr val="013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2988000"/>
            <a:ext cx="1565999" cy="1152000"/>
          </a:xfrm>
          <a:prstGeom prst="rect">
            <a:avLst/>
          </a:prstGeom>
          <a:solidFill>
            <a:srgbClr val="013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6" name="Rectangle 5"/>
          <p:cNvSpPr/>
          <p:nvPr/>
        </p:nvSpPr>
        <p:spPr>
          <a:xfrm>
            <a:off x="4140000" y="2988000"/>
            <a:ext cx="1565999" cy="1152000"/>
          </a:xfrm>
          <a:prstGeom prst="rect">
            <a:avLst/>
          </a:prstGeom>
          <a:solidFill>
            <a:srgbClr val="013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0" y="2988000"/>
            <a:ext cx="1565999" cy="1152000"/>
          </a:xfrm>
          <a:prstGeom prst="rect">
            <a:avLst/>
          </a:prstGeom>
          <a:solidFill>
            <a:srgbClr val="013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8" name="Rectangle 7"/>
          <p:cNvSpPr/>
          <p:nvPr/>
        </p:nvSpPr>
        <p:spPr>
          <a:xfrm>
            <a:off x="7380000" y="2988000"/>
            <a:ext cx="1565999" cy="1152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9000000" y="2988000"/>
            <a:ext cx="1565999" cy="1152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20000" y="2988000"/>
            <a:ext cx="1565999" cy="1152000"/>
          </a:xfrm>
          <a:prstGeom prst="rect">
            <a:avLst/>
          </a:prstGeom>
          <a:solidFill>
            <a:srgbClr val="EBA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240000" y="2988000"/>
            <a:ext cx="1565999" cy="1152000"/>
          </a:xfrm>
          <a:prstGeom prst="rect">
            <a:avLst/>
          </a:prstGeom>
          <a:solidFill>
            <a:srgbClr val="EBA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60000" y="2988000"/>
            <a:ext cx="1565999" cy="1152000"/>
          </a:xfrm>
          <a:prstGeom prst="rect">
            <a:avLst/>
          </a:prstGeom>
          <a:solidFill>
            <a:srgbClr val="EBA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480000" y="2988000"/>
            <a:ext cx="1565999" cy="1152000"/>
          </a:xfrm>
          <a:prstGeom prst="rect">
            <a:avLst/>
          </a:prstGeom>
          <a:solidFill>
            <a:srgbClr val="EBA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00000" y="2988000"/>
            <a:ext cx="1565999" cy="1152000"/>
          </a:xfrm>
          <a:prstGeom prst="rect">
            <a:avLst/>
          </a:prstGeom>
          <a:solidFill>
            <a:srgbClr val="EBA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00000" y="2988000"/>
            <a:ext cx="900000" cy="115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666666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980000" y="2988000"/>
            <a:ext cx="2880000" cy="1152000"/>
          </a:xfrm>
          <a:prstGeom prst="rect">
            <a:avLst/>
          </a:prstGeom>
          <a:solidFill>
            <a:srgbClr val="013C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(0, 4)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040000" y="2988000"/>
            <a:ext cx="2880000" cy="1152000"/>
          </a:xfrm>
          <a:prstGeom prst="rect">
            <a:avLst/>
          </a:prstGeom>
          <a:solidFill>
            <a:srgbClr val="00B05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(1, 2)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100000" y="2988000"/>
            <a:ext cx="2880000" cy="1152000"/>
          </a:xfrm>
          <a:prstGeom prst="rect">
            <a:avLst/>
          </a:prstGeom>
          <a:solidFill>
            <a:srgbClr val="EBA81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(2, 5)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428000"/>
            <a:ext cx="198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</a:rPr>
              <a:t>元: 11バイト  →  符号化: 3ペア（値×繰り返し数）  →  圧縮率 ≈ 3.7x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5220000"/>
            <a:ext cx="18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13CA6"/>
                </a:solidFill>
              </a:rPr>
              <a:t>② LZ77：スライディングウィンドウ圧縮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000" y="5868000"/>
            <a:ext cx="1080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入力: "abracadabra"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000" y="6408000"/>
            <a:ext cx="1620000" cy="1152000"/>
          </a:xfrm>
          <a:prstGeom prst="rect">
            <a:avLst/>
          </a:prstGeom>
          <a:solidFill>
            <a:srgbClr val="F3FAFE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013CA6"/>
                </a:solidFill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0000" y="7632000"/>
            <a:ext cx="72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28000" y="6408000"/>
            <a:ext cx="1620000" cy="1152000"/>
          </a:xfrm>
          <a:prstGeom prst="rect">
            <a:avLst/>
          </a:prstGeom>
          <a:solidFill>
            <a:srgbClr val="F3FAFE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013CA6"/>
                </a:solidFill>
              </a:rPr>
              <a:t>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68000" y="7632000"/>
            <a:ext cx="72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56000" y="6408000"/>
            <a:ext cx="1620000" cy="1152000"/>
          </a:xfrm>
          <a:prstGeom prst="rect">
            <a:avLst/>
          </a:prstGeom>
          <a:solidFill>
            <a:srgbClr val="F3FAFE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013CA6"/>
                </a:solidFill>
              </a:rPr>
              <a:t>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6000" y="7632000"/>
            <a:ext cx="72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3999" y="6408000"/>
            <a:ext cx="1620000" cy="1152000"/>
          </a:xfrm>
          <a:prstGeom prst="rect">
            <a:avLst/>
          </a:prstGeom>
          <a:solidFill>
            <a:srgbClr val="F3FAFE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013CA6"/>
                </a:solidFill>
              </a:rPr>
              <a:t>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3999" y="7632000"/>
            <a:ext cx="72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2000" y="6408000"/>
            <a:ext cx="1620000" cy="1152000"/>
          </a:xfrm>
          <a:prstGeom prst="rect">
            <a:avLst/>
          </a:prstGeom>
          <a:solidFill>
            <a:srgbClr val="F3FAFE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013CA6"/>
                </a:solidFill>
              </a:rPr>
              <a:t>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2000" y="7632000"/>
            <a:ext cx="72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40000" y="6408000"/>
            <a:ext cx="1620000" cy="1152000"/>
          </a:xfrm>
          <a:prstGeom prst="rect">
            <a:avLst/>
          </a:prstGeom>
          <a:solidFill>
            <a:srgbClr val="F3FAFE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013CA6"/>
                </a:solidFill>
              </a:rPr>
              <a:t>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80000" y="7632000"/>
            <a:ext cx="72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267999" y="6408000"/>
            <a:ext cx="1620000" cy="1152000"/>
          </a:xfrm>
          <a:prstGeom prst="rect">
            <a:avLst/>
          </a:prstGeom>
          <a:solidFill>
            <a:srgbClr val="F3FAFE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013CA6"/>
                </a:solidFill>
              </a:rPr>
              <a:t>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07999" y="7632000"/>
            <a:ext cx="72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996000" y="6408000"/>
            <a:ext cx="1620000" cy="1152000"/>
          </a:xfrm>
          <a:prstGeom prst="rect">
            <a:avLst/>
          </a:prstGeom>
          <a:solidFill>
            <a:srgbClr val="F3FAFE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013CA6"/>
                </a:solidFill>
              </a:rPr>
              <a:t>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536000" y="7632000"/>
            <a:ext cx="72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724000" y="6408000"/>
            <a:ext cx="1620000" cy="1152000"/>
          </a:xfrm>
          <a:prstGeom prst="rect">
            <a:avLst/>
          </a:prstGeom>
          <a:solidFill>
            <a:srgbClr val="F3FAFE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013CA6"/>
                </a:solidFill>
              </a:rPr>
              <a:t>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64000" y="7632000"/>
            <a:ext cx="72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1999" y="6408000"/>
            <a:ext cx="1620000" cy="1152000"/>
          </a:xfrm>
          <a:prstGeom prst="rect">
            <a:avLst/>
          </a:prstGeom>
          <a:solidFill>
            <a:srgbClr val="F3FAFE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013CA6"/>
                </a:solidFill>
              </a:rPr>
              <a:t>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992000" y="7632000"/>
            <a:ext cx="72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80000" y="6408000"/>
            <a:ext cx="1620000" cy="1152000"/>
          </a:xfrm>
          <a:prstGeom prst="rect">
            <a:avLst/>
          </a:prstGeom>
          <a:solidFill>
            <a:srgbClr val="F3FAFE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013CA6"/>
                </a:solidFill>
              </a:rPr>
              <a:t>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720000" y="7632000"/>
            <a:ext cx="72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0000" y="8280000"/>
            <a:ext cx="720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013CA6"/>
                </a:solidFill>
              </a:rPr>
              <a:t>LZ77 トークン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0000" y="8820000"/>
            <a:ext cx="2520000" cy="1007999"/>
          </a:xfrm>
          <a:prstGeom prst="rect">
            <a:avLst/>
          </a:prstGeom>
          <a:solidFill>
            <a:srgbClr val="013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(0,0,'a')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0000" y="9900000"/>
            <a:ext cx="3600000" cy="792000"/>
          </a:xfrm>
          <a:prstGeom prst="rect">
            <a:avLst/>
          </a:prstGeom>
          <a:solidFill>
            <a:srgbClr val="F3FAFE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0">
                <a:solidFill>
                  <a:srgbClr val="1A1A1A"/>
                </a:solidFill>
              </a:rPr>
              <a:t>リテラル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60000" y="8820000"/>
            <a:ext cx="2520000" cy="1007999"/>
          </a:xfrm>
          <a:prstGeom prst="rect">
            <a:avLst/>
          </a:prstGeom>
          <a:solidFill>
            <a:srgbClr val="013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(0,0,'b')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60000" y="9900000"/>
            <a:ext cx="3600000" cy="792000"/>
          </a:xfrm>
          <a:prstGeom prst="rect">
            <a:avLst/>
          </a:prstGeom>
          <a:solidFill>
            <a:srgbClr val="F3FAFE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0">
                <a:solidFill>
                  <a:srgbClr val="1A1A1A"/>
                </a:solidFill>
              </a:rPr>
              <a:t>リテラル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20000" y="8820000"/>
            <a:ext cx="2520000" cy="1007999"/>
          </a:xfrm>
          <a:prstGeom prst="rect">
            <a:avLst/>
          </a:prstGeom>
          <a:solidFill>
            <a:srgbClr val="013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(0,0,'r')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20000" y="9900000"/>
            <a:ext cx="3600000" cy="792000"/>
          </a:xfrm>
          <a:prstGeom prst="rect">
            <a:avLst/>
          </a:prstGeom>
          <a:solidFill>
            <a:srgbClr val="F3FAFE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0">
                <a:solidFill>
                  <a:srgbClr val="1A1A1A"/>
                </a:solidFill>
              </a:rPr>
              <a:t>リテラル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780000" y="8820000"/>
            <a:ext cx="2520000" cy="1007999"/>
          </a:xfrm>
          <a:prstGeom prst="rect">
            <a:avLst/>
          </a:prstGeom>
          <a:solidFill>
            <a:srgbClr val="EBA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(3,4,'')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780000" y="9900000"/>
            <a:ext cx="3600000" cy="792000"/>
          </a:xfrm>
          <a:prstGeom prst="rect">
            <a:avLst/>
          </a:prstGeom>
          <a:solidFill>
            <a:srgbClr val="F3FAFE"/>
          </a:solidFill>
          <a:ln w="19050">
            <a:solidFill>
              <a:srgbClr val="EBA8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0">
                <a:solidFill>
                  <a:srgbClr val="1A1A1A"/>
                </a:solidFill>
              </a:rPr>
              <a:t>参照: 4文字前から4文字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6740000" y="8820000"/>
            <a:ext cx="2520000" cy="1007999"/>
          </a:xfrm>
          <a:prstGeom prst="rect">
            <a:avLst/>
          </a:prstGeom>
          <a:solidFill>
            <a:srgbClr val="EBA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(3,4,'')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740000" y="9900000"/>
            <a:ext cx="3600000" cy="792000"/>
          </a:xfrm>
          <a:prstGeom prst="rect">
            <a:avLst/>
          </a:prstGeom>
          <a:solidFill>
            <a:srgbClr val="F3FAFE"/>
          </a:solidFill>
          <a:ln w="19050">
            <a:solidFill>
              <a:srgbClr val="EBA8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0">
                <a:solidFill>
                  <a:srgbClr val="1A1A1A"/>
                </a:solidFill>
              </a:rPr>
              <a:t>参照: 3文字前から4文字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0000" y="10980000"/>
            <a:ext cx="720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013CA6"/>
                </a:solidFill>
              </a:rPr>
              <a:t>用途比較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00000" y="11520000"/>
            <a:ext cx="1800000" cy="900000"/>
          </a:xfrm>
          <a:prstGeom prst="rect">
            <a:avLst/>
          </a:prstGeom>
          <a:solidFill>
            <a:srgbClr val="013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PNG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72000" y="11520000"/>
            <a:ext cx="2700000" cy="900000"/>
          </a:xfrm>
          <a:prstGeom prst="rect">
            <a:avLst/>
          </a:prstGeom>
          <a:solidFill>
            <a:srgbClr val="F3FAFE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0">
                <a:solidFill>
                  <a:srgbClr val="1A1A1A"/>
                </a:solidFill>
              </a:rPr>
              <a:t>deflate=LZ77+Huffman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760000" y="11520000"/>
            <a:ext cx="1800000" cy="900000"/>
          </a:xfrm>
          <a:prstGeom prst="rect">
            <a:avLst/>
          </a:prstGeom>
          <a:solidFill>
            <a:srgbClr val="1A52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gzip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632000" y="11520000"/>
            <a:ext cx="2700000" cy="900000"/>
          </a:xfrm>
          <a:prstGeom prst="rect">
            <a:avLst/>
          </a:prstGeom>
          <a:solidFill>
            <a:srgbClr val="F3FAFE"/>
          </a:solidFill>
          <a:ln w="19050">
            <a:solidFill>
              <a:srgbClr val="1A5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0">
                <a:solidFill>
                  <a:srgbClr val="1A1A1A"/>
                </a:solidFill>
              </a:rPr>
              <a:t>DEFLATE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620000" y="11520000"/>
            <a:ext cx="1800000" cy="900000"/>
          </a:xfrm>
          <a:prstGeom prst="rect">
            <a:avLst/>
          </a:prstGeom>
          <a:solidFill>
            <a:srgbClr val="EBA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GIF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492000" y="11520000"/>
            <a:ext cx="2700000" cy="900000"/>
          </a:xfrm>
          <a:prstGeom prst="rect">
            <a:avLst/>
          </a:prstGeom>
          <a:solidFill>
            <a:srgbClr val="F3FAFE"/>
          </a:solidFill>
          <a:ln w="19050">
            <a:solidFill>
              <a:srgbClr val="EBA8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0">
                <a:solidFill>
                  <a:srgbClr val="1A1A1A"/>
                </a:solidFill>
              </a:rPr>
              <a:t>LZW（辞書方式）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480000" y="11520000"/>
            <a:ext cx="1800000" cy="90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zstd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7352000" y="11520000"/>
            <a:ext cx="2700000" cy="900000"/>
          </a:xfrm>
          <a:prstGeom prst="rect">
            <a:avLst/>
          </a:prstGeom>
          <a:solidFill>
            <a:srgbClr val="F3FAFE"/>
          </a:solidFill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0">
                <a:solidFill>
                  <a:srgbClr val="1A1A1A"/>
                </a:solidFill>
              </a:rPr>
              <a:t>LZ77+ANS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13CA6"/>
      </a:dk2>
      <a:lt2>
        <a:srgbClr val="F3FAFE"/>
      </a:lt2>
      <a:accent1>
        <a:srgbClr val="013CA6"/>
      </a:accent1>
      <a:accent2>
        <a:srgbClr val="BDE4FC"/>
      </a:accent2>
      <a:accent3>
        <a:srgbClr val="F3FAFE"/>
      </a:accent3>
      <a:accent4>
        <a:srgbClr val="EBA81A"/>
      </a:accent4>
      <a:accent5>
        <a:srgbClr val="00B050"/>
      </a:accent5>
      <a:accent6>
        <a:srgbClr val="FF0000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