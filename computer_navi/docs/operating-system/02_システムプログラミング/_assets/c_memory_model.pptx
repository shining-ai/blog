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20000" y="360000"/>
            <a:ext cx="19850400" cy="126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000" b="1">
                <a:solidFill>
                  <a:srgbClr val="FFFFFF"/>
                </a:solidFill>
              </a:rPr>
              <a:t>C のメモリモデル</a:t>
            </a:r>
          </a:p>
        </p:txBody>
      </p:sp>
      <p:sp>
        <p:nvSpPr>
          <p:cNvPr id="4" name="Rectangle 3"/>
          <p:cNvSpPr/>
          <p:nvPr/>
        </p:nvSpPr>
        <p:spPr>
          <a:xfrm>
            <a:off x="720000" y="1980000"/>
            <a:ext cx="2880000" cy="432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888888"/>
                </a:solidFill>
              </a:rPr>
              <a:t>高アドレス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10260000"/>
            <a:ext cx="2880000" cy="432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888888"/>
                </a:solidFill>
              </a:rPr>
              <a:t>低アドレス</a:t>
            </a:r>
          </a:p>
        </p:txBody>
      </p:sp>
      <p:sp>
        <p:nvSpPr>
          <p:cNvPr id="6" name="Rectangle 5"/>
          <p:cNvSpPr/>
          <p:nvPr/>
        </p:nvSpPr>
        <p:spPr>
          <a:xfrm>
            <a:off x="3780000" y="2448000"/>
            <a:ext cx="6480000" cy="720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カーネル空間
（アクセス不可）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3780000" y="3240000"/>
            <a:ext cx="6480000" cy="108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スタック ↓
（ローカル変数・戻りアドレス）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3780000" y="4392000"/>
            <a:ext cx="6480000" cy="1260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BBBBBB"/>
                </a:solidFill>
              </a:rPr>
              <a:t>（未使用領域）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3780000" y="5723999"/>
            <a:ext cx="6480000" cy="108000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ヒープ ↑
（malloc / free）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80000" y="6875999"/>
            <a:ext cx="6480000" cy="792000"/>
          </a:xfrm>
          <a:prstGeom prst="rect">
            <a:avLst/>
          </a:prstGeom>
          <a:solidFill>
            <a:srgbClr val="BDE4FC"/>
          </a:solidFill>
          <a:ln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13CA6"/>
                </a:solidFill>
              </a:rPr>
              <a:t>BSS
（未初期化グローバル変数）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80000" y="7740000"/>
            <a:ext cx="6480000" cy="792000"/>
          </a:xfrm>
          <a:prstGeom prst="rect">
            <a:avLst/>
          </a:prstGeom>
          <a:solidFill>
            <a:srgbClr val="BDE4FC"/>
          </a:solidFill>
          <a:ln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13CA6"/>
                </a:solidFill>
              </a:rPr>
              <a:t>データ
（初期化済みグローバル変数）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80000" y="8604000"/>
            <a:ext cx="6480000" cy="900000"/>
          </a:xfrm>
          <a:prstGeom prst="rect">
            <a:avLst/>
          </a:prstGeom>
          <a:solidFill>
            <a:srgbClr val="EBA81A"/>
          </a:solidFill>
          <a:ln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テキスト
（実行コード read-only）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520000" y="1980000"/>
            <a:ext cx="9000000" cy="792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</a:rPr>
              <a:t>セグメント詳細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520000" y="2880000"/>
            <a:ext cx="198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セグメント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572000" y="2880000"/>
            <a:ext cx="360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内容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280000" y="2880000"/>
            <a:ext cx="324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ライフタイム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520000" y="3671999"/>
            <a:ext cx="1980000" cy="792000"/>
          </a:xfrm>
          <a:prstGeom prst="rect">
            <a:avLst/>
          </a:prstGeom>
          <a:solidFill>
            <a:srgbClr val="BDE4FC"/>
          </a:solidFill>
          <a:ln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13CA6"/>
                </a:solidFill>
              </a:rPr>
              <a:t>テキスト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572000" y="3671999"/>
            <a:ext cx="3600000" cy="792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333333"/>
                </a:solidFill>
              </a:rPr>
              <a:t>機械語命令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7280000" y="3671999"/>
            <a:ext cx="3240000" cy="792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333333"/>
                </a:solidFill>
              </a:rPr>
              <a:t>プロセス全体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520000" y="4536000"/>
            <a:ext cx="1980000" cy="792000"/>
          </a:xfrm>
          <a:prstGeom prst="rect">
            <a:avLst/>
          </a:prstGeom>
          <a:solidFill>
            <a:srgbClr val="BDE4FC"/>
          </a:solidFill>
          <a:ln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13CA6"/>
                </a:solidFill>
              </a:rPr>
              <a:t>データ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572000" y="4536000"/>
            <a:ext cx="3600000" cy="792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333333"/>
                </a:solidFill>
              </a:rPr>
              <a:t>初期化済みグローバル変数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7280000" y="4536000"/>
            <a:ext cx="3240000" cy="792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333333"/>
                </a:solidFill>
              </a:rPr>
              <a:t>プロセス全体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520000" y="5400000"/>
            <a:ext cx="1980000" cy="792000"/>
          </a:xfrm>
          <a:prstGeom prst="rect">
            <a:avLst/>
          </a:prstGeom>
          <a:solidFill>
            <a:srgbClr val="BDE4FC"/>
          </a:solidFill>
          <a:ln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13CA6"/>
                </a:solidFill>
              </a:rPr>
              <a:t>BSS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572000" y="5400000"/>
            <a:ext cx="3600000" cy="792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333333"/>
                </a:solidFill>
              </a:rPr>
              <a:t>未初期化グローバル (0で初期化)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7280000" y="5400000"/>
            <a:ext cx="3240000" cy="792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333333"/>
                </a:solidFill>
              </a:rPr>
              <a:t>プロセス全体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520000" y="6263999"/>
            <a:ext cx="1980000" cy="792000"/>
          </a:xfrm>
          <a:prstGeom prst="rect">
            <a:avLst/>
          </a:prstGeom>
          <a:solidFill>
            <a:srgbClr val="BDE4FC"/>
          </a:solidFill>
          <a:ln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13CA6"/>
                </a:solidFill>
              </a:rPr>
              <a:t>ヒープ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572000" y="6263999"/>
            <a:ext cx="3600000" cy="792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333333"/>
                </a:solidFill>
              </a:rPr>
              <a:t>malloc で確保した領域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7280000" y="6263999"/>
            <a:ext cx="3240000" cy="792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333333"/>
                </a:solidFill>
              </a:rPr>
              <a:t>free まで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520000" y="7127999"/>
            <a:ext cx="1980000" cy="792000"/>
          </a:xfrm>
          <a:prstGeom prst="rect">
            <a:avLst/>
          </a:prstGeom>
          <a:solidFill>
            <a:srgbClr val="BDE4FC"/>
          </a:solidFill>
          <a:ln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13CA6"/>
                </a:solidFill>
              </a:rPr>
              <a:t>スタック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3572000" y="7127999"/>
            <a:ext cx="3600000" cy="792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333333"/>
                </a:solidFill>
              </a:rPr>
              <a:t>ローカル変数・引数・戻りアドレス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7280000" y="7127999"/>
            <a:ext cx="3240000" cy="792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333333"/>
                </a:solidFill>
              </a:rPr>
              <a:t>関数呼び出し中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520000" y="9000000"/>
            <a:ext cx="9000000" cy="1080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典型的バグ: メモリリーク（freeし忘れ）・二重解放（double free）・バッファオーバーフロー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