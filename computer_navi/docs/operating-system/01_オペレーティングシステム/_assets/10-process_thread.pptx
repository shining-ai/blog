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290400" cy="1197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290400" cy="1197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290400" cy="1260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16000"/>
            <a:ext cx="2052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プロセスとスレッド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1440000"/>
            <a:ext cx="20520000" cy="1260000"/>
          </a:xfrm>
          <a:prstGeom prst="rect">
            <a:avLst/>
          </a:prstGeom>
          <a:solidFill>
            <a:srgbClr val="BDE4FC"/>
          </a:solidFill>
          <a:ln w="19050">
            <a:solidFill>
              <a:srgbClr val="013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548000"/>
            <a:ext cx="20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2020"/>
                </a:solidFill>
              </a:rPr>
              <a:t>プロセスは独立したメモリ空間を持つ OS の基本実行単位。スレッドはプロセス内でコード・ヒープを共有しスタックは独立。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2880000"/>
            <a:ext cx="6360000" cy="3510000"/>
          </a:xfrm>
          <a:prstGeom prst="rect">
            <a:avLst/>
          </a:prstGeom>
          <a:solidFill>
            <a:srgbClr val="013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2988000"/>
            <a:ext cx="6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プロセス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3528000"/>
            <a:ext cx="6360000" cy="27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独立したアドレス空間
PID・ファイルディスクリプタ
fork()で複製・exec()で置き換え
クラッシュが他プロセスに影響なし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0000" y="2880000"/>
            <a:ext cx="6360000" cy="3510000"/>
          </a:xfrm>
          <a:prstGeom prst="rect">
            <a:avLst/>
          </a:prstGeom>
          <a:solidFill>
            <a:srgbClr val="015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0000" y="2988000"/>
            <a:ext cx="6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スレッド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0000" y="3528000"/>
            <a:ext cx="6360000" cy="27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プロセス内の実行単位
コード・ヒープを共有
スタック・レジスタは独立
pthreads/std::thread/goroutine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0000" y="2880000"/>
            <a:ext cx="6360000" cy="3510000"/>
          </a:xfrm>
          <a:prstGeom prst="rect">
            <a:avLst/>
          </a:prstGeom>
          <a:solidFill>
            <a:srgbClr val="017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0000" y="2988000"/>
            <a:ext cx="6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状態遷移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0000" y="3528000"/>
            <a:ext cx="6360000" cy="27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NEW→READY→RUNNING
→BLOCKED(I/O待ち)→READY
→ZOMBIE(終了待ち)
スケジューラが制御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6570000"/>
            <a:ext cx="6360000" cy="3510000"/>
          </a:xfrm>
          <a:prstGeom prst="rect">
            <a:avLst/>
          </a:prstGeom>
          <a:solidFill>
            <a:srgbClr val="EBA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6678000"/>
            <a:ext cx="6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メモリレイアウト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7218000"/>
            <a:ext cx="6360000" cy="27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高: カーネル空間
↓スタック(ローカル変数)
↑ヒープ(malloc)
低: テキスト(コード)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13CA6"/>
      </a:dk2>
      <a:lt2>
        <a:srgbClr val="F3FAFE"/>
      </a:lt2>
      <a:accent1>
        <a:srgbClr val="013CA6"/>
      </a:accent1>
      <a:accent2>
        <a:srgbClr val="BDE4FC"/>
      </a:accent2>
      <a:accent3>
        <a:srgbClr val="F3FAFE"/>
      </a:accent3>
      <a:accent4>
        <a:srgbClr val="EBA81A"/>
      </a:accent4>
      <a:accent5>
        <a:srgbClr val="00B050"/>
      </a:accent5>
      <a:accent6>
        <a:srgbClr val="FF00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