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TCP のフロー制御（スライディングウィンドウ）</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受信バッファの溢れを防ぐためにウィンドウサイズで送信量を制御する。受信側が処理能力に応じてウィンドウを通知。</a:t>
            </a:r>
          </a:p>
        </p:txBody>
      </p:sp>
      <p:sp>
        <p:nvSpPr>
          <p:cNvPr id="7" name="Rectangle 6"/>
          <p:cNvSpPr/>
          <p:nvPr/>
        </p:nvSpPr>
        <p:spPr>
          <a:xfrm>
            <a:off x="360000" y="2880000"/>
            <a:ext cx="6360000" cy="720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受信ウィンドウ</a:t>
            </a:r>
          </a:p>
        </p:txBody>
      </p:sp>
      <p:sp>
        <p:nvSpPr>
          <p:cNvPr id="9" name="TextBox 8"/>
          <p:cNvSpPr txBox="1"/>
          <p:nvPr/>
        </p:nvSpPr>
        <p:spPr>
          <a:xfrm>
            <a:off x="360000" y="3528000"/>
            <a:ext cx="6360000" cy="6480000"/>
          </a:xfrm>
          <a:prstGeom prst="rect">
            <a:avLst/>
          </a:prstGeom>
          <a:noFill/>
        </p:spPr>
        <p:txBody>
          <a:bodyPr wrap="square">
            <a:spAutoFit/>
          </a:bodyPr>
          <a:lstStyle/>
          <a:p>
            <a:pPr algn="ctr"/>
            <a:r>
              <a:rPr sz="1600" b="0">
                <a:solidFill>
                  <a:srgbClr val="FFFFFF"/>
                </a:solidFill>
              </a:rPr>
              <a:t>受信バッファの空き容量をウィンドウサイズとして通知。送信側はこの範囲でACK待ちなしに送信可能</a:t>
            </a:r>
          </a:p>
        </p:txBody>
      </p:sp>
      <p:sp>
        <p:nvSpPr>
          <p:cNvPr id="10" name="Rectangle 9"/>
          <p:cNvSpPr/>
          <p:nvPr/>
        </p:nvSpPr>
        <p:spPr>
          <a:xfrm>
            <a:off x="7080000" y="2880000"/>
            <a:ext cx="6360000" cy="720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スライディングウィンドウ</a:t>
            </a:r>
          </a:p>
        </p:txBody>
      </p:sp>
      <p:sp>
        <p:nvSpPr>
          <p:cNvPr id="12" name="TextBox 11"/>
          <p:cNvSpPr txBox="1"/>
          <p:nvPr/>
        </p:nvSpPr>
        <p:spPr>
          <a:xfrm>
            <a:off x="7080000" y="3528000"/>
            <a:ext cx="6360000" cy="6480000"/>
          </a:xfrm>
          <a:prstGeom prst="rect">
            <a:avLst/>
          </a:prstGeom>
          <a:noFill/>
        </p:spPr>
        <p:txBody>
          <a:bodyPr wrap="square">
            <a:spAutoFit/>
          </a:bodyPr>
          <a:lstStyle/>
          <a:p>
            <a:pPr algn="ctr"/>
            <a:r>
              <a:rPr sz="1600" b="0">
                <a:solidFill>
                  <a:srgbClr val="FFFFFF"/>
                </a:solidFill>
              </a:rPr>
              <a:t>ACK受信でウィンドウが前進。大きなウィンドウほど高スループット(帯域×遅延積)</a:t>
            </a:r>
          </a:p>
        </p:txBody>
      </p:sp>
      <p:sp>
        <p:nvSpPr>
          <p:cNvPr id="13" name="Rectangle 12"/>
          <p:cNvSpPr/>
          <p:nvPr/>
        </p:nvSpPr>
        <p:spPr>
          <a:xfrm>
            <a:off x="13800000" y="2880000"/>
            <a:ext cx="6360000" cy="720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ウィンドウスケール</a:t>
            </a:r>
          </a:p>
        </p:txBody>
      </p:sp>
      <p:sp>
        <p:nvSpPr>
          <p:cNvPr id="15" name="TextBox 14"/>
          <p:cNvSpPr txBox="1"/>
          <p:nvPr/>
        </p:nvSpPr>
        <p:spPr>
          <a:xfrm>
            <a:off x="13800000" y="3528000"/>
            <a:ext cx="6360000" cy="6480000"/>
          </a:xfrm>
          <a:prstGeom prst="rect">
            <a:avLst/>
          </a:prstGeom>
          <a:noFill/>
        </p:spPr>
        <p:txBody>
          <a:bodyPr wrap="square">
            <a:spAutoFit/>
          </a:bodyPr>
          <a:lstStyle/>
          <a:p>
            <a:pPr algn="ctr"/>
            <a:r>
              <a:rPr sz="1600" b="0">
                <a:solidFill>
                  <a:srgbClr val="FFFFFF"/>
                </a:solidFill>
              </a:rPr>
              <a:t>RFC 1323 のウィンドウスケールオプションで65535バイト超のウィンドウサイズを指定可能</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