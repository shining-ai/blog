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21290400" cy="11973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1290400" cy="11973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1290400" cy="126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216000"/>
            <a:ext cx="2052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パケット交換と回線交換</a:t>
            </a:r>
          </a:p>
        </p:txBody>
      </p:sp>
      <p:sp>
        <p:nvSpPr>
          <p:cNvPr id="5" name="Rectangle 4"/>
          <p:cNvSpPr/>
          <p:nvPr/>
        </p:nvSpPr>
        <p:spPr>
          <a:xfrm>
            <a:off x="360000" y="1440000"/>
            <a:ext cx="20520000" cy="1260000"/>
          </a:xfrm>
          <a:prstGeom prst="rect">
            <a:avLst/>
          </a:prstGeom>
          <a:solidFill>
            <a:srgbClr val="BDE4FC"/>
          </a:solidFill>
          <a:ln w="19050">
            <a:solidFill>
              <a:srgbClr val="013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1548000"/>
            <a:ext cx="201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2020"/>
                </a:solidFill>
              </a:rPr>
              <a:t>データ転送方式の2つのアプローチ。回線交換は専用経路を確立、パケット交換はデータを小分けにして共有ネットワークで転送する。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0000" y="2880000"/>
            <a:ext cx="6360000" cy="7200000"/>
          </a:xfrm>
          <a:prstGeom prst="rect">
            <a:avLst/>
          </a:prstGeom>
          <a:solidFill>
            <a:srgbClr val="013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回線交換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通信開始時に専用回線を確保。帯域が保証されるが未使用でも占有。電話網の従来方式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0000" y="2880000"/>
            <a:ext cx="6360000" cy="7200000"/>
          </a:xfrm>
          <a:prstGeom prst="rect">
            <a:avLst/>
          </a:prstGeom>
          <a:solidFill>
            <a:srgbClr val="015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8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パケット交換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8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データをパケットに分割し個別にルーティング。回線を共有し効率的。インターネットの基盤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800000" y="2880000"/>
            <a:ext cx="6360000" cy="7200000"/>
          </a:xfrm>
          <a:prstGeom prst="rect">
            <a:avLst/>
          </a:prstGeom>
          <a:solidFill>
            <a:srgbClr val="EBA8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800000" y="2988000"/>
            <a:ext cx="6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</a:rPr>
              <a:t>ストアアンドフォワード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00000" y="3528000"/>
            <a:ext cx="6360000" cy="64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各ルータでパケットを受信してから転送。遅延は増えるが障害耐性・柔軟性が高い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13CA6"/>
      </a:dk2>
      <a:lt2>
        <a:srgbClr val="F3FAFE"/>
      </a:lt2>
      <a:accent1>
        <a:srgbClr val="013CA6"/>
      </a:accent1>
      <a:accent2>
        <a:srgbClr val="BDE4FC"/>
      </a:accent2>
      <a:accent3>
        <a:srgbClr val="F3FAFE"/>
      </a:accent3>
      <a:accent4>
        <a:srgbClr val="EBA81A"/>
      </a:accent4>
      <a:accent5>
        <a:srgbClr val="00B050"/>
      </a:accent5>
      <a:accent6>
        <a:srgbClr val="FF0000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