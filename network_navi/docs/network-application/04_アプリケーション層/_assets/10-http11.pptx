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Lst>
  <p:sldSz cx="21290400" cy="119736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21290400" cy="119736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1290400" cy="1260000"/>
          </a:xfrm>
          <a:prstGeom prst="rect">
            <a:avLst/>
          </a:prstGeom>
          <a:solidFill>
            <a:srgbClr val="013CA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360000" y="216000"/>
            <a:ext cx="20520000" cy="864000"/>
          </a:xfrm>
          <a:prstGeom prst="rect">
            <a:avLst/>
          </a:prstGeom>
          <a:noFill/>
        </p:spPr>
        <p:txBody>
          <a:bodyPr wrap="square">
            <a:spAutoFit/>
          </a:bodyPr>
          <a:lstStyle/>
          <a:p>
            <a:pPr algn="ctr"/>
            <a:r>
              <a:rPr sz="3000" b="1">
                <a:solidFill>
                  <a:srgbClr val="FFFFFF"/>
                </a:solidFill>
              </a:rPr>
              <a:t>HTTP/1.1 の構造（リクエスト・レスポンス）</a:t>
            </a:r>
          </a:p>
        </p:txBody>
      </p:sp>
      <p:sp>
        <p:nvSpPr>
          <p:cNvPr id="5" name="Rectangle 4"/>
          <p:cNvSpPr/>
          <p:nvPr/>
        </p:nvSpPr>
        <p:spPr>
          <a:xfrm>
            <a:off x="360000" y="1440000"/>
            <a:ext cx="20520000" cy="1260000"/>
          </a:xfrm>
          <a:prstGeom prst="rect">
            <a:avLst/>
          </a:prstGeom>
          <a:solidFill>
            <a:srgbClr val="BDE4FC"/>
          </a:solidFill>
          <a:ln w="19050">
            <a:solidFill>
              <a:srgbClr val="013CA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0000" y="1548000"/>
            <a:ext cx="20160000" cy="1080000"/>
          </a:xfrm>
          <a:prstGeom prst="rect">
            <a:avLst/>
          </a:prstGeom>
          <a:noFill/>
        </p:spPr>
        <p:txBody>
          <a:bodyPr wrap="square">
            <a:spAutoFit/>
          </a:bodyPr>
          <a:lstStyle/>
          <a:p>
            <a:pPr algn="l"/>
            <a:r>
              <a:rPr sz="1800" b="0">
                <a:solidFill>
                  <a:srgbClr val="202020"/>
                </a:solidFill>
              </a:rPr>
              <a:t>テキストベースのリクエスト/レスポンスプロトコル。持続的接続・チャンク転送・キャッシュ制御を追加したHTTP/1.0の改善版。</a:t>
            </a:r>
          </a:p>
        </p:txBody>
      </p:sp>
      <p:sp>
        <p:nvSpPr>
          <p:cNvPr id="7" name="Rectangle 6"/>
          <p:cNvSpPr/>
          <p:nvPr/>
        </p:nvSpPr>
        <p:spPr>
          <a:xfrm>
            <a:off x="360000" y="2880000"/>
            <a:ext cx="6360000" cy="3510000"/>
          </a:xfrm>
          <a:prstGeom prst="rect">
            <a:avLst/>
          </a:prstGeom>
          <a:solidFill>
            <a:srgbClr val="013CA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360000" y="2988000"/>
            <a:ext cx="6360000" cy="540000"/>
          </a:xfrm>
          <a:prstGeom prst="rect">
            <a:avLst/>
          </a:prstGeom>
          <a:noFill/>
        </p:spPr>
        <p:txBody>
          <a:bodyPr wrap="square">
            <a:spAutoFit/>
          </a:bodyPr>
          <a:lstStyle/>
          <a:p>
            <a:pPr algn="ctr"/>
            <a:r>
              <a:rPr sz="2000" b="1">
                <a:solidFill>
                  <a:srgbClr val="FFFFFF"/>
                </a:solidFill>
              </a:rPr>
              <a:t>リクエスト構造</a:t>
            </a:r>
          </a:p>
        </p:txBody>
      </p:sp>
      <p:sp>
        <p:nvSpPr>
          <p:cNvPr id="9" name="TextBox 8"/>
          <p:cNvSpPr txBox="1"/>
          <p:nvPr/>
        </p:nvSpPr>
        <p:spPr>
          <a:xfrm>
            <a:off x="360000" y="3528000"/>
            <a:ext cx="6360000" cy="2790000"/>
          </a:xfrm>
          <a:prstGeom prst="rect">
            <a:avLst/>
          </a:prstGeom>
          <a:noFill/>
        </p:spPr>
        <p:txBody>
          <a:bodyPr wrap="square">
            <a:spAutoFit/>
          </a:bodyPr>
          <a:lstStyle/>
          <a:p>
            <a:pPr algn="ctr"/>
            <a:r>
              <a:rPr sz="1600" b="0">
                <a:solidFill>
                  <a:srgbClr val="FFFFFF"/>
                </a:solidFill>
              </a:rPr>
              <a:t>メソッド(GET/POST/PUT/DELETE)+URL+バージョン、ヘッダフィールド、メッセージボディ</a:t>
            </a:r>
          </a:p>
        </p:txBody>
      </p:sp>
      <p:sp>
        <p:nvSpPr>
          <p:cNvPr id="10" name="Rectangle 9"/>
          <p:cNvSpPr/>
          <p:nvPr/>
        </p:nvSpPr>
        <p:spPr>
          <a:xfrm>
            <a:off x="7080000" y="2880000"/>
            <a:ext cx="6360000" cy="3510000"/>
          </a:xfrm>
          <a:prstGeom prst="rect">
            <a:avLst/>
          </a:prstGeom>
          <a:solidFill>
            <a:srgbClr val="015A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080000" y="2988000"/>
            <a:ext cx="6360000" cy="540000"/>
          </a:xfrm>
          <a:prstGeom prst="rect">
            <a:avLst/>
          </a:prstGeom>
          <a:noFill/>
        </p:spPr>
        <p:txBody>
          <a:bodyPr wrap="square">
            <a:spAutoFit/>
          </a:bodyPr>
          <a:lstStyle/>
          <a:p>
            <a:pPr algn="ctr"/>
            <a:r>
              <a:rPr sz="2000" b="1">
                <a:solidFill>
                  <a:srgbClr val="FFFFFF"/>
                </a:solidFill>
              </a:rPr>
              <a:t>持続的接続</a:t>
            </a:r>
          </a:p>
        </p:txBody>
      </p:sp>
      <p:sp>
        <p:nvSpPr>
          <p:cNvPr id="12" name="TextBox 11"/>
          <p:cNvSpPr txBox="1"/>
          <p:nvPr/>
        </p:nvSpPr>
        <p:spPr>
          <a:xfrm>
            <a:off x="7080000" y="3528000"/>
            <a:ext cx="6360000" cy="2790000"/>
          </a:xfrm>
          <a:prstGeom prst="rect">
            <a:avLst/>
          </a:prstGeom>
          <a:noFill/>
        </p:spPr>
        <p:txBody>
          <a:bodyPr wrap="square">
            <a:spAutoFit/>
          </a:bodyPr>
          <a:lstStyle/>
          <a:p>
            <a:pPr algn="ctr"/>
            <a:r>
              <a:rPr sz="1600" b="0">
                <a:solidFill>
                  <a:srgbClr val="FFFFFF"/>
                </a:solidFill>
              </a:rPr>
              <a:t>Connection: keep-aliveで1つのTCP接続を再利用。TCPハンドシェイクのオーバーヘッドを削減</a:t>
            </a:r>
          </a:p>
        </p:txBody>
      </p:sp>
      <p:sp>
        <p:nvSpPr>
          <p:cNvPr id="13" name="Rectangle 12"/>
          <p:cNvSpPr/>
          <p:nvPr/>
        </p:nvSpPr>
        <p:spPr>
          <a:xfrm>
            <a:off x="13800000" y="2880000"/>
            <a:ext cx="6360000" cy="3510000"/>
          </a:xfrm>
          <a:prstGeom prst="rect">
            <a:avLst/>
          </a:prstGeom>
          <a:solidFill>
            <a:srgbClr val="EBA81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13800000" y="2988000"/>
            <a:ext cx="6360000" cy="540000"/>
          </a:xfrm>
          <a:prstGeom prst="rect">
            <a:avLst/>
          </a:prstGeom>
          <a:noFill/>
        </p:spPr>
        <p:txBody>
          <a:bodyPr wrap="square">
            <a:spAutoFit/>
          </a:bodyPr>
          <a:lstStyle/>
          <a:p>
            <a:pPr algn="ctr"/>
            <a:r>
              <a:rPr sz="2000" b="1">
                <a:solidFill>
                  <a:srgbClr val="FFFFFF"/>
                </a:solidFill>
              </a:rPr>
              <a:t>HoLブロッキング</a:t>
            </a:r>
          </a:p>
        </p:txBody>
      </p:sp>
      <p:sp>
        <p:nvSpPr>
          <p:cNvPr id="15" name="TextBox 14"/>
          <p:cNvSpPr txBox="1"/>
          <p:nvPr/>
        </p:nvSpPr>
        <p:spPr>
          <a:xfrm>
            <a:off x="13800000" y="3528000"/>
            <a:ext cx="6360000" cy="2790000"/>
          </a:xfrm>
          <a:prstGeom prst="rect">
            <a:avLst/>
          </a:prstGeom>
          <a:noFill/>
        </p:spPr>
        <p:txBody>
          <a:bodyPr wrap="square">
            <a:spAutoFit/>
          </a:bodyPr>
          <a:lstStyle/>
          <a:p>
            <a:pPr algn="ctr"/>
            <a:r>
              <a:rPr sz="1600" b="0">
                <a:solidFill>
                  <a:srgbClr val="FFFFFF"/>
                </a:solidFill>
              </a:rPr>
              <a:t>パイプラインングはあるが直列処理のため前のリクエストが詰まると後続もブロック</a:t>
            </a:r>
          </a:p>
        </p:txBody>
      </p:sp>
      <p:sp>
        <p:nvSpPr>
          <p:cNvPr id="16" name="Rectangle 15"/>
          <p:cNvSpPr/>
          <p:nvPr/>
        </p:nvSpPr>
        <p:spPr>
          <a:xfrm>
            <a:off x="360000" y="6570000"/>
            <a:ext cx="6360000" cy="3510000"/>
          </a:xfrm>
          <a:prstGeom prst="rect">
            <a:avLst/>
          </a:prstGeom>
          <a:solidFill>
            <a:srgbClr val="00B05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360000" y="6678000"/>
            <a:ext cx="6360000" cy="540000"/>
          </a:xfrm>
          <a:prstGeom prst="rect">
            <a:avLst/>
          </a:prstGeom>
          <a:noFill/>
        </p:spPr>
        <p:txBody>
          <a:bodyPr wrap="square">
            <a:spAutoFit/>
          </a:bodyPr>
          <a:lstStyle/>
          <a:p>
            <a:pPr algn="ctr"/>
            <a:r>
              <a:rPr sz="2000" b="1">
                <a:solidFill>
                  <a:srgbClr val="FFFFFF"/>
                </a:solidFill>
              </a:rPr>
              <a:t>キャッシュ制御</a:t>
            </a:r>
          </a:p>
        </p:txBody>
      </p:sp>
      <p:sp>
        <p:nvSpPr>
          <p:cNvPr id="18" name="TextBox 17"/>
          <p:cNvSpPr txBox="1"/>
          <p:nvPr/>
        </p:nvSpPr>
        <p:spPr>
          <a:xfrm>
            <a:off x="360000" y="7218000"/>
            <a:ext cx="6360000" cy="2790000"/>
          </a:xfrm>
          <a:prstGeom prst="rect">
            <a:avLst/>
          </a:prstGeom>
          <a:noFill/>
        </p:spPr>
        <p:txBody>
          <a:bodyPr wrap="square">
            <a:spAutoFit/>
          </a:bodyPr>
          <a:lstStyle/>
          <a:p>
            <a:pPr algn="ctr"/>
            <a:r>
              <a:rPr sz="1600" b="0">
                <a:solidFill>
                  <a:srgbClr val="FFFFFF"/>
                </a:solidFill>
              </a:rPr>
              <a:t>Cache-Control・ETag・Last-Modifiedで効率的なキャッシュ管理を実現</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13CA6"/>
      </a:dk2>
      <a:lt2>
        <a:srgbClr val="F3FAFE"/>
      </a:lt2>
      <a:accent1>
        <a:srgbClr val="013CA6"/>
      </a:accent1>
      <a:accent2>
        <a:srgbClr val="BDE4FC"/>
      </a:accent2>
      <a:accent3>
        <a:srgbClr val="F3FAFE"/>
      </a:accent3>
      <a:accent4>
        <a:srgbClr val="EBA81A"/>
      </a:accent4>
      <a:accent5>
        <a:srgbClr val="00B050"/>
      </a:accent5>
      <a:accent6>
        <a:srgbClr val="FF0000"/>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