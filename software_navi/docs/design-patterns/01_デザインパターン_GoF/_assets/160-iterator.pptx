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1290400" cy="11973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290400" cy="1197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290400" cy="126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216000"/>
            <a:ext cx="20520000" cy="864000"/>
          </a:xfrm>
          <a:prstGeom prst="rect">
            <a:avLst/>
          </a:prstGeom>
          <a:noFill/>
        </p:spPr>
        <p:txBody>
          <a:bodyPr wrap="square">
            <a:spAutoFit/>
          </a:bodyPr>
          <a:lstStyle/>
          <a:p>
            <a:pPr algn="ctr"/>
            <a:r>
              <a:rPr sz="3000" b="1">
                <a:solidFill>
                  <a:srgbClr val="FFFFFF"/>
                </a:solidFill>
              </a:rPr>
              <a:t>Iterator パターン</a:t>
            </a:r>
          </a:p>
        </p:txBody>
      </p:sp>
      <p:sp>
        <p:nvSpPr>
          <p:cNvPr id="5" name="Rectangle 4"/>
          <p:cNvSpPr/>
          <p:nvPr/>
        </p:nvSpPr>
        <p:spPr>
          <a:xfrm>
            <a:off x="360000" y="1440000"/>
            <a:ext cx="20520000" cy="1260000"/>
          </a:xfrm>
          <a:prstGeom prst="rect">
            <a:avLst/>
          </a:prstGeom>
          <a:solidFill>
            <a:srgbClr val="BDE4FC"/>
          </a:solidFill>
          <a:ln w="19050">
            <a:solidFill>
              <a:srgbClr val="013C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1548000"/>
            <a:ext cx="20160000" cy="1080000"/>
          </a:xfrm>
          <a:prstGeom prst="rect">
            <a:avLst/>
          </a:prstGeom>
          <a:noFill/>
        </p:spPr>
        <p:txBody>
          <a:bodyPr wrap="square">
            <a:spAutoFit/>
          </a:bodyPr>
          <a:lstStyle/>
          <a:p>
            <a:pPr algn="l"/>
            <a:r>
              <a:rPr sz="1800" b="0">
                <a:solidFill>
                  <a:srgbClr val="202020"/>
                </a:solidFill>
              </a:rPr>
              <a:t>コレクションの内部表現を公開せずに順番にアクセスする方法を提供するパターン。</a:t>
            </a:r>
          </a:p>
        </p:txBody>
      </p:sp>
      <p:sp>
        <p:nvSpPr>
          <p:cNvPr id="7" name="Rectangle 6"/>
          <p:cNvSpPr/>
          <p:nvPr/>
        </p:nvSpPr>
        <p:spPr>
          <a:xfrm>
            <a:off x="360000" y="2880000"/>
            <a:ext cx="6360000" cy="720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2988000"/>
            <a:ext cx="6360000" cy="540000"/>
          </a:xfrm>
          <a:prstGeom prst="rect">
            <a:avLst/>
          </a:prstGeom>
          <a:noFill/>
        </p:spPr>
        <p:txBody>
          <a:bodyPr wrap="square">
            <a:spAutoFit/>
          </a:bodyPr>
          <a:lstStyle/>
          <a:p>
            <a:pPr algn="ctr"/>
            <a:r>
              <a:rPr sz="2000" b="1">
                <a:solidFill>
                  <a:srgbClr val="FFFFFF"/>
                </a:solidFill>
              </a:rPr>
              <a:t>Iterator インタフェース</a:t>
            </a:r>
          </a:p>
        </p:txBody>
      </p:sp>
      <p:sp>
        <p:nvSpPr>
          <p:cNvPr id="9" name="TextBox 8"/>
          <p:cNvSpPr txBox="1"/>
          <p:nvPr/>
        </p:nvSpPr>
        <p:spPr>
          <a:xfrm>
            <a:off x="360000" y="3528000"/>
            <a:ext cx="6360000" cy="6480000"/>
          </a:xfrm>
          <a:prstGeom prst="rect">
            <a:avLst/>
          </a:prstGeom>
          <a:noFill/>
        </p:spPr>
        <p:txBody>
          <a:bodyPr wrap="square">
            <a:spAutoFit/>
          </a:bodyPr>
          <a:lstStyle/>
          <a:p>
            <a:pPr algn="ctr"/>
            <a:r>
              <a:rPr sz="1600" b="0">
                <a:solidFill>
                  <a:srgbClr val="FFFFFF"/>
                </a:solidFill>
              </a:rPr>
              <a:t>hasNext()とnext()を持つ。コレクションの実装(配列・リスト・ツリー)に依存しない統一アクセス</a:t>
            </a:r>
          </a:p>
        </p:txBody>
      </p:sp>
      <p:sp>
        <p:nvSpPr>
          <p:cNvPr id="10" name="Rectangle 9"/>
          <p:cNvSpPr/>
          <p:nvPr/>
        </p:nvSpPr>
        <p:spPr>
          <a:xfrm>
            <a:off x="7080000" y="2880000"/>
            <a:ext cx="6360000" cy="7200000"/>
          </a:xfrm>
          <a:prstGeom prst="rect">
            <a:avLst/>
          </a:prstGeom>
          <a:solidFill>
            <a:srgbClr val="015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0000" y="2988000"/>
            <a:ext cx="6360000" cy="540000"/>
          </a:xfrm>
          <a:prstGeom prst="rect">
            <a:avLst/>
          </a:prstGeom>
          <a:noFill/>
        </p:spPr>
        <p:txBody>
          <a:bodyPr wrap="square">
            <a:spAutoFit/>
          </a:bodyPr>
          <a:lstStyle/>
          <a:p>
            <a:pPr algn="ctr"/>
            <a:r>
              <a:rPr sz="2000" b="1">
                <a:solidFill>
                  <a:srgbClr val="FFFFFF"/>
                </a:solidFill>
              </a:rPr>
              <a:t>内部イテレータ</a:t>
            </a:r>
          </a:p>
        </p:txBody>
      </p:sp>
      <p:sp>
        <p:nvSpPr>
          <p:cNvPr id="12" name="TextBox 11"/>
          <p:cNvSpPr txBox="1"/>
          <p:nvPr/>
        </p:nvSpPr>
        <p:spPr>
          <a:xfrm>
            <a:off x="7080000" y="3528000"/>
            <a:ext cx="6360000" cy="6480000"/>
          </a:xfrm>
          <a:prstGeom prst="rect">
            <a:avLst/>
          </a:prstGeom>
          <a:noFill/>
        </p:spPr>
        <p:txBody>
          <a:bodyPr wrap="square">
            <a:spAutoFit/>
          </a:bodyPr>
          <a:lstStyle/>
          <a:p>
            <a:pPr algn="ctr"/>
            <a:r>
              <a:rPr sz="1600" b="0">
                <a:solidFill>
                  <a:srgbClr val="FFFFFF"/>
                </a:solidFill>
              </a:rPr>
              <a:t>言語のforeach/for-in構文。コレクション自身が制御を持つ。mapやfilterが典型例</a:t>
            </a:r>
          </a:p>
        </p:txBody>
      </p:sp>
      <p:sp>
        <p:nvSpPr>
          <p:cNvPr id="13" name="Rectangle 12"/>
          <p:cNvSpPr/>
          <p:nvPr/>
        </p:nvSpPr>
        <p:spPr>
          <a:xfrm>
            <a:off x="13800000" y="2880000"/>
            <a:ext cx="6360000" cy="7200000"/>
          </a:xfrm>
          <a:prstGeom prst="rect">
            <a:avLst/>
          </a:prstGeom>
          <a:solidFill>
            <a:srgbClr val="EBA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00000" y="2988000"/>
            <a:ext cx="6360000" cy="540000"/>
          </a:xfrm>
          <a:prstGeom prst="rect">
            <a:avLst/>
          </a:prstGeom>
          <a:noFill/>
        </p:spPr>
        <p:txBody>
          <a:bodyPr wrap="square">
            <a:spAutoFit/>
          </a:bodyPr>
          <a:lstStyle/>
          <a:p>
            <a:pPr algn="ctr"/>
            <a:r>
              <a:rPr sz="2000" b="1">
                <a:solidFill>
                  <a:srgbClr val="FFFFFF"/>
                </a:solidFill>
              </a:rPr>
              <a:t>外部イテレータ</a:t>
            </a:r>
          </a:p>
        </p:txBody>
      </p:sp>
      <p:sp>
        <p:nvSpPr>
          <p:cNvPr id="15" name="TextBox 14"/>
          <p:cNvSpPr txBox="1"/>
          <p:nvPr/>
        </p:nvSpPr>
        <p:spPr>
          <a:xfrm>
            <a:off x="13800000" y="3528000"/>
            <a:ext cx="6360000" cy="6480000"/>
          </a:xfrm>
          <a:prstGeom prst="rect">
            <a:avLst/>
          </a:prstGeom>
          <a:noFill/>
        </p:spPr>
        <p:txBody>
          <a:bodyPr wrap="square">
            <a:spAutoFit/>
          </a:bodyPr>
          <a:lstStyle/>
          <a:p>
            <a:pPr algn="ctr"/>
            <a:r>
              <a:rPr sz="1600" b="0">
                <a:solidFill>
                  <a:srgbClr val="FFFFFF"/>
                </a:solidFill>
              </a:rPr>
              <a:t>呼び出し元がnext()を制御。複数コレクションの並列走査・ジェネレータ・Cursor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13CA6"/>
      </a:dk2>
      <a:lt2>
        <a:srgbClr val="F3FAFE"/>
      </a:lt2>
      <a:accent1>
        <a:srgbClr val="013CA6"/>
      </a:accent1>
      <a:accent2>
        <a:srgbClr val="BDE4FC"/>
      </a:accent2>
      <a:accent3>
        <a:srgbClr val="F3FAFE"/>
      </a:accent3>
      <a:accent4>
        <a:srgbClr val="EBA81A"/>
      </a:accent4>
      <a:accent5>
        <a:srgbClr val="00B050"/>
      </a:accent5>
      <a:accent6>
        <a:srgbClr val="FF000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