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290400" cy="1197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290400" cy="1197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290400" cy="126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216000"/>
            <a:ext cx="20520000" cy="864000"/>
          </a:xfrm>
          <a:prstGeom prst="rect">
            <a:avLst/>
          </a:prstGeom>
          <a:noFill/>
        </p:spPr>
        <p:txBody>
          <a:bodyPr wrap="square">
            <a:spAutoFit/>
          </a:bodyPr>
          <a:lstStyle/>
          <a:p>
            <a:pPr algn="ctr"/>
            <a:r>
              <a:rPr sz="3000" b="1">
                <a:solidFill>
                  <a:srgbClr val="FFFFFF"/>
                </a:solidFill>
              </a:rPr>
              <a:t>Saga パターン（分散トランザクション）</a:t>
            </a:r>
          </a:p>
        </p:txBody>
      </p:sp>
      <p:sp>
        <p:nvSpPr>
          <p:cNvPr id="5" name="Rectangle 4"/>
          <p:cNvSpPr/>
          <p:nvPr/>
        </p:nvSpPr>
        <p:spPr>
          <a:xfrm>
            <a:off x="360000" y="1440000"/>
            <a:ext cx="20520000" cy="1260000"/>
          </a:xfrm>
          <a:prstGeom prst="rect">
            <a:avLst/>
          </a:prstGeom>
          <a:solidFill>
            <a:srgbClr val="BDE4FC"/>
          </a:solidFill>
          <a:ln w="19050">
            <a:solidFill>
              <a:srgbClr val="013C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548000"/>
            <a:ext cx="20160000" cy="1080000"/>
          </a:xfrm>
          <a:prstGeom prst="rect">
            <a:avLst/>
          </a:prstGeom>
          <a:noFill/>
        </p:spPr>
        <p:txBody>
          <a:bodyPr wrap="square">
            <a:spAutoFit/>
          </a:bodyPr>
          <a:lstStyle/>
          <a:p>
            <a:pPr algn="l"/>
            <a:r>
              <a:rPr sz="1800" b="0">
                <a:solidFill>
                  <a:srgbClr val="202020"/>
                </a:solidFill>
              </a:rPr>
              <a:t>マイクロサービス間にまたがるトランザクションを一連の局所トランザクションと補償アクションで管理するパターン。</a:t>
            </a:r>
          </a:p>
        </p:txBody>
      </p:sp>
      <p:sp>
        <p:nvSpPr>
          <p:cNvPr id="7" name="Rectangle 6"/>
          <p:cNvSpPr/>
          <p:nvPr/>
        </p:nvSpPr>
        <p:spPr>
          <a:xfrm>
            <a:off x="360000" y="2880000"/>
            <a:ext cx="6360000" cy="720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988000"/>
            <a:ext cx="6360000" cy="540000"/>
          </a:xfrm>
          <a:prstGeom prst="rect">
            <a:avLst/>
          </a:prstGeom>
          <a:noFill/>
        </p:spPr>
        <p:txBody>
          <a:bodyPr wrap="square">
            <a:spAutoFit/>
          </a:bodyPr>
          <a:lstStyle/>
          <a:p>
            <a:pPr algn="ctr"/>
            <a:r>
              <a:rPr sz="2000" b="1">
                <a:solidFill>
                  <a:srgbClr val="FFFFFF"/>
                </a:solidFill>
              </a:rPr>
              <a:t>コレオグラフィSaga</a:t>
            </a:r>
          </a:p>
        </p:txBody>
      </p:sp>
      <p:sp>
        <p:nvSpPr>
          <p:cNvPr id="9" name="TextBox 8"/>
          <p:cNvSpPr txBox="1"/>
          <p:nvPr/>
        </p:nvSpPr>
        <p:spPr>
          <a:xfrm>
            <a:off x="360000" y="3528000"/>
            <a:ext cx="6360000" cy="6480000"/>
          </a:xfrm>
          <a:prstGeom prst="rect">
            <a:avLst/>
          </a:prstGeom>
          <a:noFill/>
        </p:spPr>
        <p:txBody>
          <a:bodyPr wrap="square">
            <a:spAutoFit/>
          </a:bodyPr>
          <a:lstStyle/>
          <a:p>
            <a:pPr algn="ctr"/>
            <a:r>
              <a:rPr sz="1600" b="0">
                <a:solidFill>
                  <a:srgbClr val="FFFFFF"/>
                </a:solidFill>
              </a:rPr>
              <a:t>各サービスがイベントを発行し次のサービスがリスニング。中央オーケストレーターなし</a:t>
            </a:r>
          </a:p>
        </p:txBody>
      </p:sp>
      <p:sp>
        <p:nvSpPr>
          <p:cNvPr id="10" name="Rectangle 9"/>
          <p:cNvSpPr/>
          <p:nvPr/>
        </p:nvSpPr>
        <p:spPr>
          <a:xfrm>
            <a:off x="7080000" y="2880000"/>
            <a:ext cx="6360000" cy="7200000"/>
          </a:xfrm>
          <a:prstGeom prst="rect">
            <a:avLst/>
          </a:prstGeom>
          <a:solidFill>
            <a:srgbClr val="015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0000" y="2988000"/>
            <a:ext cx="6360000" cy="540000"/>
          </a:xfrm>
          <a:prstGeom prst="rect">
            <a:avLst/>
          </a:prstGeom>
          <a:noFill/>
        </p:spPr>
        <p:txBody>
          <a:bodyPr wrap="square">
            <a:spAutoFit/>
          </a:bodyPr>
          <a:lstStyle/>
          <a:p>
            <a:pPr algn="ctr"/>
            <a:r>
              <a:rPr sz="2000" b="1">
                <a:solidFill>
                  <a:srgbClr val="FFFFFF"/>
                </a:solidFill>
              </a:rPr>
              <a:t>オーケストレーションSaga</a:t>
            </a:r>
          </a:p>
        </p:txBody>
      </p:sp>
      <p:sp>
        <p:nvSpPr>
          <p:cNvPr id="12" name="TextBox 11"/>
          <p:cNvSpPr txBox="1"/>
          <p:nvPr/>
        </p:nvSpPr>
        <p:spPr>
          <a:xfrm>
            <a:off x="7080000" y="3528000"/>
            <a:ext cx="6360000" cy="6480000"/>
          </a:xfrm>
          <a:prstGeom prst="rect">
            <a:avLst/>
          </a:prstGeom>
          <a:noFill/>
        </p:spPr>
        <p:txBody>
          <a:bodyPr wrap="square">
            <a:spAutoFit/>
          </a:bodyPr>
          <a:lstStyle/>
          <a:p>
            <a:pPr algn="ctr"/>
            <a:r>
              <a:rPr sz="1600" b="0">
                <a:solidFill>
                  <a:srgbClr val="FFFFFF"/>
                </a:solidFill>
              </a:rPr>
              <a:t>中央Saga Orchestratorが各サービスに命令。フローを一元管理しやすい</a:t>
            </a:r>
          </a:p>
        </p:txBody>
      </p:sp>
      <p:sp>
        <p:nvSpPr>
          <p:cNvPr id="13" name="Rectangle 12"/>
          <p:cNvSpPr/>
          <p:nvPr/>
        </p:nvSpPr>
        <p:spPr>
          <a:xfrm>
            <a:off x="13800000" y="2880000"/>
            <a:ext cx="6360000" cy="7200000"/>
          </a:xfrm>
          <a:prstGeom prst="rect">
            <a:avLst/>
          </a:prstGeom>
          <a:solidFill>
            <a:srgbClr val="EBA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00000" y="2988000"/>
            <a:ext cx="6360000" cy="540000"/>
          </a:xfrm>
          <a:prstGeom prst="rect">
            <a:avLst/>
          </a:prstGeom>
          <a:noFill/>
        </p:spPr>
        <p:txBody>
          <a:bodyPr wrap="square">
            <a:spAutoFit/>
          </a:bodyPr>
          <a:lstStyle/>
          <a:p>
            <a:pPr algn="ctr"/>
            <a:r>
              <a:rPr sz="2000" b="1">
                <a:solidFill>
                  <a:srgbClr val="FFFFFF"/>
                </a:solidFill>
              </a:rPr>
              <a:t>補償トランザクション</a:t>
            </a:r>
          </a:p>
        </p:txBody>
      </p:sp>
      <p:sp>
        <p:nvSpPr>
          <p:cNvPr id="15" name="TextBox 14"/>
          <p:cNvSpPr txBox="1"/>
          <p:nvPr/>
        </p:nvSpPr>
        <p:spPr>
          <a:xfrm>
            <a:off x="13800000" y="3528000"/>
            <a:ext cx="6360000" cy="6480000"/>
          </a:xfrm>
          <a:prstGeom prst="rect">
            <a:avLst/>
          </a:prstGeom>
          <a:noFill/>
        </p:spPr>
        <p:txBody>
          <a:bodyPr wrap="square">
            <a:spAutoFit/>
          </a:bodyPr>
          <a:lstStyle/>
          <a:p>
            <a:pPr algn="ctr"/>
            <a:r>
              <a:rPr sz="1600" b="0">
                <a:solidFill>
                  <a:srgbClr val="FFFFFF"/>
                </a:solidFill>
              </a:rPr>
              <a:t>前のステップを取り消すreversible操作を定義。ビジネスロジックとして補償を実装</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13CA6"/>
      </a:dk2>
      <a:lt2>
        <a:srgbClr val="F3FAFE"/>
      </a:lt2>
      <a:accent1>
        <a:srgbClr val="013CA6"/>
      </a:accent1>
      <a:accent2>
        <a:srgbClr val="BDE4FC"/>
      </a:accent2>
      <a:accent3>
        <a:srgbClr val="F3FAFE"/>
      </a:accent3>
      <a:accent4>
        <a:srgbClr val="EBA81A"/>
      </a:accent4>
      <a:accent5>
        <a:srgbClr val="00B05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