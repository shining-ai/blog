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21290400" cy="11973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1290400" cy="11973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290400" cy="1260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0000" y="216000"/>
            <a:ext cx="20520000" cy="86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FFFFFF"/>
                </a:solidFill>
              </a:rPr>
              <a:t>インシデント管理と障害対応</a:t>
            </a:r>
          </a:p>
        </p:txBody>
      </p:sp>
      <p:sp>
        <p:nvSpPr>
          <p:cNvPr id="5" name="Rectangle 4"/>
          <p:cNvSpPr/>
          <p:nvPr/>
        </p:nvSpPr>
        <p:spPr>
          <a:xfrm>
            <a:off x="360000" y="1440000"/>
            <a:ext cx="20520000" cy="1260000"/>
          </a:xfrm>
          <a:prstGeom prst="rect">
            <a:avLst/>
          </a:prstGeom>
          <a:solidFill>
            <a:srgbClr val="BDE4FC"/>
          </a:solidFill>
          <a:ln w="190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0000" y="1548000"/>
            <a:ext cx="2016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202020"/>
                </a:solidFill>
              </a:rPr>
              <a:t>本番障害を迅速に検知・対応・復旧するプロセス。ポストモーテムで根本原因を分析し再発防止策を実施する。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360000" y="2880000"/>
            <a:ext cx="6360000" cy="7200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0000" y="2988000"/>
            <a:ext cx="6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インシデント対応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0000" y="3528000"/>
            <a:ext cx="6360000" cy="64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検知→トリアージ→対応チーム招集→原因調査→緩和→復旧→コミュニケーション</a:t>
            </a:r>
          </a:p>
        </p:txBody>
      </p:sp>
      <p:sp>
        <p:nvSpPr>
          <p:cNvPr id="10" name="Rectangle 9"/>
          <p:cNvSpPr/>
          <p:nvPr/>
        </p:nvSpPr>
        <p:spPr>
          <a:xfrm>
            <a:off x="7080000" y="2880000"/>
            <a:ext cx="6360000" cy="7200000"/>
          </a:xfrm>
          <a:prstGeom prst="rect">
            <a:avLst/>
          </a:prstGeom>
          <a:solidFill>
            <a:srgbClr val="015A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80000" y="2988000"/>
            <a:ext cx="6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ポストモーテム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80000" y="3528000"/>
            <a:ext cx="6360000" cy="64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非難なしで根本原因を分析。タイムライン・影響範囲・5 Whys・改善アクションを文書化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3800000" y="2880000"/>
            <a:ext cx="6360000" cy="7200000"/>
          </a:xfrm>
          <a:prstGeom prst="rect">
            <a:avLst/>
          </a:prstGeom>
          <a:solidFill>
            <a:srgbClr val="EBA8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800000" y="2988000"/>
            <a:ext cx="6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SRE On-Call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800000" y="3528000"/>
            <a:ext cx="6360000" cy="64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アラートのルーティング・エスカレーション。Runbook で対応手順を標準化。疲弊防止が重要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13CA6"/>
      </a:dk2>
      <a:lt2>
        <a:srgbClr val="F3FAFE"/>
      </a:lt2>
      <a:accent1>
        <a:srgbClr val="013CA6"/>
      </a:accent1>
      <a:accent2>
        <a:srgbClr val="BDE4FC"/>
      </a:accent2>
      <a:accent3>
        <a:srgbClr val="F3FAFE"/>
      </a:accent3>
      <a:accent4>
        <a:srgbClr val="EBA81A"/>
      </a:accent4>
      <a:accent5>
        <a:srgbClr val="00B050"/>
      </a:accent5>
      <a:accent6>
        <a:srgbClr val="FF0000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