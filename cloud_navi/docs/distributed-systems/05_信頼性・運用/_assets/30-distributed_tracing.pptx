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21290400" cy="119736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21290400" cy="119736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1290400" cy="126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360000" y="216000"/>
            <a:ext cx="20520000" cy="864000"/>
          </a:xfrm>
          <a:prstGeom prst="rect">
            <a:avLst/>
          </a:prstGeom>
          <a:noFill/>
        </p:spPr>
        <p:txBody>
          <a:bodyPr wrap="square">
            <a:spAutoFit/>
          </a:bodyPr>
          <a:lstStyle/>
          <a:p>
            <a:pPr algn="ctr"/>
            <a:r>
              <a:rPr sz="3000" b="1">
                <a:solidFill>
                  <a:srgbClr val="FFFFFF"/>
                </a:solidFill>
              </a:rPr>
              <a:t>分散トレーシング（Jaeger・OpenTelemetry）</a:t>
            </a:r>
          </a:p>
        </p:txBody>
      </p:sp>
      <p:sp>
        <p:nvSpPr>
          <p:cNvPr id="5" name="Rectangle 4"/>
          <p:cNvSpPr/>
          <p:nvPr/>
        </p:nvSpPr>
        <p:spPr>
          <a:xfrm>
            <a:off x="360000" y="1440000"/>
            <a:ext cx="20520000" cy="1260000"/>
          </a:xfrm>
          <a:prstGeom prst="rect">
            <a:avLst/>
          </a:prstGeom>
          <a:solidFill>
            <a:srgbClr val="BDE4FC"/>
          </a:solidFill>
          <a:ln w="19050">
            <a:solidFill>
              <a:srgbClr val="013CA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0000" y="1548000"/>
            <a:ext cx="20160000" cy="1080000"/>
          </a:xfrm>
          <a:prstGeom prst="rect">
            <a:avLst/>
          </a:prstGeom>
          <a:noFill/>
        </p:spPr>
        <p:txBody>
          <a:bodyPr wrap="square">
            <a:spAutoFit/>
          </a:bodyPr>
          <a:lstStyle/>
          <a:p>
            <a:pPr algn="l"/>
            <a:r>
              <a:rPr sz="1800" b="0">
                <a:solidFill>
                  <a:srgbClr val="202020"/>
                </a:solidFill>
              </a:rPr>
              <a:t>マイクロサービス間のリクエスト伝播を追跡して性能ボトルネックや障害原因を特定するオブザーバビリティ技術。</a:t>
            </a:r>
          </a:p>
        </p:txBody>
      </p:sp>
      <p:sp>
        <p:nvSpPr>
          <p:cNvPr id="7" name="Rectangle 6"/>
          <p:cNvSpPr/>
          <p:nvPr/>
        </p:nvSpPr>
        <p:spPr>
          <a:xfrm>
            <a:off x="360000" y="2880000"/>
            <a:ext cx="6360000" cy="7200000"/>
          </a:xfrm>
          <a:prstGeom prst="rect">
            <a:avLst/>
          </a:prstGeom>
          <a:solidFill>
            <a:srgbClr val="013CA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0000" y="2988000"/>
            <a:ext cx="6360000" cy="540000"/>
          </a:xfrm>
          <a:prstGeom prst="rect">
            <a:avLst/>
          </a:prstGeom>
          <a:noFill/>
        </p:spPr>
        <p:txBody>
          <a:bodyPr wrap="square">
            <a:spAutoFit/>
          </a:bodyPr>
          <a:lstStyle/>
          <a:p>
            <a:pPr algn="ctr"/>
            <a:r>
              <a:rPr sz="2000" b="1">
                <a:solidFill>
                  <a:srgbClr val="FFFFFF"/>
                </a:solidFill>
              </a:rPr>
              <a:t>Span と Trace</a:t>
            </a:r>
          </a:p>
        </p:txBody>
      </p:sp>
      <p:sp>
        <p:nvSpPr>
          <p:cNvPr id="9" name="TextBox 8"/>
          <p:cNvSpPr txBox="1"/>
          <p:nvPr/>
        </p:nvSpPr>
        <p:spPr>
          <a:xfrm>
            <a:off x="360000" y="3528000"/>
            <a:ext cx="6360000" cy="6480000"/>
          </a:xfrm>
          <a:prstGeom prst="rect">
            <a:avLst/>
          </a:prstGeom>
          <a:noFill/>
        </p:spPr>
        <p:txBody>
          <a:bodyPr wrap="square">
            <a:spAutoFit/>
          </a:bodyPr>
          <a:lstStyle/>
          <a:p>
            <a:pPr algn="ctr"/>
            <a:r>
              <a:rPr sz="1600" b="0">
                <a:solidFill>
                  <a:srgbClr val="FFFFFF"/>
                </a:solidFill>
              </a:rPr>
              <a:t>Trace: 1リクエストの全体像。Span: 各サービスでの処理単位。親子関係でツリー構造を形成</a:t>
            </a:r>
          </a:p>
        </p:txBody>
      </p:sp>
      <p:sp>
        <p:nvSpPr>
          <p:cNvPr id="10" name="Rectangle 9"/>
          <p:cNvSpPr/>
          <p:nvPr/>
        </p:nvSpPr>
        <p:spPr>
          <a:xfrm>
            <a:off x="7080000" y="2880000"/>
            <a:ext cx="6360000" cy="7200000"/>
          </a:xfrm>
          <a:prstGeom prst="rect">
            <a:avLst/>
          </a:prstGeom>
          <a:solidFill>
            <a:srgbClr val="015AC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080000" y="2988000"/>
            <a:ext cx="6360000" cy="540000"/>
          </a:xfrm>
          <a:prstGeom prst="rect">
            <a:avLst/>
          </a:prstGeom>
          <a:noFill/>
        </p:spPr>
        <p:txBody>
          <a:bodyPr wrap="square">
            <a:spAutoFit/>
          </a:bodyPr>
          <a:lstStyle/>
          <a:p>
            <a:pPr algn="ctr"/>
            <a:r>
              <a:rPr sz="2000" b="1">
                <a:solidFill>
                  <a:srgbClr val="FFFFFF"/>
                </a:solidFill>
              </a:rPr>
              <a:t>OpenTelemetry</a:t>
            </a:r>
          </a:p>
        </p:txBody>
      </p:sp>
      <p:sp>
        <p:nvSpPr>
          <p:cNvPr id="12" name="TextBox 11"/>
          <p:cNvSpPr txBox="1"/>
          <p:nvPr/>
        </p:nvSpPr>
        <p:spPr>
          <a:xfrm>
            <a:off x="7080000" y="3528000"/>
            <a:ext cx="6360000" cy="6480000"/>
          </a:xfrm>
          <a:prstGeom prst="rect">
            <a:avLst/>
          </a:prstGeom>
          <a:noFill/>
        </p:spPr>
        <p:txBody>
          <a:bodyPr wrap="square">
            <a:spAutoFit/>
          </a:bodyPr>
          <a:lstStyle/>
          <a:p>
            <a:pPr algn="ctr"/>
            <a:r>
              <a:rPr sz="1600" b="0">
                <a:solidFill>
                  <a:srgbClr val="FFFFFF"/>
                </a:solidFill>
              </a:rPr>
              <a:t>ベンダー中立な計装標準。SDK でトレース・メトリクス・ログを統一収集してJaeger等に送信</a:t>
            </a:r>
          </a:p>
        </p:txBody>
      </p:sp>
      <p:sp>
        <p:nvSpPr>
          <p:cNvPr id="13" name="Rectangle 12"/>
          <p:cNvSpPr/>
          <p:nvPr/>
        </p:nvSpPr>
        <p:spPr>
          <a:xfrm>
            <a:off x="13800000" y="2880000"/>
            <a:ext cx="6360000" cy="7200000"/>
          </a:xfrm>
          <a:prstGeom prst="rect">
            <a:avLst/>
          </a:prstGeom>
          <a:solidFill>
            <a:srgbClr val="EBA81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800000" y="2988000"/>
            <a:ext cx="6360000" cy="540000"/>
          </a:xfrm>
          <a:prstGeom prst="rect">
            <a:avLst/>
          </a:prstGeom>
          <a:noFill/>
        </p:spPr>
        <p:txBody>
          <a:bodyPr wrap="square">
            <a:spAutoFit/>
          </a:bodyPr>
          <a:lstStyle/>
          <a:p>
            <a:pPr algn="ctr"/>
            <a:r>
              <a:rPr sz="2000" b="1">
                <a:solidFill>
                  <a:srgbClr val="FFFFFF"/>
                </a:solidFill>
              </a:rPr>
              <a:t>Jaeger</a:t>
            </a:r>
          </a:p>
        </p:txBody>
      </p:sp>
      <p:sp>
        <p:nvSpPr>
          <p:cNvPr id="15" name="TextBox 14"/>
          <p:cNvSpPr txBox="1"/>
          <p:nvPr/>
        </p:nvSpPr>
        <p:spPr>
          <a:xfrm>
            <a:off x="13800000" y="3528000"/>
            <a:ext cx="6360000" cy="6480000"/>
          </a:xfrm>
          <a:prstGeom prst="rect">
            <a:avLst/>
          </a:prstGeom>
          <a:noFill/>
        </p:spPr>
        <p:txBody>
          <a:bodyPr wrap="square">
            <a:spAutoFit/>
          </a:bodyPr>
          <a:lstStyle/>
          <a:p>
            <a:pPr algn="ctr"/>
            <a:r>
              <a:rPr sz="1600" b="0">
                <a:solidFill>
                  <a:srgbClr val="FFFFFF"/>
                </a:solidFill>
              </a:rPr>
              <a:t>分散トレーシングの可視化ツール。サービスマップ・Span詳細・パフォーマンス分析が可能</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13CA6"/>
      </a:dk2>
      <a:lt2>
        <a:srgbClr val="F3FAFE"/>
      </a:lt2>
      <a:accent1>
        <a:srgbClr val="013CA6"/>
      </a:accent1>
      <a:accent2>
        <a:srgbClr val="BDE4FC"/>
      </a:accent2>
      <a:accent3>
        <a:srgbClr val="F3FAFE"/>
      </a:accent3>
      <a:accent4>
        <a:srgbClr val="EBA81A"/>
      </a:accent4>
      <a:accent5>
        <a:srgbClr val="00B050"/>
      </a:accent5>
      <a:accent6>
        <a:srgbClr val="FF0000"/>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