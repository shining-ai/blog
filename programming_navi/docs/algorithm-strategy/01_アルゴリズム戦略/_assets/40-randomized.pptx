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98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0000" y="216000"/>
            <a:ext cx="18000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乱択アルゴリズム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0000" y="1152000"/>
            <a:ext cx="1944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BDE4FC"/>
                </a:solidFill>
              </a:rPr>
              <a:t>Randomized Algorithm</a:t>
            </a:r>
          </a:p>
        </p:txBody>
      </p:sp>
      <p:sp>
        <p:nvSpPr>
          <p:cNvPr id="5" name="Rectangle 4"/>
          <p:cNvSpPr/>
          <p:nvPr/>
        </p:nvSpPr>
        <p:spPr>
          <a:xfrm>
            <a:off x="1080000" y="2520000"/>
            <a:ext cx="19080000" cy="720000"/>
          </a:xfrm>
          <a:prstGeom prst="rect">
            <a:avLst/>
          </a:prstGeom>
          <a:solidFill>
            <a:srgbClr val="F3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013CA6"/>
                </a:solidFill>
              </a:rPr>
              <a:t>乱数を利用して期待計算量・確率的正確性を改善する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1080000" y="3780000"/>
            <a:ext cx="9000000" cy="792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FFFFFF"/>
                </a:solidFill>
              </a:rPr>
              <a:t>Las Vegas</a:t>
            </a:r>
          </a:p>
        </p:txBody>
      </p:sp>
      <p:sp>
        <p:nvSpPr>
          <p:cNvPr id="7" name="Rectangle 6"/>
          <p:cNvSpPr/>
          <p:nvPr/>
        </p:nvSpPr>
        <p:spPr>
          <a:xfrm>
            <a:off x="1080000" y="4680000"/>
            <a:ext cx="2880000" cy="720000"/>
          </a:xfrm>
          <a:prstGeom prst="rect">
            <a:avLst/>
          </a:prstGeom>
          <a:solidFill>
            <a:srgbClr val="BDE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013CA6"/>
                </a:solidFill>
              </a:rPr>
              <a:t>正確性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40000" y="4752000"/>
            <a:ext cx="576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1A"/>
                </a:solidFill>
              </a:rPr>
              <a:t>常に正確な解を返す</a:t>
            </a:r>
          </a:p>
        </p:txBody>
      </p:sp>
      <p:sp>
        <p:nvSpPr>
          <p:cNvPr id="9" name="Rectangle 8"/>
          <p:cNvSpPr/>
          <p:nvPr/>
        </p:nvSpPr>
        <p:spPr>
          <a:xfrm>
            <a:off x="1080000" y="5580000"/>
            <a:ext cx="2880000" cy="720000"/>
          </a:xfrm>
          <a:prstGeom prst="rect">
            <a:avLst/>
          </a:prstGeom>
          <a:solidFill>
            <a:srgbClr val="BDE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013CA6"/>
                </a:solidFill>
              </a:rPr>
              <a:t>実行時間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40000" y="5652000"/>
            <a:ext cx="576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1A"/>
                </a:solidFill>
              </a:rPr>
              <a:t>ランダムに変動（期待値で高速）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80000" y="6480000"/>
            <a:ext cx="2880000" cy="720000"/>
          </a:xfrm>
          <a:prstGeom prst="rect">
            <a:avLst/>
          </a:prstGeom>
          <a:solidFill>
            <a:srgbClr val="BDE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013CA6"/>
                </a:solidFill>
              </a:rPr>
              <a:t>代表例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40000" y="6552000"/>
            <a:ext cx="576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1A"/>
                </a:solidFill>
              </a:rPr>
              <a:t>ランダム化クイックソート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160000" y="3780000"/>
            <a:ext cx="9000000" cy="792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FFFFFF"/>
                </a:solidFill>
              </a:rPr>
              <a:t>Monte Carlo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160000" y="4680000"/>
            <a:ext cx="2880000" cy="720000"/>
          </a:xfrm>
          <a:prstGeom prst="rect">
            <a:avLst/>
          </a:prstGeom>
          <a:solidFill>
            <a:srgbClr val="FFE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1A1A1A"/>
                </a:solidFill>
              </a:rPr>
              <a:t>正確性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220000" y="4752000"/>
            <a:ext cx="576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1A"/>
                </a:solidFill>
              </a:rPr>
              <a:t>確率的に正確（誤答の確率あり）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160000" y="5580000"/>
            <a:ext cx="2880000" cy="720000"/>
          </a:xfrm>
          <a:prstGeom prst="rect">
            <a:avLst/>
          </a:prstGeom>
          <a:solidFill>
            <a:srgbClr val="FFE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1A1A1A"/>
                </a:solidFill>
              </a:rPr>
              <a:t>実行時間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220000" y="5652000"/>
            <a:ext cx="576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1A"/>
                </a:solidFill>
              </a:rPr>
              <a:t>固定時間で終了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160000" y="6480000"/>
            <a:ext cx="2880000" cy="720000"/>
          </a:xfrm>
          <a:prstGeom prst="rect">
            <a:avLst/>
          </a:prstGeom>
          <a:solidFill>
            <a:srgbClr val="FFE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1A1A1A"/>
                </a:solidFill>
              </a:rPr>
              <a:t>代表例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220000" y="6552000"/>
            <a:ext cx="576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1A"/>
                </a:solidFill>
              </a:rPr>
              <a:t>Miller-Rabin 素数判定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332000" y="3780000"/>
            <a:ext cx="72000" cy="36000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80000" y="7920000"/>
            <a:ext cx="144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13CA6"/>
                </a:solidFill>
              </a:rPr>
              <a:t>例: ランダム化クイックソート（Las Vegas）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80000" y="8640000"/>
            <a:ext cx="7920000" cy="648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決定的クイックソート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0000" y="9360000"/>
            <a:ext cx="792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1A1A1A"/>
                </a:solidFill>
              </a:rPr>
              <a:t>最悪ケース: O(n²)
（常に最小/最大をピボット選択）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720000" y="8640000"/>
            <a:ext cx="9000000" cy="648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ランダム化クイックソート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20000" y="9360000"/>
            <a:ext cx="90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1A1A1A"/>
                </a:solidFill>
              </a:rPr>
              <a:t>期待計算量: O(n log n)
（任意の入力に対して保証）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180000" y="8964000"/>
            <a:ext cx="468000" cy="0"/>
          </a:xfrm>
          <a:prstGeom prst="bentConnector3">
            <a:avLst/>
          </a:prstGeom>
          <a:ln w="50800">
            <a:solidFill>
              <a:srgbClr val="EBA8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1080000" y="10512000"/>
            <a:ext cx="1908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13CA6"/>
                </a:solidFill>
              </a:rPr>
              <a:t>例: Miller-Rabin 素数判定（Monte Carlo）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80000" y="11088000"/>
            <a:ext cx="19080000" cy="648000"/>
          </a:xfrm>
          <a:prstGeom prst="rect">
            <a:avLst/>
          </a:prstGeom>
          <a:solidFill>
            <a:srgbClr val="F3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0">
                <a:solidFill>
                  <a:srgbClr val="1A1A1A"/>
                </a:solidFill>
              </a:rPr>
              <a:t>k 回繰り返す → 誤答確率 ≤ (1/4)^k    k=20 で誤答確率 ≈ 10⁻¹²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