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eiryo UI"/>
              </a:rPr>
              <a:t>有向グラフ・
無向グラフ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FDBFE"/>
                </a:solidFill>
                <a:latin typeface="Meiryo UI"/>
              </a:rPr>
              <a:t>Directed / Undirected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3840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Meiryo UI"/>
              </a:rPr>
              <a:t>「方向」があるかないかで
全く異なる性質を持つグラフを解説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DBFE"/>
                </a:solidFill>
                <a:latin typeface="Meiryo UI"/>
              </a:rPr>
              <a:t>無向グラフ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498079" y="1463040"/>
            <a:ext cx="1463041" cy="365760"/>
          </a:xfrm>
          <a:prstGeom prst="line">
            <a:avLst/>
          </a:prstGeom>
          <a:ln w="317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1828800"/>
            <a:ext cx="1463041" cy="731520"/>
          </a:xfrm>
          <a:prstGeom prst="line">
            <a:avLst/>
          </a:prstGeom>
          <a:ln w="317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0" y="1463040"/>
            <a:ext cx="0" cy="1097280"/>
          </a:xfrm>
          <a:prstGeom prst="line">
            <a:avLst/>
          </a:prstGeom>
          <a:ln w="317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269479" y="1600200"/>
            <a:ext cx="457200" cy="457200"/>
          </a:xfrm>
          <a:prstGeom prst="ellipse">
            <a:avLst/>
          </a:prstGeom>
          <a:solidFill>
            <a:srgbClr val="2563EB"/>
          </a:solidFill>
          <a:ln w="317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8732520" y="1234440"/>
            <a:ext cx="457200" cy="457200"/>
          </a:xfrm>
          <a:prstGeom prst="ellipse">
            <a:avLst/>
          </a:prstGeom>
          <a:solidFill>
            <a:srgbClr val="2563EB"/>
          </a:solidFill>
          <a:ln w="317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331720"/>
            <a:ext cx="457200" cy="457200"/>
          </a:xfrm>
          <a:prstGeom prst="ellipse">
            <a:avLst/>
          </a:prstGeom>
          <a:solidFill>
            <a:srgbClr val="2563EB"/>
          </a:solidFill>
          <a:ln w="317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914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6EFAC"/>
                </a:solidFill>
                <a:latin typeface="Meiryo UI"/>
              </a:rPr>
              <a:t>有向グラフ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0241280" y="1463040"/>
            <a:ext cx="1188720" cy="365760"/>
          </a:xfrm>
          <a:prstGeom prst="line">
            <a:avLst/>
          </a:prstGeom>
          <a:ln w="31750">
            <a:solidFill>
              <a:srgbClr val="86EF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725912" y="15087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Meiryo UI"/>
              </a:rPr>
              <a:t>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430000" y="1463040"/>
            <a:ext cx="0" cy="1097280"/>
          </a:xfrm>
          <a:prstGeom prst="line">
            <a:avLst/>
          </a:prstGeom>
          <a:ln w="31750">
            <a:solidFill>
              <a:srgbClr val="86EF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320272" y="18745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Meiryo UI"/>
              </a:rPr>
              <a:t>▶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10241280" y="1828800"/>
            <a:ext cx="1188720" cy="731520"/>
          </a:xfrm>
          <a:prstGeom prst="line">
            <a:avLst/>
          </a:prstGeom>
          <a:ln w="31750">
            <a:solidFill>
              <a:srgbClr val="86EF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25912" y="20574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Meiryo UI"/>
              </a:rPr>
              <a:t>▶</a:t>
            </a:r>
          </a:p>
        </p:txBody>
      </p:sp>
      <p:sp>
        <p:nvSpPr>
          <p:cNvPr id="22" name="Oval 21"/>
          <p:cNvSpPr/>
          <p:nvPr/>
        </p:nvSpPr>
        <p:spPr>
          <a:xfrm>
            <a:off x="10012680" y="1600200"/>
            <a:ext cx="457200" cy="457200"/>
          </a:xfrm>
          <a:prstGeom prst="ellipse">
            <a:avLst/>
          </a:prstGeom>
          <a:solidFill>
            <a:srgbClr val="16A34A"/>
          </a:solidFill>
          <a:ln w="317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11201400" y="1234440"/>
            <a:ext cx="457200" cy="457200"/>
          </a:xfrm>
          <a:prstGeom prst="ellipse">
            <a:avLst/>
          </a:prstGeom>
          <a:solidFill>
            <a:srgbClr val="16A34A"/>
          </a:solidFill>
          <a:ln w="317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11201400" y="2331720"/>
            <a:ext cx="457200" cy="457200"/>
          </a:xfrm>
          <a:prstGeom prst="ellipse">
            <a:avLst/>
          </a:prstGeom>
          <a:solidFill>
            <a:srgbClr val="16A34A"/>
          </a:solidFill>
          <a:ln w="317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383280"/>
            <a:ext cx="5577840" cy="5943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Meiryo UI"/>
              </a:rPr>
              <a:t>無向: A-B は A→B かつ B→A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133088"/>
            <a:ext cx="5577840" cy="59436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Meiryo UI"/>
              </a:rPr>
              <a:t>有向: A→B は B→A を意味しない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309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eiryo UI"/>
              </a:rPr>
              <a:t>データ構造入門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 UI"/>
              </a:rPr>
              <a:t>有向グラフ vs 無向グラフ  ―  基本比較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926080" cy="694944"/>
          </a:xfrm>
          <a:prstGeom prst="rect">
            <a:avLst/>
          </a:prstGeom>
          <a:solidFill>
            <a:srgbClr val="1E3A5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005840"/>
            <a:ext cx="4023360" cy="694944"/>
          </a:xfrm>
          <a:prstGeom prst="rect">
            <a:avLst/>
          </a:prstGeom>
          <a:solidFill>
            <a:srgbClr val="2563EB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無向グラフ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005840"/>
            <a:ext cx="4023360" cy="694944"/>
          </a:xfrm>
          <a:prstGeom prst="rect">
            <a:avLst/>
          </a:prstGeom>
          <a:solidFill>
            <a:srgbClr val="16A34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有向グラフ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92224"/>
            <a:ext cx="2926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293B"/>
                </a:solidFill>
                <a:latin typeface="Meiryo UI"/>
              </a:rPr>
              <a:t>辺の方向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792224"/>
            <a:ext cx="402336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40AF"/>
                </a:solidFill>
                <a:latin typeface="Meiryo UI"/>
              </a:rPr>
              <a:t>なし（双方向）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792224"/>
            <a:ext cx="4023360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6A34A"/>
                </a:solidFill>
                <a:latin typeface="Meiryo UI"/>
              </a:rPr>
              <a:t>あり（一方向）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42032"/>
            <a:ext cx="292608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293B"/>
                </a:solidFill>
                <a:latin typeface="Meiryo UI"/>
              </a:rPr>
              <a:t>辺の表記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542032"/>
            <a:ext cx="402336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40AF"/>
                </a:solidFill>
                <a:latin typeface="Meiryo UI"/>
              </a:rPr>
              <a:t>(u, v) = (v, u)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542032"/>
            <a:ext cx="4023360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6A34A"/>
                </a:solidFill>
                <a:latin typeface="Meiryo UI"/>
              </a:rPr>
              <a:t>(u, v) ≠ (v, 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2926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293B"/>
                </a:solidFill>
                <a:latin typeface="Meiryo UI"/>
              </a:rPr>
              <a:t>隣接行列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291840"/>
            <a:ext cx="402336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40AF"/>
                </a:solidFill>
                <a:latin typeface="Meiryo UI"/>
              </a:rPr>
              <a:t>対称行列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291840"/>
            <a:ext cx="4023360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6A34A"/>
                </a:solidFill>
                <a:latin typeface="Meiryo UI"/>
              </a:rPr>
              <a:t>非対称行列（一般）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41648"/>
            <a:ext cx="292608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293B"/>
                </a:solidFill>
                <a:latin typeface="Meiryo UI"/>
              </a:rPr>
              <a:t>実世界例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4041648"/>
            <a:ext cx="402336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40AF"/>
                </a:solidFill>
                <a:latin typeface="Meiryo UI"/>
              </a:rPr>
              <a:t>友人関係・道路（双方向）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041648"/>
            <a:ext cx="4023360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6A34A"/>
                </a:solidFill>
                <a:latin typeface="Meiryo UI"/>
              </a:rPr>
              <a:t>フォロー関係・一方通行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91455"/>
            <a:ext cx="2926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293B"/>
                </a:solidFill>
                <a:latin typeface="Meiryo UI"/>
              </a:rPr>
              <a:t>次数の種類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791455"/>
            <a:ext cx="402336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40AF"/>
                </a:solidFill>
                <a:latin typeface="Meiryo UI"/>
              </a:rPr>
              <a:t>次数 (degree)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4791455"/>
            <a:ext cx="4023360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6A34A"/>
                </a:solidFill>
                <a:latin typeface="Meiryo UI"/>
              </a:rPr>
              <a:t>入次数 / 出次数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 UI"/>
              </a:rPr>
              <a:t>無向グラフ (Undirected Graph)  ―  詳解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658368"/>
          </a:xfrm>
          <a:prstGeom prst="rect">
            <a:avLst/>
          </a:prstGeom>
          <a:solidFill>
            <a:srgbClr val="EFF6FF"/>
          </a:solidFill>
          <a:ln w="254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eiryo UI"/>
              </a:rPr>
              <a:t>辺に方向がないグラフ。A-B の辺があれば、A から B にも B から A にも移動できる。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40AF"/>
                </a:solidFill>
                <a:latin typeface="Meiryo UI"/>
              </a:rPr>
              <a:t>無向グラフの例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2560320"/>
            <a:ext cx="2011680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2560320"/>
            <a:ext cx="0" cy="182880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2560320"/>
            <a:ext cx="0" cy="182880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45920" y="4389120"/>
            <a:ext cx="2011680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71600" y="2286000"/>
            <a:ext cx="548640" cy="548640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3383280" y="2286000"/>
            <a:ext cx="548640" cy="548640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114800"/>
            <a:ext cx="548640" cy="548640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15" name="Oval 14"/>
          <p:cNvSpPr/>
          <p:nvPr/>
        </p:nvSpPr>
        <p:spPr>
          <a:xfrm>
            <a:off x="3383280" y="4114800"/>
            <a:ext cx="548640" cy="548640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383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B82F6"/>
                </a:solidFill>
                <a:latin typeface="Meiryo UI"/>
              </a:rPr>
              <a:t>←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7033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40AF"/>
                </a:solidFill>
                <a:latin typeface="Meiryo UI"/>
              </a:rPr>
              <a:t>双方向！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91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eiryo UI"/>
              </a:rPr>
              <a:t>隣接リスト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457200" cy="566928"/>
          </a:xfrm>
          <a:prstGeom prst="rect">
            <a:avLst/>
          </a:prstGeom>
          <a:solidFill>
            <a:srgbClr val="2563E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227685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Meiryo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148840"/>
            <a:ext cx="621792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40AF"/>
                </a:solidFill>
                <a:latin typeface="Meiryo UI"/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56832" y="2148840"/>
            <a:ext cx="621792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40AF"/>
                </a:solidFill>
                <a:latin typeface="Meiryo UI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926080"/>
            <a:ext cx="457200" cy="566928"/>
          </a:xfrm>
          <a:prstGeom prst="rect">
            <a:avLst/>
          </a:prstGeom>
          <a:solidFill>
            <a:srgbClr val="2563E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1264" y="305409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Meiryo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926080"/>
            <a:ext cx="621792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40AF"/>
                </a:solidFill>
                <a:latin typeface="Meiryo UI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6832" y="2926080"/>
            <a:ext cx="621792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40AF"/>
                </a:solidFill>
                <a:latin typeface="Meiryo UI"/>
              </a:rP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703320"/>
            <a:ext cx="457200" cy="566928"/>
          </a:xfrm>
          <a:prstGeom prst="rect">
            <a:avLst/>
          </a:prstGeom>
          <a:solidFill>
            <a:srgbClr val="2563E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3831335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Meiryo U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703320"/>
            <a:ext cx="621792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40AF"/>
                </a:solidFill>
                <a:latin typeface="Meiryo UI"/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6832" y="3703320"/>
            <a:ext cx="621792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40AF"/>
                </a:solidFill>
                <a:latin typeface="Meiryo UI"/>
              </a:rPr>
              <a:t>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457200" cy="566928"/>
          </a:xfrm>
          <a:prstGeom prst="rect">
            <a:avLst/>
          </a:prstGeom>
          <a:solidFill>
            <a:srgbClr val="2563E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1264" y="460857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Meiryo U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480560"/>
            <a:ext cx="621792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40AF"/>
                </a:solidFill>
                <a:latin typeface="Meiryo UI"/>
              </a:rPr>
              <a:t>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56832" y="4480560"/>
            <a:ext cx="621792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40AF"/>
                </a:solidFill>
                <a:latin typeface="Meiryo UI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B"/>
                </a:solidFill>
                <a:latin typeface="Meiryo UI"/>
              </a:rPr>
              <a:t>※ 辺を両方向に追加する点に注意！
  A-B なら graph[A]に B, graph[B]に A を追加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1691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eiryo UI"/>
              </a:rPr>
              <a:t>Pythonコード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103120"/>
            <a:ext cx="33832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2176272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6EFAC"/>
                </a:solidFill>
                <a:latin typeface="Meiryo UI"/>
              </a:rPr>
              <a:t># 無向グラフの表現
graph = {
    "A": ["B", "C"],
    "B": ["A", "D"],
    "C": ["A", "D"],
    "D": ["B", "C"],
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074920"/>
            <a:ext cx="11430000" cy="15087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120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Meiryo UI"/>
              </a:rPr>
              <a:t>無向グラフの性質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• 対称行列（matrix[i][j] = matrix[j][i]）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79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• 次数（degree）= その頂点に接続した辺の数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2270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• 連結グラフ = 全ての頂点が繋がっている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 UI"/>
              </a:rPr>
              <a:t>有向グラフ (Directed Graph / Digraph)  ―  詳解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eiryo UI"/>
              </a:rPr>
              <a:t>辺に方向があるグラフ。A→B の辺があっても、B→A には移動できない。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Meiryo UI"/>
              </a:rPr>
              <a:t>有向グラフの例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2377440"/>
            <a:ext cx="2011680" cy="0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42032" y="22402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eiryo UI"/>
              </a:rPr>
              <a:t>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377440"/>
            <a:ext cx="0" cy="1828800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36192" y="315467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eiryo UI"/>
              </a:rPr>
              <a:t>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377440"/>
            <a:ext cx="0" cy="1828800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315467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eiryo UI"/>
              </a:rPr>
              <a:t>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45920" y="4206240"/>
            <a:ext cx="2011680" cy="0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42032" y="406907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eiryo UI"/>
              </a:rPr>
              <a:t>▶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2103120"/>
            <a:ext cx="548640" cy="548640"/>
          </a:xfrm>
          <a:prstGeom prst="ellipse">
            <a:avLst/>
          </a:prstGeom>
          <a:solidFill>
            <a:srgbClr val="16A34A"/>
          </a:solidFill>
          <a:ln w="31750">
            <a:solidFill>
              <a:srgbClr val="0F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3383280" y="2103120"/>
            <a:ext cx="548640" cy="548640"/>
          </a:xfrm>
          <a:prstGeom prst="ellipse">
            <a:avLst/>
          </a:prstGeom>
          <a:solidFill>
            <a:srgbClr val="16A34A"/>
          </a:solidFill>
          <a:ln w="31750">
            <a:solidFill>
              <a:srgbClr val="0F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3931920"/>
            <a:ext cx="548640" cy="548640"/>
          </a:xfrm>
          <a:prstGeom prst="ellipse">
            <a:avLst/>
          </a:prstGeom>
          <a:solidFill>
            <a:srgbClr val="16A34A"/>
          </a:solidFill>
          <a:ln w="31750">
            <a:solidFill>
              <a:srgbClr val="0F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3383280" y="3931920"/>
            <a:ext cx="548640" cy="548640"/>
          </a:xfrm>
          <a:prstGeom prst="ellipse">
            <a:avLst/>
          </a:prstGeom>
          <a:solidFill>
            <a:srgbClr val="16A34A"/>
          </a:solidFill>
          <a:ln w="31750">
            <a:solidFill>
              <a:srgbClr val="0F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246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Meiryo UI"/>
              </a:rPr>
              <a:t>→ のみ！
逆向きは
移動不可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691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Meiryo UI"/>
              </a:rPr>
              <a:t>隣接リスト（有向）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148840"/>
            <a:ext cx="457200" cy="566928"/>
          </a:xfrm>
          <a:prstGeom prst="rect">
            <a:avLst/>
          </a:prstGeom>
          <a:solidFill>
            <a:srgbClr val="16A34A"/>
          </a:solidFill>
          <a:ln w="25400">
            <a:solidFill>
              <a:srgbClr val="0F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227685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148840"/>
            <a:ext cx="621792" cy="566928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A34A"/>
                </a:solidFill>
                <a:latin typeface="Meiryo UI"/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56832" y="2148840"/>
            <a:ext cx="621792" cy="566928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A34A"/>
                </a:solidFill>
                <a:latin typeface="Meiryo UI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926080"/>
            <a:ext cx="457200" cy="566928"/>
          </a:xfrm>
          <a:prstGeom prst="rect">
            <a:avLst/>
          </a:prstGeom>
          <a:solidFill>
            <a:srgbClr val="16A34A"/>
          </a:solidFill>
          <a:ln w="25400">
            <a:solidFill>
              <a:srgbClr val="0F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305409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926080"/>
            <a:ext cx="621792" cy="566928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A34A"/>
                </a:solidFill>
                <a:latin typeface="Meiryo UI"/>
              </a:rPr>
              <a:t>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703320"/>
            <a:ext cx="457200" cy="566928"/>
          </a:xfrm>
          <a:prstGeom prst="rect">
            <a:avLst/>
          </a:prstGeom>
          <a:solidFill>
            <a:srgbClr val="16A34A"/>
          </a:solidFill>
          <a:ln w="25400">
            <a:solidFill>
              <a:srgbClr val="0F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1264" y="3831335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703320"/>
            <a:ext cx="621792" cy="566928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A34A"/>
                </a:solidFill>
                <a:latin typeface="Meiryo UI"/>
              </a:rPr>
              <a:t>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4480560"/>
            <a:ext cx="457200" cy="566928"/>
          </a:xfrm>
          <a:prstGeom prst="rect">
            <a:avLst/>
          </a:prstGeom>
          <a:solidFill>
            <a:srgbClr val="16A34A"/>
          </a:solidFill>
          <a:ln w="25400">
            <a:solidFill>
              <a:srgbClr val="0F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460857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617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eiryo UI"/>
              </a:rPr>
              <a:t>（なし）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B"/>
                </a:solidFill>
                <a:latin typeface="Meiryo UI"/>
              </a:rPr>
              <a:t>※ D は行き先なし → 空リスト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1691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Meiryo UI"/>
              </a:rPr>
              <a:t>Pythonコード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103120"/>
            <a:ext cx="33832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2176272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6EFAC"/>
                </a:solidFill>
                <a:latin typeface="Meiryo UI"/>
              </a:rPr>
              <a:t># 有向グラフの表現
graph = {
    "A": ["B", "C"],
    "B": ["D"],
    "C": ["D"],
    "D": [],
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074920"/>
            <a:ext cx="11430000" cy="150876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120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有向グラフの性質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• 辺 (u,v) は u から v への一方通行（v から u には行けない）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79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• 非対称行列（matrix[i][j] ≠ matrix[j][i] の場合あり）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2270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• 入次数と出次数は別々に管理する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 UI"/>
              </a:rPr>
              <a:t>有向グラフ特有の概念  ―  入次数・出次数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77840" cy="1234440"/>
          </a:xfrm>
          <a:prstGeom prst="rect">
            <a:avLst/>
          </a:prstGeom>
          <a:solidFill>
            <a:srgbClr val="FFF7ED"/>
          </a:solidFill>
          <a:ln w="254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09728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Meiryo UI"/>
              </a:rPr>
              <a:t>入次数 (In-degree)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そのノードに入ってくる辺の数
例: D への辺は B→D, C→D の 2本 → 入次数 =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960120"/>
            <a:ext cx="5577840" cy="1234440"/>
          </a:xfrm>
          <a:prstGeom prst="rect">
            <a:avLst/>
          </a:prstGeom>
          <a:solidFill>
            <a:srgbClr val="EFF6FF"/>
          </a:solidFill>
          <a:ln w="254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960120"/>
            <a:ext cx="10972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005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eiryo UI"/>
              </a:rPr>
              <a:t>出次数 (Out-degree)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そのノードから出ていく辺の数
例: A からの辺は A→B, A→C の 2本 → 出次数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40AF"/>
                </a:solidFill>
                <a:latin typeface="Meiryo UI"/>
              </a:rPr>
              <a:t>有向グラフ A→B, A→C, B→D, C→D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200400" y="2834640"/>
            <a:ext cx="1828800" cy="640080"/>
          </a:xfrm>
          <a:prstGeom prst="line">
            <a:avLst/>
          </a:prstGeom>
          <a:ln w="381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05072" y="30175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Meiryo UI"/>
              </a:rPr>
              <a:t>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474720"/>
            <a:ext cx="1828800" cy="822960"/>
          </a:xfrm>
          <a:prstGeom prst="line">
            <a:avLst/>
          </a:prstGeom>
          <a:ln w="381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05072" y="374903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Meiryo UI"/>
              </a:rPr>
              <a:t>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0" y="2834640"/>
            <a:ext cx="1828800" cy="640080"/>
          </a:xfrm>
          <a:prstGeom prst="line">
            <a:avLst/>
          </a:prstGeom>
          <a:ln w="381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33872" y="30175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Meiryo UI"/>
              </a:rPr>
              <a:t>▶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029200" y="3474720"/>
            <a:ext cx="1828800" cy="822960"/>
          </a:xfrm>
          <a:prstGeom prst="line">
            <a:avLst/>
          </a:prstGeom>
          <a:ln w="381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33872" y="374903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Meiryo UI"/>
              </a:rPr>
              <a:t>▶</a:t>
            </a:r>
          </a:p>
        </p:txBody>
      </p:sp>
      <p:sp>
        <p:nvSpPr>
          <p:cNvPr id="22" name="Oval 21"/>
          <p:cNvSpPr/>
          <p:nvPr/>
        </p:nvSpPr>
        <p:spPr>
          <a:xfrm>
            <a:off x="2907792" y="3182112"/>
            <a:ext cx="585216" cy="585216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4736592" y="2542032"/>
            <a:ext cx="585216" cy="585216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4736592" y="4005072"/>
            <a:ext cx="585216" cy="585216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25" name="Oval 24"/>
          <p:cNvSpPr/>
          <p:nvPr/>
        </p:nvSpPr>
        <p:spPr>
          <a:xfrm>
            <a:off x="6565392" y="3182112"/>
            <a:ext cx="585216" cy="585216"/>
          </a:xfrm>
          <a:prstGeom prst="ellipse">
            <a:avLst/>
          </a:prstGeom>
          <a:solidFill>
            <a:srgbClr val="EA580C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3200400"/>
            <a:ext cx="1005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293B"/>
                </a:solidFill>
                <a:latin typeface="Meiryo UI"/>
              </a:rPr>
              <a:t>入: 0
出: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1920240"/>
            <a:ext cx="1005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293B"/>
                </a:solidFill>
                <a:latin typeface="Meiryo UI"/>
              </a:rPr>
              <a:t>入: 1
出: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4480560"/>
            <a:ext cx="1005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293B"/>
                </a:solidFill>
                <a:latin typeface="Meiryo UI"/>
              </a:rPr>
              <a:t>入: 1
出: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3200400"/>
            <a:ext cx="1005840" cy="621792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293B"/>
                </a:solidFill>
                <a:latin typeface="Meiryo UI"/>
              </a:rPr>
              <a:t>入: 2
出: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286000"/>
            <a:ext cx="33832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2359152"/>
            <a:ext cx="3200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6EFAC"/>
                </a:solidFill>
                <a:latin typeface="Meiryo UI"/>
              </a:rPr>
              <a:t>def calc_indegree(graph):
    indegree = {v: 0 for v in graph}
    for v in graph:
        for nb in graph[v]:
            indegree[nb] += 1
    return indegree
# {'A':0, 'B':1, 'C':1, 'D':2}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1965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Meiryo UI"/>
              </a:rPr>
              <a:t>入次数の計算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49240"/>
            <a:ext cx="11430000" cy="13258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394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Meiryo UI"/>
              </a:rPr>
              <a:t>入次数の応用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790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• 入次数 = 0 の頂点 → 「始点」（依存関係のない最初のタスク）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0716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• 出次数 = 0 の頂点 → 「終点」（何にも依存されない最終ゴール）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642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 UI"/>
              </a:rPr>
              <a:t>• トポロジカルソートで入次数 0 の頂点から順に処理する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 UI"/>
              </a:rPr>
              <a:t>トポロジカルソート  ―  Kahnのアルゴリズム（Step by Step）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B"/>
                </a:solidFill>
                <a:latin typeface="Meiryo UI"/>
              </a:rPr>
              <a:t>DAG（有向非巡回グラフ）の頂点を、全ての辺の方向に沿った順序に並べる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2377440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Meiryo UI"/>
              </a:rPr>
              <a:t>Step 1: 入次数を計算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371600" y="1828800"/>
            <a:ext cx="1188720" cy="45720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74519" y="19293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2286000"/>
            <a:ext cx="1188720" cy="54864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74519" y="2432303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1828800"/>
            <a:ext cx="1188719" cy="45720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63239" y="19293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560320" y="2286000"/>
            <a:ext cx="1188719" cy="54864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63239" y="2432303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sp>
        <p:nvSpPr>
          <p:cNvPr id="16" name="Oval 15"/>
          <p:cNvSpPr/>
          <p:nvPr/>
        </p:nvSpPr>
        <p:spPr>
          <a:xfrm>
            <a:off x="1133856" y="2048256"/>
            <a:ext cx="475488" cy="475488"/>
          </a:xfrm>
          <a:prstGeom prst="ellipse">
            <a:avLst/>
          </a:prstGeom>
          <a:solidFill>
            <a:srgbClr val="7C3AED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0432" y="1719072"/>
            <a:ext cx="438912" cy="256032"/>
          </a:xfrm>
          <a:prstGeom prst="rect">
            <a:avLst/>
          </a:prstGeom>
          <a:solidFill>
            <a:srgbClr val="FFFFC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45A09"/>
                </a:solidFill>
                <a:latin typeface="Meiryo UI"/>
              </a:rPr>
              <a:t>入:0</a:t>
            </a:r>
          </a:p>
        </p:txBody>
      </p:sp>
      <p:sp>
        <p:nvSpPr>
          <p:cNvPr id="18" name="Oval 17"/>
          <p:cNvSpPr/>
          <p:nvPr/>
        </p:nvSpPr>
        <p:spPr>
          <a:xfrm>
            <a:off x="2322576" y="1591056"/>
            <a:ext cx="475488" cy="475488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1" y="1261872"/>
            <a:ext cx="4389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4748B"/>
                </a:solidFill>
                <a:latin typeface="Meiryo UI"/>
              </a:rPr>
              <a:t>入:1</a:t>
            </a:r>
          </a:p>
        </p:txBody>
      </p:sp>
      <p:sp>
        <p:nvSpPr>
          <p:cNvPr id="20" name="Oval 19"/>
          <p:cNvSpPr/>
          <p:nvPr/>
        </p:nvSpPr>
        <p:spPr>
          <a:xfrm>
            <a:off x="2322576" y="2596896"/>
            <a:ext cx="475488" cy="475488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9151" y="2267712"/>
            <a:ext cx="4389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4748B"/>
                </a:solidFill>
                <a:latin typeface="Meiryo UI"/>
              </a:rPr>
              <a:t>入:1</a:t>
            </a:r>
          </a:p>
        </p:txBody>
      </p:sp>
      <p:sp>
        <p:nvSpPr>
          <p:cNvPr id="22" name="Oval 21"/>
          <p:cNvSpPr/>
          <p:nvPr/>
        </p:nvSpPr>
        <p:spPr>
          <a:xfrm>
            <a:off x="3511296" y="2048256"/>
            <a:ext cx="475488" cy="475488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7871" y="1719072"/>
            <a:ext cx="4389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4748B"/>
                </a:solidFill>
                <a:latin typeface="Meiryo UI"/>
              </a:rPr>
              <a:t>入:2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79" y="178308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eiryo UI"/>
              </a:rPr>
              <a:t>A:0, B:1, C:1, D:2
入次数=0 → A をキューへ
queue=[A]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371600"/>
            <a:ext cx="5669280" cy="2377440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Meiryo UI"/>
              </a:rPr>
              <a:t>Step 2: A を取り出す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132320" y="1828800"/>
            <a:ext cx="1188720" cy="45720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35240" y="19293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0" y="2286000"/>
            <a:ext cx="1188720" cy="54864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35240" y="2432303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21040" y="1828800"/>
            <a:ext cx="1188720" cy="45720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823960" y="19293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8321040" y="2286000"/>
            <a:ext cx="1188720" cy="54864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823960" y="2432303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sp>
        <p:nvSpPr>
          <p:cNvPr id="35" name="Oval 34"/>
          <p:cNvSpPr/>
          <p:nvPr/>
        </p:nvSpPr>
        <p:spPr>
          <a:xfrm>
            <a:off x="6894576" y="2048256"/>
            <a:ext cx="475488" cy="475488"/>
          </a:xfrm>
          <a:prstGeom prst="ellipse">
            <a:avLst/>
          </a:prstGeom>
          <a:solidFill>
            <a:srgbClr val="64748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8083296" y="1591056"/>
            <a:ext cx="475488" cy="475488"/>
          </a:xfrm>
          <a:prstGeom prst="ellipse">
            <a:avLst/>
          </a:prstGeom>
          <a:solidFill>
            <a:srgbClr val="7C3AED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9871" y="1261872"/>
            <a:ext cx="438912" cy="256032"/>
          </a:xfrm>
          <a:prstGeom prst="rect">
            <a:avLst/>
          </a:prstGeom>
          <a:solidFill>
            <a:srgbClr val="FFFFC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45A09"/>
                </a:solidFill>
                <a:latin typeface="Meiryo UI"/>
              </a:rPr>
              <a:t>入:0</a:t>
            </a:r>
          </a:p>
        </p:txBody>
      </p:sp>
      <p:sp>
        <p:nvSpPr>
          <p:cNvPr id="38" name="Oval 37"/>
          <p:cNvSpPr/>
          <p:nvPr/>
        </p:nvSpPr>
        <p:spPr>
          <a:xfrm>
            <a:off x="8083296" y="2596896"/>
            <a:ext cx="475488" cy="475488"/>
          </a:xfrm>
          <a:prstGeom prst="ellipse">
            <a:avLst/>
          </a:prstGeom>
          <a:solidFill>
            <a:srgbClr val="7C3AED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9871" y="2267712"/>
            <a:ext cx="438912" cy="256032"/>
          </a:xfrm>
          <a:prstGeom prst="rect">
            <a:avLst/>
          </a:prstGeom>
          <a:solidFill>
            <a:srgbClr val="FFFFC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45A09"/>
                </a:solidFill>
                <a:latin typeface="Meiryo UI"/>
              </a:rPr>
              <a:t>入:0</a:t>
            </a:r>
          </a:p>
        </p:txBody>
      </p:sp>
      <p:sp>
        <p:nvSpPr>
          <p:cNvPr id="40" name="Oval 39"/>
          <p:cNvSpPr/>
          <p:nvPr/>
        </p:nvSpPr>
        <p:spPr>
          <a:xfrm>
            <a:off x="9272016" y="2048256"/>
            <a:ext cx="475488" cy="475488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08592" y="1719072"/>
            <a:ext cx="4389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4748B"/>
                </a:solidFill>
                <a:latin typeface="Meiryo UI"/>
              </a:rPr>
              <a:t>入:2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178308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eiryo UI"/>
              </a:rPr>
              <a:t>A の隣接: B, C の入次数を減らす
B:0, C:0 → キューへ追加
queue=[B, C], result=[A]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840480"/>
            <a:ext cx="5669280" cy="2377440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886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Meiryo UI"/>
              </a:rPr>
              <a:t>Step 3: B を取り出す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1371600" y="4297680"/>
            <a:ext cx="1188720" cy="45720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874519" y="439826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371600" y="4754880"/>
            <a:ext cx="1188720" cy="54864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874519" y="49011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560320" y="4297680"/>
            <a:ext cx="1188719" cy="45720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063239" y="439826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2560320" y="4754880"/>
            <a:ext cx="1188719" cy="54864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63239" y="49011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sp>
        <p:nvSpPr>
          <p:cNvPr id="53" name="Oval 52"/>
          <p:cNvSpPr/>
          <p:nvPr/>
        </p:nvSpPr>
        <p:spPr>
          <a:xfrm>
            <a:off x="1133856" y="4517136"/>
            <a:ext cx="475488" cy="475488"/>
          </a:xfrm>
          <a:prstGeom prst="ellipse">
            <a:avLst/>
          </a:prstGeom>
          <a:solidFill>
            <a:srgbClr val="64748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54" name="Oval 53"/>
          <p:cNvSpPr/>
          <p:nvPr/>
        </p:nvSpPr>
        <p:spPr>
          <a:xfrm>
            <a:off x="2322576" y="4059936"/>
            <a:ext cx="475488" cy="475488"/>
          </a:xfrm>
          <a:prstGeom prst="ellipse">
            <a:avLst/>
          </a:prstGeom>
          <a:solidFill>
            <a:srgbClr val="64748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2322576" y="5065776"/>
            <a:ext cx="475488" cy="475488"/>
          </a:xfrm>
          <a:prstGeom prst="ellipse">
            <a:avLst/>
          </a:prstGeom>
          <a:solidFill>
            <a:srgbClr val="7C3AED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59151" y="4736592"/>
            <a:ext cx="438912" cy="256032"/>
          </a:xfrm>
          <a:prstGeom prst="rect">
            <a:avLst/>
          </a:prstGeom>
          <a:solidFill>
            <a:srgbClr val="FFFFC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45A09"/>
                </a:solidFill>
                <a:latin typeface="Meiryo UI"/>
              </a:rPr>
              <a:t>入:0</a:t>
            </a:r>
          </a:p>
        </p:txBody>
      </p:sp>
      <p:sp>
        <p:nvSpPr>
          <p:cNvPr id="57" name="Oval 56"/>
          <p:cNvSpPr/>
          <p:nvPr/>
        </p:nvSpPr>
        <p:spPr>
          <a:xfrm>
            <a:off x="3511296" y="4517136"/>
            <a:ext cx="475488" cy="475488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47871" y="4187952"/>
            <a:ext cx="4389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4748B"/>
                </a:solidFill>
                <a:latin typeface="Meiryo UI"/>
              </a:rPr>
              <a:t>入:1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79" y="42519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eiryo UI"/>
              </a:rPr>
              <a:t>B の隣接: D の入次数を減らす
D: 2→1（まだキューに入らない）
queue=[C], result=[A,B]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3840480"/>
            <a:ext cx="5669280" cy="2377440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3886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Meiryo UI"/>
              </a:rPr>
              <a:t>Step 4: C, D を取り出す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7132320" y="4297680"/>
            <a:ext cx="1188720" cy="45720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635240" y="439826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132320" y="4754880"/>
            <a:ext cx="1188720" cy="54864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635240" y="49011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321040" y="4297680"/>
            <a:ext cx="1188720" cy="45720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823960" y="439826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8321040" y="4754880"/>
            <a:ext cx="1188720" cy="54864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823960" y="49011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sp>
        <p:nvSpPr>
          <p:cNvPr id="70" name="Oval 69"/>
          <p:cNvSpPr/>
          <p:nvPr/>
        </p:nvSpPr>
        <p:spPr>
          <a:xfrm>
            <a:off x="6894576" y="4517136"/>
            <a:ext cx="475488" cy="475488"/>
          </a:xfrm>
          <a:prstGeom prst="ellipse">
            <a:avLst/>
          </a:prstGeom>
          <a:solidFill>
            <a:srgbClr val="64748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71" name="Oval 70"/>
          <p:cNvSpPr/>
          <p:nvPr/>
        </p:nvSpPr>
        <p:spPr>
          <a:xfrm>
            <a:off x="8083296" y="4059936"/>
            <a:ext cx="475488" cy="475488"/>
          </a:xfrm>
          <a:prstGeom prst="ellipse">
            <a:avLst/>
          </a:prstGeom>
          <a:solidFill>
            <a:srgbClr val="64748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72" name="Oval 71"/>
          <p:cNvSpPr/>
          <p:nvPr/>
        </p:nvSpPr>
        <p:spPr>
          <a:xfrm>
            <a:off x="8083296" y="5065776"/>
            <a:ext cx="475488" cy="475488"/>
          </a:xfrm>
          <a:prstGeom prst="ellipse">
            <a:avLst/>
          </a:prstGeom>
          <a:solidFill>
            <a:srgbClr val="64748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73" name="Oval 72"/>
          <p:cNvSpPr/>
          <p:nvPr/>
        </p:nvSpPr>
        <p:spPr>
          <a:xfrm>
            <a:off x="9272016" y="4517136"/>
            <a:ext cx="475488" cy="475488"/>
          </a:xfrm>
          <a:prstGeom prst="ellipse">
            <a:avLst/>
          </a:prstGeom>
          <a:solidFill>
            <a:srgbClr val="7C3AED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08592" y="4187952"/>
            <a:ext cx="438912" cy="256032"/>
          </a:xfrm>
          <a:prstGeom prst="rect">
            <a:avLst/>
          </a:prstGeom>
          <a:solidFill>
            <a:srgbClr val="FFFFC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B45A09"/>
                </a:solidFill>
                <a:latin typeface="Meiryo UI"/>
              </a:rPr>
              <a:t>入:0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55480" y="42519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eiryo UI"/>
              </a:rPr>
              <a:t>C → D: 1→0 → D もキューへ
result=[A, B, C, D]
完成！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solidFill>
            <a:srgbClr val="64748B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Meiryo UI"/>
              </a:rPr>
              <a:t>処理済み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31720" y="6492240"/>
            <a:ext cx="2560320" cy="320040"/>
          </a:xfrm>
          <a:prstGeom prst="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Meiryo UI"/>
              </a:rPr>
              <a:t>キュー内（入次数=0）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0" y="6492240"/>
            <a:ext cx="1828800" cy="320040"/>
          </a:xfrm>
          <a:prstGeom prst="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Meiryo UI"/>
              </a:rPr>
              <a:t>未処理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79" y="64739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eiryo UI"/>
              </a:rPr>
              <a:t>結果: A → B → C → 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 UI"/>
              </a:rPr>
              <a:t>強連結成分 (SCC: Strongly Connected Components)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731520"/>
          </a:xfrm>
          <a:prstGeom prst="rect">
            <a:avLst/>
          </a:prstGeom>
          <a:solidFill>
            <a:srgbClr val="EFF6FF"/>
          </a:solidFill>
          <a:ln w="254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eiryo UI"/>
              </a:rPr>
              <a:t>有向グラフにおいて、どの頂点からどの頂点へも到達できる頂点の最大集合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B"/>
                </a:solidFill>
                <a:latin typeface="Meiryo UI"/>
              </a:rPr>
              <a:t>→ Kosarajuのアルゴリズム や Tarjanのアルゴリズム で O(V+E) で求められる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74519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40AF"/>
                </a:solidFill>
                <a:latin typeface="Meiryo UI"/>
              </a:rPr>
              <a:t>SCC の例（色が同じ頂点が同じ成分）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286000" y="2560320"/>
            <a:ext cx="1371600" cy="6400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80360" y="275234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Meiryo UI"/>
              </a:rPr>
              <a:t>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2560320"/>
            <a:ext cx="0" cy="12801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66160" y="30723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Meiryo UI"/>
              </a:rPr>
              <a:t>▶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2286000" y="3200400"/>
            <a:ext cx="1371600" cy="6400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80360" y="339242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Meiryo UI"/>
              </a:rPr>
              <a:t>▶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2560320"/>
            <a:ext cx="1828800" cy="18288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80560" y="252374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2743200"/>
            <a:ext cx="0" cy="10972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94960" y="316382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Meiryo UI"/>
              </a:rPr>
              <a:t>▶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486400" y="2743200"/>
            <a:ext cx="0" cy="10972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94960" y="316382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Meiryo UI"/>
              </a:rPr>
              <a:t>▶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0" y="2743200"/>
            <a:ext cx="2286000" cy="54864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37960" y="2889503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486400" y="3291840"/>
            <a:ext cx="2286000" cy="54864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37960" y="343814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eiryo UI"/>
              </a:rPr>
              <a:t>▶</a:t>
            </a:r>
          </a:p>
        </p:txBody>
      </p:sp>
      <p:sp>
        <p:nvSpPr>
          <p:cNvPr id="25" name="Oval 24"/>
          <p:cNvSpPr/>
          <p:nvPr/>
        </p:nvSpPr>
        <p:spPr>
          <a:xfrm>
            <a:off x="2029967" y="2944368"/>
            <a:ext cx="512064" cy="512064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3401568" y="2304287"/>
            <a:ext cx="512064" cy="512064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3401568" y="3584448"/>
            <a:ext cx="512064" cy="512064"/>
          </a:xfrm>
          <a:prstGeom prst="ellipse">
            <a:avLst/>
          </a:prstGeom>
          <a:solidFill>
            <a:srgbClr val="2563EB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C</a:t>
            </a:r>
          </a:p>
        </p:txBody>
      </p:sp>
      <p:sp>
        <p:nvSpPr>
          <p:cNvPr id="28" name="Oval 27"/>
          <p:cNvSpPr/>
          <p:nvPr/>
        </p:nvSpPr>
        <p:spPr>
          <a:xfrm>
            <a:off x="5230368" y="2487168"/>
            <a:ext cx="512064" cy="512064"/>
          </a:xfrm>
          <a:prstGeom prst="ellipse">
            <a:avLst/>
          </a:prstGeom>
          <a:solidFill>
            <a:srgbClr val="16A34A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5230368" y="3584448"/>
            <a:ext cx="512064" cy="512064"/>
          </a:xfrm>
          <a:prstGeom prst="ellipse">
            <a:avLst/>
          </a:prstGeom>
          <a:solidFill>
            <a:srgbClr val="16A34A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E</a:t>
            </a:r>
          </a:p>
        </p:txBody>
      </p:sp>
      <p:sp>
        <p:nvSpPr>
          <p:cNvPr id="30" name="Oval 29"/>
          <p:cNvSpPr/>
          <p:nvPr/>
        </p:nvSpPr>
        <p:spPr>
          <a:xfrm>
            <a:off x="7516368" y="3035808"/>
            <a:ext cx="512064" cy="512064"/>
          </a:xfrm>
          <a:prstGeom prst="ellipse">
            <a:avLst/>
          </a:prstGeom>
          <a:solidFill>
            <a:srgbClr val="EA580C"/>
          </a:solidFill>
          <a:ln w="317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572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eiryo UI"/>
              </a:rPr>
              <a:t>SCC①: {A,B,C}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B"/>
                </a:solidFill>
                <a:latin typeface="Meiryo UI"/>
              </a:rPr>
              <a:t>互いに到達可能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eiryo UI"/>
              </a:rPr>
              <a:t>SCC②: {D,E}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B"/>
                </a:solidFill>
                <a:latin typeface="Meiryo UI"/>
              </a:rPr>
              <a:t>D⇄E で到達可能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Meiryo UI"/>
              </a:rPr>
              <a:t>SCC③: {F}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B"/>
                </a:solidFill>
                <a:latin typeface="Meiryo UI"/>
              </a:rPr>
              <a:t>単独（終点）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187451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Meiryo UI"/>
              </a:rPr>
              <a:t>SCC を求めるアルゴリズム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2286000"/>
            <a:ext cx="3200400" cy="13258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2331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eiryo UI"/>
              </a:rPr>
              <a:t>Kosarajuのアルゴリズム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27432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 UI"/>
              </a:rPr>
              <a:t>① DFS して終了順にスタック
② グラフを逆向きに
③ スタック順に DFS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0" y="3794760"/>
            <a:ext cx="3200400" cy="132588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15400" y="3840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eiryo UI"/>
              </a:rPr>
              <a:t>Tarjanのアルゴリズム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42519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 UI"/>
              </a:rPr>
              <a:t>① DFS で訪問番号を振る
② low-link を更新
③ スタックを使い SCC を特定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5349240"/>
            <a:ext cx="3200400" cy="502920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5440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Meiryo UI"/>
              </a:rPr>
              <a:t>両方とも計算量: O(V + 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760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B"/>
                </a:solidFill>
                <a:latin typeface="Meiryo UI"/>
              </a:rPr>
              <a:t>活用例: SNS の互いにフォローし合うグループの抽出、
回路の解析、コンパイラの依存関係解析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 UI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1572768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09728" cy="15727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eiryo UI"/>
              </a:rPr>
              <a:t>無向グラフ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 UI"/>
              </a:rPr>
              <a:t>辺に方向なし。A-B = B-A。隣接リストは両方向に追加。対称行列。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1572768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109728" cy="15727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097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Meiryo UI"/>
              </a:rPr>
              <a:t>有向グラフ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3619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 UI"/>
              </a:rPr>
              <a:t>辺に方向あり。A→B ≠ B→A。一方通行の関係を表現できる。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61488"/>
            <a:ext cx="5577840" cy="1572768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109728" cy="15727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52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Meiryo UI"/>
              </a:rPr>
              <a:t>入次数・出次数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918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 UI"/>
              </a:rPr>
              <a:t>入次数=入ってくる辺の数 / 出次数=出ていく辺の数。有向グラフ特有の概念。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61488"/>
            <a:ext cx="5577840" cy="1572768"/>
          </a:xfrm>
          <a:prstGeom prst="rect">
            <a:avLst/>
          </a:prstGeom>
          <a:solidFill>
            <a:srgbClr val="FFFBEB"/>
          </a:solidFill>
          <a:ln w="2540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61488"/>
            <a:ext cx="109728" cy="1572768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852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A09"/>
                </a:solidFill>
                <a:latin typeface="Meiryo UI"/>
              </a:rPr>
              <a:t>トポロジカルソート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 UI"/>
              </a:rPr>
              <a:t>DAG の頂点を辺の方向に沿って並べる。入次数=0から順に処理 (Kahn法)。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17136"/>
            <a:ext cx="5577840" cy="1572768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517136"/>
            <a:ext cx="109728" cy="15727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608575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eiryo UI"/>
              </a:rPr>
              <a:t>強連結成分 (SCC)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47488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 UI"/>
              </a:rPr>
              <a:t>互いに行き来できる最大の頂点集合。Kosaraju/Tarjan で O(V+E)。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17136"/>
            <a:ext cx="5577840" cy="1572768"/>
          </a:xfrm>
          <a:prstGeom prst="rect">
            <a:avLst/>
          </a:prstGeom>
          <a:solidFill>
            <a:srgbClr val="EFF6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517136"/>
            <a:ext cx="109728" cy="1572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608575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eiryo UI"/>
              </a:rPr>
              <a:t>実世界での活用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047488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 UI"/>
              </a:rPr>
              <a:t>フォロー関係(有向) / 友人関係(無向) / 依存関係の解決(トポロジカルソート)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Meiryo UI"/>
              </a:rPr>
              <a:t>Directed / Undirected Graph  ―  データ構造入門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