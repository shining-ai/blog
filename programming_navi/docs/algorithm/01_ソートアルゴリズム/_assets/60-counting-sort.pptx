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60" r:id="rId4"/>
    <p:sldId id="259" r:id="rId5"/>
  </p:sldIdLst>
  <p:sldSz cx="21289963" cy="1197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AFE"/>
    <a:srgbClr val="00B050"/>
    <a:srgbClr val="D4F5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124" y="-1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20000" y="2399376"/>
            <a:ext cx="19800000" cy="64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ja-JP" sz="3200" dirty="0">
                <a:solidFill>
                  <a:srgbClr val="FFFFFF"/>
                </a:solidFill>
              </a:rPr>
              <a:t>STEP 1</a:t>
            </a:r>
            <a:r>
              <a:rPr lang="ja-JP" altLang="en-US" sz="3200" dirty="0">
                <a:solidFill>
                  <a:srgbClr val="FFFFFF"/>
                </a:solidFill>
              </a:rPr>
              <a:t>：出現回数を数え</a:t>
            </a:r>
            <a:r>
              <a:rPr lang="ja-JP" altLang="en-US" sz="3200" dirty="0" smtClean="0">
                <a:solidFill>
                  <a:srgbClr val="FFFFFF"/>
                </a:solidFill>
              </a:rPr>
              <a:t>る</a:t>
            </a:r>
            <a:endParaRPr lang="ja-JP" altLang="en-US" sz="3200" dirty="0">
              <a:solidFill>
                <a:srgbClr val="FFFFFF"/>
              </a:solidFill>
            </a:endParaRPr>
          </a:p>
        </p:txBody>
      </p:sp>
      <p:grpSp>
        <p:nvGrpSpPr>
          <p:cNvPr id="6" name="グループ化 5"/>
          <p:cNvGrpSpPr/>
          <p:nvPr/>
        </p:nvGrpSpPr>
        <p:grpSpPr>
          <a:xfrm>
            <a:off x="6514355" y="772273"/>
            <a:ext cx="11268000" cy="1007999"/>
            <a:chOff x="5148000" y="772273"/>
            <a:chExt cx="11268000" cy="1007999"/>
          </a:xfrm>
        </p:grpSpPr>
        <p:sp>
          <p:nvSpPr>
            <p:cNvPr id="7" name="Rectangle 6"/>
            <p:cNvSpPr/>
            <p:nvPr/>
          </p:nvSpPr>
          <p:spPr>
            <a:xfrm>
              <a:off x="5148000" y="772273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rgbClr val="222222"/>
                  </a:solidFill>
                </a:rPr>
                <a:t>4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768000" y="772273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2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8388000" y="772273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rgbClr val="222222"/>
                  </a:solidFill>
                </a:rPr>
                <a:t>3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0008000" y="772273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1628000" y="772273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2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3248000" y="772273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4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4868000" y="772273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1</a:t>
              </a:r>
            </a:p>
          </p:txBody>
        </p:sp>
      </p:grpSp>
      <p:sp>
        <p:nvSpPr>
          <p:cNvPr id="26" name="Rectangle 25"/>
          <p:cNvSpPr/>
          <p:nvPr/>
        </p:nvSpPr>
        <p:spPr>
          <a:xfrm>
            <a:off x="720000" y="6672200"/>
            <a:ext cx="19800000" cy="64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ja-JP" sz="3200" dirty="0">
                <a:solidFill>
                  <a:srgbClr val="FFFFFF"/>
                </a:solidFill>
              </a:rPr>
              <a:t>STEP 2</a:t>
            </a:r>
            <a:r>
              <a:rPr lang="ja-JP" altLang="en-US" sz="3200" dirty="0">
                <a:solidFill>
                  <a:srgbClr val="FFFFFF"/>
                </a:solidFill>
              </a:rPr>
              <a:t>：累積和を計算す</a:t>
            </a:r>
            <a:r>
              <a:rPr lang="ja-JP" altLang="en-US" sz="3200" dirty="0" smtClean="0">
                <a:solidFill>
                  <a:srgbClr val="FFFFFF"/>
                </a:solidFill>
              </a:rPr>
              <a:t>る</a:t>
            </a:r>
            <a:endParaRPr lang="ja-JP" altLang="en-US" sz="3200" dirty="0">
              <a:solidFill>
                <a:srgbClr val="FFFFFF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420000" y="738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13CA6"/>
                </a:solidFill>
              </a:rPr>
              <a:t>count[i] += count[i-1]</a:t>
            </a:r>
          </a:p>
        </p:txBody>
      </p:sp>
      <p:sp>
        <p:nvSpPr>
          <p:cNvPr id="59" name="TextBox 33"/>
          <p:cNvSpPr txBox="1"/>
          <p:nvPr/>
        </p:nvSpPr>
        <p:spPr>
          <a:xfrm>
            <a:off x="4049285" y="1014662"/>
            <a:ext cx="22791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ja-JP" altLang="en-US" sz="2800" b="1" dirty="0">
                <a:solidFill>
                  <a:srgbClr val="666666"/>
                </a:solidFill>
              </a:rPr>
              <a:t>元の</a:t>
            </a:r>
            <a:r>
              <a:rPr sz="2800" b="1" dirty="0" smtClean="0">
                <a:solidFill>
                  <a:srgbClr val="666666"/>
                </a:solidFill>
              </a:rPr>
              <a:t>配列</a:t>
            </a:r>
            <a:endParaRPr lang="en-US" sz="2800" b="1" dirty="0" smtClean="0">
              <a:solidFill>
                <a:srgbClr val="666666"/>
              </a:solidFill>
            </a:endParaRPr>
          </a:p>
        </p:txBody>
      </p:sp>
      <p:grpSp>
        <p:nvGrpSpPr>
          <p:cNvPr id="3" name="グループ化 2"/>
          <p:cNvGrpSpPr/>
          <p:nvPr/>
        </p:nvGrpSpPr>
        <p:grpSpPr>
          <a:xfrm>
            <a:off x="6514355" y="3521267"/>
            <a:ext cx="8261252" cy="2217162"/>
            <a:chOff x="5125748" y="3521267"/>
            <a:chExt cx="8261252" cy="2217162"/>
          </a:xfrm>
        </p:grpSpPr>
        <p:sp>
          <p:nvSpPr>
            <p:cNvPr id="15" name="Rectangle 14"/>
            <p:cNvSpPr/>
            <p:nvPr/>
          </p:nvSpPr>
          <p:spPr>
            <a:xfrm>
              <a:off x="5125748" y="3521267"/>
              <a:ext cx="1655280" cy="11088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777241" y="3521267"/>
              <a:ext cx="1655280" cy="11088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600" b="1" dirty="0">
                  <a:solidFill>
                    <a:schemeClr val="tx1"/>
                  </a:solidFill>
                </a:rPr>
                <a:t>1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428734" y="3521267"/>
              <a:ext cx="1655280" cy="11088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080227" y="3521267"/>
              <a:ext cx="1655280" cy="11088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3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1731720" y="3521267"/>
              <a:ext cx="1655280" cy="11088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4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61" name="Rectangle 14"/>
            <p:cNvSpPr/>
            <p:nvPr/>
          </p:nvSpPr>
          <p:spPr>
            <a:xfrm>
              <a:off x="5128904" y="4629629"/>
              <a:ext cx="1655280" cy="1108800"/>
            </a:xfrm>
            <a:prstGeom prst="rect">
              <a:avLst/>
            </a:prstGeom>
            <a:solidFill>
              <a:srgbClr val="D4F5E0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2" name="Rectangle 16"/>
            <p:cNvSpPr/>
            <p:nvPr/>
          </p:nvSpPr>
          <p:spPr>
            <a:xfrm>
              <a:off x="6779608" y="4629629"/>
              <a:ext cx="1655280" cy="1108800"/>
            </a:xfrm>
            <a:prstGeom prst="rect">
              <a:avLst/>
            </a:prstGeom>
            <a:solidFill>
              <a:srgbClr val="D4F5E0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600" b="1" dirty="0">
                  <a:solidFill>
                    <a:schemeClr val="tx1"/>
                  </a:solidFill>
                </a:rPr>
                <a:t>2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63" name="Rectangle 18"/>
            <p:cNvSpPr/>
            <p:nvPr/>
          </p:nvSpPr>
          <p:spPr>
            <a:xfrm>
              <a:off x="8430312" y="4629629"/>
              <a:ext cx="1655280" cy="1108800"/>
            </a:xfrm>
            <a:prstGeom prst="rect">
              <a:avLst/>
            </a:prstGeom>
            <a:solidFill>
              <a:srgbClr val="D4F5E0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2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64" name="Rectangle 20"/>
            <p:cNvSpPr/>
            <p:nvPr/>
          </p:nvSpPr>
          <p:spPr>
            <a:xfrm>
              <a:off x="10081016" y="4629629"/>
              <a:ext cx="1655280" cy="1108800"/>
            </a:xfrm>
            <a:prstGeom prst="rect">
              <a:avLst/>
            </a:prstGeom>
            <a:solidFill>
              <a:srgbClr val="D4F5E0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1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65" name="Rectangle 22"/>
            <p:cNvSpPr/>
            <p:nvPr/>
          </p:nvSpPr>
          <p:spPr>
            <a:xfrm>
              <a:off x="11731720" y="4629629"/>
              <a:ext cx="1655280" cy="1108800"/>
            </a:xfrm>
            <a:prstGeom prst="rect">
              <a:avLst/>
            </a:prstGeom>
            <a:solidFill>
              <a:srgbClr val="D4F5E0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2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80" name="TextBox 42"/>
          <p:cNvSpPr txBox="1"/>
          <p:nvPr/>
        </p:nvSpPr>
        <p:spPr>
          <a:xfrm>
            <a:off x="2944886" y="4922419"/>
            <a:ext cx="3383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ja-JP" altLang="en-US" sz="2800" b="1" dirty="0">
                <a:solidFill>
                  <a:srgbClr val="00B050"/>
                </a:solidFill>
              </a:rPr>
              <a:t>出現回数 </a:t>
            </a:r>
            <a:r>
              <a:rPr lang="en-US" altLang="ja-JP" sz="2800" b="1" dirty="0" smtClean="0">
                <a:solidFill>
                  <a:srgbClr val="00B050"/>
                </a:solidFill>
              </a:rPr>
              <a:t>freq[i] </a:t>
            </a:r>
            <a:r>
              <a:rPr sz="2800" b="0" dirty="0" smtClean="0">
                <a:solidFill>
                  <a:srgbClr val="00B050"/>
                </a:solidFill>
              </a:rPr>
              <a:t> →</a:t>
            </a:r>
            <a:endParaRPr lang="en-US" sz="2800" b="0" dirty="0" smtClean="0">
              <a:solidFill>
                <a:srgbClr val="00B050"/>
              </a:solidFill>
            </a:endParaRPr>
          </a:p>
        </p:txBody>
      </p:sp>
      <p:sp>
        <p:nvSpPr>
          <p:cNvPr id="81" name="TextBox 42"/>
          <p:cNvSpPr txBox="1"/>
          <p:nvPr/>
        </p:nvSpPr>
        <p:spPr>
          <a:xfrm>
            <a:off x="4126976" y="3814057"/>
            <a:ext cx="22014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ja-JP" alt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値 </a:t>
            </a:r>
            <a:r>
              <a:rPr lang="en-US" altLang="ja-JP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 </a:t>
            </a:r>
            <a:r>
              <a:rPr sz="2800" b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28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</a:t>
            </a:r>
          </a:p>
        </p:txBody>
      </p:sp>
      <p:sp>
        <p:nvSpPr>
          <p:cNvPr id="92" name="TextBox 42"/>
          <p:cNvSpPr txBox="1"/>
          <p:nvPr/>
        </p:nvSpPr>
        <p:spPr>
          <a:xfrm>
            <a:off x="2938116" y="9227429"/>
            <a:ext cx="33903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ja-JP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出現回数 </a:t>
            </a:r>
            <a:r>
              <a:rPr lang="en-US" altLang="ja-JP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freq[i] </a:t>
            </a:r>
            <a:r>
              <a:rPr sz="2800" b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→</a:t>
            </a:r>
            <a:endParaRPr lang="en-US" sz="2800" b="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3" name="TextBox 42"/>
          <p:cNvSpPr txBox="1"/>
          <p:nvPr/>
        </p:nvSpPr>
        <p:spPr>
          <a:xfrm>
            <a:off x="4327110" y="8119067"/>
            <a:ext cx="20013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ja-JP" alt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値 </a:t>
            </a:r>
            <a:r>
              <a:rPr lang="en-US" altLang="ja-JP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 </a:t>
            </a:r>
            <a:r>
              <a:rPr sz="2800" b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28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</a:t>
            </a:r>
          </a:p>
        </p:txBody>
      </p:sp>
      <p:sp>
        <p:nvSpPr>
          <p:cNvPr id="99" name="TextBox 42"/>
          <p:cNvSpPr txBox="1"/>
          <p:nvPr/>
        </p:nvSpPr>
        <p:spPr>
          <a:xfrm>
            <a:off x="2323435" y="10336229"/>
            <a:ext cx="40050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ja-JP" altLang="en-US" sz="2800" b="1" dirty="0" smtClean="0">
                <a:solidFill>
                  <a:schemeClr val="accent6"/>
                </a:solidFill>
              </a:rPr>
              <a:t>累積カウント </a:t>
            </a:r>
            <a:r>
              <a:rPr lang="en-US" altLang="ja-JP" sz="2800" b="1" dirty="0" smtClean="0">
                <a:solidFill>
                  <a:schemeClr val="accent6"/>
                </a:solidFill>
              </a:rPr>
              <a:t>prefix[i] </a:t>
            </a:r>
            <a:r>
              <a:rPr sz="2800" b="0" dirty="0" smtClean="0">
                <a:solidFill>
                  <a:schemeClr val="accent6"/>
                </a:solidFill>
              </a:rPr>
              <a:t> →</a:t>
            </a:r>
            <a:endParaRPr lang="en-US" sz="2800" b="0" dirty="0" smtClean="0">
              <a:solidFill>
                <a:schemeClr val="accent6"/>
              </a:solidFill>
            </a:endParaRPr>
          </a:p>
        </p:txBody>
      </p:sp>
      <p:grpSp>
        <p:nvGrpSpPr>
          <p:cNvPr id="4" name="グループ化 3"/>
          <p:cNvGrpSpPr/>
          <p:nvPr/>
        </p:nvGrpSpPr>
        <p:grpSpPr>
          <a:xfrm>
            <a:off x="6514355" y="7826277"/>
            <a:ext cx="8261252" cy="3325962"/>
            <a:chOff x="5148000" y="7953277"/>
            <a:chExt cx="8261252" cy="3325962"/>
          </a:xfrm>
        </p:grpSpPr>
        <p:sp>
          <p:nvSpPr>
            <p:cNvPr id="100" name="Rectangle 14"/>
            <p:cNvSpPr/>
            <p:nvPr/>
          </p:nvSpPr>
          <p:spPr>
            <a:xfrm>
              <a:off x="5148000" y="7953277"/>
              <a:ext cx="1655280" cy="11088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1" name="Rectangle 16"/>
            <p:cNvSpPr/>
            <p:nvPr/>
          </p:nvSpPr>
          <p:spPr>
            <a:xfrm>
              <a:off x="6799493" y="7953277"/>
              <a:ext cx="1655280" cy="11088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600" b="1" dirty="0">
                  <a:solidFill>
                    <a:schemeClr val="tx1"/>
                  </a:solidFill>
                </a:rPr>
                <a:t>1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102" name="Rectangle 18"/>
            <p:cNvSpPr/>
            <p:nvPr/>
          </p:nvSpPr>
          <p:spPr>
            <a:xfrm>
              <a:off x="8450986" y="7953277"/>
              <a:ext cx="1655280" cy="11088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3" name="Rectangle 20"/>
            <p:cNvSpPr/>
            <p:nvPr/>
          </p:nvSpPr>
          <p:spPr>
            <a:xfrm>
              <a:off x="10102479" y="7953277"/>
              <a:ext cx="1655280" cy="11088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3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104" name="Rectangle 22"/>
            <p:cNvSpPr/>
            <p:nvPr/>
          </p:nvSpPr>
          <p:spPr>
            <a:xfrm>
              <a:off x="11753972" y="7953277"/>
              <a:ext cx="1655280" cy="1108800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4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105" name="Rectangle 14"/>
            <p:cNvSpPr/>
            <p:nvPr/>
          </p:nvSpPr>
          <p:spPr>
            <a:xfrm>
              <a:off x="5148000" y="9061639"/>
              <a:ext cx="1655280" cy="1108800"/>
            </a:xfrm>
            <a:prstGeom prst="rect">
              <a:avLst/>
            </a:prstGeom>
            <a:solidFill>
              <a:srgbClr val="D4F5E0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6" name="Rectangle 16"/>
            <p:cNvSpPr/>
            <p:nvPr/>
          </p:nvSpPr>
          <p:spPr>
            <a:xfrm>
              <a:off x="6801860" y="9061639"/>
              <a:ext cx="1655280" cy="1108800"/>
            </a:xfrm>
            <a:prstGeom prst="rect">
              <a:avLst/>
            </a:prstGeom>
            <a:solidFill>
              <a:srgbClr val="D4F5E0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600" b="1" dirty="0">
                  <a:solidFill>
                    <a:schemeClr val="tx1"/>
                  </a:solidFill>
                </a:rPr>
                <a:t>2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107" name="Rectangle 18"/>
            <p:cNvSpPr/>
            <p:nvPr/>
          </p:nvSpPr>
          <p:spPr>
            <a:xfrm>
              <a:off x="8452564" y="9061639"/>
              <a:ext cx="1655280" cy="1108800"/>
            </a:xfrm>
            <a:prstGeom prst="rect">
              <a:avLst/>
            </a:prstGeom>
            <a:solidFill>
              <a:srgbClr val="D4F5E0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2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108" name="Rectangle 20"/>
            <p:cNvSpPr/>
            <p:nvPr/>
          </p:nvSpPr>
          <p:spPr>
            <a:xfrm>
              <a:off x="10103268" y="9061639"/>
              <a:ext cx="1655280" cy="1108800"/>
            </a:xfrm>
            <a:prstGeom prst="rect">
              <a:avLst/>
            </a:prstGeom>
            <a:solidFill>
              <a:srgbClr val="D4F5E0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1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109" name="Rectangle 22"/>
            <p:cNvSpPr/>
            <p:nvPr/>
          </p:nvSpPr>
          <p:spPr>
            <a:xfrm>
              <a:off x="11753972" y="9061639"/>
              <a:ext cx="1655280" cy="1108800"/>
            </a:xfrm>
            <a:prstGeom prst="rect">
              <a:avLst/>
            </a:prstGeom>
            <a:solidFill>
              <a:srgbClr val="D4F5E0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2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 14"/>
            <p:cNvSpPr/>
            <p:nvPr/>
          </p:nvSpPr>
          <p:spPr>
            <a:xfrm>
              <a:off x="5148000" y="10170439"/>
              <a:ext cx="1655280" cy="1108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11" name="Rectangle 16"/>
            <p:cNvSpPr/>
            <p:nvPr/>
          </p:nvSpPr>
          <p:spPr>
            <a:xfrm>
              <a:off x="6799493" y="10168178"/>
              <a:ext cx="1655280" cy="1108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600" b="1" dirty="0">
                  <a:solidFill>
                    <a:schemeClr val="tx1"/>
                  </a:solidFill>
                </a:rPr>
                <a:t>2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112" name="Rectangle 18"/>
            <p:cNvSpPr/>
            <p:nvPr/>
          </p:nvSpPr>
          <p:spPr>
            <a:xfrm>
              <a:off x="8450986" y="10168178"/>
              <a:ext cx="1655280" cy="1108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4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113" name="Rectangle 20"/>
            <p:cNvSpPr/>
            <p:nvPr/>
          </p:nvSpPr>
          <p:spPr>
            <a:xfrm>
              <a:off x="10102479" y="10168178"/>
              <a:ext cx="1655280" cy="1108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5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114" name="Rectangle 22"/>
            <p:cNvSpPr/>
            <p:nvPr/>
          </p:nvSpPr>
          <p:spPr>
            <a:xfrm>
              <a:off x="11753972" y="10168178"/>
              <a:ext cx="1655280" cy="1108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 smtClean="0">
                  <a:solidFill>
                    <a:schemeClr val="tx1"/>
                  </a:solidFill>
                </a:rPr>
                <a:t>7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5764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20000" y="672176"/>
            <a:ext cx="198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ja-JP" sz="3200" dirty="0">
                <a:solidFill>
                  <a:srgbClr val="FFFFFF"/>
                </a:solidFill>
              </a:rPr>
              <a:t>STEP </a:t>
            </a:r>
            <a:r>
              <a:rPr lang="en-US" altLang="ja-JP" sz="3200" dirty="0" smtClean="0">
                <a:solidFill>
                  <a:srgbClr val="FFFFFF"/>
                </a:solidFill>
              </a:rPr>
              <a:t>3</a:t>
            </a:r>
            <a:r>
              <a:rPr lang="ja-JP" altLang="en-US" sz="3200" dirty="0" smtClean="0">
                <a:solidFill>
                  <a:srgbClr val="FFFFFF"/>
                </a:solidFill>
              </a:rPr>
              <a:t>：後ろから取り出して配置</a:t>
            </a:r>
            <a:endParaRPr lang="ja-JP" altLang="en-US" sz="3200" dirty="0">
              <a:solidFill>
                <a:srgbClr val="FFFFFF"/>
              </a:solidFill>
            </a:endParaRPr>
          </a:p>
        </p:txBody>
      </p:sp>
      <p:grpSp>
        <p:nvGrpSpPr>
          <p:cNvPr id="95" name="グループ化 94"/>
          <p:cNvGrpSpPr/>
          <p:nvPr/>
        </p:nvGrpSpPr>
        <p:grpSpPr>
          <a:xfrm>
            <a:off x="13145819" y="3643915"/>
            <a:ext cx="7464250" cy="1156732"/>
            <a:chOff x="12394082" y="2985368"/>
            <a:chExt cx="8210675" cy="1539611"/>
          </a:xfrm>
        </p:grpSpPr>
        <p:sp>
          <p:nvSpPr>
            <p:cNvPr id="77" name="TextBox 42"/>
            <p:cNvSpPr txBox="1"/>
            <p:nvPr/>
          </p:nvSpPr>
          <p:spPr>
            <a:xfrm>
              <a:off x="12394082" y="3102420"/>
              <a:ext cx="200133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ja-JP" altLang="en-US" sz="24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値 </a:t>
              </a:r>
              <a:r>
                <a:rPr lang="en-US" altLang="ja-JP" sz="24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 </a:t>
              </a:r>
              <a:r>
                <a:rPr sz="2400" b="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</a:t>
              </a:r>
              <a:r>
                <a:rPr sz="2400" b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→</a:t>
              </a:r>
            </a:p>
          </p:txBody>
        </p:sp>
        <p:sp>
          <p:nvSpPr>
            <p:cNvPr id="78" name="TextBox 42"/>
            <p:cNvSpPr txBox="1"/>
            <p:nvPr/>
          </p:nvSpPr>
          <p:spPr>
            <a:xfrm>
              <a:off x="12394082" y="3693982"/>
              <a:ext cx="200133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ja-JP" altLang="en-US" sz="2400" b="1" dirty="0" smtClean="0">
                  <a:solidFill>
                    <a:schemeClr val="accent6"/>
                  </a:solidFill>
                </a:rPr>
                <a:t>累積カウント </a:t>
              </a:r>
              <a:endParaRPr lang="en-US" altLang="ja-JP" sz="2400" b="1" dirty="0" smtClean="0">
                <a:solidFill>
                  <a:schemeClr val="accent6"/>
                </a:solidFill>
              </a:endParaRPr>
            </a:p>
            <a:p>
              <a:pPr algn="r"/>
              <a:r>
                <a:rPr lang="en-US" altLang="ja-JP" sz="2400" b="1" dirty="0" smtClean="0">
                  <a:solidFill>
                    <a:schemeClr val="accent6"/>
                  </a:solidFill>
                </a:rPr>
                <a:t>prefix[i] </a:t>
              </a:r>
              <a:r>
                <a:rPr sz="2400" b="0" dirty="0" smtClean="0">
                  <a:solidFill>
                    <a:schemeClr val="accent6"/>
                  </a:solidFill>
                </a:rPr>
                <a:t> →</a:t>
              </a:r>
              <a:endParaRPr lang="en-US" sz="2400" b="0" dirty="0" smtClean="0">
                <a:solidFill>
                  <a:schemeClr val="accent6"/>
                </a:solidFill>
              </a:endParaRPr>
            </a:p>
          </p:txBody>
        </p:sp>
        <p:sp>
          <p:nvSpPr>
            <p:cNvPr id="80" name="Rectangle 14"/>
            <p:cNvSpPr/>
            <p:nvPr/>
          </p:nvSpPr>
          <p:spPr>
            <a:xfrm>
              <a:off x="14406149" y="2985368"/>
              <a:ext cx="1243636" cy="757325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1" name="Rectangle 16"/>
            <p:cNvSpPr/>
            <p:nvPr/>
          </p:nvSpPr>
          <p:spPr>
            <a:xfrm>
              <a:off x="15644892" y="2985368"/>
              <a:ext cx="1243636" cy="757325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600" b="1" dirty="0">
                  <a:solidFill>
                    <a:schemeClr val="tx1"/>
                  </a:solidFill>
                </a:rPr>
                <a:t>1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82" name="Rectangle 18"/>
            <p:cNvSpPr/>
            <p:nvPr/>
          </p:nvSpPr>
          <p:spPr>
            <a:xfrm>
              <a:off x="16883635" y="2985368"/>
              <a:ext cx="1243636" cy="757325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3" name="Rectangle 20"/>
            <p:cNvSpPr/>
            <p:nvPr/>
          </p:nvSpPr>
          <p:spPr>
            <a:xfrm>
              <a:off x="18122378" y="2985368"/>
              <a:ext cx="1243636" cy="757325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3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84" name="Rectangle 22"/>
            <p:cNvSpPr/>
            <p:nvPr/>
          </p:nvSpPr>
          <p:spPr>
            <a:xfrm>
              <a:off x="19361121" y="2985368"/>
              <a:ext cx="1243636" cy="757325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4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90" name="Rectangle 14"/>
            <p:cNvSpPr/>
            <p:nvPr/>
          </p:nvSpPr>
          <p:spPr>
            <a:xfrm>
              <a:off x="14406149" y="3742030"/>
              <a:ext cx="1243636" cy="75732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1" name="Rectangle 16"/>
            <p:cNvSpPr/>
            <p:nvPr/>
          </p:nvSpPr>
          <p:spPr>
            <a:xfrm>
              <a:off x="15644892" y="3739768"/>
              <a:ext cx="1243636" cy="75732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600" b="1" dirty="0" smtClean="0">
                  <a:solidFill>
                    <a:srgbClr val="FF0000"/>
                  </a:solidFill>
                </a:rPr>
                <a:t>2</a:t>
              </a:r>
              <a:r>
                <a:rPr lang="ja-JP" altLang="en-US" sz="3600" b="1" dirty="0" smtClean="0">
                  <a:solidFill>
                    <a:srgbClr val="FF0000"/>
                  </a:solidFill>
                </a:rPr>
                <a:t>→</a:t>
              </a:r>
              <a:r>
                <a:rPr lang="en-US" altLang="ja-JP" sz="3600" b="1" dirty="0" smtClean="0">
                  <a:solidFill>
                    <a:srgbClr val="FF0000"/>
                  </a:solidFill>
                </a:rPr>
                <a:t>1</a:t>
              </a:r>
              <a:endParaRPr sz="3600" b="1" dirty="0">
                <a:solidFill>
                  <a:srgbClr val="FF0000"/>
                </a:solidFill>
              </a:endParaRPr>
            </a:p>
          </p:txBody>
        </p:sp>
        <p:sp>
          <p:nvSpPr>
            <p:cNvPr id="92" name="Rectangle 18"/>
            <p:cNvSpPr/>
            <p:nvPr/>
          </p:nvSpPr>
          <p:spPr>
            <a:xfrm>
              <a:off x="16883635" y="3739769"/>
              <a:ext cx="1243636" cy="75732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4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93" name="Rectangle 20"/>
            <p:cNvSpPr/>
            <p:nvPr/>
          </p:nvSpPr>
          <p:spPr>
            <a:xfrm>
              <a:off x="18122378" y="3739769"/>
              <a:ext cx="1243636" cy="75732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5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94" name="Rectangle 22"/>
            <p:cNvSpPr/>
            <p:nvPr/>
          </p:nvSpPr>
          <p:spPr>
            <a:xfrm>
              <a:off x="19361121" y="3739769"/>
              <a:ext cx="1243636" cy="75732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 smtClean="0">
                  <a:solidFill>
                    <a:schemeClr val="tx1"/>
                  </a:solidFill>
                </a:rPr>
                <a:t>7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8" name="グループ化 127"/>
          <p:cNvGrpSpPr/>
          <p:nvPr/>
        </p:nvGrpSpPr>
        <p:grpSpPr>
          <a:xfrm>
            <a:off x="679894" y="2753190"/>
            <a:ext cx="12145518" cy="3346356"/>
            <a:chOff x="567600" y="1826090"/>
            <a:chExt cx="12145518" cy="3346356"/>
          </a:xfrm>
        </p:grpSpPr>
        <p:sp>
          <p:nvSpPr>
            <p:cNvPr id="68" name="Rectangle 6"/>
            <p:cNvSpPr/>
            <p:nvPr/>
          </p:nvSpPr>
          <p:spPr>
            <a:xfrm>
              <a:off x="2469482" y="1826090"/>
              <a:ext cx="1407273" cy="916363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rgbClr val="222222"/>
                  </a:solidFill>
                </a:rPr>
                <a:t>4</a:t>
              </a:r>
            </a:p>
          </p:txBody>
        </p:sp>
        <p:sp>
          <p:nvSpPr>
            <p:cNvPr id="69" name="Rectangle 7"/>
            <p:cNvSpPr/>
            <p:nvPr/>
          </p:nvSpPr>
          <p:spPr>
            <a:xfrm>
              <a:off x="3942209" y="1826090"/>
              <a:ext cx="1407273" cy="916363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2</a:t>
              </a:r>
            </a:p>
          </p:txBody>
        </p:sp>
        <p:sp>
          <p:nvSpPr>
            <p:cNvPr id="70" name="Rectangle 8"/>
            <p:cNvSpPr/>
            <p:nvPr/>
          </p:nvSpPr>
          <p:spPr>
            <a:xfrm>
              <a:off x="5414936" y="1826090"/>
              <a:ext cx="1407273" cy="916363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rgbClr val="222222"/>
                  </a:solidFill>
                </a:rPr>
                <a:t>3</a:t>
              </a:r>
            </a:p>
          </p:txBody>
        </p:sp>
        <p:sp>
          <p:nvSpPr>
            <p:cNvPr id="71" name="Rectangle 9"/>
            <p:cNvSpPr/>
            <p:nvPr/>
          </p:nvSpPr>
          <p:spPr>
            <a:xfrm>
              <a:off x="6887664" y="1826090"/>
              <a:ext cx="1407273" cy="916363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1</a:t>
              </a:r>
            </a:p>
          </p:txBody>
        </p:sp>
        <p:sp>
          <p:nvSpPr>
            <p:cNvPr id="72" name="Rectangle 10"/>
            <p:cNvSpPr/>
            <p:nvPr/>
          </p:nvSpPr>
          <p:spPr>
            <a:xfrm>
              <a:off x="8360391" y="1826090"/>
              <a:ext cx="1407273" cy="916363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2</a:t>
              </a:r>
            </a:p>
          </p:txBody>
        </p:sp>
        <p:sp>
          <p:nvSpPr>
            <p:cNvPr id="73" name="Rectangle 11"/>
            <p:cNvSpPr/>
            <p:nvPr/>
          </p:nvSpPr>
          <p:spPr>
            <a:xfrm>
              <a:off x="9833118" y="1826090"/>
              <a:ext cx="1407273" cy="916363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4</a:t>
              </a:r>
            </a:p>
          </p:txBody>
        </p:sp>
        <p:sp>
          <p:nvSpPr>
            <p:cNvPr id="74" name="Rectangle 12"/>
            <p:cNvSpPr/>
            <p:nvPr/>
          </p:nvSpPr>
          <p:spPr>
            <a:xfrm>
              <a:off x="11305845" y="1826090"/>
              <a:ext cx="1407273" cy="916363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1</a:t>
              </a:r>
            </a:p>
          </p:txBody>
        </p:sp>
        <p:sp>
          <p:nvSpPr>
            <p:cNvPr id="75" name="TextBox 33"/>
            <p:cNvSpPr txBox="1"/>
            <p:nvPr/>
          </p:nvSpPr>
          <p:spPr>
            <a:xfrm>
              <a:off x="567600" y="2022661"/>
              <a:ext cx="174989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ja-JP" altLang="en-US" sz="2800" b="1" dirty="0">
                  <a:solidFill>
                    <a:srgbClr val="666666"/>
                  </a:solidFill>
                </a:rPr>
                <a:t>元の</a:t>
              </a:r>
              <a:r>
                <a:rPr sz="2800" b="1" dirty="0" smtClean="0">
                  <a:solidFill>
                    <a:srgbClr val="666666"/>
                  </a:solidFill>
                </a:rPr>
                <a:t>配列</a:t>
              </a:r>
              <a:endParaRPr lang="en-US" sz="2800" b="1" dirty="0" smtClean="0">
                <a:solidFill>
                  <a:srgbClr val="666666"/>
                </a:solidFill>
              </a:endParaRPr>
            </a:p>
          </p:txBody>
        </p:sp>
        <p:sp>
          <p:nvSpPr>
            <p:cNvPr id="97" name="Rectangle 6"/>
            <p:cNvSpPr/>
            <p:nvPr/>
          </p:nvSpPr>
          <p:spPr>
            <a:xfrm>
              <a:off x="2469482" y="3731090"/>
              <a:ext cx="1407273" cy="916363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98" name="Rectangle 7"/>
            <p:cNvSpPr/>
            <p:nvPr/>
          </p:nvSpPr>
          <p:spPr>
            <a:xfrm>
              <a:off x="3942209" y="3731090"/>
              <a:ext cx="1407273" cy="916363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600" b="1" dirty="0" smtClean="0">
                  <a:solidFill>
                    <a:schemeClr val="bg1"/>
                  </a:solidFill>
                </a:rPr>
                <a:t>1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99" name="Rectangle 8"/>
            <p:cNvSpPr/>
            <p:nvPr/>
          </p:nvSpPr>
          <p:spPr>
            <a:xfrm>
              <a:off x="5414936" y="3731090"/>
              <a:ext cx="1407273" cy="916363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100" name="Rectangle 9"/>
            <p:cNvSpPr/>
            <p:nvPr/>
          </p:nvSpPr>
          <p:spPr>
            <a:xfrm>
              <a:off x="6887664" y="3731090"/>
              <a:ext cx="1407273" cy="916363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101" name="Rectangle 10"/>
            <p:cNvSpPr/>
            <p:nvPr/>
          </p:nvSpPr>
          <p:spPr>
            <a:xfrm>
              <a:off x="8360391" y="3731090"/>
              <a:ext cx="1407273" cy="916363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102" name="Rectangle 11"/>
            <p:cNvSpPr/>
            <p:nvPr/>
          </p:nvSpPr>
          <p:spPr>
            <a:xfrm>
              <a:off x="9833118" y="3731090"/>
              <a:ext cx="1407273" cy="916363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103" name="Rectangle 12"/>
            <p:cNvSpPr/>
            <p:nvPr/>
          </p:nvSpPr>
          <p:spPr>
            <a:xfrm>
              <a:off x="11305845" y="3731090"/>
              <a:ext cx="1407273" cy="916363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104" name="TextBox 33"/>
            <p:cNvSpPr txBox="1"/>
            <p:nvPr/>
          </p:nvSpPr>
          <p:spPr>
            <a:xfrm>
              <a:off x="567600" y="3927661"/>
              <a:ext cx="174989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ja-JP" altLang="en-US" sz="2800" b="1" dirty="0" smtClean="0">
                  <a:solidFill>
                    <a:srgbClr val="666666"/>
                  </a:solidFill>
                </a:rPr>
                <a:t>出力</a:t>
              </a:r>
              <a:endParaRPr lang="en-US" sz="2800" b="1" dirty="0" smtClean="0">
                <a:solidFill>
                  <a:srgbClr val="666666"/>
                </a:solidFill>
              </a:endParaRPr>
            </a:p>
          </p:txBody>
        </p:sp>
        <p:cxnSp>
          <p:nvCxnSpPr>
            <p:cNvPr id="106" name="カギ線コネクタ 105"/>
            <p:cNvCxnSpPr>
              <a:stCxn id="74" idx="2"/>
              <a:endCxn id="98" idx="0"/>
            </p:cNvCxnSpPr>
            <p:nvPr/>
          </p:nvCxnSpPr>
          <p:spPr>
            <a:xfrm rot="5400000">
              <a:off x="7833346" y="-445047"/>
              <a:ext cx="988637" cy="7363636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42"/>
            <p:cNvSpPr txBox="1"/>
            <p:nvPr/>
          </p:nvSpPr>
          <p:spPr>
            <a:xfrm>
              <a:off x="3942209" y="4649226"/>
              <a:ext cx="140727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2800" dirty="0">
                  <a:solidFill>
                    <a:srgbClr val="FF0000"/>
                  </a:solidFill>
                </a:rPr>
                <a:t>Index: </a:t>
              </a:r>
              <a:r>
                <a:rPr lang="en-US" altLang="ja-JP" sz="2800" dirty="0" smtClean="0">
                  <a:solidFill>
                    <a:srgbClr val="FF0000"/>
                  </a:solidFill>
                </a:rPr>
                <a:t>1</a:t>
              </a:r>
              <a:endParaRPr lang="en-US" altLang="ja-JP" sz="28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111" name="カギ線コネクタ 110"/>
          <p:cNvCxnSpPr>
            <a:stCxn id="91" idx="2"/>
            <a:endCxn id="109" idx="3"/>
          </p:cNvCxnSpPr>
          <p:nvPr/>
        </p:nvCxnSpPr>
        <p:spPr>
          <a:xfrm rot="5400000">
            <a:off x="10534963" y="-293491"/>
            <a:ext cx="1058240" cy="11204614"/>
          </a:xfrm>
          <a:prstGeom prst="bentConnector2">
            <a:avLst/>
          </a:prstGeom>
          <a:ln w="6350">
            <a:solidFill>
              <a:srgbClr val="FF0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2"/>
          <p:cNvCxnSpPr/>
          <p:nvPr/>
        </p:nvCxnSpPr>
        <p:spPr>
          <a:xfrm>
            <a:off x="1033612" y="6546734"/>
            <a:ext cx="1985040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42"/>
          <p:cNvSpPr txBox="1"/>
          <p:nvPr/>
        </p:nvSpPr>
        <p:spPr>
          <a:xfrm>
            <a:off x="16628445" y="4906489"/>
            <a:ext cx="4681800" cy="82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0" dirty="0" smtClean="0">
                <a:solidFill>
                  <a:srgbClr val="FF0000"/>
                </a:solidFill>
              </a:rPr>
              <a:t>累積カウントを</a:t>
            </a:r>
            <a:r>
              <a:rPr lang="en-US" altLang="ja-JP" sz="2400" b="0" dirty="0" smtClean="0">
                <a:solidFill>
                  <a:srgbClr val="FF0000"/>
                </a:solidFill>
              </a:rPr>
              <a:t>1</a:t>
            </a:r>
            <a:r>
              <a:rPr lang="ja-JP" altLang="en-US" sz="2400" b="0" dirty="0" smtClean="0">
                <a:solidFill>
                  <a:srgbClr val="FF0000"/>
                </a:solidFill>
              </a:rPr>
              <a:t>減らし、</a:t>
            </a:r>
            <a:endParaRPr lang="en-US" altLang="ja-JP" sz="2400" b="0" dirty="0" smtClean="0">
              <a:solidFill>
                <a:srgbClr val="FF0000"/>
              </a:solidFill>
            </a:endParaRPr>
          </a:p>
          <a:p>
            <a:r>
              <a:rPr lang="ja-JP" altLang="en-US" sz="2400" b="0" dirty="0" smtClean="0">
                <a:solidFill>
                  <a:srgbClr val="FF0000"/>
                </a:solidFill>
              </a:rPr>
              <a:t>それが出力先のインデックスになる</a:t>
            </a:r>
            <a:endParaRPr lang="en-US" altLang="ja-JP" sz="2400" b="0" dirty="0" smtClean="0">
              <a:solidFill>
                <a:srgbClr val="FF0000"/>
              </a:solidFill>
            </a:endParaRPr>
          </a:p>
        </p:txBody>
      </p:sp>
      <p:grpSp>
        <p:nvGrpSpPr>
          <p:cNvPr id="160" name="グループ化 159"/>
          <p:cNvGrpSpPr/>
          <p:nvPr/>
        </p:nvGrpSpPr>
        <p:grpSpPr>
          <a:xfrm>
            <a:off x="679894" y="6993922"/>
            <a:ext cx="19930175" cy="3346356"/>
            <a:chOff x="567600" y="6993922"/>
            <a:chExt cx="19930175" cy="3346356"/>
          </a:xfrm>
        </p:grpSpPr>
        <p:grpSp>
          <p:nvGrpSpPr>
            <p:cNvPr id="114" name="グループ化 113"/>
            <p:cNvGrpSpPr/>
            <p:nvPr/>
          </p:nvGrpSpPr>
          <p:grpSpPr>
            <a:xfrm>
              <a:off x="13033525" y="7783628"/>
              <a:ext cx="7464250" cy="1156732"/>
              <a:chOff x="12394082" y="2985368"/>
              <a:chExt cx="8210675" cy="1539611"/>
            </a:xfrm>
          </p:grpSpPr>
          <p:sp>
            <p:nvSpPr>
              <p:cNvPr id="115" name="TextBox 42"/>
              <p:cNvSpPr txBox="1"/>
              <p:nvPr/>
            </p:nvSpPr>
            <p:spPr>
              <a:xfrm>
                <a:off x="12394082" y="3102420"/>
                <a:ext cx="200133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ja-JP" altLang="en-US" sz="2400" b="1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値 </a:t>
                </a:r>
                <a:r>
                  <a:rPr lang="en-US" altLang="ja-JP" sz="2400" b="1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 </a:t>
                </a:r>
                <a:r>
                  <a:rPr sz="2400" b="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sz="2400" b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→</a:t>
                </a:r>
              </a:p>
            </p:txBody>
          </p:sp>
          <p:sp>
            <p:nvSpPr>
              <p:cNvPr id="116" name="TextBox 42"/>
              <p:cNvSpPr txBox="1"/>
              <p:nvPr/>
            </p:nvSpPr>
            <p:spPr>
              <a:xfrm>
                <a:off x="12394082" y="3693982"/>
                <a:ext cx="200133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ja-JP" altLang="en-US" sz="2400" b="1" dirty="0" smtClean="0">
                    <a:solidFill>
                      <a:schemeClr val="accent6"/>
                    </a:solidFill>
                  </a:rPr>
                  <a:t>累積カウント </a:t>
                </a:r>
                <a:endParaRPr lang="en-US" altLang="ja-JP" sz="2400" b="1" dirty="0" smtClean="0">
                  <a:solidFill>
                    <a:schemeClr val="accent6"/>
                  </a:solidFill>
                </a:endParaRPr>
              </a:p>
              <a:p>
                <a:pPr algn="r"/>
                <a:r>
                  <a:rPr lang="en-US" altLang="ja-JP" sz="2400" b="1" dirty="0" smtClean="0">
                    <a:solidFill>
                      <a:schemeClr val="accent6"/>
                    </a:solidFill>
                  </a:rPr>
                  <a:t>prefix[i] </a:t>
                </a:r>
                <a:r>
                  <a:rPr sz="2400" b="0" dirty="0" smtClean="0">
                    <a:solidFill>
                      <a:schemeClr val="accent6"/>
                    </a:solidFill>
                  </a:rPr>
                  <a:t> →</a:t>
                </a:r>
                <a:endParaRPr lang="en-US" sz="2400" b="0" dirty="0" smtClean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117" name="Rectangle 14"/>
              <p:cNvSpPr/>
              <p:nvPr/>
            </p:nvSpPr>
            <p:spPr>
              <a:xfrm>
                <a:off x="14406149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18" name="Rectangle 16"/>
              <p:cNvSpPr/>
              <p:nvPr/>
            </p:nvSpPr>
            <p:spPr>
              <a:xfrm>
                <a:off x="15644892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tx1"/>
                    </a:solidFill>
                  </a:rPr>
                  <a:t>1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Rectangle 18"/>
              <p:cNvSpPr/>
              <p:nvPr/>
            </p:nvSpPr>
            <p:spPr>
              <a:xfrm>
                <a:off x="16883635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20" name="Rectangle 20"/>
              <p:cNvSpPr/>
              <p:nvPr/>
            </p:nvSpPr>
            <p:spPr>
              <a:xfrm>
                <a:off x="18122378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3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1" name="Rectangle 22"/>
              <p:cNvSpPr/>
              <p:nvPr/>
            </p:nvSpPr>
            <p:spPr>
              <a:xfrm>
                <a:off x="19361121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4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Rectangle 14"/>
              <p:cNvSpPr/>
              <p:nvPr/>
            </p:nvSpPr>
            <p:spPr>
              <a:xfrm>
                <a:off x="14406149" y="3742030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23" name="Rectangle 16"/>
              <p:cNvSpPr/>
              <p:nvPr/>
            </p:nvSpPr>
            <p:spPr>
              <a:xfrm>
                <a:off x="15644892" y="3739768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tx2"/>
                    </a:solidFill>
                  </a:rPr>
                  <a:t>1</a:t>
                </a:r>
                <a:endParaRPr sz="36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24" name="Rectangle 18"/>
              <p:cNvSpPr/>
              <p:nvPr/>
            </p:nvSpPr>
            <p:spPr>
              <a:xfrm>
                <a:off x="16883635" y="3739769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4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Rectangle 20"/>
              <p:cNvSpPr/>
              <p:nvPr/>
            </p:nvSpPr>
            <p:spPr>
              <a:xfrm>
                <a:off x="18122378" y="3739769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5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Rectangle 22"/>
              <p:cNvSpPr/>
              <p:nvPr/>
            </p:nvSpPr>
            <p:spPr>
              <a:xfrm>
                <a:off x="19361121" y="3739769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 smtClean="0">
                    <a:solidFill>
                      <a:srgbClr val="FF0000"/>
                    </a:solidFill>
                  </a:rPr>
                  <a:t>7</a:t>
                </a:r>
                <a:r>
                  <a:rPr lang="ja-JP" altLang="en-US" sz="3600" b="1" dirty="0" smtClean="0">
                    <a:solidFill>
                      <a:srgbClr val="FF0000"/>
                    </a:solidFill>
                  </a:rPr>
                  <a:t>→</a:t>
                </a:r>
                <a:r>
                  <a:rPr lang="en-US" altLang="ja-JP" sz="3600" b="1" dirty="0" smtClean="0">
                    <a:solidFill>
                      <a:srgbClr val="FF0000"/>
                    </a:solidFill>
                  </a:rPr>
                  <a:t>6</a:t>
                </a:r>
                <a:endParaRPr sz="3600" b="1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29" name="グループ化 128"/>
            <p:cNvGrpSpPr/>
            <p:nvPr/>
          </p:nvGrpSpPr>
          <p:grpSpPr>
            <a:xfrm>
              <a:off x="567600" y="6993922"/>
              <a:ext cx="12145518" cy="3346356"/>
              <a:chOff x="567600" y="1826090"/>
              <a:chExt cx="12145518" cy="3346356"/>
            </a:xfrm>
          </p:grpSpPr>
          <p:sp>
            <p:nvSpPr>
              <p:cNvPr id="130" name="Rectangle 6"/>
              <p:cNvSpPr/>
              <p:nvPr/>
            </p:nvSpPr>
            <p:spPr>
              <a:xfrm>
                <a:off x="2469482" y="1826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rgbClr val="222222"/>
                    </a:solidFill>
                  </a:rPr>
                  <a:t>4</a:t>
                </a:r>
              </a:p>
            </p:txBody>
          </p:sp>
          <p:sp>
            <p:nvSpPr>
              <p:cNvPr id="131" name="Rectangle 7"/>
              <p:cNvSpPr/>
              <p:nvPr/>
            </p:nvSpPr>
            <p:spPr>
              <a:xfrm>
                <a:off x="3942209" y="1826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2</a:t>
                </a:r>
              </a:p>
            </p:txBody>
          </p:sp>
          <p:sp>
            <p:nvSpPr>
              <p:cNvPr id="132" name="Rectangle 8"/>
              <p:cNvSpPr/>
              <p:nvPr/>
            </p:nvSpPr>
            <p:spPr>
              <a:xfrm>
                <a:off x="5414936" y="1826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rgbClr val="222222"/>
                    </a:solidFill>
                  </a:rPr>
                  <a:t>3</a:t>
                </a:r>
              </a:p>
            </p:txBody>
          </p:sp>
          <p:sp>
            <p:nvSpPr>
              <p:cNvPr id="133" name="Rectangle 9"/>
              <p:cNvSpPr/>
              <p:nvPr/>
            </p:nvSpPr>
            <p:spPr>
              <a:xfrm>
                <a:off x="6887664" y="1826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1</a:t>
                </a:r>
              </a:p>
            </p:txBody>
          </p:sp>
          <p:sp>
            <p:nvSpPr>
              <p:cNvPr id="134" name="Rectangle 10"/>
              <p:cNvSpPr/>
              <p:nvPr/>
            </p:nvSpPr>
            <p:spPr>
              <a:xfrm>
                <a:off x="8360391" y="1826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2</a:t>
                </a:r>
              </a:p>
            </p:txBody>
          </p:sp>
          <p:sp>
            <p:nvSpPr>
              <p:cNvPr id="135" name="Rectangle 11"/>
              <p:cNvSpPr/>
              <p:nvPr/>
            </p:nvSpPr>
            <p:spPr>
              <a:xfrm>
                <a:off x="9833118" y="1826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4</a:t>
                </a:r>
              </a:p>
            </p:txBody>
          </p:sp>
          <p:sp>
            <p:nvSpPr>
              <p:cNvPr id="136" name="Rectangle 12"/>
              <p:cNvSpPr/>
              <p:nvPr/>
            </p:nvSpPr>
            <p:spPr>
              <a:xfrm>
                <a:off x="11305845" y="1826090"/>
                <a:ext cx="1407273" cy="91636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137" name="TextBox 33"/>
              <p:cNvSpPr txBox="1"/>
              <p:nvPr/>
            </p:nvSpPr>
            <p:spPr>
              <a:xfrm>
                <a:off x="567600" y="2022661"/>
                <a:ext cx="17498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ja-JP" altLang="en-US" sz="2800" b="1" dirty="0">
                    <a:solidFill>
                      <a:srgbClr val="666666"/>
                    </a:solidFill>
                  </a:rPr>
                  <a:t>元の</a:t>
                </a:r>
                <a:r>
                  <a:rPr sz="2800" b="1" dirty="0" smtClean="0">
                    <a:solidFill>
                      <a:srgbClr val="666666"/>
                    </a:solidFill>
                  </a:rPr>
                  <a:t>配列</a:t>
                </a:r>
                <a:endParaRPr lang="en-US" sz="2800" b="1" dirty="0" smtClean="0">
                  <a:solidFill>
                    <a:srgbClr val="666666"/>
                  </a:solidFill>
                </a:endParaRPr>
              </a:p>
            </p:txBody>
          </p:sp>
          <p:sp>
            <p:nvSpPr>
              <p:cNvPr id="138" name="Rectangle 6"/>
              <p:cNvSpPr/>
              <p:nvPr/>
            </p:nvSpPr>
            <p:spPr>
              <a:xfrm>
                <a:off x="2469482" y="3731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sz="3600" b="1" dirty="0">
                  <a:solidFill>
                    <a:srgbClr val="222222"/>
                  </a:solidFill>
                </a:endParaRPr>
              </a:p>
            </p:txBody>
          </p:sp>
          <p:sp>
            <p:nvSpPr>
              <p:cNvPr id="139" name="Rectangle 7"/>
              <p:cNvSpPr/>
              <p:nvPr/>
            </p:nvSpPr>
            <p:spPr>
              <a:xfrm>
                <a:off x="3942209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1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0" name="Rectangle 8"/>
              <p:cNvSpPr/>
              <p:nvPr/>
            </p:nvSpPr>
            <p:spPr>
              <a:xfrm>
                <a:off x="5414936" y="3731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1" name="Rectangle 9"/>
              <p:cNvSpPr/>
              <p:nvPr/>
            </p:nvSpPr>
            <p:spPr>
              <a:xfrm>
                <a:off x="6887664" y="3731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sz="3600" b="1" dirty="0">
                  <a:solidFill>
                    <a:srgbClr val="222222"/>
                  </a:solidFill>
                </a:endParaRPr>
              </a:p>
            </p:txBody>
          </p:sp>
          <p:sp>
            <p:nvSpPr>
              <p:cNvPr id="142" name="Rectangle 10"/>
              <p:cNvSpPr/>
              <p:nvPr/>
            </p:nvSpPr>
            <p:spPr>
              <a:xfrm>
                <a:off x="8360391" y="3731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sz="3600" b="1" dirty="0">
                  <a:solidFill>
                    <a:srgbClr val="222222"/>
                  </a:solidFill>
                </a:endParaRPr>
              </a:p>
            </p:txBody>
          </p:sp>
          <p:sp>
            <p:nvSpPr>
              <p:cNvPr id="143" name="Rectangle 11"/>
              <p:cNvSpPr/>
              <p:nvPr/>
            </p:nvSpPr>
            <p:spPr>
              <a:xfrm>
                <a:off x="9833118" y="3731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sz="3600" b="1" dirty="0">
                  <a:solidFill>
                    <a:srgbClr val="222222"/>
                  </a:solidFill>
                </a:endParaRPr>
              </a:p>
            </p:txBody>
          </p:sp>
          <p:sp>
            <p:nvSpPr>
              <p:cNvPr id="144" name="Rectangle 12"/>
              <p:cNvSpPr/>
              <p:nvPr/>
            </p:nvSpPr>
            <p:spPr>
              <a:xfrm>
                <a:off x="11305845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4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5" name="TextBox 33"/>
              <p:cNvSpPr txBox="1"/>
              <p:nvPr/>
            </p:nvSpPr>
            <p:spPr>
              <a:xfrm>
                <a:off x="567600" y="3927661"/>
                <a:ext cx="17498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ja-JP" altLang="en-US" sz="2800" b="1" dirty="0" smtClean="0">
                    <a:solidFill>
                      <a:srgbClr val="666666"/>
                    </a:solidFill>
                  </a:rPr>
                  <a:t>出力</a:t>
                </a:r>
                <a:endParaRPr lang="en-US" sz="2800" b="1" dirty="0" smtClean="0">
                  <a:solidFill>
                    <a:srgbClr val="666666"/>
                  </a:solidFill>
                </a:endParaRPr>
              </a:p>
            </p:txBody>
          </p:sp>
          <p:cxnSp>
            <p:nvCxnSpPr>
              <p:cNvPr id="146" name="カギ線コネクタ 145"/>
              <p:cNvCxnSpPr>
                <a:stCxn id="135" idx="2"/>
                <a:endCxn id="144" idx="0"/>
              </p:cNvCxnSpPr>
              <p:nvPr/>
            </p:nvCxnSpPr>
            <p:spPr>
              <a:xfrm rot="16200000" flipH="1">
                <a:off x="10778800" y="2500407"/>
                <a:ext cx="988637" cy="1472727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TextBox 42"/>
              <p:cNvSpPr txBox="1"/>
              <p:nvPr/>
            </p:nvSpPr>
            <p:spPr>
              <a:xfrm>
                <a:off x="11305845" y="4649226"/>
                <a:ext cx="140727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2800" b="0" dirty="0" smtClean="0">
                    <a:solidFill>
                      <a:srgbClr val="FF0000"/>
                    </a:solidFill>
                  </a:rPr>
                  <a:t>Index: 6</a:t>
                </a:r>
                <a:endParaRPr lang="en-US" sz="2800" b="0" dirty="0" smtClean="0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154" name="カギ線コネクタ 153"/>
            <p:cNvCxnSpPr>
              <a:stCxn id="126" idx="2"/>
              <a:endCxn id="147" idx="3"/>
            </p:cNvCxnSpPr>
            <p:nvPr/>
          </p:nvCxnSpPr>
          <p:spPr>
            <a:xfrm rot="5400000">
              <a:off x="15743173" y="5889354"/>
              <a:ext cx="1159259" cy="7219368"/>
            </a:xfrm>
            <a:prstGeom prst="bentConnector2">
              <a:avLst/>
            </a:prstGeom>
            <a:ln w="6350">
              <a:solidFill>
                <a:srgbClr val="FF0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8" name="TextBox 55"/>
          <p:cNvSpPr txBox="1"/>
          <p:nvPr/>
        </p:nvSpPr>
        <p:spPr>
          <a:xfrm>
            <a:off x="869751" y="1505684"/>
            <a:ext cx="1800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solidFill>
                  <a:srgbClr val="013CA6"/>
                </a:solidFill>
              </a:rPr>
              <a:t>後ろから取り出すことで元の順序（安定性）</a:t>
            </a:r>
            <a:r>
              <a:rPr sz="2700" b="1" dirty="0" smtClean="0">
                <a:solidFill>
                  <a:srgbClr val="013CA6"/>
                </a:solidFill>
              </a:rPr>
              <a:t>を保持</a:t>
            </a:r>
            <a:r>
              <a:rPr lang="ja-JP" altLang="en-US" sz="2700" b="1" dirty="0" smtClean="0">
                <a:solidFill>
                  <a:srgbClr val="013CA6"/>
                </a:solidFill>
              </a:rPr>
              <a:t>している</a:t>
            </a:r>
            <a:endParaRPr sz="2700" b="1" dirty="0">
              <a:solidFill>
                <a:srgbClr val="013CA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Connector 12"/>
          <p:cNvCxnSpPr/>
          <p:nvPr/>
        </p:nvCxnSpPr>
        <p:spPr>
          <a:xfrm>
            <a:off x="921318" y="4042193"/>
            <a:ext cx="1985040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グループ化 3"/>
          <p:cNvGrpSpPr/>
          <p:nvPr/>
        </p:nvGrpSpPr>
        <p:grpSpPr>
          <a:xfrm>
            <a:off x="679894" y="365590"/>
            <a:ext cx="19930175" cy="3346356"/>
            <a:chOff x="567600" y="454490"/>
            <a:chExt cx="19930175" cy="3346356"/>
          </a:xfrm>
        </p:grpSpPr>
        <p:grpSp>
          <p:nvGrpSpPr>
            <p:cNvPr id="95" name="グループ化 94"/>
            <p:cNvGrpSpPr/>
            <p:nvPr/>
          </p:nvGrpSpPr>
          <p:grpSpPr>
            <a:xfrm>
              <a:off x="13033525" y="1345215"/>
              <a:ext cx="7464250" cy="1156732"/>
              <a:chOff x="12394082" y="2985368"/>
              <a:chExt cx="8210675" cy="1539611"/>
            </a:xfrm>
          </p:grpSpPr>
          <p:sp>
            <p:nvSpPr>
              <p:cNvPr id="77" name="TextBox 42"/>
              <p:cNvSpPr txBox="1"/>
              <p:nvPr/>
            </p:nvSpPr>
            <p:spPr>
              <a:xfrm>
                <a:off x="12394082" y="3102420"/>
                <a:ext cx="200133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ja-JP" altLang="en-US" sz="2400" b="1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値 </a:t>
                </a:r>
                <a:r>
                  <a:rPr lang="en-US" altLang="ja-JP" sz="2400" b="1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 </a:t>
                </a:r>
                <a:r>
                  <a:rPr sz="2400" b="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sz="2400" b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→</a:t>
                </a:r>
              </a:p>
            </p:txBody>
          </p:sp>
          <p:sp>
            <p:nvSpPr>
              <p:cNvPr id="78" name="TextBox 42"/>
              <p:cNvSpPr txBox="1"/>
              <p:nvPr/>
            </p:nvSpPr>
            <p:spPr>
              <a:xfrm>
                <a:off x="12394082" y="3693982"/>
                <a:ext cx="200133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ja-JP" altLang="en-US" sz="2400" b="1" dirty="0" smtClean="0">
                    <a:solidFill>
                      <a:schemeClr val="accent6"/>
                    </a:solidFill>
                  </a:rPr>
                  <a:t>累積カウント </a:t>
                </a:r>
                <a:endParaRPr lang="en-US" altLang="ja-JP" sz="2400" b="1" dirty="0" smtClean="0">
                  <a:solidFill>
                    <a:schemeClr val="accent6"/>
                  </a:solidFill>
                </a:endParaRPr>
              </a:p>
              <a:p>
                <a:pPr algn="r"/>
                <a:r>
                  <a:rPr lang="en-US" altLang="ja-JP" sz="2400" b="1" dirty="0" smtClean="0">
                    <a:solidFill>
                      <a:schemeClr val="accent6"/>
                    </a:solidFill>
                  </a:rPr>
                  <a:t>prefix[i] </a:t>
                </a:r>
                <a:r>
                  <a:rPr sz="2400" b="0" dirty="0" smtClean="0">
                    <a:solidFill>
                      <a:schemeClr val="accent6"/>
                    </a:solidFill>
                  </a:rPr>
                  <a:t> →</a:t>
                </a:r>
                <a:endParaRPr lang="en-US" sz="2400" b="0" dirty="0" smtClean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80" name="Rectangle 14"/>
              <p:cNvSpPr/>
              <p:nvPr/>
            </p:nvSpPr>
            <p:spPr>
              <a:xfrm>
                <a:off x="14406149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1" name="Rectangle 16"/>
              <p:cNvSpPr/>
              <p:nvPr/>
            </p:nvSpPr>
            <p:spPr>
              <a:xfrm>
                <a:off x="15644892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tx1"/>
                    </a:solidFill>
                  </a:rPr>
                  <a:t>1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Rectangle 18"/>
              <p:cNvSpPr/>
              <p:nvPr/>
            </p:nvSpPr>
            <p:spPr>
              <a:xfrm>
                <a:off x="16883635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83" name="Rectangle 20"/>
              <p:cNvSpPr/>
              <p:nvPr/>
            </p:nvSpPr>
            <p:spPr>
              <a:xfrm>
                <a:off x="18122378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3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Rectangle 22"/>
              <p:cNvSpPr/>
              <p:nvPr/>
            </p:nvSpPr>
            <p:spPr>
              <a:xfrm>
                <a:off x="19361121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4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tangle 14"/>
              <p:cNvSpPr/>
              <p:nvPr/>
            </p:nvSpPr>
            <p:spPr>
              <a:xfrm>
                <a:off x="14406149" y="3742030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91" name="Rectangle 16"/>
              <p:cNvSpPr/>
              <p:nvPr/>
            </p:nvSpPr>
            <p:spPr>
              <a:xfrm>
                <a:off x="15644892" y="3739768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tx1"/>
                    </a:solidFill>
                  </a:rPr>
                  <a:t>1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Rectangle 18"/>
              <p:cNvSpPr/>
              <p:nvPr/>
            </p:nvSpPr>
            <p:spPr>
              <a:xfrm>
                <a:off x="16883635" y="3739769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 smtClean="0">
                    <a:solidFill>
                      <a:srgbClr val="FF0000"/>
                    </a:solidFill>
                  </a:rPr>
                  <a:t>4</a:t>
                </a:r>
                <a:r>
                  <a:rPr lang="ja-JP" altLang="en-US" sz="3600" b="1" dirty="0" smtClean="0">
                    <a:solidFill>
                      <a:srgbClr val="FF0000"/>
                    </a:solidFill>
                  </a:rPr>
                  <a:t>→</a:t>
                </a:r>
                <a:r>
                  <a:rPr lang="en-US" altLang="ja-JP" sz="3600" b="1" dirty="0" smtClean="0">
                    <a:solidFill>
                      <a:srgbClr val="FF0000"/>
                    </a:solidFill>
                  </a:rPr>
                  <a:t>3</a:t>
                </a:r>
                <a:endParaRPr sz="36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3" name="Rectangle 20"/>
              <p:cNvSpPr/>
              <p:nvPr/>
            </p:nvSpPr>
            <p:spPr>
              <a:xfrm>
                <a:off x="18122378" y="3739769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5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Rectangle 22"/>
              <p:cNvSpPr/>
              <p:nvPr/>
            </p:nvSpPr>
            <p:spPr>
              <a:xfrm>
                <a:off x="19361121" y="3739769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tx1"/>
                    </a:solidFill>
                  </a:rPr>
                  <a:t>6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8" name="グループ化 127"/>
            <p:cNvGrpSpPr/>
            <p:nvPr/>
          </p:nvGrpSpPr>
          <p:grpSpPr>
            <a:xfrm>
              <a:off x="567600" y="454490"/>
              <a:ext cx="12145518" cy="3346356"/>
              <a:chOff x="567600" y="1826090"/>
              <a:chExt cx="12145518" cy="3346356"/>
            </a:xfrm>
          </p:grpSpPr>
          <p:sp>
            <p:nvSpPr>
              <p:cNvPr id="68" name="Rectangle 6"/>
              <p:cNvSpPr/>
              <p:nvPr/>
            </p:nvSpPr>
            <p:spPr>
              <a:xfrm>
                <a:off x="2469482" y="1826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rgbClr val="222222"/>
                    </a:solidFill>
                  </a:rPr>
                  <a:t>4</a:t>
                </a:r>
              </a:p>
            </p:txBody>
          </p:sp>
          <p:sp>
            <p:nvSpPr>
              <p:cNvPr id="69" name="Rectangle 7"/>
              <p:cNvSpPr/>
              <p:nvPr/>
            </p:nvSpPr>
            <p:spPr>
              <a:xfrm>
                <a:off x="3942209" y="1826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2</a:t>
                </a:r>
              </a:p>
            </p:txBody>
          </p:sp>
          <p:sp>
            <p:nvSpPr>
              <p:cNvPr id="70" name="Rectangle 8"/>
              <p:cNvSpPr/>
              <p:nvPr/>
            </p:nvSpPr>
            <p:spPr>
              <a:xfrm>
                <a:off x="5414936" y="1826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rgbClr val="222222"/>
                    </a:solidFill>
                  </a:rPr>
                  <a:t>3</a:t>
                </a:r>
              </a:p>
            </p:txBody>
          </p:sp>
          <p:sp>
            <p:nvSpPr>
              <p:cNvPr id="71" name="Rectangle 9"/>
              <p:cNvSpPr/>
              <p:nvPr/>
            </p:nvSpPr>
            <p:spPr>
              <a:xfrm>
                <a:off x="6887664" y="1826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1</a:t>
                </a:r>
              </a:p>
            </p:txBody>
          </p:sp>
          <p:sp>
            <p:nvSpPr>
              <p:cNvPr id="72" name="Rectangle 10"/>
              <p:cNvSpPr/>
              <p:nvPr/>
            </p:nvSpPr>
            <p:spPr>
              <a:xfrm>
                <a:off x="8360391" y="1826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2</a:t>
                </a:r>
              </a:p>
            </p:txBody>
          </p:sp>
          <p:sp>
            <p:nvSpPr>
              <p:cNvPr id="73" name="Rectangle 11"/>
              <p:cNvSpPr/>
              <p:nvPr/>
            </p:nvSpPr>
            <p:spPr>
              <a:xfrm>
                <a:off x="9833118" y="1826090"/>
                <a:ext cx="1407273" cy="91636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74" name="Rectangle 12"/>
              <p:cNvSpPr/>
              <p:nvPr/>
            </p:nvSpPr>
            <p:spPr>
              <a:xfrm>
                <a:off x="11305845" y="1826090"/>
                <a:ext cx="1407273" cy="91636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75" name="TextBox 33"/>
              <p:cNvSpPr txBox="1"/>
              <p:nvPr/>
            </p:nvSpPr>
            <p:spPr>
              <a:xfrm>
                <a:off x="567600" y="2022661"/>
                <a:ext cx="17498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ja-JP" altLang="en-US" sz="2800" b="1" dirty="0">
                    <a:solidFill>
                      <a:srgbClr val="666666"/>
                    </a:solidFill>
                  </a:rPr>
                  <a:t>元の</a:t>
                </a:r>
                <a:r>
                  <a:rPr sz="2800" b="1" dirty="0" smtClean="0">
                    <a:solidFill>
                      <a:srgbClr val="666666"/>
                    </a:solidFill>
                  </a:rPr>
                  <a:t>配列</a:t>
                </a:r>
                <a:endParaRPr lang="en-US" sz="2800" b="1" dirty="0" smtClean="0">
                  <a:solidFill>
                    <a:srgbClr val="666666"/>
                  </a:solidFill>
                </a:endParaRPr>
              </a:p>
            </p:txBody>
          </p:sp>
          <p:sp>
            <p:nvSpPr>
              <p:cNvPr id="97" name="Rectangle 6"/>
              <p:cNvSpPr/>
              <p:nvPr/>
            </p:nvSpPr>
            <p:spPr>
              <a:xfrm>
                <a:off x="2469482" y="3731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sz="3600" b="1" dirty="0">
                  <a:solidFill>
                    <a:srgbClr val="222222"/>
                  </a:solidFill>
                </a:endParaRPr>
              </a:p>
            </p:txBody>
          </p:sp>
          <p:sp>
            <p:nvSpPr>
              <p:cNvPr id="98" name="Rectangle 7"/>
              <p:cNvSpPr/>
              <p:nvPr/>
            </p:nvSpPr>
            <p:spPr>
              <a:xfrm>
                <a:off x="3942209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1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9" name="Rectangle 8"/>
              <p:cNvSpPr/>
              <p:nvPr/>
            </p:nvSpPr>
            <p:spPr>
              <a:xfrm>
                <a:off x="5414936" y="3731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0" name="Rectangle 9"/>
              <p:cNvSpPr/>
              <p:nvPr/>
            </p:nvSpPr>
            <p:spPr>
              <a:xfrm>
                <a:off x="6887664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2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1" name="Rectangle 10"/>
              <p:cNvSpPr/>
              <p:nvPr/>
            </p:nvSpPr>
            <p:spPr>
              <a:xfrm>
                <a:off x="8360391" y="3731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sz="3600" b="1" dirty="0">
                  <a:solidFill>
                    <a:srgbClr val="222222"/>
                  </a:solidFill>
                </a:endParaRPr>
              </a:p>
            </p:txBody>
          </p:sp>
          <p:sp>
            <p:nvSpPr>
              <p:cNvPr id="102" name="Rectangle 11"/>
              <p:cNvSpPr/>
              <p:nvPr/>
            </p:nvSpPr>
            <p:spPr>
              <a:xfrm>
                <a:off x="9833118" y="3731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sz="3600" b="1" dirty="0">
                  <a:solidFill>
                    <a:srgbClr val="222222"/>
                  </a:solidFill>
                </a:endParaRPr>
              </a:p>
            </p:txBody>
          </p:sp>
          <p:sp>
            <p:nvSpPr>
              <p:cNvPr id="103" name="Rectangle 12"/>
              <p:cNvSpPr/>
              <p:nvPr/>
            </p:nvSpPr>
            <p:spPr>
              <a:xfrm>
                <a:off x="11305845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4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4" name="TextBox 33"/>
              <p:cNvSpPr txBox="1"/>
              <p:nvPr/>
            </p:nvSpPr>
            <p:spPr>
              <a:xfrm>
                <a:off x="567600" y="3927661"/>
                <a:ext cx="17498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ja-JP" altLang="en-US" sz="2800" b="1" dirty="0" smtClean="0">
                    <a:solidFill>
                      <a:srgbClr val="666666"/>
                    </a:solidFill>
                  </a:rPr>
                  <a:t>出力</a:t>
                </a:r>
                <a:endParaRPr lang="en-US" sz="2800" b="1" dirty="0" smtClean="0">
                  <a:solidFill>
                    <a:srgbClr val="666666"/>
                  </a:solidFill>
                </a:endParaRPr>
              </a:p>
            </p:txBody>
          </p:sp>
          <p:cxnSp>
            <p:nvCxnSpPr>
              <p:cNvPr id="106" name="カギ線コネクタ 105"/>
              <p:cNvCxnSpPr>
                <a:stCxn id="72" idx="2"/>
                <a:endCxn id="100" idx="0"/>
              </p:cNvCxnSpPr>
              <p:nvPr/>
            </p:nvCxnSpPr>
            <p:spPr>
              <a:xfrm rot="5400000">
                <a:off x="7833347" y="2500408"/>
                <a:ext cx="988637" cy="1472727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TextBox 42"/>
              <p:cNvSpPr txBox="1"/>
              <p:nvPr/>
            </p:nvSpPr>
            <p:spPr>
              <a:xfrm>
                <a:off x="6887664" y="4649226"/>
                <a:ext cx="140727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2800" dirty="0">
                    <a:solidFill>
                      <a:srgbClr val="FF0000"/>
                    </a:solidFill>
                  </a:rPr>
                  <a:t>Index: 3</a:t>
                </a:r>
              </a:p>
            </p:txBody>
          </p:sp>
        </p:grpSp>
        <p:cxnSp>
          <p:nvCxnSpPr>
            <p:cNvPr id="111" name="カギ線コネクタ 110"/>
            <p:cNvCxnSpPr>
              <a:stCxn id="92" idx="2"/>
              <a:endCxn id="109" idx="3"/>
            </p:cNvCxnSpPr>
            <p:nvPr/>
          </p:nvCxnSpPr>
          <p:spPr>
            <a:xfrm rot="5400000">
              <a:off x="12458462" y="-1682528"/>
              <a:ext cx="1058240" cy="9385289"/>
            </a:xfrm>
            <a:prstGeom prst="bentConnector2">
              <a:avLst/>
            </a:prstGeom>
            <a:ln w="6350">
              <a:solidFill>
                <a:srgbClr val="FF0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6" name="Connector 12"/>
          <p:cNvCxnSpPr/>
          <p:nvPr/>
        </p:nvCxnSpPr>
        <p:spPr>
          <a:xfrm>
            <a:off x="909509" y="8049043"/>
            <a:ext cx="1985040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0" name="グループ化 169"/>
          <p:cNvGrpSpPr/>
          <p:nvPr/>
        </p:nvGrpSpPr>
        <p:grpSpPr>
          <a:xfrm>
            <a:off x="679894" y="4372440"/>
            <a:ext cx="19930175" cy="3346356"/>
            <a:chOff x="567600" y="454490"/>
            <a:chExt cx="19930175" cy="3346356"/>
          </a:xfrm>
        </p:grpSpPr>
        <p:grpSp>
          <p:nvGrpSpPr>
            <p:cNvPr id="171" name="グループ化 170"/>
            <p:cNvGrpSpPr/>
            <p:nvPr/>
          </p:nvGrpSpPr>
          <p:grpSpPr>
            <a:xfrm>
              <a:off x="13033525" y="1345215"/>
              <a:ext cx="7464250" cy="1156732"/>
              <a:chOff x="12394082" y="2985368"/>
              <a:chExt cx="8210675" cy="1539611"/>
            </a:xfrm>
          </p:grpSpPr>
          <p:sp>
            <p:nvSpPr>
              <p:cNvPr id="192" name="TextBox 42"/>
              <p:cNvSpPr txBox="1"/>
              <p:nvPr/>
            </p:nvSpPr>
            <p:spPr>
              <a:xfrm>
                <a:off x="12394082" y="3102420"/>
                <a:ext cx="200133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ja-JP" altLang="en-US" sz="2400" b="1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値 </a:t>
                </a:r>
                <a:r>
                  <a:rPr lang="en-US" altLang="ja-JP" sz="2400" b="1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 </a:t>
                </a:r>
                <a:r>
                  <a:rPr sz="2400" b="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sz="2400" b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→</a:t>
                </a:r>
              </a:p>
            </p:txBody>
          </p:sp>
          <p:sp>
            <p:nvSpPr>
              <p:cNvPr id="193" name="TextBox 42"/>
              <p:cNvSpPr txBox="1"/>
              <p:nvPr/>
            </p:nvSpPr>
            <p:spPr>
              <a:xfrm>
                <a:off x="12394082" y="3693982"/>
                <a:ext cx="200133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ja-JP" altLang="en-US" sz="2400" b="1" dirty="0" smtClean="0">
                    <a:solidFill>
                      <a:schemeClr val="accent6"/>
                    </a:solidFill>
                  </a:rPr>
                  <a:t>累積カウント </a:t>
                </a:r>
                <a:endParaRPr lang="en-US" altLang="ja-JP" sz="2400" b="1" dirty="0" smtClean="0">
                  <a:solidFill>
                    <a:schemeClr val="accent6"/>
                  </a:solidFill>
                </a:endParaRPr>
              </a:p>
              <a:p>
                <a:pPr algn="r"/>
                <a:r>
                  <a:rPr lang="en-US" altLang="ja-JP" sz="2400" b="1" dirty="0" smtClean="0">
                    <a:solidFill>
                      <a:schemeClr val="accent6"/>
                    </a:solidFill>
                  </a:rPr>
                  <a:t>prefix[i] </a:t>
                </a:r>
                <a:r>
                  <a:rPr sz="2400" b="0" dirty="0" smtClean="0">
                    <a:solidFill>
                      <a:schemeClr val="accent6"/>
                    </a:solidFill>
                  </a:rPr>
                  <a:t> →</a:t>
                </a:r>
                <a:endParaRPr lang="en-US" sz="2400" b="0" dirty="0" smtClean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194" name="Rectangle 14"/>
              <p:cNvSpPr/>
              <p:nvPr/>
            </p:nvSpPr>
            <p:spPr>
              <a:xfrm>
                <a:off x="14406149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95" name="Rectangle 16"/>
              <p:cNvSpPr/>
              <p:nvPr/>
            </p:nvSpPr>
            <p:spPr>
              <a:xfrm>
                <a:off x="15644892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tx1"/>
                    </a:solidFill>
                  </a:rPr>
                  <a:t>1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6" name="Rectangle 18"/>
              <p:cNvSpPr/>
              <p:nvPr/>
            </p:nvSpPr>
            <p:spPr>
              <a:xfrm>
                <a:off x="16883635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97" name="Rectangle 20"/>
              <p:cNvSpPr/>
              <p:nvPr/>
            </p:nvSpPr>
            <p:spPr>
              <a:xfrm>
                <a:off x="18122378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3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8" name="Rectangle 22"/>
              <p:cNvSpPr/>
              <p:nvPr/>
            </p:nvSpPr>
            <p:spPr>
              <a:xfrm>
                <a:off x="19361121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4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9" name="Rectangle 14"/>
              <p:cNvSpPr/>
              <p:nvPr/>
            </p:nvSpPr>
            <p:spPr>
              <a:xfrm>
                <a:off x="14406149" y="3742030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200" name="Rectangle 16"/>
              <p:cNvSpPr/>
              <p:nvPr/>
            </p:nvSpPr>
            <p:spPr>
              <a:xfrm>
                <a:off x="15644892" y="3739768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rgbClr val="FF0000"/>
                    </a:solidFill>
                  </a:rPr>
                  <a:t>1</a:t>
                </a:r>
                <a:r>
                  <a:rPr lang="ja-JP" altLang="en-US" sz="3600" b="1" dirty="0" smtClean="0">
                    <a:solidFill>
                      <a:srgbClr val="FF0000"/>
                    </a:solidFill>
                  </a:rPr>
                  <a:t>→</a:t>
                </a:r>
                <a:r>
                  <a:rPr lang="en-US" altLang="ja-JP" sz="3600" b="1" dirty="0" smtClean="0">
                    <a:solidFill>
                      <a:srgbClr val="FF0000"/>
                    </a:solidFill>
                  </a:rPr>
                  <a:t>0</a:t>
                </a:r>
                <a:endParaRPr sz="36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01" name="Rectangle 18"/>
              <p:cNvSpPr/>
              <p:nvPr/>
            </p:nvSpPr>
            <p:spPr>
              <a:xfrm>
                <a:off x="16883635" y="3739769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tx1"/>
                    </a:solidFill>
                  </a:rPr>
                  <a:t>3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2" name="Rectangle 20"/>
              <p:cNvSpPr/>
              <p:nvPr/>
            </p:nvSpPr>
            <p:spPr>
              <a:xfrm>
                <a:off x="18122378" y="3739769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5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3" name="Rectangle 22"/>
              <p:cNvSpPr/>
              <p:nvPr/>
            </p:nvSpPr>
            <p:spPr>
              <a:xfrm>
                <a:off x="19361121" y="3739769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tx1"/>
                    </a:solidFill>
                  </a:rPr>
                  <a:t>6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72" name="グループ化 171"/>
            <p:cNvGrpSpPr/>
            <p:nvPr/>
          </p:nvGrpSpPr>
          <p:grpSpPr>
            <a:xfrm>
              <a:off x="567600" y="454490"/>
              <a:ext cx="12145518" cy="3346356"/>
              <a:chOff x="567600" y="1826090"/>
              <a:chExt cx="12145518" cy="3346356"/>
            </a:xfrm>
          </p:grpSpPr>
          <p:sp>
            <p:nvSpPr>
              <p:cNvPr id="174" name="Rectangle 6"/>
              <p:cNvSpPr/>
              <p:nvPr/>
            </p:nvSpPr>
            <p:spPr>
              <a:xfrm>
                <a:off x="2469482" y="1826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rgbClr val="222222"/>
                    </a:solidFill>
                  </a:rPr>
                  <a:t>4</a:t>
                </a:r>
              </a:p>
            </p:txBody>
          </p:sp>
          <p:sp>
            <p:nvSpPr>
              <p:cNvPr id="175" name="Rectangle 7"/>
              <p:cNvSpPr/>
              <p:nvPr/>
            </p:nvSpPr>
            <p:spPr>
              <a:xfrm>
                <a:off x="3942209" y="1826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2</a:t>
                </a:r>
              </a:p>
            </p:txBody>
          </p:sp>
          <p:sp>
            <p:nvSpPr>
              <p:cNvPr id="176" name="Rectangle 8"/>
              <p:cNvSpPr/>
              <p:nvPr/>
            </p:nvSpPr>
            <p:spPr>
              <a:xfrm>
                <a:off x="5414936" y="1826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rgbClr val="222222"/>
                    </a:solidFill>
                  </a:rPr>
                  <a:t>3</a:t>
                </a:r>
              </a:p>
            </p:txBody>
          </p:sp>
          <p:sp>
            <p:nvSpPr>
              <p:cNvPr id="177" name="Rectangle 9"/>
              <p:cNvSpPr/>
              <p:nvPr/>
            </p:nvSpPr>
            <p:spPr>
              <a:xfrm>
                <a:off x="6887664" y="1826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1</a:t>
                </a:r>
              </a:p>
            </p:txBody>
          </p:sp>
          <p:sp>
            <p:nvSpPr>
              <p:cNvPr id="178" name="Rectangle 10"/>
              <p:cNvSpPr/>
              <p:nvPr/>
            </p:nvSpPr>
            <p:spPr>
              <a:xfrm>
                <a:off x="8360391" y="1826090"/>
                <a:ext cx="1407273" cy="91636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179" name="Rectangle 11"/>
              <p:cNvSpPr/>
              <p:nvPr/>
            </p:nvSpPr>
            <p:spPr>
              <a:xfrm>
                <a:off x="9833118" y="1826090"/>
                <a:ext cx="1407273" cy="91636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180" name="Rectangle 12"/>
              <p:cNvSpPr/>
              <p:nvPr/>
            </p:nvSpPr>
            <p:spPr>
              <a:xfrm>
                <a:off x="11305845" y="1826090"/>
                <a:ext cx="1407273" cy="91636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181" name="TextBox 33"/>
              <p:cNvSpPr txBox="1"/>
              <p:nvPr/>
            </p:nvSpPr>
            <p:spPr>
              <a:xfrm>
                <a:off x="567600" y="2022661"/>
                <a:ext cx="17498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ja-JP" altLang="en-US" sz="2800" b="1" dirty="0">
                    <a:solidFill>
                      <a:srgbClr val="666666"/>
                    </a:solidFill>
                  </a:rPr>
                  <a:t>元の</a:t>
                </a:r>
                <a:r>
                  <a:rPr sz="2800" b="1" dirty="0" smtClean="0">
                    <a:solidFill>
                      <a:srgbClr val="666666"/>
                    </a:solidFill>
                  </a:rPr>
                  <a:t>配列</a:t>
                </a:r>
                <a:endParaRPr lang="en-US" sz="2800" b="1" dirty="0" smtClean="0">
                  <a:solidFill>
                    <a:srgbClr val="666666"/>
                  </a:solidFill>
                </a:endParaRPr>
              </a:p>
            </p:txBody>
          </p:sp>
          <p:sp>
            <p:nvSpPr>
              <p:cNvPr id="182" name="Rectangle 6"/>
              <p:cNvSpPr/>
              <p:nvPr/>
            </p:nvSpPr>
            <p:spPr>
              <a:xfrm>
                <a:off x="2469482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1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3" name="Rectangle 7"/>
              <p:cNvSpPr/>
              <p:nvPr/>
            </p:nvSpPr>
            <p:spPr>
              <a:xfrm>
                <a:off x="3942209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1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4" name="Rectangle 8"/>
              <p:cNvSpPr/>
              <p:nvPr/>
            </p:nvSpPr>
            <p:spPr>
              <a:xfrm>
                <a:off x="5414936" y="3731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5" name="Rectangle 9"/>
              <p:cNvSpPr/>
              <p:nvPr/>
            </p:nvSpPr>
            <p:spPr>
              <a:xfrm>
                <a:off x="6887664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2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6" name="Rectangle 10"/>
              <p:cNvSpPr/>
              <p:nvPr/>
            </p:nvSpPr>
            <p:spPr>
              <a:xfrm>
                <a:off x="8360391" y="3731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sz="3600" b="1" dirty="0">
                  <a:solidFill>
                    <a:srgbClr val="222222"/>
                  </a:solidFill>
                </a:endParaRPr>
              </a:p>
            </p:txBody>
          </p:sp>
          <p:sp>
            <p:nvSpPr>
              <p:cNvPr id="187" name="Rectangle 11"/>
              <p:cNvSpPr/>
              <p:nvPr/>
            </p:nvSpPr>
            <p:spPr>
              <a:xfrm>
                <a:off x="9833118" y="3731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sz="3600" b="1" dirty="0">
                  <a:solidFill>
                    <a:srgbClr val="222222"/>
                  </a:solidFill>
                </a:endParaRPr>
              </a:p>
            </p:txBody>
          </p:sp>
          <p:sp>
            <p:nvSpPr>
              <p:cNvPr id="188" name="Rectangle 12"/>
              <p:cNvSpPr/>
              <p:nvPr/>
            </p:nvSpPr>
            <p:spPr>
              <a:xfrm>
                <a:off x="11305845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4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9" name="TextBox 33"/>
              <p:cNvSpPr txBox="1"/>
              <p:nvPr/>
            </p:nvSpPr>
            <p:spPr>
              <a:xfrm>
                <a:off x="567600" y="3927661"/>
                <a:ext cx="17498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ja-JP" altLang="en-US" sz="2800" b="1" dirty="0" smtClean="0">
                    <a:solidFill>
                      <a:srgbClr val="666666"/>
                    </a:solidFill>
                  </a:rPr>
                  <a:t>出力</a:t>
                </a:r>
                <a:endParaRPr lang="en-US" sz="2800" b="1" dirty="0" smtClean="0">
                  <a:solidFill>
                    <a:srgbClr val="666666"/>
                  </a:solidFill>
                </a:endParaRPr>
              </a:p>
            </p:txBody>
          </p:sp>
          <p:cxnSp>
            <p:nvCxnSpPr>
              <p:cNvPr id="190" name="カギ線コネクタ 189"/>
              <p:cNvCxnSpPr>
                <a:stCxn id="177" idx="2"/>
                <a:endCxn id="182" idx="0"/>
              </p:cNvCxnSpPr>
              <p:nvPr/>
            </p:nvCxnSpPr>
            <p:spPr>
              <a:xfrm rot="5400000">
                <a:off x="4887892" y="1027680"/>
                <a:ext cx="988637" cy="4418182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1" name="TextBox 42"/>
              <p:cNvSpPr txBox="1"/>
              <p:nvPr/>
            </p:nvSpPr>
            <p:spPr>
              <a:xfrm>
                <a:off x="2469482" y="4649226"/>
                <a:ext cx="140727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2800" dirty="0">
                    <a:solidFill>
                      <a:srgbClr val="FF0000"/>
                    </a:solidFill>
                  </a:rPr>
                  <a:t>Index: </a:t>
                </a:r>
                <a:r>
                  <a:rPr lang="en-US" altLang="ja-JP" sz="2800" dirty="0" smtClean="0">
                    <a:solidFill>
                      <a:srgbClr val="FF0000"/>
                    </a:solidFill>
                  </a:rPr>
                  <a:t>0</a:t>
                </a:r>
                <a:endParaRPr lang="en-US" altLang="ja-JP" sz="2800" dirty="0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173" name="カギ線コネクタ 172"/>
            <p:cNvCxnSpPr>
              <a:stCxn id="200" idx="2"/>
              <a:endCxn id="191" idx="3"/>
            </p:cNvCxnSpPr>
            <p:nvPr/>
          </p:nvCxnSpPr>
          <p:spPr>
            <a:xfrm rot="5400000">
              <a:off x="9686306" y="-3328554"/>
              <a:ext cx="1058240" cy="12677341"/>
            </a:xfrm>
            <a:prstGeom prst="bentConnector2">
              <a:avLst/>
            </a:prstGeom>
            <a:ln w="6350">
              <a:solidFill>
                <a:srgbClr val="FF0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4" name="グループ化 203"/>
          <p:cNvGrpSpPr/>
          <p:nvPr/>
        </p:nvGrpSpPr>
        <p:grpSpPr>
          <a:xfrm>
            <a:off x="679894" y="8379290"/>
            <a:ext cx="19930175" cy="3346356"/>
            <a:chOff x="567600" y="454490"/>
            <a:chExt cx="19930175" cy="3346356"/>
          </a:xfrm>
        </p:grpSpPr>
        <p:grpSp>
          <p:nvGrpSpPr>
            <p:cNvPr id="205" name="グループ化 204"/>
            <p:cNvGrpSpPr/>
            <p:nvPr/>
          </p:nvGrpSpPr>
          <p:grpSpPr>
            <a:xfrm>
              <a:off x="13033525" y="1345215"/>
              <a:ext cx="7464250" cy="1156732"/>
              <a:chOff x="12394082" y="2985368"/>
              <a:chExt cx="8210675" cy="1539611"/>
            </a:xfrm>
          </p:grpSpPr>
          <p:sp>
            <p:nvSpPr>
              <p:cNvPr id="226" name="TextBox 42"/>
              <p:cNvSpPr txBox="1"/>
              <p:nvPr/>
            </p:nvSpPr>
            <p:spPr>
              <a:xfrm>
                <a:off x="12394082" y="3102420"/>
                <a:ext cx="200133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ja-JP" altLang="en-US" sz="2400" b="1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値 </a:t>
                </a:r>
                <a:r>
                  <a:rPr lang="en-US" altLang="ja-JP" sz="2400" b="1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 </a:t>
                </a:r>
                <a:r>
                  <a:rPr sz="2400" b="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sz="2400" b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→</a:t>
                </a:r>
              </a:p>
            </p:txBody>
          </p:sp>
          <p:sp>
            <p:nvSpPr>
              <p:cNvPr id="227" name="TextBox 42"/>
              <p:cNvSpPr txBox="1"/>
              <p:nvPr/>
            </p:nvSpPr>
            <p:spPr>
              <a:xfrm>
                <a:off x="12394082" y="3693982"/>
                <a:ext cx="200133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ja-JP" altLang="en-US" sz="2400" b="1" dirty="0" smtClean="0">
                    <a:solidFill>
                      <a:schemeClr val="accent6"/>
                    </a:solidFill>
                  </a:rPr>
                  <a:t>累積カウント </a:t>
                </a:r>
                <a:endParaRPr lang="en-US" altLang="ja-JP" sz="2400" b="1" dirty="0" smtClean="0">
                  <a:solidFill>
                    <a:schemeClr val="accent6"/>
                  </a:solidFill>
                </a:endParaRPr>
              </a:p>
              <a:p>
                <a:pPr algn="r"/>
                <a:r>
                  <a:rPr lang="en-US" altLang="ja-JP" sz="2400" b="1" dirty="0" smtClean="0">
                    <a:solidFill>
                      <a:schemeClr val="accent6"/>
                    </a:solidFill>
                  </a:rPr>
                  <a:t>prefix[i] </a:t>
                </a:r>
                <a:r>
                  <a:rPr sz="2400" b="0" dirty="0" smtClean="0">
                    <a:solidFill>
                      <a:schemeClr val="accent6"/>
                    </a:solidFill>
                  </a:rPr>
                  <a:t> →</a:t>
                </a:r>
                <a:endParaRPr lang="en-US" sz="2400" b="0" dirty="0" smtClean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228" name="Rectangle 14"/>
              <p:cNvSpPr/>
              <p:nvPr/>
            </p:nvSpPr>
            <p:spPr>
              <a:xfrm>
                <a:off x="14406149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229" name="Rectangle 16"/>
              <p:cNvSpPr/>
              <p:nvPr/>
            </p:nvSpPr>
            <p:spPr>
              <a:xfrm>
                <a:off x="15644892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tx1"/>
                    </a:solidFill>
                  </a:rPr>
                  <a:t>1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0" name="Rectangle 18"/>
              <p:cNvSpPr/>
              <p:nvPr/>
            </p:nvSpPr>
            <p:spPr>
              <a:xfrm>
                <a:off x="16883635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231" name="Rectangle 20"/>
              <p:cNvSpPr/>
              <p:nvPr/>
            </p:nvSpPr>
            <p:spPr>
              <a:xfrm>
                <a:off x="18122378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3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2" name="Rectangle 22"/>
              <p:cNvSpPr/>
              <p:nvPr/>
            </p:nvSpPr>
            <p:spPr>
              <a:xfrm>
                <a:off x="19361121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4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3" name="Rectangle 14"/>
              <p:cNvSpPr/>
              <p:nvPr/>
            </p:nvSpPr>
            <p:spPr>
              <a:xfrm>
                <a:off x="14406149" y="3742030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234" name="Rectangle 16"/>
              <p:cNvSpPr/>
              <p:nvPr/>
            </p:nvSpPr>
            <p:spPr>
              <a:xfrm>
                <a:off x="15644892" y="3739768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tx1"/>
                    </a:solidFill>
                  </a:rPr>
                  <a:t>0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5" name="Rectangle 18"/>
              <p:cNvSpPr/>
              <p:nvPr/>
            </p:nvSpPr>
            <p:spPr>
              <a:xfrm>
                <a:off x="16883635" y="3739769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tx1"/>
                    </a:solidFill>
                  </a:rPr>
                  <a:t>3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6" name="Rectangle 20"/>
              <p:cNvSpPr/>
              <p:nvPr/>
            </p:nvSpPr>
            <p:spPr>
              <a:xfrm>
                <a:off x="18122378" y="3739769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rgbClr val="FF0000"/>
                    </a:solidFill>
                  </a:rPr>
                  <a:t>5→4</a:t>
                </a:r>
                <a:endParaRPr sz="36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37" name="Rectangle 22"/>
              <p:cNvSpPr/>
              <p:nvPr/>
            </p:nvSpPr>
            <p:spPr>
              <a:xfrm>
                <a:off x="19361121" y="3739769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tx1"/>
                    </a:solidFill>
                  </a:rPr>
                  <a:t>6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6" name="グループ化 205"/>
            <p:cNvGrpSpPr/>
            <p:nvPr/>
          </p:nvGrpSpPr>
          <p:grpSpPr>
            <a:xfrm>
              <a:off x="567600" y="454490"/>
              <a:ext cx="12145518" cy="3346356"/>
              <a:chOff x="567600" y="1826090"/>
              <a:chExt cx="12145518" cy="3346356"/>
            </a:xfrm>
          </p:grpSpPr>
          <p:sp>
            <p:nvSpPr>
              <p:cNvPr id="208" name="Rectangle 6"/>
              <p:cNvSpPr/>
              <p:nvPr/>
            </p:nvSpPr>
            <p:spPr>
              <a:xfrm>
                <a:off x="2469482" y="1826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rgbClr val="222222"/>
                    </a:solidFill>
                  </a:rPr>
                  <a:t>4</a:t>
                </a:r>
              </a:p>
            </p:txBody>
          </p:sp>
          <p:sp>
            <p:nvSpPr>
              <p:cNvPr id="209" name="Rectangle 7"/>
              <p:cNvSpPr/>
              <p:nvPr/>
            </p:nvSpPr>
            <p:spPr>
              <a:xfrm>
                <a:off x="3942209" y="1826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2</a:t>
                </a:r>
              </a:p>
            </p:txBody>
          </p:sp>
          <p:sp>
            <p:nvSpPr>
              <p:cNvPr id="210" name="Rectangle 8"/>
              <p:cNvSpPr/>
              <p:nvPr/>
            </p:nvSpPr>
            <p:spPr>
              <a:xfrm>
                <a:off x="5414936" y="1826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rgbClr val="222222"/>
                    </a:solidFill>
                  </a:rPr>
                  <a:t>3</a:t>
                </a:r>
              </a:p>
            </p:txBody>
          </p:sp>
          <p:sp>
            <p:nvSpPr>
              <p:cNvPr id="211" name="Rectangle 9"/>
              <p:cNvSpPr/>
              <p:nvPr/>
            </p:nvSpPr>
            <p:spPr>
              <a:xfrm>
                <a:off x="6887664" y="1826090"/>
                <a:ext cx="1407273" cy="91636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12" name="Rectangle 10"/>
              <p:cNvSpPr/>
              <p:nvPr/>
            </p:nvSpPr>
            <p:spPr>
              <a:xfrm>
                <a:off x="8360391" y="1826090"/>
                <a:ext cx="1407273" cy="91636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13" name="Rectangle 11"/>
              <p:cNvSpPr/>
              <p:nvPr/>
            </p:nvSpPr>
            <p:spPr>
              <a:xfrm>
                <a:off x="9833118" y="1826090"/>
                <a:ext cx="1407273" cy="91636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214" name="Rectangle 12"/>
              <p:cNvSpPr/>
              <p:nvPr/>
            </p:nvSpPr>
            <p:spPr>
              <a:xfrm>
                <a:off x="11305845" y="1826090"/>
                <a:ext cx="1407273" cy="91636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15" name="TextBox 33"/>
              <p:cNvSpPr txBox="1"/>
              <p:nvPr/>
            </p:nvSpPr>
            <p:spPr>
              <a:xfrm>
                <a:off x="567600" y="2022661"/>
                <a:ext cx="17498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ja-JP" altLang="en-US" sz="2800" b="1" dirty="0">
                    <a:solidFill>
                      <a:srgbClr val="666666"/>
                    </a:solidFill>
                  </a:rPr>
                  <a:t>元の</a:t>
                </a:r>
                <a:r>
                  <a:rPr sz="2800" b="1" dirty="0" smtClean="0">
                    <a:solidFill>
                      <a:srgbClr val="666666"/>
                    </a:solidFill>
                  </a:rPr>
                  <a:t>配列</a:t>
                </a:r>
                <a:endParaRPr lang="en-US" sz="2800" b="1" dirty="0" smtClean="0">
                  <a:solidFill>
                    <a:srgbClr val="666666"/>
                  </a:solidFill>
                </a:endParaRPr>
              </a:p>
            </p:txBody>
          </p:sp>
          <p:sp>
            <p:nvSpPr>
              <p:cNvPr id="216" name="Rectangle 6"/>
              <p:cNvSpPr/>
              <p:nvPr/>
            </p:nvSpPr>
            <p:spPr>
              <a:xfrm>
                <a:off x="2469482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1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17" name="Rectangle 7"/>
              <p:cNvSpPr/>
              <p:nvPr/>
            </p:nvSpPr>
            <p:spPr>
              <a:xfrm>
                <a:off x="3942209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1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18" name="Rectangle 8"/>
              <p:cNvSpPr/>
              <p:nvPr/>
            </p:nvSpPr>
            <p:spPr>
              <a:xfrm>
                <a:off x="5414936" y="3731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19" name="Rectangle 9"/>
              <p:cNvSpPr/>
              <p:nvPr/>
            </p:nvSpPr>
            <p:spPr>
              <a:xfrm>
                <a:off x="6887664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2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20" name="Rectangle 10"/>
              <p:cNvSpPr/>
              <p:nvPr/>
            </p:nvSpPr>
            <p:spPr>
              <a:xfrm>
                <a:off x="8360391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3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21" name="Rectangle 11"/>
              <p:cNvSpPr/>
              <p:nvPr/>
            </p:nvSpPr>
            <p:spPr>
              <a:xfrm>
                <a:off x="9833118" y="3731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sz="3600" b="1" dirty="0">
                  <a:solidFill>
                    <a:srgbClr val="222222"/>
                  </a:solidFill>
                </a:endParaRPr>
              </a:p>
            </p:txBody>
          </p:sp>
          <p:sp>
            <p:nvSpPr>
              <p:cNvPr id="222" name="Rectangle 12"/>
              <p:cNvSpPr/>
              <p:nvPr/>
            </p:nvSpPr>
            <p:spPr>
              <a:xfrm>
                <a:off x="11305845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4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23" name="TextBox 33"/>
              <p:cNvSpPr txBox="1"/>
              <p:nvPr/>
            </p:nvSpPr>
            <p:spPr>
              <a:xfrm>
                <a:off x="567600" y="3927661"/>
                <a:ext cx="17498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ja-JP" altLang="en-US" sz="2800" b="1" dirty="0" smtClean="0">
                    <a:solidFill>
                      <a:srgbClr val="666666"/>
                    </a:solidFill>
                  </a:rPr>
                  <a:t>出力</a:t>
                </a:r>
                <a:endParaRPr lang="en-US" sz="2800" b="1" dirty="0" smtClean="0">
                  <a:solidFill>
                    <a:srgbClr val="666666"/>
                  </a:solidFill>
                </a:endParaRPr>
              </a:p>
            </p:txBody>
          </p:sp>
          <p:cxnSp>
            <p:nvCxnSpPr>
              <p:cNvPr id="224" name="カギ線コネクタ 223"/>
              <p:cNvCxnSpPr>
                <a:stCxn id="210" idx="2"/>
                <a:endCxn id="220" idx="0"/>
              </p:cNvCxnSpPr>
              <p:nvPr/>
            </p:nvCxnSpPr>
            <p:spPr>
              <a:xfrm rot="16200000" flipH="1">
                <a:off x="7096982" y="1764043"/>
                <a:ext cx="988637" cy="2945455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5" name="TextBox 42"/>
              <p:cNvSpPr txBox="1"/>
              <p:nvPr/>
            </p:nvSpPr>
            <p:spPr>
              <a:xfrm>
                <a:off x="8360391" y="4649226"/>
                <a:ext cx="140727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2800" dirty="0">
                    <a:solidFill>
                      <a:srgbClr val="FF0000"/>
                    </a:solidFill>
                  </a:rPr>
                  <a:t>Index: </a:t>
                </a:r>
                <a:r>
                  <a:rPr lang="en-US" altLang="ja-JP" sz="2800" dirty="0" smtClean="0">
                    <a:solidFill>
                      <a:srgbClr val="FF0000"/>
                    </a:solidFill>
                  </a:rPr>
                  <a:t>4</a:t>
                </a:r>
                <a:endParaRPr lang="en-US" altLang="ja-JP" sz="2800" dirty="0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207" name="カギ線コネクタ 206"/>
            <p:cNvCxnSpPr>
              <a:stCxn id="236" idx="2"/>
              <a:endCxn id="225" idx="3"/>
            </p:cNvCxnSpPr>
            <p:nvPr/>
          </p:nvCxnSpPr>
          <p:spPr>
            <a:xfrm rot="5400000">
              <a:off x="13757890" y="-1509230"/>
              <a:ext cx="1058240" cy="9038692"/>
            </a:xfrm>
            <a:prstGeom prst="bentConnector2">
              <a:avLst/>
            </a:prstGeom>
            <a:ln w="6350">
              <a:solidFill>
                <a:srgbClr val="FF0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08133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720000" y="10980000"/>
            <a:ext cx="198504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3200" b="1" dirty="0">
                <a:solidFill>
                  <a:srgbClr val="013CA6"/>
                </a:solidFill>
              </a:rPr>
              <a:t>比較なしで </a:t>
            </a:r>
            <a:r>
              <a:rPr lang="en-US" altLang="ja-JP" sz="3200" b="1" dirty="0">
                <a:solidFill>
                  <a:srgbClr val="013CA6"/>
                </a:solidFill>
              </a:rPr>
              <a:t>O(n + k) </a:t>
            </a:r>
            <a:r>
              <a:rPr lang="ja-JP" altLang="en-US" sz="3200" b="1" dirty="0">
                <a:solidFill>
                  <a:srgbClr val="013CA6"/>
                </a:solidFill>
              </a:rPr>
              <a:t>でソート  ／  </a:t>
            </a:r>
            <a:r>
              <a:rPr lang="en-US" altLang="ja-JP" sz="3200" b="1" dirty="0">
                <a:solidFill>
                  <a:srgbClr val="013CA6"/>
                </a:solidFill>
              </a:rPr>
              <a:t>k </a:t>
            </a:r>
            <a:r>
              <a:rPr lang="ja-JP" altLang="en-US" sz="3200" b="1" dirty="0">
                <a:solidFill>
                  <a:srgbClr val="013CA6"/>
                </a:solidFill>
              </a:rPr>
              <a:t>が小さいとき </a:t>
            </a:r>
            <a:r>
              <a:rPr lang="en-US" altLang="ja-JP" sz="3200" b="1" dirty="0">
                <a:solidFill>
                  <a:srgbClr val="013CA6"/>
                </a:solidFill>
              </a:rPr>
              <a:t>O(n) </a:t>
            </a:r>
            <a:r>
              <a:rPr lang="ja-JP" altLang="en-US" sz="3200" b="1" dirty="0">
                <a:solidFill>
                  <a:srgbClr val="013CA6"/>
                </a:solidFill>
              </a:rPr>
              <a:t>に近い  ／  安定ソー</a:t>
            </a:r>
            <a:r>
              <a:rPr lang="ja-JP" altLang="en-US" sz="3200" b="1" dirty="0" smtClean="0">
                <a:solidFill>
                  <a:srgbClr val="013CA6"/>
                </a:solidFill>
              </a:rPr>
              <a:t>ト</a:t>
            </a:r>
            <a:endParaRPr lang="ja-JP" altLang="en-US" sz="3200" b="1" dirty="0">
              <a:solidFill>
                <a:srgbClr val="013CA6"/>
              </a:solidFill>
            </a:endParaRPr>
          </a:p>
        </p:txBody>
      </p:sp>
      <p:grpSp>
        <p:nvGrpSpPr>
          <p:cNvPr id="76" name="グループ化 75"/>
          <p:cNvGrpSpPr/>
          <p:nvPr/>
        </p:nvGrpSpPr>
        <p:grpSpPr>
          <a:xfrm>
            <a:off x="679894" y="911690"/>
            <a:ext cx="19930175" cy="3346356"/>
            <a:chOff x="567600" y="454490"/>
            <a:chExt cx="19930175" cy="3346356"/>
          </a:xfrm>
        </p:grpSpPr>
        <p:grpSp>
          <p:nvGrpSpPr>
            <p:cNvPr id="79" name="グループ化 78"/>
            <p:cNvGrpSpPr/>
            <p:nvPr/>
          </p:nvGrpSpPr>
          <p:grpSpPr>
            <a:xfrm>
              <a:off x="13033525" y="1345215"/>
              <a:ext cx="7464250" cy="1156732"/>
              <a:chOff x="12394082" y="2985368"/>
              <a:chExt cx="8210675" cy="1539611"/>
            </a:xfrm>
          </p:grpSpPr>
          <p:sp>
            <p:nvSpPr>
              <p:cNvPr id="158" name="TextBox 42"/>
              <p:cNvSpPr txBox="1"/>
              <p:nvPr/>
            </p:nvSpPr>
            <p:spPr>
              <a:xfrm>
                <a:off x="12394082" y="3102420"/>
                <a:ext cx="200133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ja-JP" altLang="en-US" sz="2400" b="1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値 </a:t>
                </a:r>
                <a:r>
                  <a:rPr lang="en-US" altLang="ja-JP" sz="2400" b="1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 </a:t>
                </a:r>
                <a:r>
                  <a:rPr sz="2400" b="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sz="2400" b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→</a:t>
                </a:r>
              </a:p>
            </p:txBody>
          </p:sp>
          <p:sp>
            <p:nvSpPr>
              <p:cNvPr id="159" name="TextBox 42"/>
              <p:cNvSpPr txBox="1"/>
              <p:nvPr/>
            </p:nvSpPr>
            <p:spPr>
              <a:xfrm>
                <a:off x="12394082" y="3693982"/>
                <a:ext cx="200133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ja-JP" altLang="en-US" sz="2400" b="1" dirty="0" smtClean="0">
                    <a:solidFill>
                      <a:schemeClr val="accent6"/>
                    </a:solidFill>
                  </a:rPr>
                  <a:t>累積カウント </a:t>
                </a:r>
                <a:endParaRPr lang="en-US" altLang="ja-JP" sz="2400" b="1" dirty="0" smtClean="0">
                  <a:solidFill>
                    <a:schemeClr val="accent6"/>
                  </a:solidFill>
                </a:endParaRPr>
              </a:p>
              <a:p>
                <a:pPr algn="r"/>
                <a:r>
                  <a:rPr lang="en-US" altLang="ja-JP" sz="2400" b="1" dirty="0" smtClean="0">
                    <a:solidFill>
                      <a:schemeClr val="accent6"/>
                    </a:solidFill>
                  </a:rPr>
                  <a:t>prefix[i] </a:t>
                </a:r>
                <a:r>
                  <a:rPr sz="2400" b="0" dirty="0" smtClean="0">
                    <a:solidFill>
                      <a:schemeClr val="accent6"/>
                    </a:solidFill>
                  </a:rPr>
                  <a:t> →</a:t>
                </a:r>
                <a:endParaRPr lang="en-US" sz="2400" b="0" dirty="0" smtClean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160" name="Rectangle 14"/>
              <p:cNvSpPr/>
              <p:nvPr/>
            </p:nvSpPr>
            <p:spPr>
              <a:xfrm>
                <a:off x="14406149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61" name="Rectangle 16"/>
              <p:cNvSpPr/>
              <p:nvPr/>
            </p:nvSpPr>
            <p:spPr>
              <a:xfrm>
                <a:off x="15644892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tx1"/>
                    </a:solidFill>
                  </a:rPr>
                  <a:t>1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Rectangle 18"/>
              <p:cNvSpPr/>
              <p:nvPr/>
            </p:nvSpPr>
            <p:spPr>
              <a:xfrm>
                <a:off x="16883635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63" name="Rectangle 20"/>
              <p:cNvSpPr/>
              <p:nvPr/>
            </p:nvSpPr>
            <p:spPr>
              <a:xfrm>
                <a:off x="18122378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3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Rectangle 22"/>
              <p:cNvSpPr/>
              <p:nvPr/>
            </p:nvSpPr>
            <p:spPr>
              <a:xfrm>
                <a:off x="19361121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4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Rectangle 14"/>
              <p:cNvSpPr/>
              <p:nvPr/>
            </p:nvSpPr>
            <p:spPr>
              <a:xfrm>
                <a:off x="14406149" y="3742030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66" name="Rectangle 16"/>
              <p:cNvSpPr/>
              <p:nvPr/>
            </p:nvSpPr>
            <p:spPr>
              <a:xfrm>
                <a:off x="15644892" y="3739768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tx1"/>
                    </a:solidFill>
                  </a:rPr>
                  <a:t>0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7" name="Rectangle 18"/>
              <p:cNvSpPr/>
              <p:nvPr/>
            </p:nvSpPr>
            <p:spPr>
              <a:xfrm>
                <a:off x="16883635" y="3739769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rgbClr val="FF0000"/>
                    </a:solidFill>
                  </a:rPr>
                  <a:t>3→2</a:t>
                </a:r>
                <a:endParaRPr sz="36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68" name="Rectangle 20"/>
              <p:cNvSpPr/>
              <p:nvPr/>
            </p:nvSpPr>
            <p:spPr>
              <a:xfrm>
                <a:off x="18122378" y="3739769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tx1"/>
                    </a:solidFill>
                  </a:rPr>
                  <a:t>4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9" name="Rectangle 22"/>
              <p:cNvSpPr/>
              <p:nvPr/>
            </p:nvSpPr>
            <p:spPr>
              <a:xfrm>
                <a:off x="19361121" y="3739769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tx1"/>
                    </a:solidFill>
                  </a:rPr>
                  <a:t>6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5" name="グループ化 84"/>
            <p:cNvGrpSpPr/>
            <p:nvPr/>
          </p:nvGrpSpPr>
          <p:grpSpPr>
            <a:xfrm>
              <a:off x="567600" y="454490"/>
              <a:ext cx="12145518" cy="3346356"/>
              <a:chOff x="567600" y="1826090"/>
              <a:chExt cx="12145518" cy="3346356"/>
            </a:xfrm>
          </p:grpSpPr>
          <p:sp>
            <p:nvSpPr>
              <p:cNvPr id="87" name="Rectangle 6"/>
              <p:cNvSpPr/>
              <p:nvPr/>
            </p:nvSpPr>
            <p:spPr>
              <a:xfrm>
                <a:off x="2469482" y="1826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rgbClr val="222222"/>
                    </a:solidFill>
                  </a:rPr>
                  <a:t>4</a:t>
                </a:r>
              </a:p>
            </p:txBody>
          </p:sp>
          <p:sp>
            <p:nvSpPr>
              <p:cNvPr id="88" name="Rectangle 7"/>
              <p:cNvSpPr/>
              <p:nvPr/>
            </p:nvSpPr>
            <p:spPr>
              <a:xfrm>
                <a:off x="3942209" y="1826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2</a:t>
                </a:r>
              </a:p>
            </p:txBody>
          </p:sp>
          <p:sp>
            <p:nvSpPr>
              <p:cNvPr id="89" name="Rectangle 8"/>
              <p:cNvSpPr/>
              <p:nvPr/>
            </p:nvSpPr>
            <p:spPr>
              <a:xfrm>
                <a:off x="5414936" y="1826090"/>
                <a:ext cx="1407273" cy="91636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96" name="Rectangle 9"/>
              <p:cNvSpPr/>
              <p:nvPr/>
            </p:nvSpPr>
            <p:spPr>
              <a:xfrm>
                <a:off x="6887664" y="1826090"/>
                <a:ext cx="1407273" cy="91636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105" name="Rectangle 10"/>
              <p:cNvSpPr/>
              <p:nvPr/>
            </p:nvSpPr>
            <p:spPr>
              <a:xfrm>
                <a:off x="8360391" y="1826090"/>
                <a:ext cx="1407273" cy="91636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107" name="Rectangle 11"/>
              <p:cNvSpPr/>
              <p:nvPr/>
            </p:nvSpPr>
            <p:spPr>
              <a:xfrm>
                <a:off x="9833118" y="1826090"/>
                <a:ext cx="1407273" cy="91636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108" name="Rectangle 12"/>
              <p:cNvSpPr/>
              <p:nvPr/>
            </p:nvSpPr>
            <p:spPr>
              <a:xfrm>
                <a:off x="11305845" y="1826090"/>
                <a:ext cx="1407273" cy="91636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110" name="TextBox 33"/>
              <p:cNvSpPr txBox="1"/>
              <p:nvPr/>
            </p:nvSpPr>
            <p:spPr>
              <a:xfrm>
                <a:off x="567600" y="2022661"/>
                <a:ext cx="17498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ja-JP" altLang="en-US" sz="2800" b="1" dirty="0">
                    <a:solidFill>
                      <a:srgbClr val="666666"/>
                    </a:solidFill>
                  </a:rPr>
                  <a:t>元の</a:t>
                </a:r>
                <a:r>
                  <a:rPr sz="2800" b="1" dirty="0" smtClean="0">
                    <a:solidFill>
                      <a:srgbClr val="666666"/>
                    </a:solidFill>
                  </a:rPr>
                  <a:t>配列</a:t>
                </a:r>
                <a:endParaRPr lang="en-US" sz="2800" b="1" dirty="0" smtClean="0">
                  <a:solidFill>
                    <a:srgbClr val="666666"/>
                  </a:solidFill>
                </a:endParaRPr>
              </a:p>
            </p:txBody>
          </p:sp>
          <p:sp>
            <p:nvSpPr>
              <p:cNvPr id="112" name="Rectangle 6"/>
              <p:cNvSpPr/>
              <p:nvPr/>
            </p:nvSpPr>
            <p:spPr>
              <a:xfrm>
                <a:off x="2469482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1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8" name="Rectangle 7"/>
              <p:cNvSpPr/>
              <p:nvPr/>
            </p:nvSpPr>
            <p:spPr>
              <a:xfrm>
                <a:off x="3942209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1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9" name="Rectangle 8"/>
              <p:cNvSpPr/>
              <p:nvPr/>
            </p:nvSpPr>
            <p:spPr>
              <a:xfrm>
                <a:off x="5414936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2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0" name="Rectangle 9"/>
              <p:cNvSpPr/>
              <p:nvPr/>
            </p:nvSpPr>
            <p:spPr>
              <a:xfrm>
                <a:off x="6887664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2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1" name="Rectangle 10"/>
              <p:cNvSpPr/>
              <p:nvPr/>
            </p:nvSpPr>
            <p:spPr>
              <a:xfrm>
                <a:off x="8360391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3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2" name="Rectangle 11"/>
              <p:cNvSpPr/>
              <p:nvPr/>
            </p:nvSpPr>
            <p:spPr>
              <a:xfrm>
                <a:off x="9833118" y="3731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sz="3600" b="1" dirty="0">
                  <a:solidFill>
                    <a:srgbClr val="222222"/>
                  </a:solidFill>
                </a:endParaRPr>
              </a:p>
            </p:txBody>
          </p:sp>
          <p:sp>
            <p:nvSpPr>
              <p:cNvPr id="153" name="Rectangle 12"/>
              <p:cNvSpPr/>
              <p:nvPr/>
            </p:nvSpPr>
            <p:spPr>
              <a:xfrm>
                <a:off x="11305845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4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5" name="TextBox 33"/>
              <p:cNvSpPr txBox="1"/>
              <p:nvPr/>
            </p:nvSpPr>
            <p:spPr>
              <a:xfrm>
                <a:off x="567600" y="3927661"/>
                <a:ext cx="17498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ja-JP" altLang="en-US" sz="2800" b="1" dirty="0" smtClean="0">
                    <a:solidFill>
                      <a:srgbClr val="666666"/>
                    </a:solidFill>
                  </a:rPr>
                  <a:t>出力</a:t>
                </a:r>
                <a:endParaRPr lang="en-US" sz="2800" b="1" dirty="0" smtClean="0">
                  <a:solidFill>
                    <a:srgbClr val="666666"/>
                  </a:solidFill>
                </a:endParaRPr>
              </a:p>
            </p:txBody>
          </p:sp>
          <p:cxnSp>
            <p:nvCxnSpPr>
              <p:cNvPr id="156" name="カギ線コネクタ 155"/>
              <p:cNvCxnSpPr>
                <a:stCxn id="88" idx="2"/>
                <a:endCxn id="149" idx="0"/>
              </p:cNvCxnSpPr>
              <p:nvPr/>
            </p:nvCxnSpPr>
            <p:spPr>
              <a:xfrm rot="16200000" flipH="1">
                <a:off x="4887891" y="2500407"/>
                <a:ext cx="988637" cy="1472727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TextBox 42"/>
              <p:cNvSpPr txBox="1"/>
              <p:nvPr/>
            </p:nvSpPr>
            <p:spPr>
              <a:xfrm>
                <a:off x="5414936" y="4649226"/>
                <a:ext cx="140727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2800" dirty="0">
                    <a:solidFill>
                      <a:srgbClr val="FF0000"/>
                    </a:solidFill>
                  </a:rPr>
                  <a:t>Index: </a:t>
                </a:r>
                <a:r>
                  <a:rPr lang="en-US" altLang="ja-JP" sz="2800" dirty="0" smtClean="0">
                    <a:solidFill>
                      <a:srgbClr val="FF0000"/>
                    </a:solidFill>
                  </a:rPr>
                  <a:t>2</a:t>
                </a:r>
                <a:endParaRPr lang="en-US" altLang="ja-JP" sz="2800" dirty="0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86" name="カギ線コネクタ 85"/>
            <p:cNvCxnSpPr>
              <a:stCxn id="168" idx="2"/>
              <a:endCxn id="157" idx="3"/>
            </p:cNvCxnSpPr>
            <p:nvPr/>
          </p:nvCxnSpPr>
          <p:spPr>
            <a:xfrm rot="5400000">
              <a:off x="12285163" y="-2981957"/>
              <a:ext cx="1058240" cy="11984147"/>
            </a:xfrm>
            <a:prstGeom prst="bentConnector2">
              <a:avLst/>
            </a:prstGeom>
            <a:ln w="6350">
              <a:solidFill>
                <a:srgbClr val="FF0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0" name="グループ化 169"/>
          <p:cNvGrpSpPr/>
          <p:nvPr/>
        </p:nvGrpSpPr>
        <p:grpSpPr>
          <a:xfrm>
            <a:off x="679894" y="6785909"/>
            <a:ext cx="19930175" cy="3346356"/>
            <a:chOff x="567600" y="454490"/>
            <a:chExt cx="19930175" cy="3346356"/>
          </a:xfrm>
        </p:grpSpPr>
        <p:grpSp>
          <p:nvGrpSpPr>
            <p:cNvPr id="171" name="グループ化 170"/>
            <p:cNvGrpSpPr/>
            <p:nvPr/>
          </p:nvGrpSpPr>
          <p:grpSpPr>
            <a:xfrm>
              <a:off x="13033525" y="1345215"/>
              <a:ext cx="7464250" cy="1156732"/>
              <a:chOff x="12394082" y="2985368"/>
              <a:chExt cx="8210675" cy="1539611"/>
            </a:xfrm>
          </p:grpSpPr>
          <p:sp>
            <p:nvSpPr>
              <p:cNvPr id="192" name="TextBox 42"/>
              <p:cNvSpPr txBox="1"/>
              <p:nvPr/>
            </p:nvSpPr>
            <p:spPr>
              <a:xfrm>
                <a:off x="12394082" y="3102420"/>
                <a:ext cx="200133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ja-JP" altLang="en-US" sz="2400" b="1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値 </a:t>
                </a:r>
                <a:r>
                  <a:rPr lang="en-US" altLang="ja-JP" sz="2400" b="1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 </a:t>
                </a:r>
                <a:r>
                  <a:rPr sz="2400" b="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sz="2400" b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→</a:t>
                </a:r>
              </a:p>
            </p:txBody>
          </p:sp>
          <p:sp>
            <p:nvSpPr>
              <p:cNvPr id="193" name="TextBox 42"/>
              <p:cNvSpPr txBox="1"/>
              <p:nvPr/>
            </p:nvSpPr>
            <p:spPr>
              <a:xfrm>
                <a:off x="12394082" y="3693982"/>
                <a:ext cx="200133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ja-JP" altLang="en-US" sz="2400" b="1" dirty="0" smtClean="0">
                    <a:solidFill>
                      <a:schemeClr val="accent6"/>
                    </a:solidFill>
                  </a:rPr>
                  <a:t>累積カウント </a:t>
                </a:r>
                <a:endParaRPr lang="en-US" altLang="ja-JP" sz="2400" b="1" dirty="0" smtClean="0">
                  <a:solidFill>
                    <a:schemeClr val="accent6"/>
                  </a:solidFill>
                </a:endParaRPr>
              </a:p>
              <a:p>
                <a:pPr algn="r"/>
                <a:r>
                  <a:rPr lang="en-US" altLang="ja-JP" sz="2400" b="1" dirty="0" smtClean="0">
                    <a:solidFill>
                      <a:schemeClr val="accent6"/>
                    </a:solidFill>
                  </a:rPr>
                  <a:t>prefix[i] </a:t>
                </a:r>
                <a:r>
                  <a:rPr sz="2400" b="0" dirty="0" smtClean="0">
                    <a:solidFill>
                      <a:schemeClr val="accent6"/>
                    </a:solidFill>
                  </a:rPr>
                  <a:t> →</a:t>
                </a:r>
                <a:endParaRPr lang="en-US" sz="2400" b="0" dirty="0" smtClean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194" name="Rectangle 14"/>
              <p:cNvSpPr/>
              <p:nvPr/>
            </p:nvSpPr>
            <p:spPr>
              <a:xfrm>
                <a:off x="14406149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95" name="Rectangle 16"/>
              <p:cNvSpPr/>
              <p:nvPr/>
            </p:nvSpPr>
            <p:spPr>
              <a:xfrm>
                <a:off x="15644892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tx1"/>
                    </a:solidFill>
                  </a:rPr>
                  <a:t>1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6" name="Rectangle 18"/>
              <p:cNvSpPr/>
              <p:nvPr/>
            </p:nvSpPr>
            <p:spPr>
              <a:xfrm>
                <a:off x="16883635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97" name="Rectangle 20"/>
              <p:cNvSpPr/>
              <p:nvPr/>
            </p:nvSpPr>
            <p:spPr>
              <a:xfrm>
                <a:off x="18122378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3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8" name="Rectangle 22"/>
              <p:cNvSpPr/>
              <p:nvPr/>
            </p:nvSpPr>
            <p:spPr>
              <a:xfrm>
                <a:off x="19361121" y="2985368"/>
                <a:ext cx="1243636" cy="757325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4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9" name="Rectangle 14"/>
              <p:cNvSpPr/>
              <p:nvPr/>
            </p:nvSpPr>
            <p:spPr>
              <a:xfrm>
                <a:off x="14406149" y="3742030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200" name="Rectangle 16"/>
              <p:cNvSpPr/>
              <p:nvPr/>
            </p:nvSpPr>
            <p:spPr>
              <a:xfrm>
                <a:off x="15644892" y="3739768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tx1"/>
                    </a:solidFill>
                  </a:rPr>
                  <a:t>0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1" name="Rectangle 18"/>
              <p:cNvSpPr/>
              <p:nvPr/>
            </p:nvSpPr>
            <p:spPr>
              <a:xfrm>
                <a:off x="16883635" y="3739769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tx1"/>
                    </a:solidFill>
                  </a:rPr>
                  <a:t>2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2" name="Rectangle 20"/>
              <p:cNvSpPr/>
              <p:nvPr/>
            </p:nvSpPr>
            <p:spPr>
              <a:xfrm>
                <a:off x="18122378" y="3739769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tx1"/>
                    </a:solidFill>
                  </a:rPr>
                  <a:t>4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3" name="Rectangle 22"/>
              <p:cNvSpPr/>
              <p:nvPr/>
            </p:nvSpPr>
            <p:spPr>
              <a:xfrm>
                <a:off x="19361121" y="3739769"/>
                <a:ext cx="1243636" cy="757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rgbClr val="FF0000"/>
                    </a:solidFill>
                  </a:rPr>
                  <a:t>6</a:t>
                </a:r>
                <a:r>
                  <a:rPr lang="ja-JP" altLang="en-US" sz="3600" b="1" dirty="0" smtClean="0">
                    <a:solidFill>
                      <a:srgbClr val="FF0000"/>
                    </a:solidFill>
                  </a:rPr>
                  <a:t>→</a:t>
                </a:r>
                <a:r>
                  <a:rPr lang="en-US" altLang="ja-JP" sz="3600" b="1" dirty="0" smtClean="0">
                    <a:solidFill>
                      <a:srgbClr val="FF0000"/>
                    </a:solidFill>
                  </a:rPr>
                  <a:t>5</a:t>
                </a:r>
                <a:endParaRPr sz="3600" b="1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72" name="グループ化 171"/>
            <p:cNvGrpSpPr/>
            <p:nvPr/>
          </p:nvGrpSpPr>
          <p:grpSpPr>
            <a:xfrm>
              <a:off x="567600" y="454490"/>
              <a:ext cx="12145518" cy="3346356"/>
              <a:chOff x="567600" y="1826090"/>
              <a:chExt cx="12145518" cy="3346356"/>
            </a:xfrm>
          </p:grpSpPr>
          <p:sp>
            <p:nvSpPr>
              <p:cNvPr id="174" name="Rectangle 6"/>
              <p:cNvSpPr/>
              <p:nvPr/>
            </p:nvSpPr>
            <p:spPr>
              <a:xfrm>
                <a:off x="2469482" y="1826090"/>
                <a:ext cx="1407273" cy="916363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rgbClr val="222222"/>
                    </a:solidFill>
                  </a:rPr>
                  <a:t>4</a:t>
                </a:r>
              </a:p>
            </p:txBody>
          </p:sp>
          <p:sp>
            <p:nvSpPr>
              <p:cNvPr id="175" name="Rectangle 7"/>
              <p:cNvSpPr/>
              <p:nvPr/>
            </p:nvSpPr>
            <p:spPr>
              <a:xfrm>
                <a:off x="3942209" y="1826090"/>
                <a:ext cx="1407273" cy="91636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176" name="Rectangle 8"/>
              <p:cNvSpPr/>
              <p:nvPr/>
            </p:nvSpPr>
            <p:spPr>
              <a:xfrm>
                <a:off x="5414936" y="1826090"/>
                <a:ext cx="1407273" cy="91636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77" name="Rectangle 9"/>
              <p:cNvSpPr/>
              <p:nvPr/>
            </p:nvSpPr>
            <p:spPr>
              <a:xfrm>
                <a:off x="6887664" y="1826090"/>
                <a:ext cx="1407273" cy="91636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178" name="Rectangle 10"/>
              <p:cNvSpPr/>
              <p:nvPr/>
            </p:nvSpPr>
            <p:spPr>
              <a:xfrm>
                <a:off x="8360391" y="1826090"/>
                <a:ext cx="1407273" cy="91636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179" name="Rectangle 11"/>
              <p:cNvSpPr/>
              <p:nvPr/>
            </p:nvSpPr>
            <p:spPr>
              <a:xfrm>
                <a:off x="9833118" y="1826090"/>
                <a:ext cx="1407273" cy="91636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180" name="Rectangle 12"/>
              <p:cNvSpPr/>
              <p:nvPr/>
            </p:nvSpPr>
            <p:spPr>
              <a:xfrm>
                <a:off x="11305845" y="1826090"/>
                <a:ext cx="1407273" cy="91636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181" name="TextBox 33"/>
              <p:cNvSpPr txBox="1"/>
              <p:nvPr/>
            </p:nvSpPr>
            <p:spPr>
              <a:xfrm>
                <a:off x="567600" y="2022661"/>
                <a:ext cx="17498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ja-JP" altLang="en-US" sz="2800" b="1" dirty="0">
                    <a:solidFill>
                      <a:srgbClr val="666666"/>
                    </a:solidFill>
                  </a:rPr>
                  <a:t>元の</a:t>
                </a:r>
                <a:r>
                  <a:rPr sz="2800" b="1" dirty="0" smtClean="0">
                    <a:solidFill>
                      <a:srgbClr val="666666"/>
                    </a:solidFill>
                  </a:rPr>
                  <a:t>配列</a:t>
                </a:r>
                <a:endParaRPr lang="en-US" sz="2800" b="1" dirty="0" smtClean="0">
                  <a:solidFill>
                    <a:srgbClr val="666666"/>
                  </a:solidFill>
                </a:endParaRPr>
              </a:p>
            </p:txBody>
          </p:sp>
          <p:sp>
            <p:nvSpPr>
              <p:cNvPr id="182" name="Rectangle 6"/>
              <p:cNvSpPr/>
              <p:nvPr/>
            </p:nvSpPr>
            <p:spPr>
              <a:xfrm>
                <a:off x="2469482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1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3" name="Rectangle 7"/>
              <p:cNvSpPr/>
              <p:nvPr/>
            </p:nvSpPr>
            <p:spPr>
              <a:xfrm>
                <a:off x="3942209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1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4" name="Rectangle 8"/>
              <p:cNvSpPr/>
              <p:nvPr/>
            </p:nvSpPr>
            <p:spPr>
              <a:xfrm>
                <a:off x="5414936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2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5" name="Rectangle 9"/>
              <p:cNvSpPr/>
              <p:nvPr/>
            </p:nvSpPr>
            <p:spPr>
              <a:xfrm>
                <a:off x="6887664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2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6" name="Rectangle 10"/>
              <p:cNvSpPr/>
              <p:nvPr/>
            </p:nvSpPr>
            <p:spPr>
              <a:xfrm>
                <a:off x="8360391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3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7" name="Rectangle 11"/>
              <p:cNvSpPr/>
              <p:nvPr/>
            </p:nvSpPr>
            <p:spPr>
              <a:xfrm>
                <a:off x="9833118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4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8" name="Rectangle 12"/>
              <p:cNvSpPr/>
              <p:nvPr/>
            </p:nvSpPr>
            <p:spPr>
              <a:xfrm>
                <a:off x="11305845" y="3731090"/>
                <a:ext cx="1407273" cy="916363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 smtClean="0">
                    <a:solidFill>
                      <a:schemeClr val="bg1"/>
                    </a:solidFill>
                  </a:rPr>
                  <a:t>4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9" name="TextBox 33"/>
              <p:cNvSpPr txBox="1"/>
              <p:nvPr/>
            </p:nvSpPr>
            <p:spPr>
              <a:xfrm>
                <a:off x="567600" y="3927661"/>
                <a:ext cx="17498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ja-JP" altLang="en-US" sz="2800" b="1" dirty="0" smtClean="0">
                    <a:solidFill>
                      <a:srgbClr val="666666"/>
                    </a:solidFill>
                  </a:rPr>
                  <a:t>出力</a:t>
                </a:r>
                <a:endParaRPr lang="en-US" sz="2800" b="1" dirty="0" smtClean="0">
                  <a:solidFill>
                    <a:srgbClr val="666666"/>
                  </a:solidFill>
                </a:endParaRPr>
              </a:p>
            </p:txBody>
          </p:sp>
          <p:cxnSp>
            <p:nvCxnSpPr>
              <p:cNvPr id="190" name="カギ線コネクタ 189"/>
              <p:cNvCxnSpPr>
                <a:stCxn id="174" idx="2"/>
                <a:endCxn id="187" idx="0"/>
              </p:cNvCxnSpPr>
              <p:nvPr/>
            </p:nvCxnSpPr>
            <p:spPr>
              <a:xfrm rot="16200000" flipH="1">
                <a:off x="6360619" y="-445047"/>
                <a:ext cx="988637" cy="7363636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1" name="TextBox 42"/>
              <p:cNvSpPr txBox="1"/>
              <p:nvPr/>
            </p:nvSpPr>
            <p:spPr>
              <a:xfrm>
                <a:off x="9833118" y="4649226"/>
                <a:ext cx="140727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2800" dirty="0">
                    <a:solidFill>
                      <a:srgbClr val="FF0000"/>
                    </a:solidFill>
                  </a:rPr>
                  <a:t>Index: 5</a:t>
                </a:r>
              </a:p>
            </p:txBody>
          </p:sp>
        </p:grpSp>
        <p:cxnSp>
          <p:nvCxnSpPr>
            <p:cNvPr id="173" name="カギ線コネクタ 172"/>
            <p:cNvCxnSpPr>
              <a:stCxn id="203" idx="2"/>
              <a:endCxn id="191" idx="3"/>
            </p:cNvCxnSpPr>
            <p:nvPr/>
          </p:nvCxnSpPr>
          <p:spPr>
            <a:xfrm rot="5400000">
              <a:off x="15057319" y="-1335931"/>
              <a:ext cx="1058240" cy="8692095"/>
            </a:xfrm>
            <a:prstGeom prst="bentConnector2">
              <a:avLst/>
            </a:prstGeom>
            <a:ln w="6350">
              <a:solidFill>
                <a:srgbClr val="FF0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4" name="Connector 12"/>
          <p:cNvCxnSpPr/>
          <p:nvPr/>
        </p:nvCxnSpPr>
        <p:spPr>
          <a:xfrm>
            <a:off x="921318" y="5521978"/>
            <a:ext cx="1985040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164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475</Words>
  <Application>Microsoft Office PowerPoint</Application>
  <PresentationFormat>ユーザー設定</PresentationFormat>
  <Paragraphs>235</Paragraphs>
  <Slides>4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5" baseType="lpstr"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shining</dc:creator>
  <dc:description>generated using python-pptx</dc:description>
  <cp:lastModifiedBy>shining</cp:lastModifiedBy>
  <cp:revision>64</cp:revision>
  <dcterms:created xsi:type="dcterms:W3CDTF">2013-01-27T09:14:16Z</dcterms:created>
  <dcterms:modified xsi:type="dcterms:W3CDTF">2026-06-01T17:21:43Z</dcterms:modified>
</cp:coreProperties>
</file>