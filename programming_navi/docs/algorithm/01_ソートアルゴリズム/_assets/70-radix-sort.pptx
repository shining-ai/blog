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-124" y="-10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20000" y="2340000"/>
            <a:ext cx="5040000" cy="90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2800" b="1" dirty="0">
                <a:solidFill>
                  <a:srgbClr val="FFFFFF"/>
                </a:solidFill>
                <a:latin typeface="Calibri 本文"/>
              </a:rPr>
              <a:t>ステップ</a:t>
            </a:r>
            <a:r>
              <a:rPr lang="en-US" altLang="ja-JP" sz="2800" b="1" dirty="0">
                <a:solidFill>
                  <a:srgbClr val="FFFFFF"/>
                </a:solidFill>
                <a:latin typeface="Calibri 本文"/>
              </a:rPr>
              <a:t>1</a:t>
            </a:r>
            <a:r>
              <a:rPr lang="ja-JP" altLang="en-US" sz="2800" b="1" dirty="0">
                <a:solidFill>
                  <a:srgbClr val="FFFFFF"/>
                </a:solidFill>
                <a:latin typeface="Calibri 本文"/>
              </a:rPr>
              <a:t>：</a:t>
            </a:r>
            <a:r>
              <a:rPr lang="en-US" altLang="ja-JP" sz="2800" b="1" dirty="0">
                <a:solidFill>
                  <a:srgbClr val="FFFFFF"/>
                </a:solidFill>
                <a:latin typeface="Calibri 本文"/>
              </a:rPr>
              <a:t>1 </a:t>
            </a:r>
            <a:r>
              <a:rPr lang="ja-JP" altLang="en-US" sz="2800" b="1" dirty="0">
                <a:solidFill>
                  <a:srgbClr val="FFFFFF"/>
                </a:solidFill>
                <a:latin typeface="Calibri 本文"/>
              </a:rPr>
              <a:t>の位でソー</a:t>
            </a:r>
            <a:r>
              <a:rPr lang="ja-JP" altLang="en-US" sz="2800" b="1" dirty="0" smtClean="0">
                <a:solidFill>
                  <a:srgbClr val="FFFFFF"/>
                </a:solidFill>
                <a:latin typeface="Calibri 本文"/>
              </a:rPr>
              <a:t>ト</a:t>
            </a:r>
            <a:endParaRPr lang="ja-JP" altLang="en-US" sz="2800" b="1" dirty="0">
              <a:solidFill>
                <a:srgbClr val="FFFFFF"/>
              </a:solidFill>
              <a:latin typeface="Calibri 本文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720000" y="5076000"/>
            <a:ext cx="1985040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20000" y="5220000"/>
            <a:ext cx="5040000" cy="90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2800" b="1" dirty="0">
                <a:solidFill>
                  <a:srgbClr val="FFFFFF"/>
                </a:solidFill>
                <a:latin typeface="Calibri 本文"/>
              </a:rPr>
              <a:t>ステップ</a:t>
            </a:r>
            <a:r>
              <a:rPr lang="en-US" altLang="ja-JP" sz="2800" b="1" dirty="0">
                <a:solidFill>
                  <a:srgbClr val="FFFFFF"/>
                </a:solidFill>
                <a:latin typeface="Calibri 本文"/>
              </a:rPr>
              <a:t>2</a:t>
            </a:r>
            <a:r>
              <a:rPr lang="ja-JP" altLang="en-US" sz="2800" b="1" dirty="0">
                <a:solidFill>
                  <a:srgbClr val="FFFFFF"/>
                </a:solidFill>
                <a:latin typeface="Calibri 本文"/>
              </a:rPr>
              <a:t>：</a:t>
            </a:r>
            <a:r>
              <a:rPr lang="en-US" altLang="ja-JP" sz="2800" b="1" dirty="0">
                <a:solidFill>
                  <a:srgbClr val="FFFFFF"/>
                </a:solidFill>
                <a:latin typeface="Calibri 本文"/>
              </a:rPr>
              <a:t>10 </a:t>
            </a:r>
            <a:r>
              <a:rPr lang="ja-JP" altLang="en-US" sz="2800" b="1" dirty="0">
                <a:solidFill>
                  <a:srgbClr val="FFFFFF"/>
                </a:solidFill>
                <a:latin typeface="Calibri 本文"/>
              </a:rPr>
              <a:t>の位でソー</a:t>
            </a:r>
            <a:r>
              <a:rPr lang="ja-JP" altLang="en-US" sz="2800" b="1" dirty="0" smtClean="0">
                <a:solidFill>
                  <a:srgbClr val="FFFFFF"/>
                </a:solidFill>
                <a:latin typeface="Calibri 本文"/>
              </a:rPr>
              <a:t>ト</a:t>
            </a:r>
            <a:endParaRPr lang="ja-JP" altLang="en-US" sz="2800" b="1" dirty="0">
              <a:solidFill>
                <a:srgbClr val="FFFFFF"/>
              </a:solidFill>
              <a:latin typeface="Calibri 本文"/>
            </a:endParaRPr>
          </a:p>
        </p:txBody>
      </p:sp>
      <p:cxnSp>
        <p:nvCxnSpPr>
          <p:cNvPr id="62" name="Connector 61"/>
          <p:cNvCxnSpPr/>
          <p:nvPr/>
        </p:nvCxnSpPr>
        <p:spPr>
          <a:xfrm>
            <a:off x="720000" y="7956000"/>
            <a:ext cx="1985040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720000" y="8100000"/>
            <a:ext cx="5040000" cy="90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2800" b="1" dirty="0">
                <a:solidFill>
                  <a:srgbClr val="FFFFFF"/>
                </a:solidFill>
                <a:latin typeface="Calibri 本文"/>
              </a:rPr>
              <a:t>ステップ</a:t>
            </a:r>
            <a:r>
              <a:rPr lang="en-US" altLang="ja-JP" sz="2800" b="1" dirty="0">
                <a:solidFill>
                  <a:srgbClr val="FFFFFF"/>
                </a:solidFill>
                <a:latin typeface="Calibri 本文"/>
              </a:rPr>
              <a:t>3</a:t>
            </a:r>
            <a:r>
              <a:rPr lang="ja-JP" altLang="en-US" sz="2800" b="1" dirty="0">
                <a:solidFill>
                  <a:srgbClr val="FFFFFF"/>
                </a:solidFill>
                <a:latin typeface="Calibri 本文"/>
              </a:rPr>
              <a:t>：</a:t>
            </a:r>
            <a:r>
              <a:rPr lang="en-US" altLang="ja-JP" sz="2800" b="1" dirty="0">
                <a:solidFill>
                  <a:srgbClr val="FFFFFF"/>
                </a:solidFill>
                <a:latin typeface="Calibri 本文"/>
              </a:rPr>
              <a:t>100 </a:t>
            </a:r>
            <a:r>
              <a:rPr lang="ja-JP" altLang="en-US" sz="2800" b="1" dirty="0">
                <a:solidFill>
                  <a:srgbClr val="FFFFFF"/>
                </a:solidFill>
                <a:latin typeface="Calibri 本文"/>
              </a:rPr>
              <a:t>の位でソー</a:t>
            </a:r>
            <a:r>
              <a:rPr lang="ja-JP" altLang="en-US" sz="2800" b="1" dirty="0" smtClean="0">
                <a:solidFill>
                  <a:srgbClr val="FFFFFF"/>
                </a:solidFill>
                <a:latin typeface="Calibri 本文"/>
              </a:rPr>
              <a:t>ト</a:t>
            </a:r>
            <a:endParaRPr lang="ja-JP" altLang="en-US" sz="2800" b="1" dirty="0">
              <a:solidFill>
                <a:srgbClr val="FFFFFF"/>
              </a:solidFill>
              <a:latin typeface="Calibri 本文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80000" y="11034000"/>
            <a:ext cx="1913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13CA6"/>
                </a:solidFill>
              </a:rPr>
              <a:t>各パスで安定計数ソートを適用  ／  d = 桁数、k = 基数(10) として O(d×(n+k))  ／  安定ソート</a:t>
            </a:r>
          </a:p>
        </p:txBody>
      </p:sp>
      <p:sp>
        <p:nvSpPr>
          <p:cNvPr id="93" name="TextBox 33"/>
          <p:cNvSpPr txBox="1"/>
          <p:nvPr/>
        </p:nvSpPr>
        <p:spPr>
          <a:xfrm>
            <a:off x="2471009" y="1014662"/>
            <a:ext cx="22791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ja-JP" altLang="en-US" sz="2800" b="1" dirty="0">
                <a:solidFill>
                  <a:srgbClr val="666666"/>
                </a:solidFill>
              </a:rPr>
              <a:t>元の</a:t>
            </a:r>
            <a:r>
              <a:rPr sz="2800" b="1" dirty="0" smtClean="0">
                <a:solidFill>
                  <a:srgbClr val="666666"/>
                </a:solidFill>
              </a:rPr>
              <a:t>配列</a:t>
            </a:r>
            <a:endParaRPr lang="en-US" sz="2800" b="1" dirty="0" smtClean="0">
              <a:solidFill>
                <a:srgbClr val="666666"/>
              </a:solidFill>
            </a:endParaRPr>
          </a:p>
        </p:txBody>
      </p:sp>
      <p:grpSp>
        <p:nvGrpSpPr>
          <p:cNvPr id="128" name="グループ化 127"/>
          <p:cNvGrpSpPr/>
          <p:nvPr/>
        </p:nvGrpSpPr>
        <p:grpSpPr>
          <a:xfrm>
            <a:off x="6120000" y="826272"/>
            <a:ext cx="13752000" cy="900000"/>
            <a:chOff x="6112012" y="826272"/>
            <a:chExt cx="13752000" cy="900000"/>
          </a:xfrm>
        </p:grpSpPr>
        <p:sp>
          <p:nvSpPr>
            <p:cNvPr id="94" name="Rectangle 7"/>
            <p:cNvSpPr/>
            <p:nvPr/>
          </p:nvSpPr>
          <p:spPr>
            <a:xfrm>
              <a:off x="6112012" y="826272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170</a:t>
              </a:r>
            </a:p>
          </p:txBody>
        </p:sp>
        <p:sp>
          <p:nvSpPr>
            <p:cNvPr id="95" name="Rectangle 9"/>
            <p:cNvSpPr/>
            <p:nvPr/>
          </p:nvSpPr>
          <p:spPr>
            <a:xfrm>
              <a:off x="7840012" y="826272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45</a:t>
              </a:r>
            </a:p>
          </p:txBody>
        </p:sp>
        <p:sp>
          <p:nvSpPr>
            <p:cNvPr id="96" name="Rectangle 11"/>
            <p:cNvSpPr/>
            <p:nvPr/>
          </p:nvSpPr>
          <p:spPr>
            <a:xfrm>
              <a:off x="9568012" y="826272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75</a:t>
              </a:r>
            </a:p>
          </p:txBody>
        </p:sp>
        <p:sp>
          <p:nvSpPr>
            <p:cNvPr id="97" name="Rectangle 13"/>
            <p:cNvSpPr/>
            <p:nvPr/>
          </p:nvSpPr>
          <p:spPr>
            <a:xfrm>
              <a:off x="11296012" y="826272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90</a:t>
              </a:r>
            </a:p>
          </p:txBody>
        </p:sp>
        <p:sp>
          <p:nvSpPr>
            <p:cNvPr id="98" name="Rectangle 15"/>
            <p:cNvSpPr/>
            <p:nvPr/>
          </p:nvSpPr>
          <p:spPr>
            <a:xfrm>
              <a:off x="13024012" y="826272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802</a:t>
              </a:r>
            </a:p>
          </p:txBody>
        </p:sp>
        <p:sp>
          <p:nvSpPr>
            <p:cNvPr id="99" name="Rectangle 17"/>
            <p:cNvSpPr/>
            <p:nvPr/>
          </p:nvSpPr>
          <p:spPr>
            <a:xfrm>
              <a:off x="14752012" y="826272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24</a:t>
              </a:r>
            </a:p>
          </p:txBody>
        </p:sp>
        <p:sp>
          <p:nvSpPr>
            <p:cNvPr id="100" name="Rectangle 19"/>
            <p:cNvSpPr/>
            <p:nvPr/>
          </p:nvSpPr>
          <p:spPr>
            <a:xfrm>
              <a:off x="16480012" y="826272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1" name="Rectangle 21"/>
            <p:cNvSpPr/>
            <p:nvPr/>
          </p:nvSpPr>
          <p:spPr>
            <a:xfrm>
              <a:off x="18208012" y="826272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66</a:t>
              </a:r>
            </a:p>
          </p:txBody>
        </p:sp>
      </p:grpSp>
      <p:cxnSp>
        <p:nvCxnSpPr>
          <p:cNvPr id="102" name="Connector 32"/>
          <p:cNvCxnSpPr/>
          <p:nvPr/>
        </p:nvCxnSpPr>
        <p:spPr>
          <a:xfrm>
            <a:off x="720000" y="2159524"/>
            <a:ext cx="1985040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9" name="グループ化 128"/>
          <p:cNvGrpSpPr/>
          <p:nvPr/>
        </p:nvGrpSpPr>
        <p:grpSpPr>
          <a:xfrm>
            <a:off x="6120000" y="3081500"/>
            <a:ext cx="13752000" cy="1532852"/>
            <a:chOff x="6120000" y="3240000"/>
            <a:chExt cx="13752000" cy="1532852"/>
          </a:xfrm>
        </p:grpSpPr>
        <p:sp>
          <p:nvSpPr>
            <p:cNvPr id="25" name="Rectangle 24"/>
            <p:cNvSpPr/>
            <p:nvPr/>
          </p:nvSpPr>
          <p:spPr>
            <a:xfrm>
              <a:off x="6120000" y="3240000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 dirty="0">
                  <a:solidFill>
                    <a:schemeClr val="tx1"/>
                  </a:solidFill>
                </a:rPr>
                <a:t>170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848000" y="3240000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90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9576000" y="3240000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802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1304000" y="3240000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3032000" y="3240000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24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4760000" y="3240000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45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6488000" y="3240000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75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8216000" y="3240000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66</a:t>
              </a:r>
            </a:p>
          </p:txBody>
        </p:sp>
        <p:sp>
          <p:nvSpPr>
            <p:cNvPr id="103" name="TextBox 37"/>
            <p:cNvSpPr txBox="1"/>
            <p:nvPr/>
          </p:nvSpPr>
          <p:spPr>
            <a:xfrm>
              <a:off x="6588000" y="4291709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altLang="ja-JP" sz="1800" b="0" dirty="0" smtClean="0"/>
                <a:t>0</a:t>
              </a:r>
              <a:endParaRPr sz="1800" b="0" dirty="0"/>
            </a:p>
          </p:txBody>
        </p:sp>
        <p:sp>
          <p:nvSpPr>
            <p:cNvPr id="105" name="TextBox 37"/>
            <p:cNvSpPr txBox="1"/>
            <p:nvPr/>
          </p:nvSpPr>
          <p:spPr>
            <a:xfrm>
              <a:off x="8316000" y="4307682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altLang="ja-JP" sz="1800" b="0" dirty="0" smtClean="0"/>
                <a:t>0</a:t>
              </a:r>
              <a:endParaRPr sz="1800" b="0" dirty="0"/>
            </a:p>
          </p:txBody>
        </p:sp>
        <p:sp>
          <p:nvSpPr>
            <p:cNvPr id="106" name="TextBox 37"/>
            <p:cNvSpPr txBox="1"/>
            <p:nvPr/>
          </p:nvSpPr>
          <p:spPr>
            <a:xfrm>
              <a:off x="10044000" y="4323655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altLang="ja-JP" dirty="0"/>
                <a:t>2</a:t>
              </a:r>
              <a:endParaRPr sz="1800" b="0" dirty="0"/>
            </a:p>
          </p:txBody>
        </p:sp>
        <p:sp>
          <p:nvSpPr>
            <p:cNvPr id="107" name="TextBox 37"/>
            <p:cNvSpPr txBox="1"/>
            <p:nvPr/>
          </p:nvSpPr>
          <p:spPr>
            <a:xfrm>
              <a:off x="11772000" y="4339628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sz="1800" b="0" dirty="0" smtClean="0"/>
                <a:t>2</a:t>
              </a:r>
              <a:endParaRPr sz="1800" b="0" dirty="0"/>
            </a:p>
          </p:txBody>
        </p:sp>
        <p:sp>
          <p:nvSpPr>
            <p:cNvPr id="108" name="TextBox 37"/>
            <p:cNvSpPr txBox="1"/>
            <p:nvPr/>
          </p:nvSpPr>
          <p:spPr>
            <a:xfrm>
              <a:off x="13500000" y="4355601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sz="1800" b="0" dirty="0" smtClean="0"/>
                <a:t>4</a:t>
              </a:r>
              <a:endParaRPr sz="1800" b="0" dirty="0"/>
            </a:p>
          </p:txBody>
        </p:sp>
        <p:sp>
          <p:nvSpPr>
            <p:cNvPr id="109" name="TextBox 37"/>
            <p:cNvSpPr txBox="1"/>
            <p:nvPr/>
          </p:nvSpPr>
          <p:spPr>
            <a:xfrm>
              <a:off x="15228000" y="4371574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sz="1800" b="0" dirty="0" smtClean="0"/>
                <a:t>5</a:t>
              </a:r>
              <a:endParaRPr sz="1800" b="0" dirty="0"/>
            </a:p>
          </p:txBody>
        </p:sp>
        <p:sp>
          <p:nvSpPr>
            <p:cNvPr id="110" name="TextBox 37"/>
            <p:cNvSpPr txBox="1"/>
            <p:nvPr/>
          </p:nvSpPr>
          <p:spPr>
            <a:xfrm>
              <a:off x="16956000" y="4387547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sz="1800" b="0" dirty="0" smtClean="0"/>
                <a:t>5</a:t>
              </a:r>
              <a:endParaRPr sz="1800" b="0" dirty="0"/>
            </a:p>
          </p:txBody>
        </p:sp>
        <p:sp>
          <p:nvSpPr>
            <p:cNvPr id="111" name="TextBox 37"/>
            <p:cNvSpPr txBox="1"/>
            <p:nvPr/>
          </p:nvSpPr>
          <p:spPr>
            <a:xfrm>
              <a:off x="18684000" y="4403520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sz="1800" b="0" dirty="0" smtClean="0"/>
                <a:t>6</a:t>
              </a:r>
              <a:endParaRPr sz="1800" b="0" dirty="0"/>
            </a:p>
          </p:txBody>
        </p:sp>
      </p:grpSp>
      <p:grpSp>
        <p:nvGrpSpPr>
          <p:cNvPr id="130" name="グループ化 129"/>
          <p:cNvGrpSpPr/>
          <p:nvPr/>
        </p:nvGrpSpPr>
        <p:grpSpPr>
          <a:xfrm>
            <a:off x="6120000" y="5969580"/>
            <a:ext cx="13752000" cy="1576856"/>
            <a:chOff x="6120000" y="5978862"/>
            <a:chExt cx="13752000" cy="1576856"/>
          </a:xfrm>
        </p:grpSpPr>
        <p:sp>
          <p:nvSpPr>
            <p:cNvPr id="54" name="Rectangle 53"/>
            <p:cNvSpPr/>
            <p:nvPr/>
          </p:nvSpPr>
          <p:spPr>
            <a:xfrm>
              <a:off x="6120000" y="5978862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802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848000" y="5978862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9576000" y="5978862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24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1304000" y="5978862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45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3032000" y="5978862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66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4760000" y="5978862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170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6488000" y="5978862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75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8216000" y="5978862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>
                  <a:solidFill>
                    <a:schemeClr val="tx1"/>
                  </a:solidFill>
                </a:rPr>
                <a:t>90</a:t>
              </a:r>
            </a:p>
          </p:txBody>
        </p:sp>
        <p:sp>
          <p:nvSpPr>
            <p:cNvPr id="112" name="TextBox 37"/>
            <p:cNvSpPr txBox="1"/>
            <p:nvPr/>
          </p:nvSpPr>
          <p:spPr>
            <a:xfrm>
              <a:off x="6665724" y="7074575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altLang="ja-JP" sz="1800" b="0" dirty="0" smtClean="0"/>
                <a:t>0</a:t>
              </a:r>
              <a:endParaRPr sz="1800" b="0" dirty="0"/>
            </a:p>
          </p:txBody>
        </p:sp>
        <p:sp>
          <p:nvSpPr>
            <p:cNvPr id="113" name="TextBox 37"/>
            <p:cNvSpPr txBox="1"/>
            <p:nvPr/>
          </p:nvSpPr>
          <p:spPr>
            <a:xfrm>
              <a:off x="8393724" y="7090548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altLang="ja-JP" sz="1800" b="0" dirty="0" smtClean="0"/>
                <a:t>0</a:t>
              </a:r>
              <a:endParaRPr sz="1800" b="0" dirty="0"/>
            </a:p>
          </p:txBody>
        </p:sp>
        <p:sp>
          <p:nvSpPr>
            <p:cNvPr id="114" name="TextBox 37"/>
            <p:cNvSpPr txBox="1"/>
            <p:nvPr/>
          </p:nvSpPr>
          <p:spPr>
            <a:xfrm>
              <a:off x="10121724" y="7106521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altLang="ja-JP" dirty="0"/>
                <a:t>2</a:t>
              </a:r>
              <a:endParaRPr sz="1800" b="0" dirty="0"/>
            </a:p>
          </p:txBody>
        </p:sp>
        <p:sp>
          <p:nvSpPr>
            <p:cNvPr id="115" name="TextBox 37"/>
            <p:cNvSpPr txBox="1"/>
            <p:nvPr/>
          </p:nvSpPr>
          <p:spPr>
            <a:xfrm>
              <a:off x="11849724" y="7122494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sz="1800" b="0" dirty="0" smtClean="0"/>
                <a:t>4</a:t>
              </a:r>
              <a:endParaRPr sz="1800" b="0" dirty="0"/>
            </a:p>
          </p:txBody>
        </p:sp>
        <p:sp>
          <p:nvSpPr>
            <p:cNvPr id="116" name="TextBox 37"/>
            <p:cNvSpPr txBox="1"/>
            <p:nvPr/>
          </p:nvSpPr>
          <p:spPr>
            <a:xfrm>
              <a:off x="13577724" y="7138467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sz="1800" b="0" dirty="0" smtClean="0"/>
                <a:t>6</a:t>
              </a:r>
              <a:endParaRPr sz="1800" b="0" dirty="0"/>
            </a:p>
          </p:txBody>
        </p:sp>
        <p:sp>
          <p:nvSpPr>
            <p:cNvPr id="117" name="TextBox 37"/>
            <p:cNvSpPr txBox="1"/>
            <p:nvPr/>
          </p:nvSpPr>
          <p:spPr>
            <a:xfrm>
              <a:off x="15305724" y="7154440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sz="1800" b="0" dirty="0" smtClean="0"/>
                <a:t>7</a:t>
              </a:r>
              <a:endParaRPr sz="1800" b="0" dirty="0"/>
            </a:p>
          </p:txBody>
        </p:sp>
        <p:sp>
          <p:nvSpPr>
            <p:cNvPr id="118" name="TextBox 37"/>
            <p:cNvSpPr txBox="1"/>
            <p:nvPr/>
          </p:nvSpPr>
          <p:spPr>
            <a:xfrm>
              <a:off x="17033724" y="7170413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dirty="0"/>
                <a:t>7</a:t>
              </a:r>
              <a:endParaRPr sz="1800" b="0" dirty="0"/>
            </a:p>
          </p:txBody>
        </p:sp>
        <p:sp>
          <p:nvSpPr>
            <p:cNvPr id="119" name="TextBox 37"/>
            <p:cNvSpPr txBox="1"/>
            <p:nvPr/>
          </p:nvSpPr>
          <p:spPr>
            <a:xfrm>
              <a:off x="18761724" y="7186386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dirty="0"/>
                <a:t>9</a:t>
              </a:r>
              <a:endParaRPr sz="1800" b="0" dirty="0"/>
            </a:p>
          </p:txBody>
        </p:sp>
      </p:grpSp>
      <p:grpSp>
        <p:nvGrpSpPr>
          <p:cNvPr id="131" name="グループ化 130"/>
          <p:cNvGrpSpPr/>
          <p:nvPr/>
        </p:nvGrpSpPr>
        <p:grpSpPr>
          <a:xfrm>
            <a:off x="6120000" y="8901664"/>
            <a:ext cx="13752000" cy="1512076"/>
            <a:chOff x="6120000" y="8901664"/>
            <a:chExt cx="13752000" cy="1512076"/>
          </a:xfrm>
        </p:grpSpPr>
        <p:sp>
          <p:nvSpPr>
            <p:cNvPr id="66" name="Rectangle 65"/>
            <p:cNvSpPr/>
            <p:nvPr/>
          </p:nvSpPr>
          <p:spPr>
            <a:xfrm>
              <a:off x="6120000" y="8901664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 dirty="0" smtClean="0">
                  <a:solidFill>
                    <a:schemeClr val="tx1"/>
                  </a:solidFill>
                </a:rPr>
                <a:t>2</a:t>
              </a:r>
              <a:endParaRPr sz="2600" b="1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7848000" y="8901664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600" b="1" dirty="0" smtClean="0">
                  <a:solidFill>
                    <a:schemeClr val="tx1"/>
                  </a:solidFill>
                </a:rPr>
                <a:t>2</a:t>
              </a:r>
              <a:r>
                <a:rPr lang="en-US" sz="2600" b="1" dirty="0" smtClean="0">
                  <a:solidFill>
                    <a:schemeClr val="tx1"/>
                  </a:solidFill>
                </a:rPr>
                <a:t>4</a:t>
              </a:r>
              <a:endParaRPr sz="2600" b="1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9576000" y="8901664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2600" b="1" dirty="0" smtClean="0">
                  <a:solidFill>
                    <a:schemeClr val="tx1"/>
                  </a:solidFill>
                </a:rPr>
                <a:t>45</a:t>
              </a:r>
              <a:endParaRPr sz="2600" b="1" dirty="0">
                <a:solidFill>
                  <a:schemeClr val="tx1"/>
                </a:solidFill>
              </a:endParaRP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1304000" y="8901664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2600" b="1" dirty="0" smtClean="0">
                  <a:solidFill>
                    <a:schemeClr val="tx1"/>
                  </a:solidFill>
                </a:rPr>
                <a:t>66</a:t>
              </a:r>
              <a:endParaRPr sz="2600" b="1" dirty="0">
                <a:solidFill>
                  <a:schemeClr val="tx1"/>
                </a:solidFill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3032000" y="8901664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2600" b="1" dirty="0" smtClean="0">
                  <a:solidFill>
                    <a:schemeClr val="tx1"/>
                  </a:solidFill>
                </a:rPr>
                <a:t>75</a:t>
              </a:r>
              <a:endParaRPr sz="2600" b="1" dirty="0">
                <a:solidFill>
                  <a:schemeClr val="tx1"/>
                </a:solidFill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4760000" y="8901664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2600" b="1" dirty="0" smtClean="0">
                  <a:solidFill>
                    <a:schemeClr val="tx1"/>
                  </a:solidFill>
                </a:rPr>
                <a:t>90</a:t>
              </a:r>
              <a:endParaRPr sz="2600" b="1" dirty="0">
                <a:solidFill>
                  <a:schemeClr val="tx1"/>
                </a:solidFill>
              </a:endParaRP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16488000" y="8901664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2600" b="1" dirty="0" smtClean="0">
                  <a:solidFill>
                    <a:schemeClr val="tx1"/>
                  </a:solidFill>
                </a:rPr>
                <a:t>170</a:t>
              </a:r>
              <a:endParaRPr sz="2600" b="1" dirty="0">
                <a:solidFill>
                  <a:schemeClr val="tx1"/>
                </a:solidFill>
              </a:endParaRP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8216000" y="8901664"/>
              <a:ext cx="1656000" cy="90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2600" b="1" dirty="0" smtClean="0">
                  <a:solidFill>
                    <a:schemeClr val="tx1"/>
                  </a:solidFill>
                </a:rPr>
                <a:t>802</a:t>
              </a:r>
              <a:endParaRPr sz="2600" b="1" dirty="0">
                <a:solidFill>
                  <a:schemeClr val="tx1"/>
                </a:solidFill>
              </a:endParaRPr>
            </a:p>
          </p:txBody>
        </p:sp>
        <p:sp>
          <p:nvSpPr>
            <p:cNvPr id="120" name="TextBox 37"/>
            <p:cNvSpPr txBox="1"/>
            <p:nvPr/>
          </p:nvSpPr>
          <p:spPr>
            <a:xfrm>
              <a:off x="6665724" y="9932597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altLang="ja-JP" sz="1800" b="0" dirty="0" smtClean="0"/>
                <a:t>0</a:t>
              </a:r>
              <a:endParaRPr sz="1800" b="0" dirty="0"/>
            </a:p>
          </p:txBody>
        </p:sp>
        <p:sp>
          <p:nvSpPr>
            <p:cNvPr id="121" name="TextBox 37"/>
            <p:cNvSpPr txBox="1"/>
            <p:nvPr/>
          </p:nvSpPr>
          <p:spPr>
            <a:xfrm>
              <a:off x="8393724" y="9948570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altLang="ja-JP" sz="1800" b="0" dirty="0" smtClean="0"/>
                <a:t>0</a:t>
              </a:r>
              <a:endParaRPr sz="1800" b="0" dirty="0"/>
            </a:p>
          </p:txBody>
        </p:sp>
        <p:sp>
          <p:nvSpPr>
            <p:cNvPr id="122" name="TextBox 37"/>
            <p:cNvSpPr txBox="1"/>
            <p:nvPr/>
          </p:nvSpPr>
          <p:spPr>
            <a:xfrm>
              <a:off x="10121724" y="9964543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sz="1800" b="0" dirty="0" smtClean="0"/>
                <a:t>0</a:t>
              </a:r>
              <a:endParaRPr sz="1800" b="0" dirty="0"/>
            </a:p>
          </p:txBody>
        </p:sp>
        <p:sp>
          <p:nvSpPr>
            <p:cNvPr id="123" name="TextBox 37"/>
            <p:cNvSpPr txBox="1"/>
            <p:nvPr/>
          </p:nvSpPr>
          <p:spPr>
            <a:xfrm>
              <a:off x="11849724" y="9980516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sz="1800" b="0" dirty="0" smtClean="0"/>
                <a:t>0</a:t>
              </a:r>
              <a:endParaRPr sz="1800" b="0" dirty="0"/>
            </a:p>
          </p:txBody>
        </p:sp>
        <p:sp>
          <p:nvSpPr>
            <p:cNvPr id="124" name="TextBox 37"/>
            <p:cNvSpPr txBox="1"/>
            <p:nvPr/>
          </p:nvSpPr>
          <p:spPr>
            <a:xfrm>
              <a:off x="13577724" y="9996489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sz="1800" b="0" dirty="0" smtClean="0"/>
                <a:t>0</a:t>
              </a:r>
              <a:endParaRPr sz="1800" b="0" dirty="0"/>
            </a:p>
          </p:txBody>
        </p:sp>
        <p:sp>
          <p:nvSpPr>
            <p:cNvPr id="125" name="TextBox 37"/>
            <p:cNvSpPr txBox="1"/>
            <p:nvPr/>
          </p:nvSpPr>
          <p:spPr>
            <a:xfrm>
              <a:off x="15305724" y="10012462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sz="1800" b="0" dirty="0" smtClean="0"/>
                <a:t>0</a:t>
              </a:r>
              <a:endParaRPr sz="1800" b="0" dirty="0"/>
            </a:p>
          </p:txBody>
        </p:sp>
        <p:sp>
          <p:nvSpPr>
            <p:cNvPr id="126" name="TextBox 37"/>
            <p:cNvSpPr txBox="1"/>
            <p:nvPr/>
          </p:nvSpPr>
          <p:spPr>
            <a:xfrm>
              <a:off x="17033724" y="10028435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sz="1800" b="0" dirty="0" smtClean="0"/>
                <a:t>1</a:t>
              </a:r>
              <a:endParaRPr sz="1800" b="0" dirty="0"/>
            </a:p>
          </p:txBody>
        </p:sp>
        <p:sp>
          <p:nvSpPr>
            <p:cNvPr id="127" name="TextBox 37"/>
            <p:cNvSpPr txBox="1"/>
            <p:nvPr/>
          </p:nvSpPr>
          <p:spPr>
            <a:xfrm>
              <a:off x="18761724" y="10044408"/>
              <a:ext cx="7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dirty="0" smtClean="0"/>
                <a:t>→</a:t>
              </a:r>
              <a:r>
                <a:rPr lang="en-US" sz="1800" b="0" dirty="0" smtClean="0"/>
                <a:t>8</a:t>
              </a:r>
              <a:endParaRPr sz="1800" b="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142</Words>
  <Application>Microsoft Office PowerPoint</Application>
  <PresentationFormat>ユーザー設定</PresentationFormat>
  <Paragraphs>61</Paragraphs>
  <Slides>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Office Theme</vt:lpstr>
      <vt:lpstr>PowerPoint プレゼンテーション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shining</dc:creator>
  <dc:description>generated using python-pptx</dc:description>
  <cp:lastModifiedBy>shining</cp:lastModifiedBy>
  <cp:revision>9</cp:revision>
  <dcterms:created xsi:type="dcterms:W3CDTF">2013-01-27T09:14:16Z</dcterms:created>
  <dcterms:modified xsi:type="dcterms:W3CDTF">2026-06-02T14:52:42Z</dcterms:modified>
</cp:coreProperties>
</file>