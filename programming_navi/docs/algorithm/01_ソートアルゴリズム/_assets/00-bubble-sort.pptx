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グループ化 30"/>
          <p:cNvGrpSpPr/>
          <p:nvPr/>
        </p:nvGrpSpPr>
        <p:grpSpPr>
          <a:xfrm>
            <a:off x="3419781" y="2200769"/>
            <a:ext cx="14450400" cy="7571387"/>
            <a:chOff x="6479781" y="1116911"/>
            <a:chExt cx="14450400" cy="7571387"/>
          </a:xfrm>
        </p:grpSpPr>
        <p:sp>
          <p:nvSpPr>
            <p:cNvPr id="6" name="Rectangle 5"/>
            <p:cNvSpPr/>
            <p:nvPr/>
          </p:nvSpPr>
          <p:spPr>
            <a:xfrm>
              <a:off x="6479781" y="1116911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351781" y="1116911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223781" y="11169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2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2095781" y="1116911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967781" y="1116911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8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127175" y="1174635"/>
              <a:ext cx="4803006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先頭の</a:t>
              </a:r>
              <a:r>
                <a:rPr lang="en-US" altLang="ja-JP" sz="2600" dirty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つを比較</a:t>
              </a:r>
            </a:p>
            <a:p>
              <a:r>
                <a:rPr lang="ja-JP" altLang="en-US" sz="2600" dirty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1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」が小さいので交換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019781" y="4655120"/>
              <a:ext cx="4550400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chemeClr val="tx2"/>
                  </a:solidFill>
                </a:rPr>
                <a:t>←</a:t>
              </a:r>
              <a:r>
                <a:rPr lang="ja-JP" altLang="en-US" sz="2600" dirty="0" smtClean="0">
                  <a:solidFill>
                    <a:schemeClr val="tx2"/>
                  </a:solidFill>
                </a:rPr>
                <a:t>「</a:t>
              </a:r>
              <a:r>
                <a:rPr lang="en-US" altLang="ja-JP" sz="2600" dirty="0" smtClean="0">
                  <a:solidFill>
                    <a:schemeClr val="tx2"/>
                  </a:solidFill>
                </a:rPr>
                <a:t>3</a:t>
              </a:r>
              <a:r>
                <a:rPr lang="ja-JP" altLang="en-US" sz="2600" dirty="0" smtClean="0">
                  <a:solidFill>
                    <a:schemeClr val="tx2"/>
                  </a:solidFill>
                </a:rPr>
                <a:t>」</a:t>
              </a:r>
              <a:r>
                <a:rPr lang="ja-JP" altLang="en-US" sz="2600" dirty="0">
                  <a:solidFill>
                    <a:schemeClr val="tx2"/>
                  </a:solidFill>
                </a:rPr>
                <a:t>が最大であることが確定</a:t>
              </a:r>
              <a:endParaRPr lang="ja-JP" altLang="en-US" sz="2600" dirty="0">
                <a:solidFill>
                  <a:schemeClr val="tx2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019781" y="6095272"/>
              <a:ext cx="4723500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先頭の</a:t>
              </a:r>
              <a:r>
                <a:rPr lang="en-US" altLang="ja-JP" sz="2600" dirty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つを比較</a:t>
              </a:r>
            </a:p>
            <a:p>
              <a:r>
                <a:rPr lang="ja-JP" altLang="en-US" sz="2600" dirty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が大きいのでそのまま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59" name="Rectangle 5"/>
            <p:cNvSpPr/>
            <p:nvPr/>
          </p:nvSpPr>
          <p:spPr>
            <a:xfrm>
              <a:off x="6479781" y="6039452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0" name="Rectangle 6"/>
            <p:cNvSpPr/>
            <p:nvPr/>
          </p:nvSpPr>
          <p:spPr>
            <a:xfrm>
              <a:off x="8351781" y="6034372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 smtClean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1" name="Rectangle 7"/>
            <p:cNvSpPr/>
            <p:nvPr/>
          </p:nvSpPr>
          <p:spPr>
            <a:xfrm>
              <a:off x="10223781" y="6034372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2" name="Rectangle 8"/>
            <p:cNvSpPr/>
            <p:nvPr/>
          </p:nvSpPr>
          <p:spPr>
            <a:xfrm>
              <a:off x="12095781" y="6034372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9"/>
            <p:cNvSpPr/>
            <p:nvPr/>
          </p:nvSpPr>
          <p:spPr>
            <a:xfrm>
              <a:off x="13967781" y="6034372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8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6019781" y="7938722"/>
              <a:ext cx="4723500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 smtClean="0">
                  <a:solidFill>
                    <a:schemeClr val="tx2"/>
                  </a:solidFill>
                </a:rPr>
                <a:t>← 交換なしなので、終了</a:t>
              </a:r>
              <a:endParaRPr lang="ja-JP" altLang="en-US" sz="2600" dirty="0">
                <a:solidFill>
                  <a:schemeClr val="tx2"/>
                </a:solidFill>
              </a:endParaRPr>
            </a:p>
          </p:txBody>
        </p:sp>
        <p:sp>
          <p:nvSpPr>
            <p:cNvPr id="65" name="Rectangle 5"/>
            <p:cNvSpPr/>
            <p:nvPr/>
          </p:nvSpPr>
          <p:spPr>
            <a:xfrm>
              <a:off x="6479781" y="7680299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6" name="Rectangle 6"/>
            <p:cNvSpPr/>
            <p:nvPr/>
          </p:nvSpPr>
          <p:spPr>
            <a:xfrm>
              <a:off x="8351781" y="7677759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7" name="Rectangle 7"/>
            <p:cNvSpPr/>
            <p:nvPr/>
          </p:nvSpPr>
          <p:spPr>
            <a:xfrm>
              <a:off x="10223781" y="7677759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8" name="Rectangle 8"/>
            <p:cNvSpPr/>
            <p:nvPr/>
          </p:nvSpPr>
          <p:spPr>
            <a:xfrm>
              <a:off x="12095781" y="7677759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9" name="Rectangle 9"/>
            <p:cNvSpPr/>
            <p:nvPr/>
          </p:nvSpPr>
          <p:spPr>
            <a:xfrm>
              <a:off x="13967781" y="7677759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8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86" name="TextBox 18"/>
            <p:cNvSpPr txBox="1"/>
            <p:nvPr/>
          </p:nvSpPr>
          <p:spPr>
            <a:xfrm>
              <a:off x="16019781" y="2814850"/>
              <a:ext cx="4550400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次の</a:t>
              </a:r>
              <a:r>
                <a:rPr lang="en-US" altLang="ja-JP" sz="2600" dirty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つを比較</a:t>
              </a:r>
            </a:p>
            <a:p>
              <a:r>
                <a:rPr lang="ja-JP" altLang="en-US" sz="2600" dirty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」が小さいので交換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52" name="Rectangle 13"/>
            <p:cNvSpPr/>
            <p:nvPr/>
          </p:nvSpPr>
          <p:spPr>
            <a:xfrm>
              <a:off x="6479781" y="275775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1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58" name="Rectangle 14"/>
            <p:cNvSpPr/>
            <p:nvPr/>
          </p:nvSpPr>
          <p:spPr>
            <a:xfrm>
              <a:off x="8351781" y="2757758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4" name="Rectangle 15"/>
            <p:cNvSpPr/>
            <p:nvPr/>
          </p:nvSpPr>
          <p:spPr>
            <a:xfrm>
              <a:off x="10223781" y="2757758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0" name="Rectangle 16"/>
            <p:cNvSpPr/>
            <p:nvPr/>
          </p:nvSpPr>
          <p:spPr>
            <a:xfrm>
              <a:off x="12095781" y="2757758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2" name="Rectangle 17"/>
            <p:cNvSpPr/>
            <p:nvPr/>
          </p:nvSpPr>
          <p:spPr>
            <a:xfrm>
              <a:off x="13967781" y="2757758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74" name="Rectangle 13"/>
            <p:cNvSpPr/>
            <p:nvPr/>
          </p:nvSpPr>
          <p:spPr>
            <a:xfrm>
              <a:off x="6479781" y="4398605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1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75" name="Rectangle 14"/>
            <p:cNvSpPr/>
            <p:nvPr/>
          </p:nvSpPr>
          <p:spPr>
            <a:xfrm>
              <a:off x="8351781" y="4398605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2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77" name="Rectangle 15"/>
            <p:cNvSpPr/>
            <p:nvPr/>
          </p:nvSpPr>
          <p:spPr>
            <a:xfrm>
              <a:off x="10223781" y="4398605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Rectangle 16"/>
            <p:cNvSpPr/>
            <p:nvPr/>
          </p:nvSpPr>
          <p:spPr>
            <a:xfrm>
              <a:off x="12095781" y="4398605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Rectangle 17"/>
            <p:cNvSpPr/>
            <p:nvPr/>
          </p:nvSpPr>
          <p:spPr>
            <a:xfrm>
              <a:off x="13967781" y="4398605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FFFFFF"/>
                  </a:solidFill>
                </a:rPr>
                <a:t>8</a:t>
              </a:r>
            </a:p>
          </p:txBody>
        </p:sp>
        <p:cxnSp>
          <p:nvCxnSpPr>
            <p:cNvPr id="80" name="カギ線コネクタ 79"/>
            <p:cNvCxnSpPr>
              <a:stCxn id="58" idx="2"/>
              <a:endCxn id="64" idx="2"/>
            </p:cNvCxnSpPr>
            <p:nvPr/>
          </p:nvCxnSpPr>
          <p:spPr>
            <a:xfrm rot="16200000" flipH="1">
              <a:off x="10187781" y="2829757"/>
              <a:ext cx="12700" cy="1872000"/>
            </a:xfrm>
            <a:prstGeom prst="bentConnector3">
              <a:avLst>
                <a:gd name="adj1" fmla="val 2500000"/>
              </a:avLst>
            </a:prstGeom>
            <a:ln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カギ線コネクタ 81"/>
            <p:cNvCxnSpPr>
              <a:stCxn id="6" idx="2"/>
              <a:endCxn id="7" idx="2"/>
            </p:cNvCxnSpPr>
            <p:nvPr/>
          </p:nvCxnSpPr>
          <p:spPr>
            <a:xfrm rot="16200000" flipH="1">
              <a:off x="8315781" y="1188910"/>
              <a:ext cx="12700" cy="1872000"/>
            </a:xfrm>
            <a:prstGeom prst="bentConnector3">
              <a:avLst>
                <a:gd name="adj1" fmla="val 2200000"/>
              </a:avLst>
            </a:prstGeom>
            <a:ln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or 11"/>
          <p:cNvCxnSpPr/>
          <p:nvPr/>
        </p:nvCxnSpPr>
        <p:spPr>
          <a:xfrm>
            <a:off x="0" y="3563999"/>
            <a:ext cx="0" cy="39600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5183999"/>
            <a:ext cx="0" cy="39600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6803999"/>
            <a:ext cx="0" cy="39600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8423999"/>
            <a:ext cx="0" cy="39600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/>
          <p:cNvGrpSpPr/>
          <p:nvPr/>
        </p:nvGrpSpPr>
        <p:grpSpPr>
          <a:xfrm>
            <a:off x="3419781" y="3021192"/>
            <a:ext cx="14450400" cy="5930540"/>
            <a:chOff x="6120000" y="1116911"/>
            <a:chExt cx="14450400" cy="5930540"/>
          </a:xfrm>
        </p:grpSpPr>
        <p:sp>
          <p:nvSpPr>
            <p:cNvPr id="6" name="Rectangle 5"/>
            <p:cNvSpPr/>
            <p:nvPr/>
          </p:nvSpPr>
          <p:spPr>
            <a:xfrm>
              <a:off x="6120000" y="1116911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 smtClean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992000" y="1116911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9864000" y="11169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1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1736000" y="11169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2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608000" y="1116911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8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767394" y="1174635"/>
              <a:ext cx="4803006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先頭の</a:t>
              </a:r>
              <a:r>
                <a:rPr lang="en-US" altLang="ja-JP" sz="2600" dirty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つを比較</a:t>
              </a:r>
            </a:p>
            <a:p>
              <a:r>
                <a:rPr lang="ja-JP" altLang="en-US" sz="2600" dirty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5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」が</a:t>
              </a:r>
              <a:r>
                <a:rPr lang="ja-JP" altLang="en-US" sz="2600" dirty="0">
                  <a:solidFill>
                    <a:srgbClr val="666666"/>
                  </a:solidFill>
                </a:rPr>
                <a:t>大きい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のでそのまま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660000" y="4455065"/>
              <a:ext cx="4171607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← 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次の</a:t>
              </a:r>
              <a:r>
                <a:rPr lang="en-US" altLang="ja-JP" sz="2600" b="0" dirty="0" smtClean="0">
                  <a:solidFill>
                    <a:srgbClr val="666666"/>
                  </a:solidFill>
                </a:rPr>
                <a:t>2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つを比較</a:t>
              </a:r>
              <a:endParaRPr lang="en-US" altLang="ja-JP" sz="2600" b="0" dirty="0" smtClean="0">
                <a:solidFill>
                  <a:srgbClr val="666666"/>
                </a:solidFill>
              </a:endParaRPr>
            </a:p>
            <a:p>
              <a:r>
                <a:rPr lang="ja-JP" altLang="en-US" sz="2600" dirty="0" smtClean="0">
                  <a:solidFill>
                    <a:srgbClr val="666666"/>
                  </a:solidFill>
                </a:rPr>
                <a:t>     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が小さいので交換</a:t>
              </a:r>
              <a:endParaRPr sz="2600" b="0" dirty="0">
                <a:solidFill>
                  <a:srgbClr val="666666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660000" y="6295326"/>
              <a:ext cx="4723500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chemeClr val="tx2"/>
                  </a:solidFill>
                </a:rPr>
                <a:t>←</a:t>
              </a:r>
              <a:r>
                <a:rPr lang="ja-JP" altLang="en-US" sz="2600" dirty="0" smtClean="0">
                  <a:solidFill>
                    <a:schemeClr val="tx2"/>
                  </a:solidFill>
                </a:rPr>
                <a:t>「</a:t>
              </a:r>
              <a:r>
                <a:rPr lang="en-US" altLang="ja-JP" sz="2600" dirty="0" smtClean="0">
                  <a:solidFill>
                    <a:schemeClr val="tx2"/>
                  </a:solidFill>
                </a:rPr>
                <a:t>5</a:t>
              </a:r>
              <a:r>
                <a:rPr lang="ja-JP" altLang="en-US" sz="2600" dirty="0" smtClean="0">
                  <a:solidFill>
                    <a:schemeClr val="tx2"/>
                  </a:solidFill>
                </a:rPr>
                <a:t>」</a:t>
              </a:r>
              <a:r>
                <a:rPr lang="ja-JP" altLang="en-US" sz="2600" dirty="0">
                  <a:solidFill>
                    <a:schemeClr val="tx2"/>
                  </a:solidFill>
                </a:rPr>
                <a:t>が最大であることが確定</a:t>
              </a:r>
              <a:endParaRPr lang="ja-JP" altLang="en-US" sz="2600" dirty="0">
                <a:solidFill>
                  <a:schemeClr val="tx2"/>
                </a:solidFill>
              </a:endParaRPr>
            </a:p>
          </p:txBody>
        </p:sp>
        <p:sp>
          <p:nvSpPr>
            <p:cNvPr id="59" name="Rectangle 5"/>
            <p:cNvSpPr/>
            <p:nvPr/>
          </p:nvSpPr>
          <p:spPr>
            <a:xfrm>
              <a:off x="6120000" y="6039452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3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60" name="Rectangle 6"/>
            <p:cNvSpPr/>
            <p:nvPr/>
          </p:nvSpPr>
          <p:spPr>
            <a:xfrm>
              <a:off x="7992000" y="6034372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1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61" name="Rectangle 7"/>
            <p:cNvSpPr/>
            <p:nvPr/>
          </p:nvSpPr>
          <p:spPr>
            <a:xfrm>
              <a:off x="9864000" y="6034372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2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8"/>
            <p:cNvSpPr/>
            <p:nvPr/>
          </p:nvSpPr>
          <p:spPr>
            <a:xfrm>
              <a:off x="11736000" y="6034372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9"/>
            <p:cNvSpPr/>
            <p:nvPr/>
          </p:nvSpPr>
          <p:spPr>
            <a:xfrm>
              <a:off x="13608000" y="6034372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8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86" name="TextBox 18"/>
            <p:cNvSpPr txBox="1"/>
            <p:nvPr/>
          </p:nvSpPr>
          <p:spPr>
            <a:xfrm>
              <a:off x="15660000" y="2814850"/>
              <a:ext cx="4550400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次の</a:t>
              </a:r>
              <a:r>
                <a:rPr lang="en-US" altLang="ja-JP" sz="2600" dirty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つを比較</a:t>
              </a:r>
            </a:p>
            <a:p>
              <a:r>
                <a:rPr lang="ja-JP" altLang="en-US" sz="2600" dirty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1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」が小さいので交換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52" name="Rectangle 13"/>
            <p:cNvSpPr/>
            <p:nvPr/>
          </p:nvSpPr>
          <p:spPr>
            <a:xfrm>
              <a:off x="6120000" y="275775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58" name="Rectangle 14"/>
            <p:cNvSpPr/>
            <p:nvPr/>
          </p:nvSpPr>
          <p:spPr>
            <a:xfrm>
              <a:off x="7992000" y="2757758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4" name="Rectangle 15"/>
            <p:cNvSpPr/>
            <p:nvPr/>
          </p:nvSpPr>
          <p:spPr>
            <a:xfrm>
              <a:off x="9864000" y="2757758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0" name="Rectangle 16"/>
            <p:cNvSpPr/>
            <p:nvPr/>
          </p:nvSpPr>
          <p:spPr>
            <a:xfrm>
              <a:off x="11736000" y="275775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2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72" name="Rectangle 17"/>
            <p:cNvSpPr/>
            <p:nvPr/>
          </p:nvSpPr>
          <p:spPr>
            <a:xfrm>
              <a:off x="13608000" y="2757758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74" name="Rectangle 13"/>
            <p:cNvSpPr/>
            <p:nvPr/>
          </p:nvSpPr>
          <p:spPr>
            <a:xfrm>
              <a:off x="6120000" y="4398605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75" name="Rectangle 14"/>
            <p:cNvSpPr/>
            <p:nvPr/>
          </p:nvSpPr>
          <p:spPr>
            <a:xfrm>
              <a:off x="7992000" y="4398605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1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77" name="Rectangle 15"/>
            <p:cNvSpPr/>
            <p:nvPr/>
          </p:nvSpPr>
          <p:spPr>
            <a:xfrm>
              <a:off x="9864000" y="4398605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Rectangle 16"/>
            <p:cNvSpPr/>
            <p:nvPr/>
          </p:nvSpPr>
          <p:spPr>
            <a:xfrm>
              <a:off x="11736000" y="4398605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Rectangle 17"/>
            <p:cNvSpPr/>
            <p:nvPr/>
          </p:nvSpPr>
          <p:spPr>
            <a:xfrm>
              <a:off x="13608000" y="4398605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FFFFFF"/>
                  </a:solidFill>
                </a:rPr>
                <a:t>8</a:t>
              </a:r>
            </a:p>
          </p:txBody>
        </p:sp>
        <p:cxnSp>
          <p:nvCxnSpPr>
            <p:cNvPr id="80" name="カギ線コネクタ 79"/>
            <p:cNvCxnSpPr>
              <a:stCxn id="58" idx="2"/>
              <a:endCxn id="64" idx="2"/>
            </p:cNvCxnSpPr>
            <p:nvPr/>
          </p:nvCxnSpPr>
          <p:spPr>
            <a:xfrm rot="16200000" flipH="1">
              <a:off x="9828000" y="2829757"/>
              <a:ext cx="12700" cy="1872000"/>
            </a:xfrm>
            <a:prstGeom prst="bentConnector3">
              <a:avLst>
                <a:gd name="adj1" fmla="val 2500000"/>
              </a:avLst>
            </a:prstGeom>
            <a:ln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カギ線コネクタ 80"/>
            <p:cNvCxnSpPr>
              <a:stCxn id="77" idx="2"/>
              <a:endCxn id="78" idx="2"/>
            </p:cNvCxnSpPr>
            <p:nvPr/>
          </p:nvCxnSpPr>
          <p:spPr>
            <a:xfrm rot="16200000" flipH="1">
              <a:off x="11700000" y="4470604"/>
              <a:ext cx="12700" cy="1872000"/>
            </a:xfrm>
            <a:prstGeom prst="bentConnector3">
              <a:avLst>
                <a:gd name="adj1" fmla="val 2500000"/>
              </a:avLst>
            </a:prstGeom>
            <a:ln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891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or 11"/>
          <p:cNvCxnSpPr/>
          <p:nvPr/>
        </p:nvCxnSpPr>
        <p:spPr>
          <a:xfrm>
            <a:off x="0" y="3563999"/>
            <a:ext cx="0" cy="39600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5183999"/>
            <a:ext cx="0" cy="39600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6803999"/>
            <a:ext cx="0" cy="39600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8423999"/>
            <a:ext cx="0" cy="39600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各パスで「未ソート部分の最大値」が末尾へ浮かび上がる  ／  最良 O(n)（早期終了）、最悪 O(n²)</a:t>
            </a:r>
          </a:p>
        </p:txBody>
      </p:sp>
      <p:grpSp>
        <p:nvGrpSpPr>
          <p:cNvPr id="2" name="グループ化 1"/>
          <p:cNvGrpSpPr/>
          <p:nvPr/>
        </p:nvGrpSpPr>
        <p:grpSpPr>
          <a:xfrm>
            <a:off x="3513231" y="1116911"/>
            <a:ext cx="14263500" cy="9212232"/>
            <a:chOff x="6120000" y="1116911"/>
            <a:chExt cx="14263500" cy="9212232"/>
          </a:xfrm>
        </p:grpSpPr>
        <p:sp>
          <p:nvSpPr>
            <p:cNvPr id="6" name="Rectangle 5"/>
            <p:cNvSpPr/>
            <p:nvPr/>
          </p:nvSpPr>
          <p:spPr>
            <a:xfrm>
              <a:off x="6120000" y="11169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7992000" y="11169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9864000" y="11169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1736000" y="11169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608000" y="11169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767394" y="1374689"/>
              <a:ext cx="4064213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ja-JP" altLang="en-US" sz="2600" dirty="0">
                  <a:solidFill>
                    <a:srgbClr val="666666"/>
                  </a:solidFill>
                </a:rPr>
                <a:t>初期状態</a:t>
              </a:r>
              <a:endParaRPr sz="2600" b="0" dirty="0">
                <a:solidFill>
                  <a:srgbClr val="666666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120000" y="9321144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992000" y="9321144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864000" y="9321144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1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736000" y="9321144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2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3608000" y="9321144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5660000" y="9578929"/>
              <a:ext cx="4723500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600" b="0" dirty="0" smtClean="0">
                  <a:solidFill>
                    <a:schemeClr val="tx2"/>
                  </a:solidFill>
                </a:rPr>
                <a:t>←</a:t>
              </a:r>
              <a:r>
                <a:rPr lang="ja-JP" altLang="en-US" sz="2600" b="0" dirty="0" smtClean="0">
                  <a:solidFill>
                    <a:schemeClr val="tx2"/>
                  </a:solidFill>
                </a:rPr>
                <a:t>「</a:t>
              </a:r>
              <a:r>
                <a:rPr lang="en-US" altLang="ja-JP" sz="2600" b="0" dirty="0" smtClean="0">
                  <a:solidFill>
                    <a:schemeClr val="tx2"/>
                  </a:solidFill>
                </a:rPr>
                <a:t>8</a:t>
              </a:r>
              <a:r>
                <a:rPr lang="ja-JP" altLang="en-US" sz="2600" b="0" dirty="0" smtClean="0">
                  <a:solidFill>
                    <a:schemeClr val="tx2"/>
                  </a:solidFill>
                </a:rPr>
                <a:t>」が最大であることが確定</a:t>
              </a:r>
              <a:endParaRPr sz="2600" b="0" dirty="0">
                <a:solidFill>
                  <a:schemeClr val="tx2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660000" y="4455065"/>
              <a:ext cx="4171607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← 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次の</a:t>
              </a:r>
              <a:r>
                <a:rPr lang="en-US" altLang="ja-JP" sz="2600" b="0" dirty="0" smtClean="0">
                  <a:solidFill>
                    <a:srgbClr val="666666"/>
                  </a:solidFill>
                </a:rPr>
                <a:t>2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つを比較</a:t>
              </a:r>
              <a:endParaRPr lang="en-US" altLang="ja-JP" sz="2600" b="0" dirty="0" smtClean="0">
                <a:solidFill>
                  <a:srgbClr val="666666"/>
                </a:solidFill>
              </a:endParaRPr>
            </a:p>
            <a:p>
              <a:pPr algn="l"/>
              <a:r>
                <a:rPr lang="en-US" sz="2600" dirty="0">
                  <a:solidFill>
                    <a:srgbClr val="666666"/>
                  </a:solidFill>
                </a:rPr>
                <a:t> </a:t>
              </a:r>
              <a:r>
                <a:rPr lang="en-US" sz="2600" dirty="0" smtClean="0">
                  <a:solidFill>
                    <a:srgbClr val="666666"/>
                  </a:solidFill>
                </a:rPr>
                <a:t>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8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」が大きいのでそのまま</a:t>
              </a:r>
              <a:endParaRPr sz="2600" b="0" dirty="0">
                <a:solidFill>
                  <a:srgbClr val="666666"/>
                </a:solidFill>
              </a:endParaRPr>
            </a:p>
          </p:txBody>
        </p:sp>
        <p:sp>
          <p:nvSpPr>
            <p:cNvPr id="53" name="Rectangle 5"/>
            <p:cNvSpPr/>
            <p:nvPr/>
          </p:nvSpPr>
          <p:spPr>
            <a:xfrm>
              <a:off x="6120000" y="4397335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3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54" name="Rectangle 6"/>
            <p:cNvSpPr/>
            <p:nvPr/>
          </p:nvSpPr>
          <p:spPr>
            <a:xfrm>
              <a:off x="7992000" y="4397335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 smtClean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7"/>
            <p:cNvSpPr/>
            <p:nvPr/>
          </p:nvSpPr>
          <p:spPr>
            <a:xfrm>
              <a:off x="9864000" y="4397335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56" name="Rectangle 8"/>
            <p:cNvSpPr/>
            <p:nvPr/>
          </p:nvSpPr>
          <p:spPr>
            <a:xfrm>
              <a:off x="11736000" y="4397335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57" name="Rectangle 9"/>
            <p:cNvSpPr/>
            <p:nvPr/>
          </p:nvSpPr>
          <p:spPr>
            <a:xfrm>
              <a:off x="13608000" y="4397335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660000" y="6095271"/>
              <a:ext cx="3783700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600" b="0" dirty="0" smtClean="0">
                  <a:solidFill>
                    <a:srgbClr val="666666"/>
                  </a:solidFill>
                </a:rPr>
                <a:t>←</a:t>
              </a:r>
              <a:r>
                <a:rPr lang="ja-JP" altLang="en-US" sz="2600" dirty="0">
                  <a:solidFill>
                    <a:srgbClr val="666666"/>
                  </a:solidFill>
                </a:rPr>
                <a:t>次の</a:t>
              </a:r>
              <a:r>
                <a:rPr lang="en-US" altLang="ja-JP" sz="2600" dirty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つを比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較</a:t>
              </a:r>
              <a:endParaRPr lang="en-US" altLang="ja-JP" sz="2600" dirty="0" smtClean="0">
                <a:solidFill>
                  <a:srgbClr val="666666"/>
                </a:solidFill>
              </a:endParaRPr>
            </a:p>
            <a:p>
              <a:r>
                <a:rPr lang="en-US" altLang="ja-JP" sz="2600" dirty="0" smtClean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1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が小さいので交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換</a:t>
              </a:r>
              <a:endParaRPr lang="en-US" altLang="ja-JP" sz="2600" dirty="0">
                <a:solidFill>
                  <a:srgbClr val="666666"/>
                </a:solidFill>
              </a:endParaRPr>
            </a:p>
          </p:txBody>
        </p:sp>
        <p:sp>
          <p:nvSpPr>
            <p:cNvPr id="59" name="Rectangle 5"/>
            <p:cNvSpPr/>
            <p:nvPr/>
          </p:nvSpPr>
          <p:spPr>
            <a:xfrm>
              <a:off x="6120000" y="6034372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3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60" name="Rectangle 6"/>
            <p:cNvSpPr/>
            <p:nvPr/>
          </p:nvSpPr>
          <p:spPr>
            <a:xfrm>
              <a:off x="7992000" y="6034372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 smtClean="0">
                  <a:solidFill>
                    <a:srgbClr val="222222"/>
                  </a:solidFill>
                </a:rPr>
                <a:t>5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61" name="Rectangle 7"/>
            <p:cNvSpPr/>
            <p:nvPr/>
          </p:nvSpPr>
          <p:spPr>
            <a:xfrm>
              <a:off x="9864000" y="6034372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2" name="Rectangle 8"/>
            <p:cNvSpPr/>
            <p:nvPr/>
          </p:nvSpPr>
          <p:spPr>
            <a:xfrm>
              <a:off x="11736000" y="6034372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8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9"/>
            <p:cNvSpPr/>
            <p:nvPr/>
          </p:nvSpPr>
          <p:spPr>
            <a:xfrm>
              <a:off x="13608000" y="6034372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cxnSp>
          <p:nvCxnSpPr>
            <p:cNvPr id="73" name="カギ線コネクタ 72"/>
            <p:cNvCxnSpPr>
              <a:stCxn id="61" idx="2"/>
              <a:endCxn id="62" idx="2"/>
            </p:cNvCxnSpPr>
            <p:nvPr/>
          </p:nvCxnSpPr>
          <p:spPr>
            <a:xfrm rot="16200000" flipH="1">
              <a:off x="11700000" y="6106371"/>
              <a:ext cx="12700" cy="1872000"/>
            </a:xfrm>
            <a:prstGeom prst="bentConnector3">
              <a:avLst>
                <a:gd name="adj1" fmla="val 2600000"/>
              </a:avLst>
            </a:prstGeom>
            <a:ln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5660000" y="7738657"/>
              <a:ext cx="3783700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 smtClean="0">
                  <a:solidFill>
                    <a:srgbClr val="666666"/>
                  </a:solidFill>
                </a:rPr>
                <a:t>←</a:t>
              </a:r>
              <a:r>
                <a:rPr lang="ja-JP" altLang="en-US" sz="2600" dirty="0">
                  <a:solidFill>
                    <a:srgbClr val="666666"/>
                  </a:solidFill>
                </a:rPr>
                <a:t>次の</a:t>
              </a:r>
              <a:r>
                <a:rPr lang="en-US" altLang="ja-JP" sz="2600" dirty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つを比較</a:t>
              </a:r>
            </a:p>
            <a:p>
              <a:r>
                <a:rPr lang="ja-JP" altLang="en-US" sz="2600" dirty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が小さいので交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換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65" name="Rectangle 5"/>
            <p:cNvSpPr/>
            <p:nvPr/>
          </p:nvSpPr>
          <p:spPr>
            <a:xfrm>
              <a:off x="6120000" y="7677759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3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66" name="Rectangle 6"/>
            <p:cNvSpPr/>
            <p:nvPr/>
          </p:nvSpPr>
          <p:spPr>
            <a:xfrm>
              <a:off x="7992000" y="7677759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 smtClean="0">
                  <a:solidFill>
                    <a:srgbClr val="222222"/>
                  </a:solidFill>
                </a:rPr>
                <a:t>5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67" name="Rectangle 7"/>
            <p:cNvSpPr/>
            <p:nvPr/>
          </p:nvSpPr>
          <p:spPr>
            <a:xfrm>
              <a:off x="9864000" y="7677759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1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68" name="Rectangle 8"/>
            <p:cNvSpPr/>
            <p:nvPr/>
          </p:nvSpPr>
          <p:spPr>
            <a:xfrm>
              <a:off x="11736000" y="7677759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9" name="Rectangle 9"/>
            <p:cNvSpPr/>
            <p:nvPr/>
          </p:nvSpPr>
          <p:spPr>
            <a:xfrm>
              <a:off x="13608000" y="7677759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8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6" name="カギ線コネクタ 75"/>
            <p:cNvCxnSpPr>
              <a:stCxn id="68" idx="2"/>
              <a:endCxn id="69" idx="2"/>
            </p:cNvCxnSpPr>
            <p:nvPr/>
          </p:nvCxnSpPr>
          <p:spPr>
            <a:xfrm rot="16200000" flipH="1">
              <a:off x="13572000" y="7749758"/>
              <a:ext cx="12700" cy="1872000"/>
            </a:xfrm>
            <a:prstGeom prst="bentConnector3">
              <a:avLst>
                <a:gd name="adj1" fmla="val 2900000"/>
              </a:avLst>
            </a:prstGeom>
            <a:ln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5"/>
            <p:cNvSpPr/>
            <p:nvPr/>
          </p:nvSpPr>
          <p:spPr>
            <a:xfrm>
              <a:off x="6120000" y="2753948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Rectangle 6"/>
            <p:cNvSpPr/>
            <p:nvPr/>
          </p:nvSpPr>
          <p:spPr>
            <a:xfrm>
              <a:off x="7992000" y="2753948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 smtClean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7"/>
            <p:cNvSpPr/>
            <p:nvPr/>
          </p:nvSpPr>
          <p:spPr>
            <a:xfrm>
              <a:off x="9864000" y="275394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50" name="Rectangle 8"/>
            <p:cNvSpPr/>
            <p:nvPr/>
          </p:nvSpPr>
          <p:spPr>
            <a:xfrm>
              <a:off x="11736000" y="275394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51" name="Rectangle 9"/>
            <p:cNvSpPr/>
            <p:nvPr/>
          </p:nvSpPr>
          <p:spPr>
            <a:xfrm>
              <a:off x="13608000" y="275394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cxnSp>
          <p:nvCxnSpPr>
            <p:cNvPr id="71" name="カギ線コネクタ 70"/>
            <p:cNvCxnSpPr>
              <a:stCxn id="47" idx="2"/>
              <a:endCxn id="48" idx="2"/>
            </p:cNvCxnSpPr>
            <p:nvPr/>
          </p:nvCxnSpPr>
          <p:spPr>
            <a:xfrm rot="16200000" flipH="1">
              <a:off x="7956000" y="2825947"/>
              <a:ext cx="12700" cy="1872000"/>
            </a:xfrm>
            <a:prstGeom prst="bentConnector3">
              <a:avLst>
                <a:gd name="adj1" fmla="val 2500000"/>
              </a:avLst>
            </a:prstGeom>
            <a:ln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18"/>
            <p:cNvSpPr txBox="1"/>
            <p:nvPr/>
          </p:nvSpPr>
          <p:spPr>
            <a:xfrm>
              <a:off x="15660000" y="2814850"/>
              <a:ext cx="3961500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← 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先頭の</a:t>
              </a:r>
              <a:r>
                <a:rPr lang="en-US" altLang="ja-JP" sz="2600" b="0" dirty="0" smtClean="0">
                  <a:solidFill>
                    <a:srgbClr val="666666"/>
                  </a:solidFill>
                </a:rPr>
                <a:t>2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つを比較</a:t>
              </a:r>
              <a:endParaRPr lang="en-US" altLang="ja-JP" sz="2600" b="0" dirty="0" smtClean="0">
                <a:solidFill>
                  <a:srgbClr val="666666"/>
                </a:solidFill>
              </a:endParaRPr>
            </a:p>
            <a:p>
              <a:pPr algn="l"/>
              <a:r>
                <a:rPr lang="en-US" altLang="ja-JP" sz="2600" dirty="0">
                  <a:solidFill>
                    <a:srgbClr val="666666"/>
                  </a:solidFill>
                </a:rPr>
                <a:t> 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>
                  <a:solidFill>
                    <a:srgbClr val="666666"/>
                  </a:solidFill>
                </a:rPr>
                <a:t>3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」が</a:t>
              </a:r>
              <a:r>
                <a:rPr lang="ja-JP" altLang="en-US" sz="2600" dirty="0">
                  <a:solidFill>
                    <a:srgbClr val="666666"/>
                  </a:solidFill>
                </a:rPr>
                <a:t>小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さ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いので交換</a:t>
              </a:r>
              <a:endParaRPr lang="en-US" sz="2600" dirty="0">
                <a:solidFill>
                  <a:srgbClr val="66666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7480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anchor="ctr">
        <a:spAutoFit/>
      </a:bodyPr>
      <a:lstStyle>
        <a:defPPr algn="l">
          <a:defRPr sz="2600" b="0" dirty="0">
            <a:solidFill>
              <a:srgbClr val="666666"/>
            </a:solidFill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2881</TotalTime>
  <Words>359</Words>
  <Application>Microsoft Office PowerPoint</Application>
  <PresentationFormat>ユーザー設定</PresentationFormat>
  <Paragraphs>101</Paragraphs>
  <Slides>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Office Theme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41</cp:revision>
  <dcterms:created xsi:type="dcterms:W3CDTF">2013-01-27T09:14:16Z</dcterms:created>
  <dcterms:modified xsi:type="dcterms:W3CDTF">2026-05-27T14:30:51Z</dcterms:modified>
</cp:coreProperties>
</file>