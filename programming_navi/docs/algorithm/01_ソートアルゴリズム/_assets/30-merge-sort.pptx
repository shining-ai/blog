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1290400" cy="13081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dirty="0">
                <a:solidFill>
                  <a:srgbClr val="FFFFFF"/>
                </a:solidFill>
              </a:rPr>
              <a:t>マージソート：分割フェーズ（Divide</a:t>
            </a:r>
            <a:r>
              <a:rPr sz="5000" b="1" dirty="0" smtClean="0">
                <a:solidFill>
                  <a:srgbClr val="FFFFFF"/>
                </a:solidFill>
              </a:rPr>
              <a:t>）</a:t>
            </a:r>
            <a:endParaRPr lang="en-US" sz="5000" b="1" dirty="0" smtClean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36975" y="2202500"/>
            <a:ext cx="2279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smtClean="0">
                <a:solidFill>
                  <a:srgbClr val="666666"/>
                </a:solidFill>
              </a:rPr>
              <a:t>全配列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36975" y="4614300"/>
            <a:ext cx="2395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smtClean="0">
                <a:solidFill>
                  <a:srgbClr val="666666"/>
                </a:solidFill>
              </a:rPr>
              <a:t>半分に分割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36975" y="6226000"/>
            <a:ext cx="22791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smtClean="0">
                <a:solidFill>
                  <a:srgbClr val="666666"/>
                </a:solidFill>
              </a:rPr>
              <a:t>さらに分割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4275" y="10177600"/>
            <a:ext cx="47997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 smtClean="0">
                <a:solidFill>
                  <a:srgbClr val="666666"/>
                </a:solidFill>
              </a:rPr>
              <a:t>要素</a:t>
            </a:r>
            <a:r>
              <a:rPr lang="ja-JP" altLang="en-US" sz="2800" b="1" dirty="0" smtClean="0">
                <a:solidFill>
                  <a:srgbClr val="666666"/>
                </a:solidFill>
              </a:rPr>
              <a:t>数</a:t>
            </a:r>
            <a:r>
              <a:rPr lang="en-US" altLang="ja-JP" sz="2800" b="1" dirty="0" smtClean="0">
                <a:solidFill>
                  <a:srgbClr val="666666"/>
                </a:solidFill>
              </a:rPr>
              <a:t>1</a:t>
            </a:r>
            <a:r>
              <a:rPr sz="2800" b="1" dirty="0" smtClean="0">
                <a:solidFill>
                  <a:srgbClr val="666666"/>
                </a:solidFill>
              </a:rPr>
              <a:t>（</a:t>
            </a:r>
            <a:r>
              <a:rPr sz="2800" b="1" dirty="0">
                <a:solidFill>
                  <a:srgbClr val="666666"/>
                </a:solidFill>
              </a:rPr>
              <a:t>ソート済み</a:t>
            </a:r>
            <a:r>
              <a:rPr sz="2800" b="1" dirty="0" smtClean="0">
                <a:solidFill>
                  <a:srgbClr val="666666"/>
                </a:solidFill>
              </a:rPr>
              <a:t>）</a:t>
            </a:r>
            <a:endParaRPr lang="en-US" sz="2800" b="1" dirty="0" smtClean="0">
              <a:solidFill>
                <a:srgbClr val="666666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再帰的に半分ずつ分割 → 要素数が 1 になれば「ソート済み」  ／  分割レベル数 = log n</a:t>
            </a:r>
          </a:p>
        </p:txBody>
      </p:sp>
      <p:grpSp>
        <p:nvGrpSpPr>
          <p:cNvPr id="114" name="グループ化 113"/>
          <p:cNvGrpSpPr/>
          <p:nvPr/>
        </p:nvGrpSpPr>
        <p:grpSpPr>
          <a:xfrm>
            <a:off x="1064138" y="2028801"/>
            <a:ext cx="20050686" cy="8121398"/>
            <a:chOff x="866214" y="2232001"/>
            <a:chExt cx="20050686" cy="8121398"/>
          </a:xfrm>
        </p:grpSpPr>
        <p:grpSp>
          <p:nvGrpSpPr>
            <p:cNvPr id="83" name="グループ化 82"/>
            <p:cNvGrpSpPr/>
            <p:nvPr/>
          </p:nvGrpSpPr>
          <p:grpSpPr>
            <a:xfrm>
              <a:off x="4285781" y="2232001"/>
              <a:ext cx="12718400" cy="1007999"/>
              <a:chOff x="4489600" y="2232001"/>
              <a:chExt cx="12718400" cy="1007999"/>
            </a:xfrm>
          </p:grpSpPr>
          <p:sp>
            <p:nvSpPr>
              <p:cNvPr id="43" name="Rectangle 8"/>
              <p:cNvSpPr/>
              <p:nvPr/>
            </p:nvSpPr>
            <p:spPr>
              <a:xfrm>
                <a:off x="4489600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5</a:t>
                </a:r>
              </a:p>
            </p:txBody>
          </p:sp>
          <p:sp>
            <p:nvSpPr>
              <p:cNvPr id="41" name="Rectangle 6"/>
              <p:cNvSpPr/>
              <p:nvPr/>
            </p:nvSpPr>
            <p:spPr>
              <a:xfrm>
                <a:off x="9276913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1</a:t>
                </a:r>
              </a:p>
            </p:txBody>
          </p:sp>
          <p:sp>
            <p:nvSpPr>
              <p:cNvPr id="42" name="Rectangle 7"/>
              <p:cNvSpPr/>
              <p:nvPr/>
            </p:nvSpPr>
            <p:spPr>
              <a:xfrm>
                <a:off x="6085371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3</a:t>
                </a:r>
              </a:p>
            </p:txBody>
          </p:sp>
          <p:sp>
            <p:nvSpPr>
              <p:cNvPr id="44" name="Rectangle 9"/>
              <p:cNvSpPr/>
              <p:nvPr/>
            </p:nvSpPr>
            <p:spPr>
              <a:xfrm>
                <a:off x="7681142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8</a:t>
                </a:r>
              </a:p>
            </p:txBody>
          </p:sp>
          <p:sp>
            <p:nvSpPr>
              <p:cNvPr id="45" name="Rectangle 10"/>
              <p:cNvSpPr/>
              <p:nvPr/>
            </p:nvSpPr>
            <p:spPr>
              <a:xfrm>
                <a:off x="10872684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46" name="Rectangle 11"/>
              <p:cNvSpPr/>
              <p:nvPr/>
            </p:nvSpPr>
            <p:spPr>
              <a:xfrm>
                <a:off x="14064226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47" name="Rectangle 12"/>
              <p:cNvSpPr/>
              <p:nvPr/>
            </p:nvSpPr>
            <p:spPr>
              <a:xfrm>
                <a:off x="15660000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6</a:t>
                </a:r>
              </a:p>
            </p:txBody>
          </p:sp>
          <p:sp>
            <p:nvSpPr>
              <p:cNvPr id="48" name="Rectangle 13"/>
              <p:cNvSpPr/>
              <p:nvPr/>
            </p:nvSpPr>
            <p:spPr>
              <a:xfrm>
                <a:off x="12468455" y="2232001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7</a:t>
                </a:r>
              </a:p>
            </p:txBody>
          </p:sp>
        </p:grpSp>
        <p:grpSp>
          <p:nvGrpSpPr>
            <p:cNvPr id="10" name="グループ化 9"/>
            <p:cNvGrpSpPr/>
            <p:nvPr/>
          </p:nvGrpSpPr>
          <p:grpSpPr>
            <a:xfrm>
              <a:off x="2331744" y="4603134"/>
              <a:ext cx="6335313" cy="1007999"/>
              <a:chOff x="3725242" y="3816000"/>
              <a:chExt cx="6335313" cy="1007999"/>
            </a:xfrm>
          </p:grpSpPr>
          <p:sp>
            <p:nvSpPr>
              <p:cNvPr id="57" name="Rectangle 8"/>
              <p:cNvSpPr/>
              <p:nvPr/>
            </p:nvSpPr>
            <p:spPr>
              <a:xfrm>
                <a:off x="3725242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5</a:t>
                </a:r>
              </a:p>
            </p:txBody>
          </p:sp>
          <p:sp>
            <p:nvSpPr>
              <p:cNvPr id="58" name="Rectangle 6"/>
              <p:cNvSpPr/>
              <p:nvPr/>
            </p:nvSpPr>
            <p:spPr>
              <a:xfrm>
                <a:off x="8512555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1</a:t>
                </a:r>
              </a:p>
            </p:txBody>
          </p:sp>
          <p:sp>
            <p:nvSpPr>
              <p:cNvPr id="59" name="Rectangle 7"/>
              <p:cNvSpPr/>
              <p:nvPr/>
            </p:nvSpPr>
            <p:spPr>
              <a:xfrm>
                <a:off x="5321013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3</a:t>
                </a:r>
              </a:p>
            </p:txBody>
          </p:sp>
          <p:sp>
            <p:nvSpPr>
              <p:cNvPr id="60" name="Rectangle 9"/>
              <p:cNvSpPr/>
              <p:nvPr/>
            </p:nvSpPr>
            <p:spPr>
              <a:xfrm>
                <a:off x="6916784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8</a:t>
                </a:r>
              </a:p>
            </p:txBody>
          </p:sp>
        </p:grpSp>
        <p:grpSp>
          <p:nvGrpSpPr>
            <p:cNvPr id="11" name="グループ化 10"/>
            <p:cNvGrpSpPr/>
            <p:nvPr/>
          </p:nvGrpSpPr>
          <p:grpSpPr>
            <a:xfrm>
              <a:off x="12622905" y="4603134"/>
              <a:ext cx="6335316" cy="1007999"/>
              <a:chOff x="12230858" y="3816000"/>
              <a:chExt cx="6335316" cy="1007999"/>
            </a:xfrm>
          </p:grpSpPr>
          <p:sp>
            <p:nvSpPr>
              <p:cNvPr id="61" name="Rectangle 10"/>
              <p:cNvSpPr/>
              <p:nvPr/>
            </p:nvSpPr>
            <p:spPr>
              <a:xfrm>
                <a:off x="12230858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62" name="Rectangle 11"/>
              <p:cNvSpPr/>
              <p:nvPr/>
            </p:nvSpPr>
            <p:spPr>
              <a:xfrm>
                <a:off x="15422400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63" name="Rectangle 12"/>
              <p:cNvSpPr/>
              <p:nvPr/>
            </p:nvSpPr>
            <p:spPr>
              <a:xfrm>
                <a:off x="17018174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6</a:t>
                </a:r>
              </a:p>
            </p:txBody>
          </p:sp>
          <p:sp>
            <p:nvSpPr>
              <p:cNvPr id="64" name="Rectangle 13"/>
              <p:cNvSpPr/>
              <p:nvPr/>
            </p:nvSpPr>
            <p:spPr>
              <a:xfrm>
                <a:off x="13826629" y="3816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7</a:t>
                </a:r>
              </a:p>
            </p:txBody>
          </p:sp>
        </p:grpSp>
        <p:grpSp>
          <p:nvGrpSpPr>
            <p:cNvPr id="9" name="グループ化 8"/>
            <p:cNvGrpSpPr/>
            <p:nvPr/>
          </p:nvGrpSpPr>
          <p:grpSpPr>
            <a:xfrm>
              <a:off x="1354724" y="6974267"/>
              <a:ext cx="3143771" cy="1007999"/>
              <a:chOff x="1344698" y="6901185"/>
              <a:chExt cx="3143771" cy="1007999"/>
            </a:xfrm>
          </p:grpSpPr>
          <p:sp>
            <p:nvSpPr>
              <p:cNvPr id="65" name="Rectangle 8"/>
              <p:cNvSpPr/>
              <p:nvPr/>
            </p:nvSpPr>
            <p:spPr>
              <a:xfrm>
                <a:off x="1344698" y="6901185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5</a:t>
                </a:r>
              </a:p>
            </p:txBody>
          </p:sp>
          <p:sp>
            <p:nvSpPr>
              <p:cNvPr id="67" name="Rectangle 7"/>
              <p:cNvSpPr/>
              <p:nvPr/>
            </p:nvSpPr>
            <p:spPr>
              <a:xfrm>
                <a:off x="2940469" y="6901185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3</a:t>
                </a:r>
              </a:p>
            </p:txBody>
          </p:sp>
        </p:grpSp>
        <p:grpSp>
          <p:nvGrpSpPr>
            <p:cNvPr id="6" name="グループ化 5"/>
            <p:cNvGrpSpPr/>
            <p:nvPr/>
          </p:nvGrpSpPr>
          <p:grpSpPr>
            <a:xfrm>
              <a:off x="6500306" y="6974267"/>
              <a:ext cx="3143771" cy="1007999"/>
              <a:chOff x="6864229" y="5256099"/>
              <a:chExt cx="3143771" cy="1007999"/>
            </a:xfrm>
          </p:grpSpPr>
          <p:sp>
            <p:nvSpPr>
              <p:cNvPr id="66" name="Rectangle 6"/>
              <p:cNvSpPr/>
              <p:nvPr/>
            </p:nvSpPr>
            <p:spPr>
              <a:xfrm>
                <a:off x="8460000" y="5256099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1</a:t>
                </a:r>
              </a:p>
            </p:txBody>
          </p:sp>
          <p:sp>
            <p:nvSpPr>
              <p:cNvPr id="68" name="Rectangle 9"/>
              <p:cNvSpPr/>
              <p:nvPr/>
            </p:nvSpPr>
            <p:spPr>
              <a:xfrm>
                <a:off x="6864229" y="5256099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8</a:t>
                </a:r>
              </a:p>
            </p:txBody>
          </p:sp>
        </p:grpSp>
        <p:grpSp>
          <p:nvGrpSpPr>
            <p:cNvPr id="8" name="グループ化 7"/>
            <p:cNvGrpSpPr/>
            <p:nvPr/>
          </p:nvGrpSpPr>
          <p:grpSpPr>
            <a:xfrm>
              <a:off x="16791467" y="6974267"/>
              <a:ext cx="3143774" cy="1007999"/>
              <a:chOff x="16879945" y="5220000"/>
              <a:chExt cx="3143774" cy="1007999"/>
            </a:xfrm>
          </p:grpSpPr>
          <p:sp>
            <p:nvSpPr>
              <p:cNvPr id="70" name="Rectangle 11"/>
              <p:cNvSpPr/>
              <p:nvPr/>
            </p:nvSpPr>
            <p:spPr>
              <a:xfrm>
                <a:off x="16879945" y="5220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4</a:t>
                </a:r>
              </a:p>
            </p:txBody>
          </p:sp>
          <p:sp>
            <p:nvSpPr>
              <p:cNvPr id="71" name="Rectangle 12"/>
              <p:cNvSpPr/>
              <p:nvPr/>
            </p:nvSpPr>
            <p:spPr>
              <a:xfrm>
                <a:off x="18475719" y="5220000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 dirty="0">
                    <a:solidFill>
                      <a:srgbClr val="222222"/>
                    </a:solidFill>
                  </a:rPr>
                  <a:t>6</a:t>
                </a:r>
              </a:p>
            </p:txBody>
          </p:sp>
        </p:grpSp>
        <p:grpSp>
          <p:nvGrpSpPr>
            <p:cNvPr id="7" name="グループ化 6"/>
            <p:cNvGrpSpPr/>
            <p:nvPr/>
          </p:nvGrpSpPr>
          <p:grpSpPr>
            <a:xfrm>
              <a:off x="11645888" y="6974267"/>
              <a:ext cx="3143771" cy="1007999"/>
              <a:chOff x="12178303" y="5256099"/>
              <a:chExt cx="3143771" cy="1007999"/>
            </a:xfrm>
          </p:grpSpPr>
          <p:sp>
            <p:nvSpPr>
              <p:cNvPr id="69" name="Rectangle 10"/>
              <p:cNvSpPr/>
              <p:nvPr/>
            </p:nvSpPr>
            <p:spPr>
              <a:xfrm>
                <a:off x="12178303" y="5256099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2</a:t>
                </a:r>
              </a:p>
            </p:txBody>
          </p:sp>
          <p:sp>
            <p:nvSpPr>
              <p:cNvPr id="72" name="Rectangle 13"/>
              <p:cNvSpPr/>
              <p:nvPr/>
            </p:nvSpPr>
            <p:spPr>
              <a:xfrm>
                <a:off x="13774074" y="5256099"/>
                <a:ext cx="1548000" cy="1007999"/>
              </a:xfrm>
              <a:prstGeom prst="rect">
                <a:avLst/>
              </a:prstGeom>
              <a:solidFill>
                <a:srgbClr val="F3FAFE"/>
              </a:solidFill>
              <a:ln w="25400">
                <a:solidFill>
                  <a:srgbClr val="013CA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sz="3600" b="1">
                    <a:solidFill>
                      <a:srgbClr val="222222"/>
                    </a:solidFill>
                  </a:rPr>
                  <a:t>7</a:t>
                </a:r>
              </a:p>
            </p:txBody>
          </p:sp>
        </p:grpSp>
        <p:sp>
          <p:nvSpPr>
            <p:cNvPr id="73" name="Rectangle 8"/>
            <p:cNvSpPr/>
            <p:nvPr/>
          </p:nvSpPr>
          <p:spPr>
            <a:xfrm>
              <a:off x="866214" y="9345400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4" name="Rectangle 6"/>
            <p:cNvSpPr/>
            <p:nvPr/>
          </p:nvSpPr>
          <p:spPr>
            <a:xfrm>
              <a:off x="8584587" y="9345400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Rectangle 7"/>
            <p:cNvSpPr/>
            <p:nvPr/>
          </p:nvSpPr>
          <p:spPr>
            <a:xfrm>
              <a:off x="3439005" y="9345400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76" name="Rectangle 9"/>
            <p:cNvSpPr/>
            <p:nvPr/>
          </p:nvSpPr>
          <p:spPr>
            <a:xfrm>
              <a:off x="6011796" y="9345400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77" name="Rectangle 10"/>
            <p:cNvSpPr/>
            <p:nvPr/>
          </p:nvSpPr>
          <p:spPr>
            <a:xfrm>
              <a:off x="11157378" y="9345400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8" name="Rectangle 11"/>
            <p:cNvSpPr/>
            <p:nvPr/>
          </p:nvSpPr>
          <p:spPr>
            <a:xfrm>
              <a:off x="16302960" y="9309301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9" name="Rectangle 12"/>
            <p:cNvSpPr/>
            <p:nvPr/>
          </p:nvSpPr>
          <p:spPr>
            <a:xfrm>
              <a:off x="18875749" y="9345400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80" name="Rectangle 13"/>
            <p:cNvSpPr/>
            <p:nvPr/>
          </p:nvSpPr>
          <p:spPr>
            <a:xfrm>
              <a:off x="13730169" y="9345400"/>
              <a:ext cx="1548000" cy="1007999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7</a:t>
              </a:r>
            </a:p>
          </p:txBody>
        </p:sp>
        <p:grpSp>
          <p:nvGrpSpPr>
            <p:cNvPr id="89" name="グループ化 88"/>
            <p:cNvGrpSpPr/>
            <p:nvPr/>
          </p:nvGrpSpPr>
          <p:grpSpPr>
            <a:xfrm>
              <a:off x="8667058" y="3240000"/>
              <a:ext cx="6971352" cy="1363134"/>
              <a:chOff x="8667058" y="3240000"/>
              <a:chExt cx="6971352" cy="1363134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11678410" y="3504429"/>
                <a:ext cx="3960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400" b="1" dirty="0" smtClean="0">
                    <a:solidFill>
                      <a:srgbClr val="013CA6"/>
                    </a:solidFill>
                  </a:rPr>
                  <a:t>分割</a:t>
                </a:r>
                <a:r>
                  <a:rPr sz="2400" b="1" dirty="0">
                    <a:solidFill>
                      <a:srgbClr val="013CA6"/>
                    </a:solidFill>
                  </a:rPr>
                  <a:t>（Divide</a:t>
                </a:r>
                <a:r>
                  <a:rPr sz="2400" b="1" dirty="0" smtClean="0">
                    <a:solidFill>
                      <a:srgbClr val="013CA6"/>
                    </a:solidFill>
                  </a:rPr>
                  <a:t>）</a:t>
                </a:r>
                <a:endParaRPr lang="en-US" sz="2400" b="1" dirty="0" smtClean="0">
                  <a:solidFill>
                    <a:srgbClr val="013CA6"/>
                  </a:solidFill>
                </a:endParaRPr>
              </a:p>
            </p:txBody>
          </p:sp>
          <p:cxnSp>
            <p:nvCxnSpPr>
              <p:cNvPr id="13" name="直線矢印コネクタ 12"/>
              <p:cNvCxnSpPr/>
              <p:nvPr/>
            </p:nvCxnSpPr>
            <p:spPr>
              <a:xfrm flipH="1">
                <a:off x="8667058" y="3240000"/>
                <a:ext cx="1952942" cy="1363134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線矢印コネクタ 80"/>
              <p:cNvCxnSpPr/>
              <p:nvPr/>
            </p:nvCxnSpPr>
            <p:spPr>
              <a:xfrm>
                <a:off x="10668865" y="3240000"/>
                <a:ext cx="1954040" cy="1363134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0" name="グループ化 89"/>
            <p:cNvGrpSpPr/>
            <p:nvPr/>
          </p:nvGrpSpPr>
          <p:grpSpPr>
            <a:xfrm>
              <a:off x="4435482" y="5638529"/>
              <a:ext cx="4128603" cy="1315449"/>
              <a:chOff x="8590858" y="3251161"/>
              <a:chExt cx="7764040" cy="1239213"/>
            </a:xfrm>
          </p:grpSpPr>
          <p:sp>
            <p:nvSpPr>
              <p:cNvPr id="91" name="TextBox 37"/>
              <p:cNvSpPr txBox="1"/>
              <p:nvPr/>
            </p:nvSpPr>
            <p:spPr>
              <a:xfrm>
                <a:off x="11713540" y="3504429"/>
                <a:ext cx="4641358" cy="43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400" b="1" dirty="0" smtClean="0">
                    <a:solidFill>
                      <a:srgbClr val="013CA6"/>
                    </a:solidFill>
                  </a:rPr>
                  <a:t>分割</a:t>
                </a:r>
                <a:r>
                  <a:rPr sz="2400" b="1" dirty="0">
                    <a:solidFill>
                      <a:srgbClr val="013CA6"/>
                    </a:solidFill>
                  </a:rPr>
                  <a:t>（Divide</a:t>
                </a:r>
                <a:r>
                  <a:rPr sz="2400" b="1" dirty="0" smtClean="0">
                    <a:solidFill>
                      <a:srgbClr val="013CA6"/>
                    </a:solidFill>
                  </a:rPr>
                  <a:t>）</a:t>
                </a:r>
                <a:endParaRPr lang="en-US" sz="2400" b="1" dirty="0" smtClean="0">
                  <a:solidFill>
                    <a:srgbClr val="013CA6"/>
                  </a:solidFill>
                </a:endParaRPr>
              </a:p>
            </p:txBody>
          </p:sp>
          <p:cxnSp>
            <p:nvCxnSpPr>
              <p:cNvPr id="92" name="直線矢印コネクタ 91"/>
              <p:cNvCxnSpPr/>
              <p:nvPr/>
            </p:nvCxnSpPr>
            <p:spPr>
              <a:xfrm flipH="1">
                <a:off x="8590858" y="3251161"/>
                <a:ext cx="1952942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直線矢印コネクタ 92"/>
              <p:cNvCxnSpPr/>
              <p:nvPr/>
            </p:nvCxnSpPr>
            <p:spPr>
              <a:xfrm>
                <a:off x="10592665" y="3251161"/>
                <a:ext cx="1954040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グループ化 93"/>
            <p:cNvGrpSpPr/>
            <p:nvPr/>
          </p:nvGrpSpPr>
          <p:grpSpPr>
            <a:xfrm>
              <a:off x="14727165" y="5611133"/>
              <a:ext cx="4128603" cy="1315449"/>
              <a:chOff x="8590858" y="3251161"/>
              <a:chExt cx="7764040" cy="1239213"/>
            </a:xfrm>
          </p:grpSpPr>
          <p:sp>
            <p:nvSpPr>
              <p:cNvPr id="95" name="TextBox 37"/>
              <p:cNvSpPr txBox="1"/>
              <p:nvPr/>
            </p:nvSpPr>
            <p:spPr>
              <a:xfrm>
                <a:off x="11713540" y="3504429"/>
                <a:ext cx="4641358" cy="43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400" b="1" dirty="0" smtClean="0">
                    <a:solidFill>
                      <a:srgbClr val="013CA6"/>
                    </a:solidFill>
                  </a:rPr>
                  <a:t>分割</a:t>
                </a:r>
                <a:r>
                  <a:rPr sz="2400" b="1" dirty="0">
                    <a:solidFill>
                      <a:srgbClr val="013CA6"/>
                    </a:solidFill>
                  </a:rPr>
                  <a:t>（Divide</a:t>
                </a:r>
                <a:r>
                  <a:rPr sz="2400" b="1" dirty="0" smtClean="0">
                    <a:solidFill>
                      <a:srgbClr val="013CA6"/>
                    </a:solidFill>
                  </a:rPr>
                  <a:t>）</a:t>
                </a:r>
                <a:endParaRPr lang="en-US" sz="2400" b="1" dirty="0" smtClean="0">
                  <a:solidFill>
                    <a:srgbClr val="013CA6"/>
                  </a:solidFill>
                </a:endParaRPr>
              </a:p>
            </p:txBody>
          </p:sp>
          <p:cxnSp>
            <p:nvCxnSpPr>
              <p:cNvPr id="96" name="直線矢印コネクタ 95"/>
              <p:cNvCxnSpPr/>
              <p:nvPr/>
            </p:nvCxnSpPr>
            <p:spPr>
              <a:xfrm flipH="1">
                <a:off x="8590858" y="3251161"/>
                <a:ext cx="1952942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直線矢印コネクタ 96"/>
              <p:cNvCxnSpPr/>
              <p:nvPr/>
            </p:nvCxnSpPr>
            <p:spPr>
              <a:xfrm>
                <a:off x="10592665" y="3251161"/>
                <a:ext cx="1954040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グループ化 97"/>
            <p:cNvGrpSpPr/>
            <p:nvPr/>
          </p:nvGrpSpPr>
          <p:grpSpPr>
            <a:xfrm>
              <a:off x="1871704" y="8026471"/>
              <a:ext cx="4128603" cy="1315449"/>
              <a:chOff x="8590858" y="3251161"/>
              <a:chExt cx="7764040" cy="1239213"/>
            </a:xfrm>
          </p:grpSpPr>
          <p:sp>
            <p:nvSpPr>
              <p:cNvPr id="99" name="TextBox 37"/>
              <p:cNvSpPr txBox="1"/>
              <p:nvPr/>
            </p:nvSpPr>
            <p:spPr>
              <a:xfrm>
                <a:off x="11713540" y="3504429"/>
                <a:ext cx="4641358" cy="43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400" b="1" dirty="0" smtClean="0">
                    <a:solidFill>
                      <a:srgbClr val="013CA6"/>
                    </a:solidFill>
                  </a:rPr>
                  <a:t>分割</a:t>
                </a:r>
                <a:r>
                  <a:rPr sz="2400" b="1" dirty="0">
                    <a:solidFill>
                      <a:srgbClr val="013CA6"/>
                    </a:solidFill>
                  </a:rPr>
                  <a:t>（Divide</a:t>
                </a:r>
                <a:r>
                  <a:rPr sz="2400" b="1" dirty="0" smtClean="0">
                    <a:solidFill>
                      <a:srgbClr val="013CA6"/>
                    </a:solidFill>
                  </a:rPr>
                  <a:t>）</a:t>
                </a:r>
                <a:endParaRPr lang="en-US" sz="2400" b="1" dirty="0" smtClean="0">
                  <a:solidFill>
                    <a:srgbClr val="013CA6"/>
                  </a:solidFill>
                </a:endParaRPr>
              </a:p>
            </p:txBody>
          </p:sp>
          <p:cxnSp>
            <p:nvCxnSpPr>
              <p:cNvPr id="100" name="直線矢印コネクタ 99"/>
              <p:cNvCxnSpPr/>
              <p:nvPr/>
            </p:nvCxnSpPr>
            <p:spPr>
              <a:xfrm flipH="1">
                <a:off x="8590858" y="3251161"/>
                <a:ext cx="1952942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線矢印コネクタ 100"/>
              <p:cNvCxnSpPr/>
              <p:nvPr/>
            </p:nvCxnSpPr>
            <p:spPr>
              <a:xfrm>
                <a:off x="10592665" y="3251161"/>
                <a:ext cx="1954040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グループ化 101"/>
            <p:cNvGrpSpPr/>
            <p:nvPr/>
          </p:nvGrpSpPr>
          <p:grpSpPr>
            <a:xfrm>
              <a:off x="12163387" y="7999075"/>
              <a:ext cx="4128603" cy="1315449"/>
              <a:chOff x="8590858" y="3251161"/>
              <a:chExt cx="7764040" cy="1239213"/>
            </a:xfrm>
          </p:grpSpPr>
          <p:sp>
            <p:nvSpPr>
              <p:cNvPr id="103" name="TextBox 37"/>
              <p:cNvSpPr txBox="1"/>
              <p:nvPr/>
            </p:nvSpPr>
            <p:spPr>
              <a:xfrm>
                <a:off x="11713540" y="3504429"/>
                <a:ext cx="4641358" cy="43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400" b="1" dirty="0" smtClean="0">
                    <a:solidFill>
                      <a:srgbClr val="013CA6"/>
                    </a:solidFill>
                  </a:rPr>
                  <a:t>分割</a:t>
                </a:r>
                <a:r>
                  <a:rPr sz="2400" b="1" dirty="0">
                    <a:solidFill>
                      <a:srgbClr val="013CA6"/>
                    </a:solidFill>
                  </a:rPr>
                  <a:t>（Divide</a:t>
                </a:r>
                <a:r>
                  <a:rPr sz="2400" b="1" dirty="0" smtClean="0">
                    <a:solidFill>
                      <a:srgbClr val="013CA6"/>
                    </a:solidFill>
                  </a:rPr>
                  <a:t>）</a:t>
                </a:r>
                <a:endParaRPr lang="en-US" sz="2400" b="1" dirty="0" smtClean="0">
                  <a:solidFill>
                    <a:srgbClr val="013CA6"/>
                  </a:solidFill>
                </a:endParaRPr>
              </a:p>
            </p:txBody>
          </p:sp>
          <p:cxnSp>
            <p:nvCxnSpPr>
              <p:cNvPr id="104" name="直線矢印コネクタ 103"/>
              <p:cNvCxnSpPr/>
              <p:nvPr/>
            </p:nvCxnSpPr>
            <p:spPr>
              <a:xfrm flipH="1">
                <a:off x="8590858" y="3251161"/>
                <a:ext cx="1952942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矢印コネクタ 104"/>
              <p:cNvCxnSpPr/>
              <p:nvPr/>
            </p:nvCxnSpPr>
            <p:spPr>
              <a:xfrm>
                <a:off x="10592665" y="3251161"/>
                <a:ext cx="1954040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" name="グループ化 105"/>
            <p:cNvGrpSpPr/>
            <p:nvPr/>
          </p:nvGrpSpPr>
          <p:grpSpPr>
            <a:xfrm>
              <a:off x="7008792" y="8026471"/>
              <a:ext cx="4128603" cy="1315449"/>
              <a:chOff x="8590858" y="3251161"/>
              <a:chExt cx="7764040" cy="1239213"/>
            </a:xfrm>
          </p:grpSpPr>
          <p:sp>
            <p:nvSpPr>
              <p:cNvPr id="107" name="TextBox 37"/>
              <p:cNvSpPr txBox="1"/>
              <p:nvPr/>
            </p:nvSpPr>
            <p:spPr>
              <a:xfrm>
                <a:off x="11713540" y="3504429"/>
                <a:ext cx="4641358" cy="4349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2400" b="1" dirty="0" smtClean="0">
                    <a:solidFill>
                      <a:srgbClr val="013CA6"/>
                    </a:solidFill>
                  </a:rPr>
                  <a:t>分割</a:t>
                </a:r>
                <a:r>
                  <a:rPr sz="2400" b="1" dirty="0">
                    <a:solidFill>
                      <a:srgbClr val="013CA6"/>
                    </a:solidFill>
                  </a:rPr>
                  <a:t>（Divide</a:t>
                </a:r>
                <a:r>
                  <a:rPr sz="2400" b="1" dirty="0" smtClean="0">
                    <a:solidFill>
                      <a:srgbClr val="013CA6"/>
                    </a:solidFill>
                  </a:rPr>
                  <a:t>）</a:t>
                </a:r>
                <a:endParaRPr lang="en-US" sz="2400" b="1" dirty="0" smtClean="0">
                  <a:solidFill>
                    <a:srgbClr val="013CA6"/>
                  </a:solidFill>
                </a:endParaRPr>
              </a:p>
            </p:txBody>
          </p:sp>
          <p:cxnSp>
            <p:nvCxnSpPr>
              <p:cNvPr id="108" name="直線矢印コネクタ 107"/>
              <p:cNvCxnSpPr/>
              <p:nvPr/>
            </p:nvCxnSpPr>
            <p:spPr>
              <a:xfrm flipH="1">
                <a:off x="8590858" y="3251161"/>
                <a:ext cx="1952942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線矢印コネクタ 108"/>
              <p:cNvCxnSpPr/>
              <p:nvPr/>
            </p:nvCxnSpPr>
            <p:spPr>
              <a:xfrm>
                <a:off x="10592665" y="3251161"/>
                <a:ext cx="1954040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グループ化 109"/>
            <p:cNvGrpSpPr/>
            <p:nvPr/>
          </p:nvGrpSpPr>
          <p:grpSpPr>
            <a:xfrm>
              <a:off x="17300475" y="7999075"/>
              <a:ext cx="3616425" cy="1315449"/>
              <a:chOff x="8590858" y="3251161"/>
              <a:chExt cx="6800865" cy="1239213"/>
            </a:xfrm>
          </p:grpSpPr>
          <p:sp>
            <p:nvSpPr>
              <p:cNvPr id="111" name="TextBox 37"/>
              <p:cNvSpPr txBox="1"/>
              <p:nvPr/>
            </p:nvSpPr>
            <p:spPr>
              <a:xfrm>
                <a:off x="11713540" y="3504429"/>
                <a:ext cx="3678183" cy="782837"/>
              </a:xfrm>
              <a:prstGeom prst="rect">
                <a:avLst/>
              </a:prstGeom>
              <a:noFill/>
            </p:spPr>
            <p:txBody>
              <a:bodyPr wrap="none">
                <a:noAutofit/>
              </a:bodyPr>
              <a:lstStyle/>
              <a:p>
                <a:pPr algn="l"/>
                <a:r>
                  <a:rPr sz="2400" b="1" dirty="0" smtClean="0">
                    <a:solidFill>
                      <a:srgbClr val="013CA6"/>
                    </a:solidFill>
                  </a:rPr>
                  <a:t>分割</a:t>
                </a:r>
                <a:r>
                  <a:rPr sz="2400" b="1" dirty="0">
                    <a:solidFill>
                      <a:srgbClr val="013CA6"/>
                    </a:solidFill>
                  </a:rPr>
                  <a:t>（Divide</a:t>
                </a:r>
                <a:r>
                  <a:rPr sz="2400" b="1" dirty="0" smtClean="0">
                    <a:solidFill>
                      <a:srgbClr val="013CA6"/>
                    </a:solidFill>
                  </a:rPr>
                  <a:t>）</a:t>
                </a:r>
                <a:endParaRPr lang="en-US" sz="2400" b="1" dirty="0" smtClean="0">
                  <a:solidFill>
                    <a:srgbClr val="013CA6"/>
                  </a:solidFill>
                </a:endParaRPr>
              </a:p>
            </p:txBody>
          </p:sp>
          <p:cxnSp>
            <p:nvCxnSpPr>
              <p:cNvPr id="112" name="直線矢印コネクタ 111"/>
              <p:cNvCxnSpPr/>
              <p:nvPr/>
            </p:nvCxnSpPr>
            <p:spPr>
              <a:xfrm flipH="1">
                <a:off x="8590858" y="3251161"/>
                <a:ext cx="1952942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線矢印コネクタ 112"/>
              <p:cNvCxnSpPr/>
              <p:nvPr/>
            </p:nvCxnSpPr>
            <p:spPr>
              <a:xfrm>
                <a:off x="10592665" y="3251161"/>
                <a:ext cx="1954040" cy="1239213"/>
              </a:xfrm>
              <a:prstGeom prst="straightConnector1">
                <a:avLst/>
              </a:prstGeom>
              <a:ln w="57150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2"/>
          <p:cNvSpPr/>
          <p:nvPr/>
        </p:nvSpPr>
        <p:spPr>
          <a:xfrm>
            <a:off x="0" y="0"/>
            <a:ext cx="21290400" cy="13081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80000" y="251999"/>
            <a:ext cx="1908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</a:rPr>
              <a:t>マージソート：マージフェーズ（Merge）</a:t>
            </a:r>
          </a:p>
        </p:txBody>
      </p:sp>
      <p:grpSp>
        <p:nvGrpSpPr>
          <p:cNvPr id="19" name="グループ化 18"/>
          <p:cNvGrpSpPr/>
          <p:nvPr/>
        </p:nvGrpSpPr>
        <p:grpSpPr>
          <a:xfrm>
            <a:off x="9060981" y="9893900"/>
            <a:ext cx="3168000" cy="900000"/>
            <a:chOff x="8056750" y="9893900"/>
            <a:chExt cx="3168000" cy="900000"/>
          </a:xfrm>
        </p:grpSpPr>
        <p:sp>
          <p:nvSpPr>
            <p:cNvPr id="51" name="Rectangle 50"/>
            <p:cNvSpPr/>
            <p:nvPr/>
          </p:nvSpPr>
          <p:spPr>
            <a:xfrm>
              <a:off x="8056750" y="98939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52" name="Rectangle 51"/>
            <p:cNvSpPr/>
            <p:nvPr/>
          </p:nvSpPr>
          <p:spPr>
            <a:xfrm>
              <a:off x="9676750" y="98939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sp>
        <p:nvSpPr>
          <p:cNvPr id="62" name="TextBox 14"/>
          <p:cNvSpPr txBox="1"/>
          <p:nvPr/>
        </p:nvSpPr>
        <p:spPr>
          <a:xfrm>
            <a:off x="6782231" y="7715945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 smtClean="0">
                <a:solidFill>
                  <a:srgbClr val="013CA6"/>
                </a:solidFill>
              </a:rPr>
              <a:t>STEP</a:t>
            </a:r>
            <a:r>
              <a:rPr lang="en-US" sz="2600" b="1" dirty="0" smtClean="0">
                <a:solidFill>
                  <a:srgbClr val="013CA6"/>
                </a:solidFill>
              </a:rPr>
              <a:t> </a:t>
            </a:r>
            <a:r>
              <a:rPr lang="en-US" altLang="ja-JP" sz="2600" b="1" dirty="0" smtClean="0">
                <a:solidFill>
                  <a:srgbClr val="013CA6"/>
                </a:solidFill>
              </a:rPr>
              <a:t>2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2  →  2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の方が小さい →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64981" y="1880600"/>
            <a:ext cx="64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013CA6"/>
                </a:solidFill>
              </a:rPr>
              <a:t>左 (ソート済み)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44981" y="1880600"/>
            <a:ext cx="64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13CA6"/>
                </a:solidFill>
              </a:rPr>
              <a:t>右 (ソート済み)</a:t>
            </a:r>
          </a:p>
        </p:txBody>
      </p:sp>
      <p:grpSp>
        <p:nvGrpSpPr>
          <p:cNvPr id="89" name="グループ化 88"/>
          <p:cNvGrpSpPr/>
          <p:nvPr/>
        </p:nvGrpSpPr>
        <p:grpSpPr>
          <a:xfrm>
            <a:off x="2400981" y="2600600"/>
            <a:ext cx="6408000" cy="1007999"/>
            <a:chOff x="1440000" y="2880000"/>
            <a:chExt cx="6408000" cy="1007999"/>
          </a:xfrm>
        </p:grpSpPr>
        <p:sp>
          <p:nvSpPr>
            <p:cNvPr id="7" name="Rectangle 6"/>
            <p:cNvSpPr/>
            <p:nvPr/>
          </p:nvSpPr>
          <p:spPr>
            <a:xfrm>
              <a:off x="144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1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306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8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30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</p:grpSp>
      <p:grpSp>
        <p:nvGrpSpPr>
          <p:cNvPr id="90" name="グループ化 89"/>
          <p:cNvGrpSpPr/>
          <p:nvPr/>
        </p:nvGrpSpPr>
        <p:grpSpPr>
          <a:xfrm>
            <a:off x="12480981" y="2600600"/>
            <a:ext cx="6408000" cy="1007999"/>
            <a:chOff x="11520000" y="2880000"/>
            <a:chExt cx="6408000" cy="1007999"/>
          </a:xfrm>
        </p:grpSpPr>
        <p:sp>
          <p:nvSpPr>
            <p:cNvPr id="11" name="Rectangle 10"/>
            <p:cNvSpPr/>
            <p:nvPr/>
          </p:nvSpPr>
          <p:spPr>
            <a:xfrm>
              <a:off x="1152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2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314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76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38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7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782231" y="4420818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13CA6"/>
                </a:solidFill>
              </a:rPr>
              <a:t>STEP </a:t>
            </a:r>
            <a:r>
              <a:rPr sz="2600" b="1" dirty="0" smtClean="0">
                <a:solidFill>
                  <a:srgbClr val="013CA6"/>
                </a:solidFill>
              </a:rPr>
              <a:t>1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2  →  1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の方が小さい →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1" name="グループ化 90"/>
          <p:cNvGrpSpPr/>
          <p:nvPr/>
        </p:nvGrpSpPr>
        <p:grpSpPr>
          <a:xfrm>
            <a:off x="2400981" y="4979188"/>
            <a:ext cx="6408000" cy="1007999"/>
            <a:chOff x="1440000" y="4965860"/>
            <a:chExt cx="6408000" cy="1007999"/>
          </a:xfrm>
        </p:grpSpPr>
        <p:sp>
          <p:nvSpPr>
            <p:cNvPr id="72" name="Rectangle 6"/>
            <p:cNvSpPr/>
            <p:nvPr/>
          </p:nvSpPr>
          <p:spPr>
            <a:xfrm>
              <a:off x="1440000" y="4965860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3" name="Rectangle 7"/>
            <p:cNvSpPr/>
            <p:nvPr/>
          </p:nvSpPr>
          <p:spPr>
            <a:xfrm>
              <a:off x="306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3</a:t>
              </a:r>
            </a:p>
          </p:txBody>
        </p:sp>
        <p:sp>
          <p:nvSpPr>
            <p:cNvPr id="74" name="Rectangle 8"/>
            <p:cNvSpPr/>
            <p:nvPr/>
          </p:nvSpPr>
          <p:spPr>
            <a:xfrm>
              <a:off x="468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75" name="Rectangle 9"/>
            <p:cNvSpPr/>
            <p:nvPr/>
          </p:nvSpPr>
          <p:spPr>
            <a:xfrm>
              <a:off x="630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</p:grpSp>
      <p:grpSp>
        <p:nvGrpSpPr>
          <p:cNvPr id="92" name="グループ化 91"/>
          <p:cNvGrpSpPr/>
          <p:nvPr/>
        </p:nvGrpSpPr>
        <p:grpSpPr>
          <a:xfrm>
            <a:off x="12480981" y="4979188"/>
            <a:ext cx="6408000" cy="1007999"/>
            <a:chOff x="11520000" y="4965860"/>
            <a:chExt cx="6408000" cy="1007999"/>
          </a:xfrm>
        </p:grpSpPr>
        <p:sp>
          <p:nvSpPr>
            <p:cNvPr id="76" name="Rectangle 10"/>
            <p:cNvSpPr/>
            <p:nvPr/>
          </p:nvSpPr>
          <p:spPr>
            <a:xfrm>
              <a:off x="11520000" y="4965860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77" name="Rectangle 11"/>
            <p:cNvSpPr/>
            <p:nvPr/>
          </p:nvSpPr>
          <p:spPr>
            <a:xfrm>
              <a:off x="1314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78" name="Rectangle 12"/>
            <p:cNvSpPr/>
            <p:nvPr/>
          </p:nvSpPr>
          <p:spPr>
            <a:xfrm>
              <a:off x="1476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79" name="Rectangle 13"/>
            <p:cNvSpPr/>
            <p:nvPr/>
          </p:nvSpPr>
          <p:spPr>
            <a:xfrm>
              <a:off x="1638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7</a:t>
              </a:r>
            </a:p>
          </p:txBody>
        </p:sp>
      </p:grpSp>
      <p:grpSp>
        <p:nvGrpSpPr>
          <p:cNvPr id="93" name="グループ化 92"/>
          <p:cNvGrpSpPr/>
          <p:nvPr/>
        </p:nvGrpSpPr>
        <p:grpSpPr>
          <a:xfrm>
            <a:off x="4020981" y="8246776"/>
            <a:ext cx="4788000" cy="1007999"/>
            <a:chOff x="3212400" y="7551783"/>
            <a:chExt cx="4788000" cy="1007999"/>
          </a:xfrm>
        </p:grpSpPr>
        <p:sp>
          <p:nvSpPr>
            <p:cNvPr id="81" name="Rectangle 7"/>
            <p:cNvSpPr/>
            <p:nvPr/>
          </p:nvSpPr>
          <p:spPr>
            <a:xfrm>
              <a:off x="3212400" y="7551783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82" name="Rectangle 8"/>
            <p:cNvSpPr/>
            <p:nvPr/>
          </p:nvSpPr>
          <p:spPr>
            <a:xfrm>
              <a:off x="4832400" y="755178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83" name="Rectangle 9"/>
            <p:cNvSpPr/>
            <p:nvPr/>
          </p:nvSpPr>
          <p:spPr>
            <a:xfrm>
              <a:off x="6452400" y="755178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</p:grpSp>
      <p:grpSp>
        <p:nvGrpSpPr>
          <p:cNvPr id="94" name="グループ化 93"/>
          <p:cNvGrpSpPr/>
          <p:nvPr/>
        </p:nvGrpSpPr>
        <p:grpSpPr>
          <a:xfrm>
            <a:off x="12480981" y="8246776"/>
            <a:ext cx="6408000" cy="1007999"/>
            <a:chOff x="11672400" y="7551783"/>
            <a:chExt cx="6408000" cy="1007999"/>
          </a:xfrm>
        </p:grpSpPr>
        <p:sp>
          <p:nvSpPr>
            <p:cNvPr id="84" name="Rectangle 10"/>
            <p:cNvSpPr/>
            <p:nvPr/>
          </p:nvSpPr>
          <p:spPr>
            <a:xfrm>
              <a:off x="11672400" y="7551783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5" name="Rectangle 11"/>
            <p:cNvSpPr/>
            <p:nvPr/>
          </p:nvSpPr>
          <p:spPr>
            <a:xfrm>
              <a:off x="13292400" y="755178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4</a:t>
              </a:r>
            </a:p>
          </p:txBody>
        </p:sp>
        <p:sp>
          <p:nvSpPr>
            <p:cNvPr id="86" name="Rectangle 12"/>
            <p:cNvSpPr/>
            <p:nvPr/>
          </p:nvSpPr>
          <p:spPr>
            <a:xfrm>
              <a:off x="14912400" y="755178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87" name="Rectangle 13"/>
            <p:cNvSpPr/>
            <p:nvPr/>
          </p:nvSpPr>
          <p:spPr>
            <a:xfrm>
              <a:off x="16532400" y="7551783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7</a:t>
              </a:r>
            </a:p>
          </p:txBody>
        </p:sp>
      </p:grpSp>
      <p:cxnSp>
        <p:nvCxnSpPr>
          <p:cNvPr id="96" name="カギ線コネクタ 95"/>
          <p:cNvCxnSpPr>
            <a:stCxn id="72" idx="2"/>
            <a:endCxn id="104" idx="1"/>
          </p:cNvCxnSpPr>
          <p:nvPr/>
        </p:nvCxnSpPr>
        <p:spPr>
          <a:xfrm rot="16200000" flipH="1">
            <a:off x="6054877" y="3107291"/>
            <a:ext cx="936208" cy="6696000"/>
          </a:xfrm>
          <a:prstGeom prst="bentConnector2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カギ線コネクタ 99"/>
          <p:cNvCxnSpPr>
            <a:stCxn id="84" idx="2"/>
            <a:endCxn id="52" idx="3"/>
          </p:cNvCxnSpPr>
          <p:nvPr/>
        </p:nvCxnSpPr>
        <p:spPr>
          <a:xfrm rot="5400000">
            <a:off x="12197419" y="9286337"/>
            <a:ext cx="1089125" cy="1026000"/>
          </a:xfrm>
          <a:prstGeom prst="bentConnector2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Rectangle 50"/>
          <p:cNvSpPr/>
          <p:nvPr/>
        </p:nvSpPr>
        <p:spPr>
          <a:xfrm>
            <a:off x="9870981" y="6473395"/>
            <a:ext cx="1548000" cy="900000"/>
          </a:xfrm>
          <a:prstGeom prst="rect">
            <a:avLst/>
          </a:prstGeom>
          <a:solidFill>
            <a:schemeClr val="tx2"/>
          </a:solidFill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3400" b="1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87484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グループ化 88"/>
          <p:cNvGrpSpPr/>
          <p:nvPr/>
        </p:nvGrpSpPr>
        <p:grpSpPr>
          <a:xfrm>
            <a:off x="3210981" y="1305200"/>
            <a:ext cx="4788000" cy="1007999"/>
            <a:chOff x="3060000" y="2880000"/>
            <a:chExt cx="4788000" cy="1007999"/>
          </a:xfrm>
        </p:grpSpPr>
        <p:sp>
          <p:nvSpPr>
            <p:cNvPr id="8" name="Rectangle 7"/>
            <p:cNvSpPr/>
            <p:nvPr/>
          </p:nvSpPr>
          <p:spPr>
            <a:xfrm>
              <a:off x="3060000" y="2880000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68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5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30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</p:grpSp>
      <p:grpSp>
        <p:nvGrpSpPr>
          <p:cNvPr id="90" name="グループ化 89"/>
          <p:cNvGrpSpPr/>
          <p:nvPr/>
        </p:nvGrpSpPr>
        <p:grpSpPr>
          <a:xfrm>
            <a:off x="13290981" y="1305200"/>
            <a:ext cx="4788000" cy="1007999"/>
            <a:chOff x="13140000" y="2880000"/>
            <a:chExt cx="4788000" cy="1007999"/>
          </a:xfrm>
        </p:grpSpPr>
        <p:sp>
          <p:nvSpPr>
            <p:cNvPr id="12" name="Rectangle 11"/>
            <p:cNvSpPr/>
            <p:nvPr/>
          </p:nvSpPr>
          <p:spPr>
            <a:xfrm>
              <a:off x="13140000" y="2880000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476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6380000" y="288000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7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6782231" y="797757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13CA6"/>
                </a:solidFill>
              </a:rPr>
              <a:t>STEP </a:t>
            </a:r>
            <a:r>
              <a:rPr lang="en-US" altLang="ja-JP" sz="2600" b="1" dirty="0">
                <a:solidFill>
                  <a:srgbClr val="013CA6"/>
                </a:solidFill>
              </a:rPr>
              <a:t>3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4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の方が小さい →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20000" y="10980000"/>
            <a:ext cx="19850400" cy="792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0000" y="11034000"/>
            <a:ext cx="1913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13CA6"/>
                </a:solidFill>
              </a:rPr>
              <a:t>2つのソート済み配列の先頭を比較して小さい方を取り出すだけ  ／  マージ: O(n)  ／  全体: O(n log n)</a:t>
            </a:r>
          </a:p>
        </p:txBody>
      </p:sp>
      <p:sp>
        <p:nvSpPr>
          <p:cNvPr id="62" name="TextBox 14"/>
          <p:cNvSpPr txBox="1"/>
          <p:nvPr/>
        </p:nvSpPr>
        <p:spPr>
          <a:xfrm>
            <a:off x="6782231" y="7727910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 smtClean="0">
                <a:solidFill>
                  <a:srgbClr val="013CA6"/>
                </a:solidFill>
              </a:rPr>
              <a:t>STEP</a:t>
            </a:r>
            <a:r>
              <a:rPr lang="en-US" sz="2600" b="1" dirty="0" smtClean="0">
                <a:solidFill>
                  <a:srgbClr val="013CA6"/>
                </a:solidFill>
              </a:rPr>
              <a:t> </a:t>
            </a:r>
            <a:r>
              <a:rPr lang="en-US" altLang="ja-JP" sz="2600" b="1" dirty="0">
                <a:solidFill>
                  <a:srgbClr val="013CA6"/>
                </a:solidFill>
              </a:rPr>
              <a:t>5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の方が小さい →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1" name="グループ化 90"/>
          <p:cNvGrpSpPr/>
          <p:nvPr/>
        </p:nvGrpSpPr>
        <p:grpSpPr>
          <a:xfrm>
            <a:off x="4830981" y="4966488"/>
            <a:ext cx="3168000" cy="1007999"/>
            <a:chOff x="4680000" y="4965860"/>
            <a:chExt cx="3168000" cy="1007999"/>
          </a:xfrm>
        </p:grpSpPr>
        <p:sp>
          <p:nvSpPr>
            <p:cNvPr id="74" name="Rectangle 8"/>
            <p:cNvSpPr/>
            <p:nvPr/>
          </p:nvSpPr>
          <p:spPr>
            <a:xfrm>
              <a:off x="4680000" y="4965860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75" name="Rectangle 9"/>
            <p:cNvSpPr/>
            <p:nvPr/>
          </p:nvSpPr>
          <p:spPr>
            <a:xfrm>
              <a:off x="630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8</a:t>
              </a:r>
            </a:p>
          </p:txBody>
        </p:sp>
      </p:grpSp>
      <p:grpSp>
        <p:nvGrpSpPr>
          <p:cNvPr id="92" name="グループ化 91"/>
          <p:cNvGrpSpPr/>
          <p:nvPr/>
        </p:nvGrpSpPr>
        <p:grpSpPr>
          <a:xfrm>
            <a:off x="13290981" y="4966488"/>
            <a:ext cx="4788000" cy="1007999"/>
            <a:chOff x="13140000" y="4965860"/>
            <a:chExt cx="4788000" cy="1007999"/>
          </a:xfrm>
        </p:grpSpPr>
        <p:sp>
          <p:nvSpPr>
            <p:cNvPr id="77" name="Rectangle 11"/>
            <p:cNvSpPr/>
            <p:nvPr/>
          </p:nvSpPr>
          <p:spPr>
            <a:xfrm>
              <a:off x="13140000" y="4965860"/>
              <a:ext cx="1548000" cy="1007999"/>
            </a:xfrm>
            <a:prstGeom prst="rect">
              <a:avLst/>
            </a:prstGeom>
            <a:solidFill>
              <a:schemeClr val="accent6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8" name="Rectangle 12"/>
            <p:cNvSpPr/>
            <p:nvPr/>
          </p:nvSpPr>
          <p:spPr>
            <a:xfrm>
              <a:off x="1476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6</a:t>
              </a:r>
            </a:p>
          </p:txBody>
        </p:sp>
        <p:sp>
          <p:nvSpPr>
            <p:cNvPr id="79" name="Rectangle 13"/>
            <p:cNvSpPr/>
            <p:nvPr/>
          </p:nvSpPr>
          <p:spPr>
            <a:xfrm>
              <a:off x="16380000" y="4965860"/>
              <a:ext cx="1548000" cy="1007999"/>
            </a:xfrm>
            <a:prstGeom prst="rect">
              <a:avLst/>
            </a:prstGeom>
            <a:solidFill>
              <a:srgbClr val="F3FAFE"/>
            </a:solidFill>
            <a:ln w="25400">
              <a:solidFill>
                <a:srgbClr val="013CA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600" b="1">
                  <a:solidFill>
                    <a:srgbClr val="222222"/>
                  </a:solidFill>
                </a:rPr>
                <a:t>7</a:t>
              </a:r>
            </a:p>
          </p:txBody>
        </p:sp>
      </p:grpSp>
      <p:grpSp>
        <p:nvGrpSpPr>
          <p:cNvPr id="18" name="グループ化 17"/>
          <p:cNvGrpSpPr/>
          <p:nvPr/>
        </p:nvGrpSpPr>
        <p:grpSpPr>
          <a:xfrm>
            <a:off x="8248881" y="3169487"/>
            <a:ext cx="4792200" cy="900000"/>
            <a:chOff x="8128750" y="3728287"/>
            <a:chExt cx="4792200" cy="900000"/>
          </a:xfrm>
        </p:grpSpPr>
        <p:sp>
          <p:nvSpPr>
            <p:cNvPr id="44" name="Rectangle 50"/>
            <p:cNvSpPr/>
            <p:nvPr/>
          </p:nvSpPr>
          <p:spPr>
            <a:xfrm>
              <a:off x="8128750" y="3728287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45" name="Rectangle 51"/>
            <p:cNvSpPr/>
            <p:nvPr/>
          </p:nvSpPr>
          <p:spPr>
            <a:xfrm>
              <a:off x="9748750" y="3728287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46" name="Rectangle 51"/>
            <p:cNvSpPr/>
            <p:nvPr/>
          </p:nvSpPr>
          <p:spPr>
            <a:xfrm>
              <a:off x="11372950" y="3728287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rgbClr val="FFFFFF"/>
                  </a:solidFill>
                </a:rPr>
                <a:t>3</a:t>
              </a:r>
              <a:endParaRPr sz="3400" b="1" dirty="0">
                <a:solidFill>
                  <a:srgbClr val="FFFFFF"/>
                </a:solidFill>
              </a:endParaRPr>
            </a:p>
          </p:txBody>
        </p:sp>
      </p:grpSp>
      <p:cxnSp>
        <p:nvCxnSpPr>
          <p:cNvPr id="47" name="カギ線コネクタ 46"/>
          <p:cNvCxnSpPr>
            <a:stCxn id="8" idx="2"/>
            <a:endCxn id="46" idx="0"/>
          </p:cNvCxnSpPr>
          <p:nvPr/>
        </p:nvCxnSpPr>
        <p:spPr>
          <a:xfrm rot="16200000" flipH="1">
            <a:off x="7697887" y="-1399707"/>
            <a:ext cx="856288" cy="8282100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14"/>
          <p:cNvSpPr txBox="1"/>
          <p:nvPr/>
        </p:nvSpPr>
        <p:spPr>
          <a:xfrm>
            <a:off x="6782231" y="4443445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>
                <a:solidFill>
                  <a:srgbClr val="013CA6"/>
                </a:solidFill>
              </a:rPr>
              <a:t>STEP </a:t>
            </a:r>
            <a:r>
              <a:rPr lang="en-US" altLang="ja-JP" sz="2600" b="1" dirty="0" smtClean="0">
                <a:solidFill>
                  <a:srgbClr val="013CA6"/>
                </a:solidFill>
              </a:rPr>
              <a:t>4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5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4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 4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の方が小さい →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0" name="グループ化 19"/>
          <p:cNvGrpSpPr/>
          <p:nvPr/>
        </p:nvGrpSpPr>
        <p:grpSpPr>
          <a:xfrm>
            <a:off x="7440406" y="6447645"/>
            <a:ext cx="6409150" cy="900000"/>
            <a:chOff x="7142350" y="6815945"/>
            <a:chExt cx="6409150" cy="900000"/>
          </a:xfrm>
        </p:grpSpPr>
        <p:sp>
          <p:nvSpPr>
            <p:cNvPr id="53" name="Rectangle 50"/>
            <p:cNvSpPr/>
            <p:nvPr/>
          </p:nvSpPr>
          <p:spPr>
            <a:xfrm>
              <a:off x="7142350" y="6815945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54" name="Rectangle 51"/>
            <p:cNvSpPr/>
            <p:nvPr/>
          </p:nvSpPr>
          <p:spPr>
            <a:xfrm>
              <a:off x="8762350" y="6815945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55" name="Rectangle 51"/>
            <p:cNvSpPr/>
            <p:nvPr/>
          </p:nvSpPr>
          <p:spPr>
            <a:xfrm>
              <a:off x="10386550" y="6815945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rgbClr val="FFFFFF"/>
                  </a:solidFill>
                </a:rPr>
                <a:t>3</a:t>
              </a:r>
              <a:endParaRPr sz="3400" b="1" dirty="0">
                <a:solidFill>
                  <a:srgbClr val="FFFFFF"/>
                </a:solidFill>
              </a:endParaRPr>
            </a:p>
          </p:txBody>
        </p:sp>
        <p:sp>
          <p:nvSpPr>
            <p:cNvPr id="56" name="Rectangle 51"/>
            <p:cNvSpPr/>
            <p:nvPr/>
          </p:nvSpPr>
          <p:spPr>
            <a:xfrm>
              <a:off x="12003500" y="6815945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ja-JP" sz="3400" b="1" dirty="0">
                  <a:solidFill>
                    <a:srgbClr val="FFFFFF"/>
                  </a:solidFill>
                </a:rPr>
                <a:t>4</a:t>
              </a:r>
              <a:endParaRPr sz="3400" b="1" dirty="0">
                <a:solidFill>
                  <a:srgbClr val="FFFFFF"/>
                </a:solidFill>
              </a:endParaRPr>
            </a:p>
          </p:txBody>
        </p:sp>
      </p:grpSp>
      <p:cxnSp>
        <p:nvCxnSpPr>
          <p:cNvPr id="57" name="カギ線コネクタ 56"/>
          <p:cNvCxnSpPr>
            <a:stCxn id="77" idx="2"/>
            <a:endCxn id="56" idx="3"/>
          </p:cNvCxnSpPr>
          <p:nvPr/>
        </p:nvCxnSpPr>
        <p:spPr>
          <a:xfrm rot="5400000">
            <a:off x="13495690" y="6328354"/>
            <a:ext cx="923158" cy="215425"/>
          </a:xfrm>
          <a:prstGeom prst="bentConnector2">
            <a:avLst/>
          </a:prstGeom>
          <a:ln w="1905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グループ化 20"/>
          <p:cNvGrpSpPr/>
          <p:nvPr/>
        </p:nvGrpSpPr>
        <p:grpSpPr>
          <a:xfrm>
            <a:off x="4200981" y="9843100"/>
            <a:ext cx="12888000" cy="900000"/>
            <a:chOff x="3420000" y="9843100"/>
            <a:chExt cx="12888000" cy="900000"/>
          </a:xfrm>
        </p:grpSpPr>
        <p:sp>
          <p:nvSpPr>
            <p:cNvPr id="58" name="Rectangle 50"/>
            <p:cNvSpPr/>
            <p:nvPr/>
          </p:nvSpPr>
          <p:spPr>
            <a:xfrm>
              <a:off x="342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63" name="Rectangle 51"/>
            <p:cNvSpPr/>
            <p:nvPr/>
          </p:nvSpPr>
          <p:spPr>
            <a:xfrm>
              <a:off x="504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64" name="Rectangle 52"/>
            <p:cNvSpPr/>
            <p:nvPr/>
          </p:nvSpPr>
          <p:spPr>
            <a:xfrm>
              <a:off x="666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65" name="Rectangle 53"/>
            <p:cNvSpPr/>
            <p:nvPr/>
          </p:nvSpPr>
          <p:spPr>
            <a:xfrm>
              <a:off x="828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66" name="Rectangle 54"/>
            <p:cNvSpPr/>
            <p:nvPr/>
          </p:nvSpPr>
          <p:spPr>
            <a:xfrm>
              <a:off x="990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67" name="Rectangle 55"/>
            <p:cNvSpPr/>
            <p:nvPr/>
          </p:nvSpPr>
          <p:spPr>
            <a:xfrm>
              <a:off x="1152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68" name="Rectangle 56"/>
            <p:cNvSpPr/>
            <p:nvPr/>
          </p:nvSpPr>
          <p:spPr>
            <a:xfrm>
              <a:off x="1314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7</a:t>
              </a:r>
            </a:p>
          </p:txBody>
        </p:sp>
        <p:sp>
          <p:nvSpPr>
            <p:cNvPr id="69" name="Rectangle 57"/>
            <p:cNvSpPr/>
            <p:nvPr/>
          </p:nvSpPr>
          <p:spPr>
            <a:xfrm>
              <a:off x="1476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0" name="Rectangle 50"/>
            <p:cNvSpPr/>
            <p:nvPr/>
          </p:nvSpPr>
          <p:spPr>
            <a:xfrm>
              <a:off x="3420000" y="9843100"/>
              <a:ext cx="1548000" cy="900000"/>
            </a:xfrm>
            <a:prstGeom prst="rect">
              <a:avLst/>
            </a:prstGeom>
            <a:solidFill>
              <a:schemeClr val="tx2"/>
            </a:solidFill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3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sp>
        <p:nvSpPr>
          <p:cNvPr id="71" name="TextBox 14"/>
          <p:cNvSpPr txBox="1"/>
          <p:nvPr/>
        </p:nvSpPr>
        <p:spPr>
          <a:xfrm>
            <a:off x="6782231" y="8186243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 smtClean="0">
                <a:solidFill>
                  <a:srgbClr val="013CA6"/>
                </a:solidFill>
              </a:rPr>
              <a:t>STEP</a:t>
            </a:r>
            <a:r>
              <a:rPr lang="en-US" sz="2600" b="1" dirty="0" smtClean="0">
                <a:solidFill>
                  <a:srgbClr val="013CA6"/>
                </a:solidFill>
              </a:rPr>
              <a:t> </a:t>
            </a:r>
            <a:r>
              <a:rPr lang="en-US" altLang="ja-JP" sz="2600" b="1" dirty="0">
                <a:solidFill>
                  <a:srgbClr val="013CA6"/>
                </a:solidFill>
              </a:rPr>
              <a:t>6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6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 6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の方が小さい →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TextBox 14"/>
          <p:cNvSpPr txBox="1"/>
          <p:nvPr/>
        </p:nvSpPr>
        <p:spPr>
          <a:xfrm>
            <a:off x="6782231" y="8644576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 smtClean="0">
                <a:solidFill>
                  <a:srgbClr val="013CA6"/>
                </a:solidFill>
              </a:rPr>
              <a:t>STEP</a:t>
            </a:r>
            <a:r>
              <a:rPr lang="en-US" sz="2600" b="1" dirty="0" smtClean="0">
                <a:solidFill>
                  <a:srgbClr val="013CA6"/>
                </a:solidFill>
              </a:rPr>
              <a:t> </a:t>
            </a:r>
            <a:r>
              <a:rPr lang="en-US" altLang="ja-JP" sz="2600" b="1" dirty="0" smtClean="0">
                <a:solidFill>
                  <a:srgbClr val="013CA6"/>
                </a:solidFill>
              </a:rPr>
              <a:t>7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8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vs 7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→  7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の方が小さい → </a:t>
            </a:r>
            <a:r>
              <a:rPr lang="en-US" altLang="ja-JP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8" name="TextBox 14"/>
          <p:cNvSpPr txBox="1"/>
          <p:nvPr/>
        </p:nvSpPr>
        <p:spPr>
          <a:xfrm>
            <a:off x="6782231" y="9102909"/>
            <a:ext cx="77255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dirty="0" smtClean="0">
                <a:solidFill>
                  <a:srgbClr val="013CA6"/>
                </a:solidFill>
              </a:rPr>
              <a:t>STEP</a:t>
            </a:r>
            <a:r>
              <a:rPr lang="en-US" sz="2600" b="1" dirty="0" smtClean="0">
                <a:solidFill>
                  <a:srgbClr val="013CA6"/>
                </a:solidFill>
              </a:rPr>
              <a:t> </a:t>
            </a:r>
            <a:r>
              <a:rPr lang="en-US" altLang="ja-JP" sz="2600" b="1" dirty="0" smtClean="0">
                <a:solidFill>
                  <a:srgbClr val="013CA6"/>
                </a:solidFill>
              </a:rPr>
              <a:t>8</a:t>
            </a:r>
            <a:r>
              <a:rPr lang="ja-JP" altLang="en-US" sz="2600" b="1" dirty="0" smtClean="0">
                <a:solidFill>
                  <a:srgbClr val="013CA6"/>
                </a:solidFill>
              </a:rPr>
              <a:t>：  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8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のみ</a:t>
            </a:r>
            <a:r>
              <a:rPr lang="en-US" altLang="ja-JP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→ 8 </a:t>
            </a:r>
            <a:r>
              <a:rPr lang="ja-JP" altLang="en-US" sz="2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を取り出</a:t>
            </a:r>
            <a:r>
              <a:rPr lang="ja-JP" altLang="en-US" sz="26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す</a:t>
            </a:r>
            <a:endParaRPr lang="ja-JP" altLang="en-US" sz="26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789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2400" b="1" dirty="0" smtClean="0">
            <a:solidFill>
              <a:srgbClr val="013CA6"/>
            </a:solidFill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329</Words>
  <Application>Microsoft Office PowerPoint</Application>
  <PresentationFormat>ユーザー設定</PresentationFormat>
  <Paragraphs>110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Office Theme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47</cp:revision>
  <dcterms:created xsi:type="dcterms:W3CDTF">2013-01-27T09:14:16Z</dcterms:created>
  <dcterms:modified xsi:type="dcterms:W3CDTF">2026-05-28T16:13:48Z</dcterms:modified>
</cp:coreProperties>
</file>