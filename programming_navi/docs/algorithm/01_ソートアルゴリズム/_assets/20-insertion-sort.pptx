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21289963" cy="119729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1" d="100"/>
          <a:sy n="51" d="100"/>
        </p:scale>
        <p:origin x="-124" y="-10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/>
          <p:cNvSpPr/>
          <p:nvPr/>
        </p:nvSpPr>
        <p:spPr>
          <a:xfrm>
            <a:off x="593000" y="10827600"/>
            <a:ext cx="198504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20000" y="11021300"/>
            <a:ext cx="191304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013CA6"/>
                </a:solidFill>
              </a:rPr>
              <a:t>ソート済み部分に新しい要素を正しい位置へ「差し込む」  ／  最良 O(n)（ほぼソート済み）、最悪 O(n²)</a:t>
            </a:r>
          </a:p>
        </p:txBody>
      </p:sp>
      <p:grpSp>
        <p:nvGrpSpPr>
          <p:cNvPr id="84" name="グループ化 83"/>
          <p:cNvGrpSpPr/>
          <p:nvPr/>
        </p:nvGrpSpPr>
        <p:grpSpPr>
          <a:xfrm>
            <a:off x="2617756" y="580900"/>
            <a:ext cx="16054451" cy="9817996"/>
            <a:chOff x="4528443" y="580900"/>
            <a:chExt cx="16054451" cy="9817996"/>
          </a:xfrm>
        </p:grpSpPr>
        <p:sp>
          <p:nvSpPr>
            <p:cNvPr id="5" name="TextBox 4"/>
            <p:cNvSpPr txBox="1"/>
            <p:nvPr/>
          </p:nvSpPr>
          <p:spPr>
            <a:xfrm>
              <a:off x="15362894" y="1334178"/>
              <a:ext cx="5220000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600" b="0" dirty="0">
                  <a:solidFill>
                    <a:srgbClr val="666666"/>
                  </a:solidFill>
                </a:rPr>
                <a:t>初期（5 はソート済み扱い</a:t>
              </a:r>
              <a:r>
                <a:rPr sz="2600" b="0" dirty="0" smtClean="0">
                  <a:solidFill>
                    <a:srgbClr val="666666"/>
                  </a:solidFill>
                </a:rPr>
                <a:t>）</a:t>
              </a:r>
              <a:endParaRPr lang="en-US" sz="2600" b="0" dirty="0" smtClean="0">
                <a:solidFill>
                  <a:srgbClr val="666666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4614680" y="1076400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7385305" y="1076400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3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9260463" y="1076400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8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135621" y="1076400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1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3010780" y="1076400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2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614680" y="580900"/>
              <a:ext cx="18720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1" dirty="0">
                  <a:solidFill>
                    <a:schemeClr val="tx2"/>
                  </a:solidFill>
                </a:rPr>
                <a:t>← ソート済み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466780" y="580900"/>
              <a:ext cx="74880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1" dirty="0">
                  <a:solidFill>
                    <a:srgbClr val="666666"/>
                  </a:solidFill>
                </a:rPr>
                <a:t>未ソート →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5362894" y="2997077"/>
              <a:ext cx="5220000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600" b="0" dirty="0">
                  <a:solidFill>
                    <a:srgbClr val="666666"/>
                  </a:solidFill>
                </a:rPr>
                <a:t>3 </a:t>
              </a:r>
              <a:r>
                <a:rPr sz="2600" b="0" dirty="0" smtClean="0">
                  <a:solidFill>
                    <a:srgbClr val="666666"/>
                  </a:solidFill>
                </a:rPr>
                <a:t>を</a:t>
              </a:r>
              <a:r>
                <a:rPr lang="ja-JP" altLang="en-US" sz="2600" b="0" dirty="0" smtClean="0">
                  <a:solidFill>
                    <a:srgbClr val="666666"/>
                  </a:solidFill>
                </a:rPr>
                <a:t>ソート済みの正しい位置へ</a:t>
              </a:r>
              <a:endParaRPr lang="en-US" sz="2600" b="0" dirty="0" smtClean="0">
                <a:solidFill>
                  <a:srgbClr val="666666"/>
                </a:solidFill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5362894" y="4659976"/>
              <a:ext cx="5220000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2600" b="0" dirty="0">
                  <a:solidFill>
                    <a:srgbClr val="666666"/>
                  </a:solidFill>
                </a:rPr>
                <a:t>8 </a:t>
              </a:r>
              <a:r>
                <a:rPr sz="2600" b="0" dirty="0" smtClean="0">
                  <a:solidFill>
                    <a:srgbClr val="666666"/>
                  </a:solidFill>
                </a:rPr>
                <a:t>を</a:t>
              </a:r>
              <a:r>
                <a:rPr lang="ja-JP" altLang="en-US" sz="2600" dirty="0">
                  <a:solidFill>
                    <a:srgbClr val="666666"/>
                  </a:solidFill>
                </a:rPr>
                <a:t>ソート済みの正しい位置へ</a:t>
              </a:r>
              <a:endParaRPr lang="en-US" altLang="ja-JP" sz="2600" dirty="0">
                <a:solidFill>
                  <a:srgbClr val="666666"/>
                </a:solidFill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4614680" y="4402198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485305" y="4402198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260463" y="4402198"/>
              <a:ext cx="1800000" cy="1007999"/>
            </a:xfrm>
            <a:prstGeom prst="rect">
              <a:avLst/>
            </a:prstGeom>
            <a:solidFill>
              <a:schemeClr val="accent6"/>
            </a:solidFill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FFFFFF"/>
                  </a:solidFill>
                </a:rPr>
                <a:t>8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1135621" y="4402198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1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3010780" y="4402198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2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5362894" y="6322875"/>
              <a:ext cx="5220000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2600" b="0" dirty="0">
                  <a:solidFill>
                    <a:srgbClr val="666666"/>
                  </a:solidFill>
                </a:rPr>
                <a:t>1 </a:t>
              </a:r>
              <a:r>
                <a:rPr sz="2600" b="0" dirty="0" smtClean="0">
                  <a:solidFill>
                    <a:srgbClr val="666666"/>
                  </a:solidFill>
                </a:rPr>
                <a:t>を</a:t>
              </a:r>
              <a:r>
                <a:rPr lang="ja-JP" altLang="en-US" sz="2600" dirty="0">
                  <a:solidFill>
                    <a:srgbClr val="666666"/>
                  </a:solidFill>
                </a:rPr>
                <a:t>ソート済みの正しい位置へ</a:t>
              </a:r>
              <a:endParaRPr lang="en-US" altLang="ja-JP" sz="2600" dirty="0">
                <a:solidFill>
                  <a:srgbClr val="666666"/>
                </a:solidFill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5362894" y="7985774"/>
              <a:ext cx="5220000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2600" dirty="0" smtClean="0">
                  <a:solidFill>
                    <a:srgbClr val="666666"/>
                  </a:solidFill>
                </a:rPr>
                <a:t>2</a:t>
              </a:r>
              <a:r>
                <a:rPr lang="ja-JP" altLang="en-US" sz="2600" dirty="0" smtClean="0">
                  <a:solidFill>
                    <a:srgbClr val="666666"/>
                  </a:solidFill>
                </a:rPr>
                <a:t>を</a:t>
              </a:r>
              <a:r>
                <a:rPr lang="ja-JP" altLang="en-US" sz="2600" dirty="0">
                  <a:solidFill>
                    <a:srgbClr val="666666"/>
                  </a:solidFill>
                </a:rPr>
                <a:t>ソート済みの正しい位置</a:t>
              </a:r>
              <a:r>
                <a:rPr lang="ja-JP" altLang="en-US" sz="2600" dirty="0" smtClean="0">
                  <a:solidFill>
                    <a:srgbClr val="666666"/>
                  </a:solidFill>
                </a:rPr>
                <a:t>へ</a:t>
              </a:r>
              <a:endParaRPr lang="en-US" altLang="ja-JP" sz="2600" dirty="0">
                <a:solidFill>
                  <a:srgbClr val="666666"/>
                </a:solidFill>
              </a:endParaRPr>
            </a:p>
          </p:txBody>
        </p:sp>
        <p:sp>
          <p:nvSpPr>
            <p:cNvPr id="53" name="Rectangle 5"/>
            <p:cNvSpPr/>
            <p:nvPr/>
          </p:nvSpPr>
          <p:spPr>
            <a:xfrm>
              <a:off x="4614680" y="2739299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54" name="Rectangle 7"/>
            <p:cNvSpPr/>
            <p:nvPr/>
          </p:nvSpPr>
          <p:spPr>
            <a:xfrm>
              <a:off x="7385305" y="2739299"/>
              <a:ext cx="1800000" cy="1007999"/>
            </a:xfrm>
            <a:prstGeom prst="rect">
              <a:avLst/>
            </a:prstGeom>
            <a:solidFill>
              <a:schemeClr val="accent6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55" name="Rectangle 8"/>
            <p:cNvSpPr/>
            <p:nvPr/>
          </p:nvSpPr>
          <p:spPr>
            <a:xfrm>
              <a:off x="9260463" y="2739299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8</a:t>
              </a:r>
            </a:p>
          </p:txBody>
        </p:sp>
        <p:sp>
          <p:nvSpPr>
            <p:cNvPr id="56" name="Rectangle 9"/>
            <p:cNvSpPr/>
            <p:nvPr/>
          </p:nvSpPr>
          <p:spPr>
            <a:xfrm>
              <a:off x="11135621" y="2739299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1</a:t>
              </a:r>
            </a:p>
          </p:txBody>
        </p:sp>
        <p:sp>
          <p:nvSpPr>
            <p:cNvPr id="57" name="Rectangle 10"/>
            <p:cNvSpPr/>
            <p:nvPr/>
          </p:nvSpPr>
          <p:spPr>
            <a:xfrm>
              <a:off x="13010780" y="2739299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2</a:t>
              </a:r>
            </a:p>
          </p:txBody>
        </p:sp>
        <p:cxnSp>
          <p:nvCxnSpPr>
            <p:cNvPr id="61" name="カギ線コネクタ 60"/>
            <p:cNvCxnSpPr/>
            <p:nvPr/>
          </p:nvCxnSpPr>
          <p:spPr>
            <a:xfrm rot="16200000" flipV="1">
              <a:off x="6376139" y="856935"/>
              <a:ext cx="23083" cy="3718475"/>
            </a:xfrm>
            <a:prstGeom prst="bentConnector3">
              <a:avLst>
                <a:gd name="adj1" fmla="val 1800000"/>
              </a:avLst>
            </a:prstGeom>
            <a:ln w="57150">
              <a:solidFill>
                <a:schemeClr val="accent6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カギ線コネクタ 63"/>
            <p:cNvCxnSpPr/>
            <p:nvPr/>
          </p:nvCxnSpPr>
          <p:spPr>
            <a:xfrm rot="16200000" flipV="1">
              <a:off x="9219142" y="3475093"/>
              <a:ext cx="24058" cy="1807956"/>
            </a:xfrm>
            <a:prstGeom prst="bentConnector3">
              <a:avLst>
                <a:gd name="adj1" fmla="val 1800000"/>
              </a:avLst>
            </a:prstGeom>
            <a:ln w="57150">
              <a:solidFill>
                <a:schemeClr val="accent6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Rectangle 25"/>
            <p:cNvSpPr/>
            <p:nvPr/>
          </p:nvSpPr>
          <p:spPr>
            <a:xfrm>
              <a:off x="4614680" y="6065097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66" name="Rectangle 26"/>
            <p:cNvSpPr/>
            <p:nvPr/>
          </p:nvSpPr>
          <p:spPr>
            <a:xfrm>
              <a:off x="6485305" y="6065097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67" name="Rectangle 27"/>
            <p:cNvSpPr/>
            <p:nvPr/>
          </p:nvSpPr>
          <p:spPr>
            <a:xfrm>
              <a:off x="8355930" y="6065097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FFFFFF"/>
                  </a:solidFill>
                </a:rPr>
                <a:t>8</a:t>
              </a:r>
            </a:p>
          </p:txBody>
        </p:sp>
        <p:sp>
          <p:nvSpPr>
            <p:cNvPr id="68" name="Rectangle 29"/>
            <p:cNvSpPr/>
            <p:nvPr/>
          </p:nvSpPr>
          <p:spPr>
            <a:xfrm>
              <a:off x="11135621" y="6065097"/>
              <a:ext cx="1800000" cy="1007999"/>
            </a:xfrm>
            <a:prstGeom prst="rect">
              <a:avLst/>
            </a:prstGeom>
            <a:solidFill>
              <a:schemeClr val="accent6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69" name="Rectangle 30"/>
            <p:cNvSpPr/>
            <p:nvPr/>
          </p:nvSpPr>
          <p:spPr>
            <a:xfrm>
              <a:off x="13010780" y="6065097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2</a:t>
              </a:r>
            </a:p>
          </p:txBody>
        </p:sp>
        <p:cxnSp>
          <p:nvCxnSpPr>
            <p:cNvPr id="70" name="カギ線コネクタ 69"/>
            <p:cNvCxnSpPr/>
            <p:nvPr/>
          </p:nvCxnSpPr>
          <p:spPr>
            <a:xfrm rot="16200000" flipV="1">
              <a:off x="8291696" y="2324678"/>
              <a:ext cx="21350" cy="7434585"/>
            </a:xfrm>
            <a:prstGeom prst="bentConnector3">
              <a:avLst>
                <a:gd name="adj1" fmla="val 1800000"/>
              </a:avLst>
            </a:prstGeom>
            <a:ln w="57150">
              <a:solidFill>
                <a:schemeClr val="accent6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Rectangle 25"/>
            <p:cNvSpPr/>
            <p:nvPr/>
          </p:nvSpPr>
          <p:spPr>
            <a:xfrm>
              <a:off x="6485305" y="7722650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72" name="Rectangle 26"/>
            <p:cNvSpPr/>
            <p:nvPr/>
          </p:nvSpPr>
          <p:spPr>
            <a:xfrm>
              <a:off x="8355930" y="7722650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73" name="Rectangle 27"/>
            <p:cNvSpPr/>
            <p:nvPr/>
          </p:nvSpPr>
          <p:spPr>
            <a:xfrm>
              <a:off x="10226555" y="7722650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FFFFFF"/>
                  </a:solidFill>
                </a:rPr>
                <a:t>8</a:t>
              </a:r>
            </a:p>
          </p:txBody>
        </p:sp>
        <p:sp>
          <p:nvSpPr>
            <p:cNvPr id="74" name="Rectangle 29"/>
            <p:cNvSpPr/>
            <p:nvPr/>
          </p:nvSpPr>
          <p:spPr>
            <a:xfrm>
              <a:off x="4614680" y="7722650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75" name="Rectangle 30"/>
            <p:cNvSpPr/>
            <p:nvPr/>
          </p:nvSpPr>
          <p:spPr>
            <a:xfrm>
              <a:off x="13010780" y="7722650"/>
              <a:ext cx="1800000" cy="1007999"/>
            </a:xfrm>
            <a:prstGeom prst="rect">
              <a:avLst/>
            </a:prstGeom>
            <a:solidFill>
              <a:schemeClr val="accent6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bg1"/>
                  </a:solidFill>
                </a:rPr>
                <a:t>2</a:t>
              </a:r>
            </a:p>
          </p:txBody>
        </p:sp>
        <p:cxnSp>
          <p:nvCxnSpPr>
            <p:cNvPr id="76" name="カギ線コネクタ 75"/>
            <p:cNvCxnSpPr/>
            <p:nvPr/>
          </p:nvCxnSpPr>
          <p:spPr>
            <a:xfrm rot="16200000" flipV="1">
              <a:off x="10170640" y="3969531"/>
              <a:ext cx="22663" cy="7434585"/>
            </a:xfrm>
            <a:prstGeom prst="bentConnector3">
              <a:avLst>
                <a:gd name="adj1" fmla="val 1800000"/>
              </a:avLst>
            </a:prstGeom>
            <a:ln w="57150">
              <a:solidFill>
                <a:schemeClr val="accent6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44"/>
            <p:cNvSpPr txBox="1"/>
            <p:nvPr/>
          </p:nvSpPr>
          <p:spPr>
            <a:xfrm>
              <a:off x="15362894" y="9648675"/>
              <a:ext cx="5220000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ja-JP" altLang="en-US" sz="2600" b="0" dirty="0" smtClean="0">
                  <a:solidFill>
                    <a:schemeClr val="tx2"/>
                  </a:solidFill>
                </a:rPr>
                <a:t>ソート</a:t>
              </a:r>
              <a:r>
                <a:rPr sz="2600" b="0" dirty="0" smtClean="0">
                  <a:solidFill>
                    <a:schemeClr val="tx2"/>
                  </a:solidFill>
                </a:rPr>
                <a:t>完了</a:t>
              </a:r>
              <a:endParaRPr lang="en-US" sz="2600" b="0" dirty="0" smtClean="0">
                <a:solidFill>
                  <a:schemeClr val="tx2"/>
                </a:solidFill>
              </a:endParaRPr>
            </a:p>
          </p:txBody>
        </p:sp>
        <p:sp>
          <p:nvSpPr>
            <p:cNvPr id="78" name="Rectangle 25"/>
            <p:cNvSpPr/>
            <p:nvPr/>
          </p:nvSpPr>
          <p:spPr>
            <a:xfrm>
              <a:off x="8355930" y="9390897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79" name="Rectangle 26"/>
            <p:cNvSpPr/>
            <p:nvPr/>
          </p:nvSpPr>
          <p:spPr>
            <a:xfrm>
              <a:off x="10226555" y="9390897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80" name="Rectangle 27"/>
            <p:cNvSpPr/>
            <p:nvPr/>
          </p:nvSpPr>
          <p:spPr>
            <a:xfrm>
              <a:off x="12097180" y="9390897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FFFFFF"/>
                  </a:solidFill>
                </a:rPr>
                <a:t>8</a:t>
              </a:r>
            </a:p>
          </p:txBody>
        </p:sp>
        <p:sp>
          <p:nvSpPr>
            <p:cNvPr id="81" name="Rectangle 29"/>
            <p:cNvSpPr/>
            <p:nvPr/>
          </p:nvSpPr>
          <p:spPr>
            <a:xfrm>
              <a:off x="4614680" y="9390897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82" name="Rectangle 30"/>
            <p:cNvSpPr/>
            <p:nvPr/>
          </p:nvSpPr>
          <p:spPr>
            <a:xfrm>
              <a:off x="6485305" y="9390897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112</Words>
  <Application>Microsoft Office PowerPoint</Application>
  <PresentationFormat>ユーザー設定</PresentationFormat>
  <Paragraphs>39</Paragraphs>
  <Slides>1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2" baseType="lpstr">
      <vt:lpstr>Office Theme</vt:lpstr>
      <vt:lpstr>PowerPoint プレゼンテーション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shining</dc:creator>
  <dc:description>generated using python-pptx</dc:description>
  <cp:lastModifiedBy>shining</cp:lastModifiedBy>
  <cp:revision>15</cp:revision>
  <dcterms:created xsi:type="dcterms:W3CDTF">2013-01-27T09:14:16Z</dcterms:created>
  <dcterms:modified xsi:type="dcterms:W3CDTF">2026-05-28T15:01:57Z</dcterms:modified>
</cp:coreProperties>
</file>