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20210400" cy="93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Dinic法 — レベルグラフとブロッキングフロー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368000"/>
            <a:ext cx="1440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4000" y="1368000"/>
            <a:ext cx="1411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ネットワーク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160000" y="3600000"/>
            <a:ext cx="3600000" cy="1800000"/>
          </a:xfrm>
          <a:prstGeom prst="bentConnector3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780000" y="3996001"/>
            <a:ext cx="5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BA81A"/>
                </a:solidFill>
              </a:rPr>
              <a:t>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60000" y="5400000"/>
            <a:ext cx="3600000" cy="1800000"/>
          </a:xfrm>
          <a:prstGeom prst="bentConnector3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780000" y="5796001"/>
            <a:ext cx="5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BA81A"/>
                </a:solidFill>
              </a:rPr>
              <a:t>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60000" y="3600000"/>
            <a:ext cx="3960000" cy="0"/>
          </a:xfrm>
          <a:prstGeom prst="bentConnector3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60000" y="3096001"/>
            <a:ext cx="5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BA81A"/>
                </a:solidFill>
              </a:rPr>
              <a:t>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0" y="7200000"/>
            <a:ext cx="3960000" cy="0"/>
          </a:xfrm>
          <a:prstGeom prst="bentConnector3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560000" y="6696001"/>
            <a:ext cx="5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BA81A"/>
                </a:solidFill>
              </a:rPr>
              <a:t>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60000" y="3600000"/>
            <a:ext cx="0" cy="3600000"/>
          </a:xfrm>
          <a:prstGeom prst="bentConnector3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580000" y="4896001"/>
            <a:ext cx="5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BA81A"/>
                </a:solidFill>
              </a:rPr>
              <a:t>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720000" y="3600000"/>
            <a:ext cx="3600000" cy="1800000"/>
          </a:xfrm>
          <a:prstGeom prst="bentConnector3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340000" y="3996001"/>
            <a:ext cx="5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BA81A"/>
                </a:solidFill>
              </a:rPr>
              <a:t>3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9720000" y="5400000"/>
            <a:ext cx="3600000" cy="1800000"/>
          </a:xfrm>
          <a:prstGeom prst="bentConnector3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340000" y="5796001"/>
            <a:ext cx="5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BA81A"/>
                </a:solidFill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1710000" y="4950000"/>
            <a:ext cx="900000" cy="900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10000" y="5062500"/>
            <a:ext cx="900000" cy="67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2" name="Oval 21"/>
          <p:cNvSpPr/>
          <p:nvPr/>
        </p:nvSpPr>
        <p:spPr>
          <a:xfrm>
            <a:off x="5310000" y="3150000"/>
            <a:ext cx="900000" cy="900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10000" y="3262500"/>
            <a:ext cx="900000" cy="67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24" name="Oval 23"/>
          <p:cNvSpPr/>
          <p:nvPr/>
        </p:nvSpPr>
        <p:spPr>
          <a:xfrm>
            <a:off x="5310000" y="6750000"/>
            <a:ext cx="900000" cy="900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10000" y="6862500"/>
            <a:ext cx="900000" cy="67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26" name="Oval 25"/>
          <p:cNvSpPr/>
          <p:nvPr/>
        </p:nvSpPr>
        <p:spPr>
          <a:xfrm>
            <a:off x="9270000" y="3150000"/>
            <a:ext cx="900000" cy="900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70000" y="3262500"/>
            <a:ext cx="900000" cy="67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8" name="Oval 27"/>
          <p:cNvSpPr/>
          <p:nvPr/>
        </p:nvSpPr>
        <p:spPr>
          <a:xfrm>
            <a:off x="9270000" y="6750000"/>
            <a:ext cx="900000" cy="900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70000" y="6862500"/>
            <a:ext cx="900000" cy="67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</a:rPr>
              <a:t>D</a:t>
            </a:r>
          </a:p>
        </p:txBody>
      </p:sp>
      <p:sp>
        <p:nvSpPr>
          <p:cNvPr id="30" name="Oval 29"/>
          <p:cNvSpPr/>
          <p:nvPr/>
        </p:nvSpPr>
        <p:spPr>
          <a:xfrm>
            <a:off x="12870000" y="4950000"/>
            <a:ext cx="900000" cy="900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70000" y="5062500"/>
            <a:ext cx="900000" cy="67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120000" y="1368000"/>
            <a:ext cx="540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264000" y="1368000"/>
            <a:ext cx="511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Dinicのフェーズ</a:t>
            </a:r>
          </a:p>
        </p:txBody>
      </p:sp>
      <p:sp>
        <p:nvSpPr>
          <p:cNvPr id="34" name="Oval 33"/>
          <p:cNvSpPr/>
          <p:nvPr/>
        </p:nvSpPr>
        <p:spPr>
          <a:xfrm>
            <a:off x="15048001" y="2070000"/>
            <a:ext cx="503998" cy="503998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048000" y="2159999"/>
            <a:ext cx="50399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BFS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88000" y="2015999"/>
            <a:ext cx="46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</a:rPr>
              <a:t>レベルグラフ構築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88000" y="2555999"/>
            <a:ext cx="504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808080"/>
                </a:solidFill>
              </a:rPr>
              <a:t>S(0)→A(1),B(1)→C(2),D(2)→T(3)</a:t>
            </a:r>
          </a:p>
        </p:txBody>
      </p:sp>
      <p:sp>
        <p:nvSpPr>
          <p:cNvPr id="38" name="Oval 37"/>
          <p:cNvSpPr/>
          <p:nvPr/>
        </p:nvSpPr>
        <p:spPr>
          <a:xfrm>
            <a:off x="15048001" y="3762000"/>
            <a:ext cx="503998" cy="503998"/>
          </a:xfrm>
          <a:prstGeom prst="ellipse">
            <a:avLst/>
          </a:prstGeom>
          <a:solidFill>
            <a:srgbClr val="00B050"/>
          </a:solidFill>
          <a:ln w="317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048000" y="3851999"/>
            <a:ext cx="50399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DFS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88000" y="3707999"/>
            <a:ext cx="46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</a:rPr>
              <a:t>ブロッキングフロー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88000" y="4247999"/>
            <a:ext cx="504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808080"/>
                </a:solidFill>
              </a:rPr>
              <a:t>S→A→C→T: 3
S→B→D→T: 3  flow=6</a:t>
            </a:r>
          </a:p>
        </p:txBody>
      </p:sp>
      <p:sp>
        <p:nvSpPr>
          <p:cNvPr id="42" name="Oval 41"/>
          <p:cNvSpPr/>
          <p:nvPr/>
        </p:nvSpPr>
        <p:spPr>
          <a:xfrm>
            <a:off x="15048001" y="5454000"/>
            <a:ext cx="503998" cy="503998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048000" y="5543999"/>
            <a:ext cx="50399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BFS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588000" y="5399999"/>
            <a:ext cx="46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</a:rPr>
              <a:t>再度レベルグラフ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588000" y="5939999"/>
            <a:ext cx="504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808080"/>
                </a:solidFill>
              </a:rPr>
              <a:t>S→A→B→D→T (長さ4の増加路)</a:t>
            </a:r>
          </a:p>
        </p:txBody>
      </p:sp>
      <p:sp>
        <p:nvSpPr>
          <p:cNvPr id="46" name="Oval 45"/>
          <p:cNvSpPr/>
          <p:nvPr/>
        </p:nvSpPr>
        <p:spPr>
          <a:xfrm>
            <a:off x="15048001" y="7146000"/>
            <a:ext cx="503998" cy="503998"/>
          </a:xfrm>
          <a:prstGeom prst="ellipse">
            <a:avLst/>
          </a:prstGeom>
          <a:solidFill>
            <a:srgbClr val="00B050"/>
          </a:solidFill>
          <a:ln w="317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48000" y="7235999"/>
            <a:ext cx="50399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DFS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588000" y="7091999"/>
            <a:ext cx="46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</a:rPr>
              <a:t>ブロッキングフロー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588000" y="7631999"/>
            <a:ext cx="504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808080"/>
                </a:solidFill>
              </a:rPr>
              <a:t>S→A→B→D→T: 1  flow=7</a:t>
            </a:r>
          </a:p>
        </p:txBody>
      </p:sp>
      <p:sp>
        <p:nvSpPr>
          <p:cNvPr id="50" name="Oval 49"/>
          <p:cNvSpPr/>
          <p:nvPr/>
        </p:nvSpPr>
        <p:spPr>
          <a:xfrm>
            <a:off x="15048001" y="8838000"/>
            <a:ext cx="503998" cy="503998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5048000" y="8927999"/>
            <a:ext cx="50399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BFS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588000" y="8783999"/>
            <a:ext cx="46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</a:rPr>
              <a:t>増加路なし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588000" y="9323999"/>
            <a:ext cx="504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808080"/>
                </a:solidFill>
              </a:rPr>
              <a:t>最大フロー = 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5120000" y="10620000"/>
            <a:ext cx="5400000" cy="126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5228000" y="10674000"/>
            <a:ext cx="5184000" cy="115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レベルグラフ: BFSで s→t への最短経路グラフを構築
ブロッキングフロー: レベルグラフ上で飽和するまで DFS
O(V²E) 一般 / O(E√V) 二部グラフ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