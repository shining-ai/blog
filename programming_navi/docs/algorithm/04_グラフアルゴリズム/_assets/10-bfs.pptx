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124" y="-10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4000" y="1017032"/>
            <a:ext cx="7632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/>
              <a:t>グラフ（距離=辺数）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4000" y="1017032"/>
            <a:ext cx="10872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/>
              <a:t>キューの変化</a:t>
            </a:r>
          </a:p>
        </p:txBody>
      </p:sp>
      <p:sp>
        <p:nvSpPr>
          <p:cNvPr id="96" name="正方形/長方形 95"/>
          <p:cNvSpPr/>
          <p:nvPr/>
        </p:nvSpPr>
        <p:spPr>
          <a:xfrm>
            <a:off x="1800371" y="10803107"/>
            <a:ext cx="5271434" cy="862759"/>
          </a:xfrm>
          <a:prstGeom prst="rect">
            <a:avLst/>
          </a:prstGeom>
          <a:solidFill>
            <a:srgbClr val="F3FAFE"/>
          </a:solidFill>
          <a:ln w="57150" cap="flat" cmpd="sng" algn="ctr">
            <a:solidFill>
              <a:srgbClr val="BDE4F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13CA6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根から近い順</a:t>
            </a:r>
            <a:r>
              <a:rPr kumimoji="1" lang="en-US" altLang="ja-JP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13CA6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(</a:t>
            </a:r>
            <a:r>
              <a:rPr kumimoji="1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13CA6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左→右</a:t>
            </a:r>
            <a:r>
              <a:rPr kumimoji="1" lang="en-US" altLang="ja-JP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13CA6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)</a:t>
            </a:r>
          </a:p>
        </p:txBody>
      </p:sp>
      <p:sp>
        <p:nvSpPr>
          <p:cNvPr id="97" name="Google Shape;88;p1"/>
          <p:cNvSpPr/>
          <p:nvPr/>
        </p:nvSpPr>
        <p:spPr>
          <a:xfrm>
            <a:off x="2036301" y="5825893"/>
            <a:ext cx="1131070" cy="113107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txBody>
          <a:bodyPr spcFirstLastPara="1" wrap="square" lIns="190050" tIns="95000" rIns="190050" bIns="95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0" dirty="0">
                <a:solidFill>
                  <a:srgbClr val="FFFFFF"/>
                </a:solidFill>
                <a:sym typeface="Arial"/>
              </a:rPr>
              <a:t>B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88;p1"/>
          <p:cNvSpPr/>
          <p:nvPr/>
        </p:nvSpPr>
        <p:spPr>
          <a:xfrm>
            <a:off x="3371668" y="9062959"/>
            <a:ext cx="1131070" cy="113107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txBody>
          <a:bodyPr spcFirstLastPara="1" wrap="square" lIns="190050" tIns="95000" rIns="190050" bIns="95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0" dirty="0">
                <a:solidFill>
                  <a:srgbClr val="FFFFFF"/>
                </a:solidFill>
                <a:sym typeface="Arial"/>
              </a:rPr>
              <a:t>E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88;p1"/>
          <p:cNvSpPr/>
          <p:nvPr/>
        </p:nvSpPr>
        <p:spPr>
          <a:xfrm>
            <a:off x="4431463" y="2772737"/>
            <a:ext cx="1131070" cy="113107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txBody>
          <a:bodyPr spcFirstLastPara="1" wrap="square" lIns="190050" tIns="95000" rIns="190050" bIns="95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0" dirty="0">
                <a:solidFill>
                  <a:srgbClr val="FFFFFF"/>
                </a:solidFill>
                <a:sym typeface="Arial"/>
              </a:rPr>
              <a:t>A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Google Shape;88;p1"/>
          <p:cNvSpPr/>
          <p:nvPr/>
        </p:nvSpPr>
        <p:spPr>
          <a:xfrm>
            <a:off x="6826625" y="5825893"/>
            <a:ext cx="1131070" cy="113107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txBody>
          <a:bodyPr spcFirstLastPara="1" wrap="square" lIns="190050" tIns="95000" rIns="190050" bIns="95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Arial"/>
              </a:rPr>
              <a:t>C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Arial"/>
            </a:endParaRPr>
          </a:p>
        </p:txBody>
      </p:sp>
      <p:cxnSp>
        <p:nvCxnSpPr>
          <p:cNvPr id="101" name="直線コネクタ 100"/>
          <p:cNvCxnSpPr>
            <a:stCxn id="97" idx="7"/>
            <a:endCxn id="99" idx="3"/>
          </p:cNvCxnSpPr>
          <p:nvPr/>
        </p:nvCxnSpPr>
        <p:spPr>
          <a:xfrm flipV="1">
            <a:off x="3001730" y="3738166"/>
            <a:ext cx="1595374" cy="2253368"/>
          </a:xfrm>
          <a:prstGeom prst="line">
            <a:avLst/>
          </a:prstGeom>
          <a:noFill/>
          <a:ln w="7620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sp>
        <p:nvSpPr>
          <p:cNvPr id="102" name="Google Shape;88;p1"/>
          <p:cNvSpPr/>
          <p:nvPr/>
        </p:nvSpPr>
        <p:spPr>
          <a:xfrm>
            <a:off x="700934" y="9062959"/>
            <a:ext cx="1131070" cy="113107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txBody>
          <a:bodyPr spcFirstLastPara="1" wrap="square" lIns="190050" tIns="95000" rIns="190050" bIns="95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0" dirty="0">
                <a:solidFill>
                  <a:srgbClr val="FFFFFF"/>
                </a:solidFill>
                <a:sym typeface="Arial"/>
              </a:rPr>
              <a:t>D</a:t>
            </a:r>
            <a:endParaRPr kumimoji="0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Arial"/>
            </a:endParaRPr>
          </a:p>
        </p:txBody>
      </p:sp>
      <p:cxnSp>
        <p:nvCxnSpPr>
          <p:cNvPr id="104" name="直線コネクタ 103"/>
          <p:cNvCxnSpPr>
            <a:stCxn id="100" idx="1"/>
            <a:endCxn id="99" idx="5"/>
          </p:cNvCxnSpPr>
          <p:nvPr/>
        </p:nvCxnSpPr>
        <p:spPr>
          <a:xfrm flipH="1" flipV="1">
            <a:off x="5396892" y="3738166"/>
            <a:ext cx="1595374" cy="2253368"/>
          </a:xfrm>
          <a:prstGeom prst="line">
            <a:avLst/>
          </a:prstGeom>
          <a:noFill/>
          <a:ln w="7620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cxnSp>
        <p:nvCxnSpPr>
          <p:cNvPr id="105" name="直線コネクタ 104"/>
          <p:cNvCxnSpPr>
            <a:stCxn id="102" idx="0"/>
            <a:endCxn id="97" idx="3"/>
          </p:cNvCxnSpPr>
          <p:nvPr/>
        </p:nvCxnSpPr>
        <p:spPr>
          <a:xfrm flipV="1">
            <a:off x="1266469" y="6791322"/>
            <a:ext cx="935473" cy="2271637"/>
          </a:xfrm>
          <a:prstGeom prst="line">
            <a:avLst/>
          </a:prstGeom>
          <a:noFill/>
          <a:ln w="7620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cxnSp>
        <p:nvCxnSpPr>
          <p:cNvPr id="106" name="直線コネクタ 105"/>
          <p:cNvCxnSpPr>
            <a:stCxn id="98" idx="0"/>
            <a:endCxn id="97" idx="5"/>
          </p:cNvCxnSpPr>
          <p:nvPr/>
        </p:nvCxnSpPr>
        <p:spPr>
          <a:xfrm flipH="1" flipV="1">
            <a:off x="3001730" y="6791322"/>
            <a:ext cx="935473" cy="2271637"/>
          </a:xfrm>
          <a:prstGeom prst="line">
            <a:avLst/>
          </a:prstGeom>
          <a:noFill/>
          <a:ln w="7620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cxnSp>
        <p:nvCxnSpPr>
          <p:cNvPr id="108" name="直線矢印コネクタ 107"/>
          <p:cNvCxnSpPr/>
          <p:nvPr/>
        </p:nvCxnSpPr>
        <p:spPr>
          <a:xfrm flipV="1">
            <a:off x="3532951" y="6389732"/>
            <a:ext cx="2646511" cy="1696"/>
          </a:xfrm>
          <a:prstGeom prst="straightConnector1">
            <a:avLst/>
          </a:prstGeom>
          <a:noFill/>
          <a:ln w="28575" cap="flat" cmpd="sng" algn="ctr">
            <a:solidFill>
              <a:srgbClr val="013CA6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10" name="直線矢印コネクタ 109"/>
          <p:cNvCxnSpPr/>
          <p:nvPr/>
        </p:nvCxnSpPr>
        <p:spPr>
          <a:xfrm flipV="1">
            <a:off x="969519" y="10391335"/>
            <a:ext cx="3202278" cy="1696"/>
          </a:xfrm>
          <a:prstGeom prst="straightConnector1">
            <a:avLst/>
          </a:prstGeom>
          <a:noFill/>
          <a:ln w="28575" cap="flat" cmpd="sng" algn="ctr">
            <a:solidFill>
              <a:srgbClr val="013CA6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11" name="直線矢印コネクタ 110"/>
          <p:cNvCxnSpPr/>
          <p:nvPr/>
        </p:nvCxnSpPr>
        <p:spPr>
          <a:xfrm flipV="1">
            <a:off x="3673742" y="2273115"/>
            <a:ext cx="2646511" cy="1696"/>
          </a:xfrm>
          <a:prstGeom prst="straightConnector1">
            <a:avLst/>
          </a:prstGeom>
          <a:noFill/>
          <a:ln w="28575" cap="flat" cmpd="sng" algn="ctr">
            <a:solidFill>
              <a:srgbClr val="013CA6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12" name="Oval 26"/>
          <p:cNvSpPr/>
          <p:nvPr/>
        </p:nvSpPr>
        <p:spPr>
          <a:xfrm>
            <a:off x="9624080" y="2791034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27"/>
          <p:cNvSpPr txBox="1"/>
          <p:nvPr/>
        </p:nvSpPr>
        <p:spPr>
          <a:xfrm>
            <a:off x="9624080" y="2867534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TextBox 28"/>
          <p:cNvSpPr txBox="1"/>
          <p:nvPr/>
        </p:nvSpPr>
        <p:spPr>
          <a:xfrm>
            <a:off x="10530366" y="2619981"/>
            <a:ext cx="47916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 smtClean="0">
                <a:solidFill>
                  <a:srgbClr val="013CA6"/>
                </a:solidFill>
              </a:rPr>
              <a:t>A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をキューに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入れる</a:t>
            </a:r>
            <a:endParaRPr lang="en-US" altLang="ja-JP" sz="2800" b="1" dirty="0" smtClean="0">
              <a:solidFill>
                <a:srgbClr val="013CA6"/>
              </a:solidFill>
            </a:endParaRPr>
          </a:p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探索開始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sz="2800" b="1" dirty="0">
              <a:solidFill>
                <a:srgbClr val="013CA6"/>
              </a:solidFill>
            </a:endParaRPr>
          </a:p>
        </p:txBody>
      </p:sp>
      <p:sp>
        <p:nvSpPr>
          <p:cNvPr id="115" name="Rectangle 34"/>
          <p:cNvSpPr/>
          <p:nvPr/>
        </p:nvSpPr>
        <p:spPr>
          <a:xfrm>
            <a:off x="16013089" y="282703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A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16" name="Oval 59"/>
          <p:cNvSpPr/>
          <p:nvPr/>
        </p:nvSpPr>
        <p:spPr>
          <a:xfrm>
            <a:off x="9624080" y="9937676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60"/>
          <p:cNvSpPr txBox="1"/>
          <p:nvPr/>
        </p:nvSpPr>
        <p:spPr>
          <a:xfrm>
            <a:off x="9624080" y="10014176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8" name="TextBox 61"/>
          <p:cNvSpPr txBox="1"/>
          <p:nvPr/>
        </p:nvSpPr>
        <p:spPr>
          <a:xfrm>
            <a:off x="10530366" y="9982067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>
                <a:solidFill>
                  <a:srgbClr val="013CA6"/>
                </a:solidFill>
              </a:rPr>
              <a:t>E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(pop)</a:t>
            </a:r>
          </a:p>
        </p:txBody>
      </p:sp>
      <p:sp>
        <p:nvSpPr>
          <p:cNvPr id="119" name="TextBox 62"/>
          <p:cNvSpPr txBox="1"/>
          <p:nvPr/>
        </p:nvSpPr>
        <p:spPr>
          <a:xfrm>
            <a:off x="15883877" y="9973676"/>
            <a:ext cx="134119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dirty="0">
                <a:solidFill>
                  <a:srgbClr val="808080"/>
                </a:solidFill>
              </a:rPr>
              <a:t>（空）</a:t>
            </a:r>
          </a:p>
        </p:txBody>
      </p:sp>
      <p:sp>
        <p:nvSpPr>
          <p:cNvPr id="120" name="Oval 31"/>
          <p:cNvSpPr/>
          <p:nvPr/>
        </p:nvSpPr>
        <p:spPr>
          <a:xfrm>
            <a:off x="9624080" y="4268305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32"/>
          <p:cNvSpPr txBox="1"/>
          <p:nvPr/>
        </p:nvSpPr>
        <p:spPr>
          <a:xfrm>
            <a:off x="9624080" y="4344805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2" name="TextBox 33"/>
          <p:cNvSpPr txBox="1"/>
          <p:nvPr/>
        </p:nvSpPr>
        <p:spPr>
          <a:xfrm>
            <a:off x="10530366" y="4097252"/>
            <a:ext cx="47916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A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を訪問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en-US" altLang="ja-JP" sz="2800" b="1" dirty="0">
                <a:solidFill>
                  <a:srgbClr val="013CA6"/>
                </a:solidFill>
              </a:rPr>
              <a:t>pop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</a:p>
          <a:p>
            <a:pPr algn="l"/>
            <a:r>
              <a:rPr lang="ja-JP" altLang="en-US" sz="2800" b="1" dirty="0" smtClean="0">
                <a:solidFill>
                  <a:srgbClr val="013CA6"/>
                </a:solidFill>
              </a:rPr>
              <a:t>子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をキューに追加す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る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(push)</a:t>
            </a:r>
            <a:endParaRPr sz="2800" b="1" dirty="0">
              <a:solidFill>
                <a:srgbClr val="013CA6"/>
              </a:solidFill>
            </a:endParaRPr>
          </a:p>
        </p:txBody>
      </p:sp>
      <p:sp>
        <p:nvSpPr>
          <p:cNvPr id="123" name="Rectangle 34"/>
          <p:cNvSpPr/>
          <p:nvPr/>
        </p:nvSpPr>
        <p:spPr>
          <a:xfrm>
            <a:off x="16013089" y="4304305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B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24" name="Rectangle 34"/>
          <p:cNvSpPr/>
          <p:nvPr/>
        </p:nvSpPr>
        <p:spPr>
          <a:xfrm>
            <a:off x="17017932" y="4304305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25" name="Oval 38"/>
          <p:cNvSpPr/>
          <p:nvPr/>
        </p:nvSpPr>
        <p:spPr>
          <a:xfrm>
            <a:off x="9624080" y="5745576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39"/>
          <p:cNvSpPr txBox="1"/>
          <p:nvPr/>
        </p:nvSpPr>
        <p:spPr>
          <a:xfrm>
            <a:off x="9624080" y="5822076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TextBox 40"/>
          <p:cNvSpPr txBox="1"/>
          <p:nvPr/>
        </p:nvSpPr>
        <p:spPr>
          <a:xfrm>
            <a:off x="10530366" y="5359079"/>
            <a:ext cx="4791600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B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を訪問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(pop)</a:t>
            </a:r>
          </a:p>
          <a:p>
            <a:r>
              <a:rPr lang="ja-JP" altLang="en-US" sz="2800" b="1" dirty="0">
                <a:solidFill>
                  <a:srgbClr val="013CA6"/>
                </a:solidFill>
              </a:rPr>
              <a:t>子を次の訪問先とする</a:t>
            </a:r>
            <a:r>
              <a:rPr lang="en-US" altLang="ja-JP" sz="2800" b="1" dirty="0">
                <a:solidFill>
                  <a:srgbClr val="013CA6"/>
                </a:solidFill>
              </a:rPr>
              <a:t>(push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128" name="Rectangle 34"/>
          <p:cNvSpPr/>
          <p:nvPr/>
        </p:nvSpPr>
        <p:spPr>
          <a:xfrm>
            <a:off x="16013089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29" name="Rectangle 34"/>
          <p:cNvSpPr/>
          <p:nvPr/>
        </p:nvSpPr>
        <p:spPr>
          <a:xfrm>
            <a:off x="17031508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D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30" name="Rectangle 34"/>
          <p:cNvSpPr/>
          <p:nvPr/>
        </p:nvSpPr>
        <p:spPr>
          <a:xfrm>
            <a:off x="18037400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E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31" name="Oval 47"/>
          <p:cNvSpPr/>
          <p:nvPr/>
        </p:nvSpPr>
        <p:spPr>
          <a:xfrm>
            <a:off x="9624080" y="7174904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48"/>
          <p:cNvSpPr txBox="1"/>
          <p:nvPr/>
        </p:nvSpPr>
        <p:spPr>
          <a:xfrm>
            <a:off x="9624080" y="7251404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3" name="TextBox 49"/>
          <p:cNvSpPr txBox="1"/>
          <p:nvPr/>
        </p:nvSpPr>
        <p:spPr>
          <a:xfrm>
            <a:off x="10530366" y="7219295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>
                <a:solidFill>
                  <a:srgbClr val="013CA6"/>
                </a:solidFill>
              </a:rPr>
              <a:t>C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134" name="Rectangle 34"/>
          <p:cNvSpPr/>
          <p:nvPr/>
        </p:nvSpPr>
        <p:spPr>
          <a:xfrm>
            <a:off x="16013089" y="721090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D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35" name="Rectangle 34"/>
          <p:cNvSpPr/>
          <p:nvPr/>
        </p:nvSpPr>
        <p:spPr>
          <a:xfrm>
            <a:off x="17044033" y="721090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E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36" name="Oval 54"/>
          <p:cNvSpPr/>
          <p:nvPr/>
        </p:nvSpPr>
        <p:spPr>
          <a:xfrm>
            <a:off x="9624080" y="855628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55"/>
          <p:cNvSpPr txBox="1"/>
          <p:nvPr/>
        </p:nvSpPr>
        <p:spPr>
          <a:xfrm>
            <a:off x="9624080" y="863278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8" name="TextBox 56"/>
          <p:cNvSpPr txBox="1"/>
          <p:nvPr/>
        </p:nvSpPr>
        <p:spPr>
          <a:xfrm>
            <a:off x="10530366" y="8600680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>
                <a:solidFill>
                  <a:srgbClr val="013CA6"/>
                </a:solidFill>
              </a:rPr>
              <a:t>D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(pop)</a:t>
            </a:r>
          </a:p>
        </p:txBody>
      </p:sp>
      <p:sp>
        <p:nvSpPr>
          <p:cNvPr id="139" name="Rectangle 34"/>
          <p:cNvSpPr/>
          <p:nvPr/>
        </p:nvSpPr>
        <p:spPr>
          <a:xfrm>
            <a:off x="16013089" y="8592289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E</a:t>
            </a:r>
            <a:endParaRPr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117</Words>
  <Application>Microsoft Office PowerPoint</Application>
  <PresentationFormat>ユーザー設定</PresentationFormat>
  <Paragraphs>33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shining</cp:lastModifiedBy>
  <cp:revision>3</cp:revision>
  <dcterms:created xsi:type="dcterms:W3CDTF">2013-01-27T09:14:16Z</dcterms:created>
  <dcterms:modified xsi:type="dcterms:W3CDTF">2026-06-06T10:33:03Z</dcterms:modified>
  <cp:category/>
</cp:coreProperties>
</file>