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21289963" cy="119729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1" d="100"/>
          <a:sy n="51" d="100"/>
        </p:scale>
        <p:origin x="-124" y="-10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864000" y="1017032"/>
            <a:ext cx="76320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/>
              <a:t>グラフ（距離=辺数）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04000" y="1017032"/>
            <a:ext cx="108720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dirty="0"/>
              <a:t>キューの変化</a:t>
            </a:r>
          </a:p>
        </p:txBody>
      </p:sp>
      <p:sp>
        <p:nvSpPr>
          <p:cNvPr id="96" name="正方形/長方形 95"/>
          <p:cNvSpPr/>
          <p:nvPr/>
        </p:nvSpPr>
        <p:spPr>
          <a:xfrm>
            <a:off x="1800371" y="10803107"/>
            <a:ext cx="5271434" cy="862759"/>
          </a:xfrm>
          <a:prstGeom prst="rect">
            <a:avLst/>
          </a:prstGeom>
          <a:solidFill>
            <a:srgbClr val="F3FAFE"/>
          </a:solidFill>
          <a:ln w="57150" cap="flat" cmpd="sng" algn="ctr">
            <a:solidFill>
              <a:srgbClr val="BDE4FC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0" cap="none" spc="0" normalizeH="0" baseline="0" noProof="0" dirty="0" smtClean="0">
                <a:ln>
                  <a:noFill/>
                </a:ln>
                <a:solidFill>
                  <a:srgbClr val="013CA6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根から近い順</a:t>
            </a:r>
            <a:r>
              <a:rPr kumimoji="1" lang="en-US" altLang="ja-JP" sz="3200" b="1" i="0" u="none" strike="noStrike" kern="0" cap="none" spc="0" normalizeH="0" baseline="0" noProof="0" dirty="0" smtClean="0">
                <a:ln>
                  <a:noFill/>
                </a:ln>
                <a:solidFill>
                  <a:srgbClr val="013CA6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(</a:t>
            </a:r>
            <a:r>
              <a:rPr kumimoji="1" lang="ja-JP" altLang="en-US" sz="3200" b="1" i="0" u="none" strike="noStrike" kern="0" cap="none" spc="0" normalizeH="0" baseline="0" noProof="0" dirty="0" smtClean="0">
                <a:ln>
                  <a:noFill/>
                </a:ln>
                <a:solidFill>
                  <a:srgbClr val="013CA6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左→右</a:t>
            </a:r>
            <a:r>
              <a:rPr kumimoji="1" lang="en-US" altLang="ja-JP" sz="3200" b="1" i="0" u="none" strike="noStrike" kern="0" cap="none" spc="0" normalizeH="0" baseline="0" noProof="0" dirty="0" smtClean="0">
                <a:ln>
                  <a:noFill/>
                </a:ln>
                <a:solidFill>
                  <a:srgbClr val="013CA6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)</a:t>
            </a:r>
          </a:p>
        </p:txBody>
      </p:sp>
      <p:sp>
        <p:nvSpPr>
          <p:cNvPr id="97" name="Google Shape;88;p1"/>
          <p:cNvSpPr/>
          <p:nvPr/>
        </p:nvSpPr>
        <p:spPr>
          <a:xfrm>
            <a:off x="2036301" y="5825893"/>
            <a:ext cx="1131070" cy="1131070"/>
          </a:xfrm>
          <a:prstGeom prst="ellipse">
            <a:avLst/>
          </a:prstGeom>
          <a:solidFill>
            <a:srgbClr val="013CA6"/>
          </a:solidFill>
          <a:ln>
            <a:noFill/>
          </a:ln>
        </p:spPr>
        <p:txBody>
          <a:bodyPr spcFirstLastPara="1" wrap="square" lIns="190050" tIns="95000" rIns="190050" bIns="950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400" b="1" kern="0" dirty="0">
                <a:solidFill>
                  <a:srgbClr val="FFFFFF"/>
                </a:solidFill>
                <a:sym typeface="Arial"/>
              </a:rPr>
              <a:t>B</a:t>
            </a:r>
            <a:endParaRPr kumimoji="0" sz="44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88;p1"/>
          <p:cNvSpPr/>
          <p:nvPr/>
        </p:nvSpPr>
        <p:spPr>
          <a:xfrm>
            <a:off x="3371668" y="9062959"/>
            <a:ext cx="1131070" cy="1131070"/>
          </a:xfrm>
          <a:prstGeom prst="ellipse">
            <a:avLst/>
          </a:prstGeom>
          <a:solidFill>
            <a:srgbClr val="013CA6"/>
          </a:solidFill>
          <a:ln>
            <a:noFill/>
          </a:ln>
        </p:spPr>
        <p:txBody>
          <a:bodyPr spcFirstLastPara="1" wrap="square" lIns="190050" tIns="95000" rIns="190050" bIns="950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400" b="1" kern="0" dirty="0">
                <a:solidFill>
                  <a:srgbClr val="FFFFFF"/>
                </a:solidFill>
                <a:sym typeface="Arial"/>
              </a:rPr>
              <a:t>E</a:t>
            </a:r>
            <a:endParaRPr kumimoji="0" sz="44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88;p1"/>
          <p:cNvSpPr/>
          <p:nvPr/>
        </p:nvSpPr>
        <p:spPr>
          <a:xfrm>
            <a:off x="4431463" y="2772737"/>
            <a:ext cx="1131070" cy="1131070"/>
          </a:xfrm>
          <a:prstGeom prst="ellipse">
            <a:avLst/>
          </a:prstGeom>
          <a:solidFill>
            <a:srgbClr val="013CA6"/>
          </a:solidFill>
          <a:ln>
            <a:noFill/>
          </a:ln>
        </p:spPr>
        <p:txBody>
          <a:bodyPr spcFirstLastPara="1" wrap="square" lIns="190050" tIns="95000" rIns="190050" bIns="950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400" b="1" kern="0" dirty="0">
                <a:solidFill>
                  <a:srgbClr val="FFFFFF"/>
                </a:solidFill>
                <a:sym typeface="Arial"/>
              </a:rPr>
              <a:t>A</a:t>
            </a:r>
            <a:endParaRPr kumimoji="0" sz="44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0" name="Google Shape;88;p1"/>
          <p:cNvSpPr/>
          <p:nvPr/>
        </p:nvSpPr>
        <p:spPr>
          <a:xfrm>
            <a:off x="6826625" y="5825893"/>
            <a:ext cx="1131070" cy="1131070"/>
          </a:xfrm>
          <a:prstGeom prst="ellipse">
            <a:avLst/>
          </a:prstGeom>
          <a:solidFill>
            <a:srgbClr val="013CA6"/>
          </a:solidFill>
          <a:ln>
            <a:noFill/>
          </a:ln>
        </p:spPr>
        <p:txBody>
          <a:bodyPr spcFirstLastPara="1" wrap="square" lIns="190050" tIns="95000" rIns="190050" bIns="950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sym typeface="Arial"/>
              </a:rPr>
              <a:t>C</a:t>
            </a:r>
            <a:endParaRPr kumimoji="0" sz="44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sym typeface="Arial"/>
            </a:endParaRPr>
          </a:p>
        </p:txBody>
      </p:sp>
      <p:cxnSp>
        <p:nvCxnSpPr>
          <p:cNvPr id="101" name="直線コネクタ 100"/>
          <p:cNvCxnSpPr>
            <a:stCxn id="97" idx="7"/>
            <a:endCxn id="99" idx="3"/>
          </p:cNvCxnSpPr>
          <p:nvPr/>
        </p:nvCxnSpPr>
        <p:spPr>
          <a:xfrm flipV="1">
            <a:off x="3001730" y="3738166"/>
            <a:ext cx="1595374" cy="2253368"/>
          </a:xfrm>
          <a:prstGeom prst="line">
            <a:avLst/>
          </a:prstGeom>
          <a:noFill/>
          <a:ln w="76200" cap="flat" cmpd="sng" algn="ctr">
            <a:solidFill>
              <a:srgbClr val="000000"/>
            </a:solidFill>
            <a:prstDash val="solid"/>
            <a:tailEnd type="none"/>
          </a:ln>
          <a:effectLst/>
        </p:spPr>
      </p:cxnSp>
      <p:sp>
        <p:nvSpPr>
          <p:cNvPr id="102" name="Google Shape;88;p1"/>
          <p:cNvSpPr/>
          <p:nvPr/>
        </p:nvSpPr>
        <p:spPr>
          <a:xfrm>
            <a:off x="700934" y="9062959"/>
            <a:ext cx="1131070" cy="1131070"/>
          </a:xfrm>
          <a:prstGeom prst="ellipse">
            <a:avLst/>
          </a:prstGeom>
          <a:solidFill>
            <a:srgbClr val="013CA6"/>
          </a:solidFill>
          <a:ln>
            <a:noFill/>
          </a:ln>
        </p:spPr>
        <p:txBody>
          <a:bodyPr spcFirstLastPara="1" wrap="square" lIns="190050" tIns="95000" rIns="190050" bIns="950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400" b="1" kern="0" dirty="0">
                <a:solidFill>
                  <a:srgbClr val="FFFFFF"/>
                </a:solidFill>
                <a:sym typeface="Arial"/>
              </a:rPr>
              <a:t>D</a:t>
            </a:r>
            <a:endParaRPr kumimoji="0" sz="44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sym typeface="Arial"/>
            </a:endParaRPr>
          </a:p>
        </p:txBody>
      </p:sp>
      <p:cxnSp>
        <p:nvCxnSpPr>
          <p:cNvPr id="104" name="直線コネクタ 103"/>
          <p:cNvCxnSpPr>
            <a:stCxn id="100" idx="1"/>
            <a:endCxn id="99" idx="5"/>
          </p:cNvCxnSpPr>
          <p:nvPr/>
        </p:nvCxnSpPr>
        <p:spPr>
          <a:xfrm flipH="1" flipV="1">
            <a:off x="5396892" y="3738166"/>
            <a:ext cx="1595374" cy="2253368"/>
          </a:xfrm>
          <a:prstGeom prst="line">
            <a:avLst/>
          </a:prstGeom>
          <a:noFill/>
          <a:ln w="76200" cap="flat" cmpd="sng" algn="ctr">
            <a:solidFill>
              <a:srgbClr val="000000"/>
            </a:solidFill>
            <a:prstDash val="solid"/>
            <a:tailEnd type="none"/>
          </a:ln>
          <a:effectLst/>
        </p:spPr>
      </p:cxnSp>
      <p:cxnSp>
        <p:nvCxnSpPr>
          <p:cNvPr id="105" name="直線コネクタ 104"/>
          <p:cNvCxnSpPr>
            <a:stCxn id="102" idx="0"/>
            <a:endCxn id="97" idx="3"/>
          </p:cNvCxnSpPr>
          <p:nvPr/>
        </p:nvCxnSpPr>
        <p:spPr>
          <a:xfrm flipV="1">
            <a:off x="1266469" y="6791322"/>
            <a:ext cx="935473" cy="2271637"/>
          </a:xfrm>
          <a:prstGeom prst="line">
            <a:avLst/>
          </a:prstGeom>
          <a:noFill/>
          <a:ln w="76200" cap="flat" cmpd="sng" algn="ctr">
            <a:solidFill>
              <a:srgbClr val="000000"/>
            </a:solidFill>
            <a:prstDash val="solid"/>
            <a:tailEnd type="none"/>
          </a:ln>
          <a:effectLst/>
        </p:spPr>
      </p:cxnSp>
      <p:cxnSp>
        <p:nvCxnSpPr>
          <p:cNvPr id="106" name="直線コネクタ 105"/>
          <p:cNvCxnSpPr>
            <a:stCxn id="98" idx="0"/>
            <a:endCxn id="97" idx="5"/>
          </p:cNvCxnSpPr>
          <p:nvPr/>
        </p:nvCxnSpPr>
        <p:spPr>
          <a:xfrm flipH="1" flipV="1">
            <a:off x="3001730" y="6791322"/>
            <a:ext cx="935473" cy="2271637"/>
          </a:xfrm>
          <a:prstGeom prst="line">
            <a:avLst/>
          </a:prstGeom>
          <a:noFill/>
          <a:ln w="76200" cap="flat" cmpd="sng" algn="ctr">
            <a:solidFill>
              <a:srgbClr val="000000"/>
            </a:solidFill>
            <a:prstDash val="solid"/>
            <a:tailEnd type="none"/>
          </a:ln>
          <a:effectLst/>
        </p:spPr>
      </p:cxnSp>
      <p:cxnSp>
        <p:nvCxnSpPr>
          <p:cNvPr id="108" name="直線矢印コネクタ 107"/>
          <p:cNvCxnSpPr/>
          <p:nvPr/>
        </p:nvCxnSpPr>
        <p:spPr>
          <a:xfrm flipV="1">
            <a:off x="3532951" y="6389732"/>
            <a:ext cx="2646511" cy="1696"/>
          </a:xfrm>
          <a:prstGeom prst="straightConnector1">
            <a:avLst/>
          </a:prstGeom>
          <a:noFill/>
          <a:ln w="28575" cap="flat" cmpd="sng" algn="ctr">
            <a:solidFill>
              <a:srgbClr val="013CA6">
                <a:shade val="95000"/>
                <a:satMod val="105000"/>
              </a:srgbClr>
            </a:solidFill>
            <a:prstDash val="solid"/>
            <a:tailEnd type="arrow"/>
          </a:ln>
          <a:effectLst/>
        </p:spPr>
      </p:cxnSp>
      <p:cxnSp>
        <p:nvCxnSpPr>
          <p:cNvPr id="110" name="直線矢印コネクタ 109"/>
          <p:cNvCxnSpPr/>
          <p:nvPr/>
        </p:nvCxnSpPr>
        <p:spPr>
          <a:xfrm flipV="1">
            <a:off x="969519" y="10391335"/>
            <a:ext cx="3202278" cy="1696"/>
          </a:xfrm>
          <a:prstGeom prst="straightConnector1">
            <a:avLst/>
          </a:prstGeom>
          <a:noFill/>
          <a:ln w="28575" cap="flat" cmpd="sng" algn="ctr">
            <a:solidFill>
              <a:srgbClr val="013CA6">
                <a:shade val="95000"/>
                <a:satMod val="105000"/>
              </a:srgbClr>
            </a:solidFill>
            <a:prstDash val="solid"/>
            <a:tailEnd type="arrow"/>
          </a:ln>
          <a:effectLst/>
        </p:spPr>
      </p:cxnSp>
      <p:cxnSp>
        <p:nvCxnSpPr>
          <p:cNvPr id="111" name="直線矢印コネクタ 110"/>
          <p:cNvCxnSpPr/>
          <p:nvPr/>
        </p:nvCxnSpPr>
        <p:spPr>
          <a:xfrm flipV="1">
            <a:off x="3673742" y="2273115"/>
            <a:ext cx="2646511" cy="1696"/>
          </a:xfrm>
          <a:prstGeom prst="straightConnector1">
            <a:avLst/>
          </a:prstGeom>
          <a:noFill/>
          <a:ln w="28575" cap="flat" cmpd="sng" algn="ctr">
            <a:solidFill>
              <a:srgbClr val="013CA6">
                <a:shade val="95000"/>
                <a:satMod val="105000"/>
              </a:srgbClr>
            </a:solidFill>
            <a:prstDash val="solid"/>
            <a:tailEnd type="arrow"/>
          </a:ln>
          <a:effectLst/>
        </p:spPr>
      </p:cxnSp>
      <p:sp>
        <p:nvSpPr>
          <p:cNvPr id="112" name="Oval 26"/>
          <p:cNvSpPr/>
          <p:nvPr/>
        </p:nvSpPr>
        <p:spPr>
          <a:xfrm>
            <a:off x="9624080" y="2791034"/>
            <a:ext cx="612000" cy="612000"/>
          </a:xfrm>
          <a:prstGeom prst="ellipse">
            <a:avLst/>
          </a:prstGeom>
          <a:solidFill>
            <a:srgbClr val="013CA6"/>
          </a:solidFill>
          <a:ln w="31750">
            <a:solidFill>
              <a:srgbClr val="013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27"/>
          <p:cNvSpPr txBox="1"/>
          <p:nvPr/>
        </p:nvSpPr>
        <p:spPr>
          <a:xfrm>
            <a:off x="9624080" y="2867534"/>
            <a:ext cx="612000" cy="459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4" name="TextBox 28"/>
          <p:cNvSpPr txBox="1"/>
          <p:nvPr/>
        </p:nvSpPr>
        <p:spPr>
          <a:xfrm>
            <a:off x="10530366" y="2619981"/>
            <a:ext cx="4791600" cy="95410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2800" b="1" dirty="0" smtClean="0">
                <a:solidFill>
                  <a:srgbClr val="013CA6"/>
                </a:solidFill>
              </a:rPr>
              <a:t>A</a:t>
            </a:r>
            <a:r>
              <a:rPr lang="ja-JP" altLang="en-US" sz="2800" b="1" dirty="0" smtClean="0">
                <a:solidFill>
                  <a:srgbClr val="013CA6"/>
                </a:solidFill>
              </a:rPr>
              <a:t>をキューに</a:t>
            </a:r>
            <a:r>
              <a:rPr lang="ja-JP" altLang="en-US" sz="2800" b="1" dirty="0" smtClean="0">
                <a:solidFill>
                  <a:srgbClr val="013CA6"/>
                </a:solidFill>
              </a:rPr>
              <a:t>入れる</a:t>
            </a:r>
            <a:endParaRPr lang="en-US" altLang="ja-JP" sz="2800" b="1" dirty="0" smtClean="0">
              <a:solidFill>
                <a:srgbClr val="013CA6"/>
              </a:solidFill>
            </a:endParaRPr>
          </a:p>
          <a:p>
            <a:pPr algn="l"/>
            <a:r>
              <a:rPr lang="en-US" altLang="ja-JP" sz="2800" b="1" dirty="0" smtClean="0">
                <a:solidFill>
                  <a:srgbClr val="013CA6"/>
                </a:solidFill>
              </a:rPr>
              <a:t>(</a:t>
            </a:r>
            <a:r>
              <a:rPr lang="ja-JP" altLang="en-US" sz="2800" b="1" dirty="0" smtClean="0">
                <a:solidFill>
                  <a:srgbClr val="013CA6"/>
                </a:solidFill>
              </a:rPr>
              <a:t>探索開始</a:t>
            </a:r>
            <a:r>
              <a:rPr lang="en-US" altLang="ja-JP" sz="2800" b="1" dirty="0" smtClean="0">
                <a:solidFill>
                  <a:srgbClr val="013CA6"/>
                </a:solidFill>
              </a:rPr>
              <a:t>)</a:t>
            </a:r>
            <a:endParaRPr sz="2800" b="1" dirty="0">
              <a:solidFill>
                <a:srgbClr val="013CA6"/>
              </a:solidFill>
            </a:endParaRPr>
          </a:p>
        </p:txBody>
      </p:sp>
      <p:sp>
        <p:nvSpPr>
          <p:cNvPr id="115" name="Rectangle 34"/>
          <p:cNvSpPr/>
          <p:nvPr/>
        </p:nvSpPr>
        <p:spPr>
          <a:xfrm>
            <a:off x="16013089" y="2827034"/>
            <a:ext cx="1005893" cy="540000"/>
          </a:xfrm>
          <a:prstGeom prst="rect">
            <a:avLst/>
          </a:prstGeom>
          <a:solidFill>
            <a:srgbClr val="BDE4FC"/>
          </a:solidFill>
          <a:ln w="19050">
            <a:solidFill>
              <a:srgbClr val="013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3600" dirty="0" smtClean="0">
                <a:solidFill>
                  <a:schemeClr val="tx1"/>
                </a:solidFill>
              </a:rPr>
              <a:t>A</a:t>
            </a:r>
            <a:endParaRPr sz="3600" dirty="0">
              <a:solidFill>
                <a:schemeClr val="tx1"/>
              </a:solidFill>
            </a:endParaRPr>
          </a:p>
        </p:txBody>
      </p:sp>
      <p:sp>
        <p:nvSpPr>
          <p:cNvPr id="116" name="Oval 59"/>
          <p:cNvSpPr/>
          <p:nvPr/>
        </p:nvSpPr>
        <p:spPr>
          <a:xfrm>
            <a:off x="9624080" y="9937676"/>
            <a:ext cx="612000" cy="612000"/>
          </a:xfrm>
          <a:prstGeom prst="ellipse">
            <a:avLst/>
          </a:prstGeom>
          <a:solidFill>
            <a:srgbClr val="013CA6"/>
          </a:solidFill>
          <a:ln w="31750">
            <a:solidFill>
              <a:srgbClr val="013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60"/>
          <p:cNvSpPr txBox="1"/>
          <p:nvPr/>
        </p:nvSpPr>
        <p:spPr>
          <a:xfrm>
            <a:off x="9624080" y="10014176"/>
            <a:ext cx="612000" cy="459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18" name="TextBox 61"/>
          <p:cNvSpPr txBox="1"/>
          <p:nvPr/>
        </p:nvSpPr>
        <p:spPr>
          <a:xfrm>
            <a:off x="10530366" y="9982067"/>
            <a:ext cx="47916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altLang="ja-JP" sz="2800" b="1" dirty="0">
                <a:solidFill>
                  <a:srgbClr val="013CA6"/>
                </a:solidFill>
              </a:rPr>
              <a:t>E</a:t>
            </a:r>
            <a:r>
              <a:rPr lang="ja-JP" altLang="en-US" sz="2800" b="1" dirty="0" smtClean="0">
                <a:solidFill>
                  <a:srgbClr val="013CA6"/>
                </a:solidFill>
              </a:rPr>
              <a:t>を</a:t>
            </a:r>
            <a:r>
              <a:rPr lang="ja-JP" altLang="en-US" sz="2800" b="1" dirty="0">
                <a:solidFill>
                  <a:srgbClr val="013CA6"/>
                </a:solidFill>
              </a:rPr>
              <a:t>訪問</a:t>
            </a:r>
            <a:r>
              <a:rPr lang="en-US" altLang="ja-JP" sz="2800" b="1" dirty="0">
                <a:solidFill>
                  <a:srgbClr val="013CA6"/>
                </a:solidFill>
              </a:rPr>
              <a:t>(pop)</a:t>
            </a:r>
          </a:p>
        </p:txBody>
      </p:sp>
      <p:sp>
        <p:nvSpPr>
          <p:cNvPr id="119" name="TextBox 62"/>
          <p:cNvSpPr txBox="1"/>
          <p:nvPr/>
        </p:nvSpPr>
        <p:spPr>
          <a:xfrm>
            <a:off x="15883877" y="9973676"/>
            <a:ext cx="134119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 dirty="0">
                <a:solidFill>
                  <a:srgbClr val="808080"/>
                </a:solidFill>
              </a:rPr>
              <a:t>（空）</a:t>
            </a:r>
          </a:p>
        </p:txBody>
      </p:sp>
      <p:sp>
        <p:nvSpPr>
          <p:cNvPr id="120" name="Oval 31"/>
          <p:cNvSpPr/>
          <p:nvPr/>
        </p:nvSpPr>
        <p:spPr>
          <a:xfrm>
            <a:off x="9624080" y="4268305"/>
            <a:ext cx="612000" cy="612000"/>
          </a:xfrm>
          <a:prstGeom prst="ellipse">
            <a:avLst/>
          </a:prstGeom>
          <a:solidFill>
            <a:srgbClr val="013CA6"/>
          </a:solidFill>
          <a:ln w="31750">
            <a:solidFill>
              <a:srgbClr val="013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32"/>
          <p:cNvSpPr txBox="1"/>
          <p:nvPr/>
        </p:nvSpPr>
        <p:spPr>
          <a:xfrm>
            <a:off x="9624080" y="4344805"/>
            <a:ext cx="612000" cy="459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2" name="TextBox 33"/>
          <p:cNvSpPr txBox="1"/>
          <p:nvPr/>
        </p:nvSpPr>
        <p:spPr>
          <a:xfrm>
            <a:off x="10530366" y="4097252"/>
            <a:ext cx="4791600" cy="95410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altLang="ja-JP" sz="2800" b="1" dirty="0" smtClean="0">
                <a:solidFill>
                  <a:srgbClr val="013CA6"/>
                </a:solidFill>
              </a:rPr>
              <a:t>A</a:t>
            </a:r>
            <a:r>
              <a:rPr lang="ja-JP" altLang="en-US" sz="2800" b="1" dirty="0" smtClean="0">
                <a:solidFill>
                  <a:srgbClr val="013CA6"/>
                </a:solidFill>
              </a:rPr>
              <a:t>を訪問</a:t>
            </a:r>
            <a:r>
              <a:rPr lang="en-US" altLang="ja-JP" sz="2800" b="1" dirty="0" smtClean="0">
                <a:solidFill>
                  <a:srgbClr val="013CA6"/>
                </a:solidFill>
              </a:rPr>
              <a:t>(</a:t>
            </a:r>
            <a:r>
              <a:rPr lang="en-US" altLang="ja-JP" sz="2800" b="1" dirty="0">
                <a:solidFill>
                  <a:srgbClr val="013CA6"/>
                </a:solidFill>
              </a:rPr>
              <a:t>pop</a:t>
            </a:r>
            <a:r>
              <a:rPr lang="en-US" altLang="ja-JP" sz="2800" b="1" dirty="0" smtClean="0">
                <a:solidFill>
                  <a:srgbClr val="013CA6"/>
                </a:solidFill>
              </a:rPr>
              <a:t>)</a:t>
            </a:r>
          </a:p>
          <a:p>
            <a:pPr algn="l"/>
            <a:r>
              <a:rPr lang="ja-JP" altLang="en-US" sz="2800" b="1" dirty="0" smtClean="0">
                <a:solidFill>
                  <a:srgbClr val="013CA6"/>
                </a:solidFill>
              </a:rPr>
              <a:t>子</a:t>
            </a:r>
            <a:r>
              <a:rPr lang="ja-JP" altLang="en-US" sz="2800" b="1" dirty="0" smtClean="0">
                <a:solidFill>
                  <a:srgbClr val="013CA6"/>
                </a:solidFill>
              </a:rPr>
              <a:t>をキューに追加す</a:t>
            </a:r>
            <a:r>
              <a:rPr lang="ja-JP" altLang="en-US" sz="2800" b="1" dirty="0" smtClean="0">
                <a:solidFill>
                  <a:srgbClr val="013CA6"/>
                </a:solidFill>
              </a:rPr>
              <a:t>る</a:t>
            </a:r>
            <a:r>
              <a:rPr lang="en-US" altLang="ja-JP" sz="2800" b="1" dirty="0" smtClean="0">
                <a:solidFill>
                  <a:srgbClr val="013CA6"/>
                </a:solidFill>
              </a:rPr>
              <a:t>(push)</a:t>
            </a:r>
            <a:endParaRPr sz="2800" b="1" dirty="0">
              <a:solidFill>
                <a:srgbClr val="013CA6"/>
              </a:solidFill>
            </a:endParaRPr>
          </a:p>
        </p:txBody>
      </p:sp>
      <p:sp>
        <p:nvSpPr>
          <p:cNvPr id="123" name="Rectangle 34"/>
          <p:cNvSpPr/>
          <p:nvPr/>
        </p:nvSpPr>
        <p:spPr>
          <a:xfrm>
            <a:off x="16013089" y="4304305"/>
            <a:ext cx="1005893" cy="540000"/>
          </a:xfrm>
          <a:prstGeom prst="rect">
            <a:avLst/>
          </a:prstGeom>
          <a:solidFill>
            <a:srgbClr val="BDE4FC"/>
          </a:solidFill>
          <a:ln w="19050">
            <a:solidFill>
              <a:srgbClr val="013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3600" dirty="0">
                <a:solidFill>
                  <a:schemeClr val="tx1"/>
                </a:solidFill>
              </a:rPr>
              <a:t>B</a:t>
            </a:r>
            <a:endParaRPr sz="3600" dirty="0">
              <a:solidFill>
                <a:schemeClr val="tx1"/>
              </a:solidFill>
            </a:endParaRPr>
          </a:p>
        </p:txBody>
      </p:sp>
      <p:sp>
        <p:nvSpPr>
          <p:cNvPr id="124" name="Rectangle 34"/>
          <p:cNvSpPr/>
          <p:nvPr/>
        </p:nvSpPr>
        <p:spPr>
          <a:xfrm>
            <a:off x="17017932" y="4304305"/>
            <a:ext cx="1005893" cy="540000"/>
          </a:xfrm>
          <a:prstGeom prst="rect">
            <a:avLst/>
          </a:prstGeom>
          <a:solidFill>
            <a:srgbClr val="BDE4FC"/>
          </a:solidFill>
          <a:ln w="19050">
            <a:solidFill>
              <a:srgbClr val="013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3600" dirty="0">
                <a:solidFill>
                  <a:schemeClr val="tx1"/>
                </a:solidFill>
              </a:rPr>
              <a:t>C</a:t>
            </a:r>
            <a:endParaRPr sz="3600" dirty="0">
              <a:solidFill>
                <a:schemeClr val="tx1"/>
              </a:solidFill>
            </a:endParaRPr>
          </a:p>
        </p:txBody>
      </p:sp>
      <p:sp>
        <p:nvSpPr>
          <p:cNvPr id="125" name="Oval 38"/>
          <p:cNvSpPr/>
          <p:nvPr/>
        </p:nvSpPr>
        <p:spPr>
          <a:xfrm>
            <a:off x="9624080" y="5745576"/>
            <a:ext cx="612000" cy="612000"/>
          </a:xfrm>
          <a:prstGeom prst="ellipse">
            <a:avLst/>
          </a:prstGeom>
          <a:solidFill>
            <a:srgbClr val="013CA6"/>
          </a:solidFill>
          <a:ln w="31750">
            <a:solidFill>
              <a:srgbClr val="013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39"/>
          <p:cNvSpPr txBox="1"/>
          <p:nvPr/>
        </p:nvSpPr>
        <p:spPr>
          <a:xfrm>
            <a:off x="9624080" y="5822076"/>
            <a:ext cx="612000" cy="459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7" name="TextBox 40"/>
          <p:cNvSpPr txBox="1"/>
          <p:nvPr/>
        </p:nvSpPr>
        <p:spPr>
          <a:xfrm>
            <a:off x="10530366" y="5359079"/>
            <a:ext cx="4791600" cy="138499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altLang="ja-JP" sz="2800" b="1" dirty="0" smtClean="0">
                <a:solidFill>
                  <a:srgbClr val="013CA6"/>
                </a:solidFill>
              </a:rPr>
              <a:t>B</a:t>
            </a:r>
            <a:r>
              <a:rPr lang="ja-JP" altLang="en-US" sz="2800" b="1" dirty="0" smtClean="0">
                <a:solidFill>
                  <a:srgbClr val="013CA6"/>
                </a:solidFill>
              </a:rPr>
              <a:t>を訪問</a:t>
            </a:r>
            <a:r>
              <a:rPr lang="en-US" altLang="ja-JP" sz="2800" b="1" dirty="0" smtClean="0">
                <a:solidFill>
                  <a:srgbClr val="013CA6"/>
                </a:solidFill>
              </a:rPr>
              <a:t>(pop)</a:t>
            </a:r>
          </a:p>
          <a:p>
            <a:r>
              <a:rPr lang="ja-JP" altLang="en-US" sz="2800" b="1" dirty="0">
                <a:solidFill>
                  <a:srgbClr val="013CA6"/>
                </a:solidFill>
              </a:rPr>
              <a:t>子を次の訪問先とする</a:t>
            </a:r>
            <a:r>
              <a:rPr lang="en-US" altLang="ja-JP" sz="2800" b="1" dirty="0">
                <a:solidFill>
                  <a:srgbClr val="013CA6"/>
                </a:solidFill>
              </a:rPr>
              <a:t>(push</a:t>
            </a:r>
            <a:r>
              <a:rPr lang="en-US" altLang="ja-JP" sz="2800" b="1" dirty="0" smtClean="0">
                <a:solidFill>
                  <a:srgbClr val="013CA6"/>
                </a:solidFill>
              </a:rPr>
              <a:t>)</a:t>
            </a:r>
            <a:endParaRPr lang="en-US" altLang="ja-JP" sz="2800" b="1" dirty="0">
              <a:solidFill>
                <a:srgbClr val="013CA6"/>
              </a:solidFill>
            </a:endParaRPr>
          </a:p>
        </p:txBody>
      </p:sp>
      <p:sp>
        <p:nvSpPr>
          <p:cNvPr id="128" name="Rectangle 34"/>
          <p:cNvSpPr/>
          <p:nvPr/>
        </p:nvSpPr>
        <p:spPr>
          <a:xfrm>
            <a:off x="16013089" y="5781576"/>
            <a:ext cx="1005893" cy="540000"/>
          </a:xfrm>
          <a:prstGeom prst="rect">
            <a:avLst/>
          </a:prstGeom>
          <a:solidFill>
            <a:srgbClr val="BDE4FC"/>
          </a:solidFill>
          <a:ln w="19050">
            <a:solidFill>
              <a:srgbClr val="013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3600" dirty="0">
                <a:solidFill>
                  <a:schemeClr val="tx1"/>
                </a:solidFill>
              </a:rPr>
              <a:t>C</a:t>
            </a:r>
            <a:endParaRPr sz="3600" dirty="0">
              <a:solidFill>
                <a:schemeClr val="tx1"/>
              </a:solidFill>
            </a:endParaRPr>
          </a:p>
        </p:txBody>
      </p:sp>
      <p:sp>
        <p:nvSpPr>
          <p:cNvPr id="129" name="Rectangle 34"/>
          <p:cNvSpPr/>
          <p:nvPr/>
        </p:nvSpPr>
        <p:spPr>
          <a:xfrm>
            <a:off x="17031508" y="5781576"/>
            <a:ext cx="1005893" cy="540000"/>
          </a:xfrm>
          <a:prstGeom prst="rect">
            <a:avLst/>
          </a:prstGeom>
          <a:solidFill>
            <a:srgbClr val="BDE4FC"/>
          </a:solidFill>
          <a:ln w="19050">
            <a:solidFill>
              <a:srgbClr val="013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3600" dirty="0">
                <a:solidFill>
                  <a:schemeClr val="tx1"/>
                </a:solidFill>
              </a:rPr>
              <a:t>D</a:t>
            </a:r>
            <a:endParaRPr sz="3600" dirty="0">
              <a:solidFill>
                <a:schemeClr val="tx1"/>
              </a:solidFill>
            </a:endParaRPr>
          </a:p>
        </p:txBody>
      </p:sp>
      <p:sp>
        <p:nvSpPr>
          <p:cNvPr id="130" name="Rectangle 34"/>
          <p:cNvSpPr/>
          <p:nvPr/>
        </p:nvSpPr>
        <p:spPr>
          <a:xfrm>
            <a:off x="18037400" y="5781576"/>
            <a:ext cx="1005893" cy="540000"/>
          </a:xfrm>
          <a:prstGeom prst="rect">
            <a:avLst/>
          </a:prstGeom>
          <a:solidFill>
            <a:srgbClr val="BDE4FC"/>
          </a:solidFill>
          <a:ln w="19050">
            <a:solidFill>
              <a:srgbClr val="013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3600" dirty="0" smtClean="0">
                <a:solidFill>
                  <a:schemeClr val="tx1"/>
                </a:solidFill>
              </a:rPr>
              <a:t>E</a:t>
            </a:r>
            <a:endParaRPr sz="3600" dirty="0">
              <a:solidFill>
                <a:schemeClr val="tx1"/>
              </a:solidFill>
            </a:endParaRPr>
          </a:p>
        </p:txBody>
      </p:sp>
      <p:sp>
        <p:nvSpPr>
          <p:cNvPr id="131" name="Oval 47"/>
          <p:cNvSpPr/>
          <p:nvPr/>
        </p:nvSpPr>
        <p:spPr>
          <a:xfrm>
            <a:off x="9624080" y="7174904"/>
            <a:ext cx="612000" cy="612000"/>
          </a:xfrm>
          <a:prstGeom prst="ellipse">
            <a:avLst/>
          </a:prstGeom>
          <a:solidFill>
            <a:srgbClr val="013CA6"/>
          </a:solidFill>
          <a:ln w="31750">
            <a:solidFill>
              <a:srgbClr val="013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48"/>
          <p:cNvSpPr txBox="1"/>
          <p:nvPr/>
        </p:nvSpPr>
        <p:spPr>
          <a:xfrm>
            <a:off x="9624080" y="7251404"/>
            <a:ext cx="612000" cy="459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33" name="TextBox 49"/>
          <p:cNvSpPr txBox="1"/>
          <p:nvPr/>
        </p:nvSpPr>
        <p:spPr>
          <a:xfrm>
            <a:off x="10530366" y="7219295"/>
            <a:ext cx="47916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altLang="ja-JP" sz="2800" b="1" dirty="0">
                <a:solidFill>
                  <a:srgbClr val="013CA6"/>
                </a:solidFill>
              </a:rPr>
              <a:t>C</a:t>
            </a:r>
            <a:r>
              <a:rPr lang="ja-JP" altLang="en-US" sz="2800" b="1" dirty="0" smtClean="0">
                <a:solidFill>
                  <a:srgbClr val="013CA6"/>
                </a:solidFill>
              </a:rPr>
              <a:t>を</a:t>
            </a:r>
            <a:r>
              <a:rPr lang="ja-JP" altLang="en-US" sz="2800" b="1" dirty="0">
                <a:solidFill>
                  <a:srgbClr val="013CA6"/>
                </a:solidFill>
              </a:rPr>
              <a:t>訪問</a:t>
            </a:r>
            <a:r>
              <a:rPr lang="en-US" altLang="ja-JP" sz="2800" b="1" dirty="0">
                <a:solidFill>
                  <a:srgbClr val="013CA6"/>
                </a:solidFill>
              </a:rPr>
              <a:t>(pop</a:t>
            </a:r>
            <a:r>
              <a:rPr lang="en-US" altLang="ja-JP" sz="2800" b="1" dirty="0" smtClean="0">
                <a:solidFill>
                  <a:srgbClr val="013CA6"/>
                </a:solidFill>
              </a:rPr>
              <a:t>)</a:t>
            </a:r>
            <a:endParaRPr lang="en-US" altLang="ja-JP" sz="2800" b="1" dirty="0">
              <a:solidFill>
                <a:srgbClr val="013CA6"/>
              </a:solidFill>
            </a:endParaRPr>
          </a:p>
        </p:txBody>
      </p:sp>
      <p:sp>
        <p:nvSpPr>
          <p:cNvPr id="134" name="Rectangle 34"/>
          <p:cNvSpPr/>
          <p:nvPr/>
        </p:nvSpPr>
        <p:spPr>
          <a:xfrm>
            <a:off x="16013089" y="7210904"/>
            <a:ext cx="1005893" cy="540000"/>
          </a:xfrm>
          <a:prstGeom prst="rect">
            <a:avLst/>
          </a:prstGeom>
          <a:solidFill>
            <a:srgbClr val="BDE4FC"/>
          </a:solidFill>
          <a:ln w="19050">
            <a:solidFill>
              <a:srgbClr val="013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3600" dirty="0">
                <a:solidFill>
                  <a:schemeClr val="tx1"/>
                </a:solidFill>
              </a:rPr>
              <a:t>D</a:t>
            </a:r>
            <a:endParaRPr sz="3600" dirty="0">
              <a:solidFill>
                <a:schemeClr val="tx1"/>
              </a:solidFill>
            </a:endParaRPr>
          </a:p>
        </p:txBody>
      </p:sp>
      <p:sp>
        <p:nvSpPr>
          <p:cNvPr id="135" name="Rectangle 34"/>
          <p:cNvSpPr/>
          <p:nvPr/>
        </p:nvSpPr>
        <p:spPr>
          <a:xfrm>
            <a:off x="17044033" y="7210904"/>
            <a:ext cx="1005893" cy="540000"/>
          </a:xfrm>
          <a:prstGeom prst="rect">
            <a:avLst/>
          </a:prstGeom>
          <a:solidFill>
            <a:srgbClr val="BDE4FC"/>
          </a:solidFill>
          <a:ln w="19050">
            <a:solidFill>
              <a:srgbClr val="013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3600" dirty="0" smtClean="0">
                <a:solidFill>
                  <a:schemeClr val="tx1"/>
                </a:solidFill>
              </a:rPr>
              <a:t>E</a:t>
            </a:r>
            <a:endParaRPr sz="3600" dirty="0">
              <a:solidFill>
                <a:schemeClr val="tx1"/>
              </a:solidFill>
            </a:endParaRPr>
          </a:p>
        </p:txBody>
      </p:sp>
      <p:sp>
        <p:nvSpPr>
          <p:cNvPr id="136" name="Oval 54"/>
          <p:cNvSpPr/>
          <p:nvPr/>
        </p:nvSpPr>
        <p:spPr>
          <a:xfrm>
            <a:off x="9624080" y="8556289"/>
            <a:ext cx="612000" cy="612000"/>
          </a:xfrm>
          <a:prstGeom prst="ellipse">
            <a:avLst/>
          </a:prstGeom>
          <a:solidFill>
            <a:srgbClr val="013CA6"/>
          </a:solidFill>
          <a:ln w="31750">
            <a:solidFill>
              <a:srgbClr val="013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55"/>
          <p:cNvSpPr txBox="1"/>
          <p:nvPr/>
        </p:nvSpPr>
        <p:spPr>
          <a:xfrm>
            <a:off x="9624080" y="8632789"/>
            <a:ext cx="612000" cy="459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38" name="TextBox 56"/>
          <p:cNvSpPr txBox="1"/>
          <p:nvPr/>
        </p:nvSpPr>
        <p:spPr>
          <a:xfrm>
            <a:off x="10530366" y="8600680"/>
            <a:ext cx="47916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altLang="ja-JP" sz="2800" b="1" dirty="0">
                <a:solidFill>
                  <a:srgbClr val="013CA6"/>
                </a:solidFill>
              </a:rPr>
              <a:t>D</a:t>
            </a:r>
            <a:r>
              <a:rPr lang="ja-JP" altLang="en-US" sz="2800" b="1" dirty="0" smtClean="0">
                <a:solidFill>
                  <a:srgbClr val="013CA6"/>
                </a:solidFill>
              </a:rPr>
              <a:t>を</a:t>
            </a:r>
            <a:r>
              <a:rPr lang="ja-JP" altLang="en-US" sz="2800" b="1" dirty="0">
                <a:solidFill>
                  <a:srgbClr val="013CA6"/>
                </a:solidFill>
              </a:rPr>
              <a:t>訪問</a:t>
            </a:r>
            <a:r>
              <a:rPr lang="en-US" altLang="ja-JP" sz="2800" b="1" dirty="0">
                <a:solidFill>
                  <a:srgbClr val="013CA6"/>
                </a:solidFill>
              </a:rPr>
              <a:t>(pop)</a:t>
            </a:r>
          </a:p>
        </p:txBody>
      </p:sp>
      <p:sp>
        <p:nvSpPr>
          <p:cNvPr id="139" name="Rectangle 34"/>
          <p:cNvSpPr/>
          <p:nvPr/>
        </p:nvSpPr>
        <p:spPr>
          <a:xfrm>
            <a:off x="16013089" y="8592289"/>
            <a:ext cx="1005893" cy="540000"/>
          </a:xfrm>
          <a:prstGeom prst="rect">
            <a:avLst/>
          </a:prstGeom>
          <a:solidFill>
            <a:srgbClr val="BDE4FC"/>
          </a:solidFill>
          <a:ln w="19050">
            <a:solidFill>
              <a:srgbClr val="013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3600" dirty="0">
                <a:solidFill>
                  <a:schemeClr val="tx1"/>
                </a:solidFill>
              </a:rPr>
              <a:t>E</a:t>
            </a:r>
            <a:endParaRPr sz="3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</TotalTime>
  <Words>117</Words>
  <Application>Microsoft Office PowerPoint</Application>
  <PresentationFormat>ユーザー設定</PresentationFormat>
  <Paragraphs>33</Paragraphs>
  <Slides>1</Slides>
  <Notes>0</Notes>
  <HiddenSlides>0</HiddenSlides>
  <MMClips>0</MMClips>
  <ScaleCrop>false</ScaleCrop>
  <HeadingPairs>
    <vt:vector size="4" baseType="variant"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2" baseType="lpstr">
      <vt:lpstr>Office Theme</vt:lpstr>
      <vt:lpstr>PowerPoint プレゼンテーション</vt:lpstr>
    </vt:vector>
  </TitlesOfParts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shining</dc:creator>
  <dc:description>generated using python-pptx</dc:description>
  <cp:lastModifiedBy>shining</cp:lastModifiedBy>
  <cp:revision>5</cp:revision>
  <dcterms:created xsi:type="dcterms:W3CDTF">2013-01-27T09:14:16Z</dcterms:created>
  <dcterms:modified xsi:type="dcterms:W3CDTF">2026-06-06T11:43:29Z</dcterms:modified>
</cp:coreProperties>
</file>