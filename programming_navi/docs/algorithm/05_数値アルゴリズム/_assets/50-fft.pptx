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20210400" cy="93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FFT — DFT を O(n²) → O(n log n) に高速化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368000"/>
            <a:ext cx="1980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4000" y="1368000"/>
            <a:ext cx="1951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離散フーリエ変換 (DFT)</a:t>
            </a:r>
          </a:p>
        </p:txBody>
      </p:sp>
      <p:sp>
        <p:nvSpPr>
          <p:cNvPr id="6" name="Rectangle 5"/>
          <p:cNvSpPr/>
          <p:nvPr/>
        </p:nvSpPr>
        <p:spPr>
          <a:xfrm>
            <a:off x="900000" y="2015999"/>
            <a:ext cx="19440000" cy="115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" y="2015999"/>
            <a:ext cx="19080000" cy="115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013CA6"/>
                </a:solidFill>
              </a:rPr>
              <a:t>Xₖ = Σⱼ₌₀ⁿ⁻¹ xⱼ × ωₙʲᵏ     （ωₙ = e^(2πi/n) : 原始 n 乗根）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3420000"/>
            <a:ext cx="1980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000" y="3420000"/>
            <a:ext cx="1951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Cooley-Tukey FFT の分割統治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000" y="4068000"/>
            <a:ext cx="18000000" cy="115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</a:rPr>
              <a:t>偶数インデックス  x_even = [x₀, x₂, x₄, ...]
奇数インデックス  x_odd  = [x₁, x₃, x₅, ...]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" y="5328000"/>
            <a:ext cx="1944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000" y="5328000"/>
            <a:ext cx="19080000" cy="1007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Xₖ = FFT(x_even)ₖ + ωₙᵏ × FFT(x_odd)ₖ
Xₖ₊ₙ/₂ = FFT(x_even)ₖ − ωₙᵏ × FFT(x_odd)ₖ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6588000"/>
            <a:ext cx="1980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000" y="6588000"/>
            <a:ext cx="1951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バタフライ演算（n=8 の場合）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0000" y="7200000"/>
            <a:ext cx="4320000" cy="46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EBA81A"/>
                </a:solidFill>
              </a:rPr>
              <a:t>bit逆順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0000" y="7740000"/>
            <a:ext cx="4320000" cy="612000"/>
          </a:xfrm>
          <a:prstGeom prst="rect">
            <a:avLst/>
          </a:prstGeom>
          <a:solidFill>
            <a:srgbClr val="BDE4FC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0000" y="7740000"/>
            <a:ext cx="4320000" cy="61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x[0]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80000" y="8460000"/>
            <a:ext cx="4320000" cy="612000"/>
          </a:xfrm>
          <a:prstGeom prst="rect">
            <a:avLst/>
          </a:prstGeom>
          <a:solidFill>
            <a:srgbClr val="BDE4FC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0000" y="8460000"/>
            <a:ext cx="4320000" cy="61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x[2]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80000" y="9180000"/>
            <a:ext cx="4320000" cy="612000"/>
          </a:xfrm>
          <a:prstGeom prst="rect">
            <a:avLst/>
          </a:prstGeom>
          <a:solidFill>
            <a:srgbClr val="BDE4FC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0000" y="9180000"/>
            <a:ext cx="4320000" cy="61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x[4]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80000" y="9900000"/>
            <a:ext cx="4320000" cy="612000"/>
          </a:xfrm>
          <a:prstGeom prst="rect">
            <a:avLst/>
          </a:prstGeom>
          <a:solidFill>
            <a:srgbClr val="BDE4FC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0000" y="9900000"/>
            <a:ext cx="4320000" cy="61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x[6]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000" y="7200000"/>
            <a:ext cx="4320000" cy="46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EBA81A"/>
                </a:solidFill>
              </a:rPr>
              <a:t>長さ2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000" y="7740000"/>
            <a:ext cx="4320000" cy="61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000" y="7740000"/>
            <a:ext cx="4320000" cy="61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FFT(2)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000" y="8460000"/>
            <a:ext cx="4320000" cy="61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000" y="8460000"/>
            <a:ext cx="4320000" cy="61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FFT(2)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000" y="9180000"/>
            <a:ext cx="4320000" cy="61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000" y="9180000"/>
            <a:ext cx="4320000" cy="61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FFT(2)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000" y="9900000"/>
            <a:ext cx="4320000" cy="61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000" y="9900000"/>
            <a:ext cx="4320000" cy="61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FFT(2)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40000" y="7200000"/>
            <a:ext cx="4320000" cy="46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EBA81A"/>
                </a:solidFill>
              </a:rPr>
              <a:t>長さ4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440000" y="7740000"/>
            <a:ext cx="4320000" cy="61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40000" y="7740000"/>
            <a:ext cx="4320000" cy="61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FFT(4)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440000" y="9180000"/>
            <a:ext cx="4320000" cy="61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40000" y="9180000"/>
            <a:ext cx="4320000" cy="61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FFT(4)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120000" y="7200000"/>
            <a:ext cx="4320000" cy="46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EBA81A"/>
                </a:solidFill>
              </a:rPr>
              <a:t>長さ8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120000" y="7740000"/>
            <a:ext cx="4320000" cy="612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5120000" y="7740000"/>
            <a:ext cx="4320000" cy="61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FFT(8)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0000" y="10728000"/>
            <a:ext cx="19800000" cy="90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8000" y="10782000"/>
            <a:ext cx="19584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</a:rPr>
              <a:t>再帰的に半分ずつに分割 → T(n) = 2T(n/2) + O(n) → O(n log n)
比較: DFT は O(n²)。n=1024 で約 100 倍の差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20210400" cy="93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FFT の応用 — 多項式の乗算 O(n log 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368000"/>
            <a:ext cx="1980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4000" y="1368000"/>
            <a:ext cx="1951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多項式乗算のステップ</a:t>
            </a:r>
          </a:p>
        </p:txBody>
      </p:sp>
      <p:sp>
        <p:nvSpPr>
          <p:cNvPr id="6" name="Oval 5"/>
          <p:cNvSpPr/>
          <p:nvPr/>
        </p:nvSpPr>
        <p:spPr>
          <a:xfrm>
            <a:off x="936000" y="2088000"/>
            <a:ext cx="864000" cy="864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6000" y="2339999"/>
            <a:ext cx="864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0000" y="2088000"/>
            <a:ext cx="792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013CA6"/>
                </a:solidFill>
              </a:rPr>
              <a:t>係数表現→点値表現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0" y="2880000"/>
            <a:ext cx="10080000" cy="1007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</a:rPr>
              <a:t>A=[2,3,1], B=[1,2,3] を FFT で変換
O(n log n)</a:t>
            </a:r>
          </a:p>
        </p:txBody>
      </p:sp>
      <p:sp>
        <p:nvSpPr>
          <p:cNvPr id="10" name="Oval 9"/>
          <p:cNvSpPr/>
          <p:nvPr/>
        </p:nvSpPr>
        <p:spPr>
          <a:xfrm>
            <a:off x="936000" y="4103999"/>
            <a:ext cx="864000" cy="864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6000" y="4355998"/>
            <a:ext cx="864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0000" y="4103999"/>
            <a:ext cx="792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013CA6"/>
                </a:solidFill>
              </a:rPr>
              <a:t>点値の要素積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60000" y="4895999"/>
            <a:ext cx="10080000" cy="1007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</a:rPr>
              <a:t>C[k] = A_fft[k] × B_fft[k]
O(n)</a:t>
            </a:r>
          </a:p>
        </p:txBody>
      </p:sp>
      <p:sp>
        <p:nvSpPr>
          <p:cNvPr id="14" name="Oval 13"/>
          <p:cNvSpPr/>
          <p:nvPr/>
        </p:nvSpPr>
        <p:spPr>
          <a:xfrm>
            <a:off x="936000" y="6119998"/>
            <a:ext cx="864000" cy="864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6000" y="6371997"/>
            <a:ext cx="864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60000" y="6119998"/>
            <a:ext cx="792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013CA6"/>
                </a:solidFill>
              </a:rPr>
              <a:t>点値→係数表現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60000" y="6911998"/>
            <a:ext cx="10080000" cy="1007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</a:rPr>
              <a:t>逆 FFT で C の係数列を復元
O(n log n)</a:t>
            </a:r>
          </a:p>
        </p:txBody>
      </p:sp>
      <p:sp>
        <p:nvSpPr>
          <p:cNvPr id="18" name="Oval 17"/>
          <p:cNvSpPr/>
          <p:nvPr/>
        </p:nvSpPr>
        <p:spPr>
          <a:xfrm>
            <a:off x="936000" y="8135997"/>
            <a:ext cx="864000" cy="864000"/>
          </a:xfrm>
          <a:prstGeom prst="ellipse">
            <a:avLst/>
          </a:prstGeom>
          <a:solidFill>
            <a:srgbClr val="00B050"/>
          </a:solidFill>
          <a:ln w="317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6000" y="8387996"/>
            <a:ext cx="864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60000" y="8135997"/>
            <a:ext cx="792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013CA6"/>
                </a:solidFill>
              </a:rPr>
              <a:t>C = [2, 7, 13, 11, 3]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60000" y="8927997"/>
            <a:ext cx="10080000" cy="1007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</a:rPr>
              <a:t>A(x)×B(x) = 2 + 7x + 13x² + 11x³ + 3x⁴
O(n log n) で完成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400000" y="1368000"/>
            <a:ext cx="612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544000" y="1368000"/>
            <a:ext cx="583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計算量の比較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580000" y="2160000"/>
            <a:ext cx="360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580000" y="2160000"/>
            <a:ext cx="36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</a:rPr>
              <a:t>素朴な乗算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00" y="2160000"/>
            <a:ext cx="234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00" y="2160000"/>
            <a:ext cx="234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</a:rPr>
              <a:t>O(n²)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580000" y="2880000"/>
            <a:ext cx="360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580000" y="2880000"/>
            <a:ext cx="36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</a:rPr>
              <a:t>DFT + 乗算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00" y="2880000"/>
            <a:ext cx="234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288000" y="2880000"/>
            <a:ext cx="234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</a:rPr>
              <a:t>O(n²)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580000" y="3600000"/>
            <a:ext cx="3600000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580000" y="3600000"/>
            <a:ext cx="36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</a:rPr>
              <a:t>FFT + 乗算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00" y="3600000"/>
            <a:ext cx="2340000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288000" y="3600000"/>
            <a:ext cx="234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B050"/>
                </a:solidFill>
              </a:rPr>
              <a:t>O(n log n)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580000" y="4320000"/>
            <a:ext cx="3600000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580000" y="4320000"/>
            <a:ext cx="36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</a:rPr>
              <a:t>NTT（整数mod）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00" y="4320000"/>
            <a:ext cx="2340000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288000" y="4320000"/>
            <a:ext cx="234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B050"/>
                </a:solidFill>
              </a:rPr>
              <a:t>O(n log n)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4400000" y="5580000"/>
            <a:ext cx="612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544000" y="5580000"/>
            <a:ext cx="583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NTT（数論変換）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760000" y="6228000"/>
            <a:ext cx="5400000" cy="39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</a:rPr>
              <a:t>浮動小数点誤差なしの FFT
mod p（p = c×2ᵏ+1 形式の素数）
例: p = 998244353 = 119×2²³+1
競プロでの多項式演算に最適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0000" y="10728000"/>
            <a:ext cx="19800000" cy="90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8000" y="10782000"/>
            <a:ext cx="19584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</a:rPr>
              <a:t>FFT の応用: 多項式積・大整数乗算・畳み込み（信号処理・画像処理）
入力サイズは 2 の冪乗に揃える（ゼロ埋め）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