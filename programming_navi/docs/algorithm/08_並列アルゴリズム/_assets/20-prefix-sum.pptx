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16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並列前置和（Parallel Prefix Sum / Scan）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19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</a:rPr>
              <a:t>Hillis-Steele Scan  /  Blelloch Scan（work-efficient）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728000"/>
            <a:ext cx="1800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728000"/>
            <a:ext cx="18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Hillis-Steele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26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606060"/>
                </a:solidFill>
              </a:rPr>
              <a:t>入力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2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2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4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6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6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8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8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0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0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32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32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64000" y="259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64000" y="259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2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4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6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8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0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32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64000" y="2304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[7]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324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Step 1  stride=1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840540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75842772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5845004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5847236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5849468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51700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5853932000" y="3420000"/>
            <a:ext cx="2232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40000" y="3600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72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2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04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6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6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68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8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700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00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932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932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164000" y="360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164000" y="360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0000" y="421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Step 2  stride=2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840540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75842772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75845004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75847236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75849468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5851700000" y="4356000"/>
            <a:ext cx="4464000" cy="108000"/>
          </a:xfrm>
          <a:prstGeom prst="line">
            <a:avLst/>
          </a:prstGeom>
          <a:ln w="19050">
            <a:solidFill>
              <a:srgbClr val="BDE4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40000" y="457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0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72000" y="4572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72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04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4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36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36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68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8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700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700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32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932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164000" y="4572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164000" y="4572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13CA6"/>
                </a:solidFill>
              </a:rP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0000" y="52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Step 3  stride=4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75840540000" y="5364000"/>
            <a:ext cx="8928000" cy="10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75842772000" y="5364000"/>
            <a:ext cx="8928000" cy="10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75845004000" y="5364000"/>
            <a:ext cx="8928000" cy="10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75847236000" y="5364000"/>
            <a:ext cx="8928000" cy="10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540000" y="5580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0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72000" y="5580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72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04000" y="5580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04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36000" y="5580000"/>
            <a:ext cx="2088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36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68000" y="5580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68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700000" y="5580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700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932000" y="5580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32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164000" y="5580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164000" y="558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0000" y="6192000"/>
            <a:ext cx="7920000" cy="468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0000" y="6192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結果（inclusive scan）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0000" y="6732000"/>
            <a:ext cx="18000000" cy="46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8000" y="6732000"/>
            <a:ext cx="1789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06060"/>
                </a:solidFill>
              </a:rPr>
              <a:t>ワーク量: O(n log n)（非効率）  ステップ数: O(log n)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0000" y="7380000"/>
            <a:ext cx="18000000" cy="503999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0000" y="7380000"/>
            <a:ext cx="18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Blelloch Scan（work-efficient）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0000" y="7992000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① Up-sweep（reduce）: 部分和ツリーを構築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0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0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3</a:t>
            </a:r>
          </a:p>
        </p:txBody>
      </p:sp>
      <p:cxnSp>
        <p:nvCxnSpPr>
          <p:cNvPr id="109" name="Connector 108"/>
          <p:cNvCxnSpPr/>
          <p:nvPr/>
        </p:nvCxnSpPr>
        <p:spPr>
          <a:xfrm flipV="1">
            <a:off x="1440000.0" y="11555999"/>
            <a:ext cx="1295999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3131999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31999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1</a:t>
            </a:r>
          </a:p>
        </p:txBody>
      </p:sp>
      <p:cxnSp>
        <p:nvCxnSpPr>
          <p:cNvPr id="112" name="Connector 111"/>
          <p:cNvCxnSpPr/>
          <p:nvPr/>
        </p:nvCxnSpPr>
        <p:spPr>
          <a:xfrm flipH="1" flipV="1">
            <a:off x="2735999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5724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24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4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6624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8316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16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1</a:t>
            </a:r>
          </a:p>
        </p:txBody>
      </p:sp>
      <p:cxnSp>
        <p:nvCxnSpPr>
          <p:cNvPr id="118" name="Connector 117"/>
          <p:cNvCxnSpPr/>
          <p:nvPr/>
        </p:nvCxnSpPr>
        <p:spPr>
          <a:xfrm flipH="1" flipV="1">
            <a:off x="7920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10908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08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5</a:t>
            </a:r>
          </a:p>
        </p:txBody>
      </p:sp>
      <p:cxnSp>
        <p:nvCxnSpPr>
          <p:cNvPr id="121" name="Connector 120"/>
          <p:cNvCxnSpPr/>
          <p:nvPr/>
        </p:nvCxnSpPr>
        <p:spPr>
          <a:xfrm flipV="1">
            <a:off x="11808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13500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3500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9</a:t>
            </a:r>
          </a:p>
        </p:txBody>
      </p:sp>
      <p:cxnSp>
        <p:nvCxnSpPr>
          <p:cNvPr id="124" name="Connector 123"/>
          <p:cNvCxnSpPr/>
          <p:nvPr/>
        </p:nvCxnSpPr>
        <p:spPr>
          <a:xfrm flipH="1" flipV="1">
            <a:off x="13104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16092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6092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2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16992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18684000" y="11772000"/>
            <a:ext cx="1800000" cy="503999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684000" y="1177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</a:rPr>
              <a:t>6</a:t>
            </a:r>
          </a:p>
        </p:txBody>
      </p:sp>
      <p:cxnSp>
        <p:nvCxnSpPr>
          <p:cNvPr id="130" name="Connector 129"/>
          <p:cNvCxnSpPr/>
          <p:nvPr/>
        </p:nvCxnSpPr>
        <p:spPr>
          <a:xfrm flipH="1" flipV="1">
            <a:off x="18288000.0" y="11555999"/>
            <a:ext cx="1296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835999" y="1105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835999" y="1105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4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2735999.0" y="10835999"/>
            <a:ext cx="2592001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7020000" y="1105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20000" y="1105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5</a:t>
            </a:r>
          </a:p>
        </p:txBody>
      </p:sp>
      <p:cxnSp>
        <p:nvCxnSpPr>
          <p:cNvPr id="136" name="Connector 135"/>
          <p:cNvCxnSpPr/>
          <p:nvPr/>
        </p:nvCxnSpPr>
        <p:spPr>
          <a:xfrm flipH="1" flipV="1">
            <a:off x="5328000.0" y="10835999"/>
            <a:ext cx="2592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12204000" y="1105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204000" y="1105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14</a:t>
            </a:r>
          </a:p>
        </p:txBody>
      </p:sp>
      <p:cxnSp>
        <p:nvCxnSpPr>
          <p:cNvPr id="139" name="Connector 138"/>
          <p:cNvCxnSpPr/>
          <p:nvPr/>
        </p:nvCxnSpPr>
        <p:spPr>
          <a:xfrm flipV="1">
            <a:off x="13104000.0" y="10835999"/>
            <a:ext cx="2592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7388000" y="1105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7388000" y="1105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8</a:t>
            </a:r>
          </a:p>
        </p:txBody>
      </p:sp>
      <p:cxnSp>
        <p:nvCxnSpPr>
          <p:cNvPr id="142" name="Connector 141"/>
          <p:cNvCxnSpPr/>
          <p:nvPr/>
        </p:nvCxnSpPr>
        <p:spPr>
          <a:xfrm flipH="1" flipV="1">
            <a:off x="15696000.0" y="10835999"/>
            <a:ext cx="2592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4428000" y="1033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428000" y="1033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9</a:t>
            </a:r>
          </a:p>
        </p:txBody>
      </p:sp>
      <p:cxnSp>
        <p:nvCxnSpPr>
          <p:cNvPr id="145" name="Connector 144"/>
          <p:cNvCxnSpPr/>
          <p:nvPr/>
        </p:nvCxnSpPr>
        <p:spPr>
          <a:xfrm flipV="1">
            <a:off x="5328000.0" y="10115999"/>
            <a:ext cx="5184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14796000" y="10332000"/>
            <a:ext cx="1800000" cy="503999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4796000" y="1033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22</a:t>
            </a:r>
          </a:p>
        </p:txBody>
      </p:sp>
      <p:cxnSp>
        <p:nvCxnSpPr>
          <p:cNvPr id="148" name="Connector 147"/>
          <p:cNvCxnSpPr/>
          <p:nvPr/>
        </p:nvCxnSpPr>
        <p:spPr>
          <a:xfrm flipH="1" flipV="1">
            <a:off x="10512000.0" y="10115999"/>
            <a:ext cx="5184000.0" cy="21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9612000" y="9612000"/>
            <a:ext cx="1800000" cy="503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12000" y="9612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0000" y="799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BA81A"/>
                </a:solidFill>
              </a:rPr>
              <a:t>② Down-sweep: ルート=0 にして下へ伝播 → exclusive scan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40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40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772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772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3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004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04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236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236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468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8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700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700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14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3932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932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23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164000" y="8640000"/>
            <a:ext cx="2088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6164000" y="8640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BA81A"/>
                </a:solidFill>
              </a:rPr>
              <a:t>25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0000" y="9216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BA81A"/>
                </a:solidFill>
              </a:rPr>
              <a:t>exclusive scan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0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40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72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772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04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004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236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236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468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468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700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700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3932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3932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6164000" y="9576000"/>
            <a:ext cx="2088000" cy="54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6164000" y="9576000"/>
            <a:ext cx="20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0000" y="10152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inclusive scan（+入力値）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520000" y="9972000"/>
            <a:ext cx="9360000" cy="468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520000" y="9972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ワーク量: O(n)  ステップ数: O(log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