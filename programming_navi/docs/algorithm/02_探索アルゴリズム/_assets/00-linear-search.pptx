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グループ化 86"/>
          <p:cNvGrpSpPr/>
          <p:nvPr/>
        </p:nvGrpSpPr>
        <p:grpSpPr>
          <a:xfrm>
            <a:off x="4460730" y="1268001"/>
            <a:ext cx="11734699" cy="1403999"/>
            <a:chOff x="5671300" y="1268001"/>
            <a:chExt cx="11734699" cy="1403999"/>
          </a:xfrm>
        </p:grpSpPr>
        <p:sp>
          <p:nvSpPr>
            <p:cNvPr id="5" name="TextBox 4"/>
            <p:cNvSpPr txBox="1"/>
            <p:nvPr/>
          </p:nvSpPr>
          <p:spPr>
            <a:xfrm>
              <a:off x="5671300" y="1510390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800" b="1" dirty="0">
                  <a:solidFill>
                    <a:srgbClr val="666666"/>
                  </a:solidFill>
                </a:rPr>
                <a:t>配列: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109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57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837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485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565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213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293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941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4021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669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749999" y="1268001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397999" y="2312000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71300" y="2312000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先頭から順に確認  ／  ソート不要  ／  最良 O(1)・最悪 O(n)  ／  番兵法で比較回数を削減できる</a:t>
            </a:r>
          </a:p>
        </p:txBody>
      </p:sp>
      <p:grpSp>
        <p:nvGrpSpPr>
          <p:cNvPr id="135" name="グループ化 134"/>
          <p:cNvGrpSpPr/>
          <p:nvPr/>
        </p:nvGrpSpPr>
        <p:grpSpPr>
          <a:xfrm>
            <a:off x="4460730" y="4369599"/>
            <a:ext cx="16143466" cy="1403999"/>
            <a:chOff x="4460730" y="4369599"/>
            <a:chExt cx="16143466" cy="1403999"/>
          </a:xfrm>
        </p:grpSpPr>
        <p:sp>
          <p:nvSpPr>
            <p:cNvPr id="39" name="TextBox 38"/>
            <p:cNvSpPr txBox="1"/>
            <p:nvPr/>
          </p:nvSpPr>
          <p:spPr>
            <a:xfrm>
              <a:off x="16946405" y="4627377"/>
              <a:ext cx="3657791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index 0 → 3 ≠ </a:t>
              </a:r>
              <a:r>
                <a:rPr lang="en-US" altLang="ja-JP" sz="2600" dirty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 </a:t>
              </a:r>
              <a:r>
                <a:rPr sz="2600" b="0" dirty="0">
                  <a:solidFill>
                    <a:srgbClr val="666666"/>
                  </a:solidFill>
                </a:rPr>
                <a:t>→ 次へ</a:t>
              </a:r>
            </a:p>
          </p:txBody>
        </p:sp>
        <p:sp>
          <p:nvSpPr>
            <p:cNvPr id="91" name="TextBox 4"/>
            <p:cNvSpPr txBox="1"/>
            <p:nvPr/>
          </p:nvSpPr>
          <p:spPr>
            <a:xfrm>
              <a:off x="4460730" y="4611988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altLang="ja-JP" sz="2800" b="1" dirty="0" smtClean="0">
                  <a:solidFill>
                    <a:srgbClr val="666666"/>
                  </a:solidFill>
                </a:rPr>
                <a:t>STEP1</a:t>
              </a:r>
              <a:r>
                <a:rPr sz="2800" b="1" dirty="0" smtClean="0">
                  <a:solidFill>
                    <a:srgbClr val="666666"/>
                  </a:solidFill>
                </a:rPr>
                <a:t>:</a:t>
              </a:r>
              <a:endParaRPr sz="2800" b="1" dirty="0">
                <a:solidFill>
                  <a:srgbClr val="666666"/>
                </a:solidFill>
              </a:endParaRPr>
            </a:p>
          </p:txBody>
        </p:sp>
        <p:sp>
          <p:nvSpPr>
            <p:cNvPr id="92" name="Rectangle 5"/>
            <p:cNvSpPr/>
            <p:nvPr/>
          </p:nvSpPr>
          <p:spPr>
            <a:xfrm>
              <a:off x="5899429" y="4369599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3" name="TextBox 6"/>
            <p:cNvSpPr txBox="1"/>
            <p:nvPr/>
          </p:nvSpPr>
          <p:spPr>
            <a:xfrm>
              <a:off x="6547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94" name="Rectangle 7"/>
            <p:cNvSpPr/>
            <p:nvPr/>
          </p:nvSpPr>
          <p:spPr>
            <a:xfrm>
              <a:off x="7627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95" name="TextBox 8"/>
            <p:cNvSpPr txBox="1"/>
            <p:nvPr/>
          </p:nvSpPr>
          <p:spPr>
            <a:xfrm>
              <a:off x="8275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96" name="Rectangle 9"/>
            <p:cNvSpPr/>
            <p:nvPr/>
          </p:nvSpPr>
          <p:spPr>
            <a:xfrm>
              <a:off x="9355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97" name="TextBox 10"/>
            <p:cNvSpPr txBox="1"/>
            <p:nvPr/>
          </p:nvSpPr>
          <p:spPr>
            <a:xfrm>
              <a:off x="10003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98" name="Rectangle 11"/>
            <p:cNvSpPr/>
            <p:nvPr/>
          </p:nvSpPr>
          <p:spPr>
            <a:xfrm>
              <a:off x="11083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99" name="TextBox 12"/>
            <p:cNvSpPr txBox="1"/>
            <p:nvPr/>
          </p:nvSpPr>
          <p:spPr>
            <a:xfrm>
              <a:off x="11731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00" name="Rectangle 13"/>
            <p:cNvSpPr/>
            <p:nvPr/>
          </p:nvSpPr>
          <p:spPr>
            <a:xfrm>
              <a:off x="12811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01" name="TextBox 14"/>
            <p:cNvSpPr txBox="1"/>
            <p:nvPr/>
          </p:nvSpPr>
          <p:spPr>
            <a:xfrm>
              <a:off x="13459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02" name="Rectangle 15"/>
            <p:cNvSpPr/>
            <p:nvPr/>
          </p:nvSpPr>
          <p:spPr>
            <a:xfrm>
              <a:off x="14539429" y="4369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03" name="TextBox 16"/>
            <p:cNvSpPr txBox="1"/>
            <p:nvPr/>
          </p:nvSpPr>
          <p:spPr>
            <a:xfrm>
              <a:off x="15187429" y="5413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104" name="TextBox 25"/>
            <p:cNvSpPr txBox="1"/>
            <p:nvPr/>
          </p:nvSpPr>
          <p:spPr>
            <a:xfrm>
              <a:off x="4460730" y="5413598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  <p:grpSp>
        <p:nvGrpSpPr>
          <p:cNvPr id="136" name="グループ化 135"/>
          <p:cNvGrpSpPr/>
          <p:nvPr/>
        </p:nvGrpSpPr>
        <p:grpSpPr>
          <a:xfrm>
            <a:off x="4460730" y="6457599"/>
            <a:ext cx="16143466" cy="1403999"/>
            <a:chOff x="4460730" y="6457599"/>
            <a:chExt cx="16143466" cy="1403999"/>
          </a:xfrm>
        </p:grpSpPr>
        <p:sp>
          <p:nvSpPr>
            <p:cNvPr id="52" name="TextBox 51"/>
            <p:cNvSpPr txBox="1"/>
            <p:nvPr/>
          </p:nvSpPr>
          <p:spPr>
            <a:xfrm>
              <a:off x="16946405" y="6715377"/>
              <a:ext cx="3657791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index 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1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sz="2600" b="0" dirty="0">
                  <a:solidFill>
                    <a:srgbClr val="666666"/>
                  </a:solidFill>
                </a:rPr>
                <a:t>→ 1 ≠ </a:t>
              </a:r>
              <a:r>
                <a:rPr lang="en-US" sz="2600" b="0" dirty="0" smtClean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 </a:t>
              </a:r>
              <a:r>
                <a:rPr sz="2600" b="0" dirty="0">
                  <a:solidFill>
                    <a:srgbClr val="666666"/>
                  </a:solidFill>
                </a:rPr>
                <a:t>→ 次へ</a:t>
              </a:r>
            </a:p>
          </p:txBody>
        </p:sp>
        <p:sp>
          <p:nvSpPr>
            <p:cNvPr id="106" name="TextBox 4"/>
            <p:cNvSpPr txBox="1"/>
            <p:nvPr/>
          </p:nvSpPr>
          <p:spPr>
            <a:xfrm>
              <a:off x="4460730" y="6699988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altLang="ja-JP" sz="2800" b="1" dirty="0" smtClean="0">
                  <a:solidFill>
                    <a:srgbClr val="666666"/>
                  </a:solidFill>
                </a:rPr>
                <a:t>STEP2</a:t>
              </a:r>
              <a:r>
                <a:rPr sz="2800" b="1" dirty="0" smtClean="0">
                  <a:solidFill>
                    <a:srgbClr val="666666"/>
                  </a:solidFill>
                </a:rPr>
                <a:t>:</a:t>
              </a:r>
              <a:endParaRPr sz="2800" b="1" dirty="0">
                <a:solidFill>
                  <a:srgbClr val="666666"/>
                </a:solidFill>
              </a:endParaRPr>
            </a:p>
          </p:txBody>
        </p:sp>
        <p:sp>
          <p:nvSpPr>
            <p:cNvPr id="107" name="Rectangle 5"/>
            <p:cNvSpPr/>
            <p:nvPr/>
          </p:nvSpPr>
          <p:spPr>
            <a:xfrm>
              <a:off x="5899429" y="6457599"/>
              <a:ext cx="1656000" cy="1007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8" name="TextBox 6"/>
            <p:cNvSpPr txBox="1"/>
            <p:nvPr/>
          </p:nvSpPr>
          <p:spPr>
            <a:xfrm>
              <a:off x="6547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109" name="Rectangle 7"/>
            <p:cNvSpPr/>
            <p:nvPr/>
          </p:nvSpPr>
          <p:spPr>
            <a:xfrm>
              <a:off x="7627429" y="6457599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10" name="TextBox 8"/>
            <p:cNvSpPr txBox="1"/>
            <p:nvPr/>
          </p:nvSpPr>
          <p:spPr>
            <a:xfrm>
              <a:off x="8275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111" name="Rectangle 9"/>
            <p:cNvSpPr/>
            <p:nvPr/>
          </p:nvSpPr>
          <p:spPr>
            <a:xfrm>
              <a:off x="9355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12" name="TextBox 10"/>
            <p:cNvSpPr txBox="1"/>
            <p:nvPr/>
          </p:nvSpPr>
          <p:spPr>
            <a:xfrm>
              <a:off x="10003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113" name="Rectangle 11"/>
            <p:cNvSpPr/>
            <p:nvPr/>
          </p:nvSpPr>
          <p:spPr>
            <a:xfrm>
              <a:off x="11083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14" name="TextBox 12"/>
            <p:cNvSpPr txBox="1"/>
            <p:nvPr/>
          </p:nvSpPr>
          <p:spPr>
            <a:xfrm>
              <a:off x="11731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15" name="Rectangle 13"/>
            <p:cNvSpPr/>
            <p:nvPr/>
          </p:nvSpPr>
          <p:spPr>
            <a:xfrm>
              <a:off x="12811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16" name="TextBox 14"/>
            <p:cNvSpPr txBox="1"/>
            <p:nvPr/>
          </p:nvSpPr>
          <p:spPr>
            <a:xfrm>
              <a:off x="13459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17" name="Rectangle 15"/>
            <p:cNvSpPr/>
            <p:nvPr/>
          </p:nvSpPr>
          <p:spPr>
            <a:xfrm>
              <a:off x="14539429" y="6457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18" name="TextBox 16"/>
            <p:cNvSpPr txBox="1"/>
            <p:nvPr/>
          </p:nvSpPr>
          <p:spPr>
            <a:xfrm>
              <a:off x="15187429" y="7501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119" name="TextBox 25"/>
            <p:cNvSpPr txBox="1"/>
            <p:nvPr/>
          </p:nvSpPr>
          <p:spPr>
            <a:xfrm>
              <a:off x="4460730" y="7501598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  <p:grpSp>
        <p:nvGrpSpPr>
          <p:cNvPr id="137" name="グループ化 136"/>
          <p:cNvGrpSpPr/>
          <p:nvPr/>
        </p:nvGrpSpPr>
        <p:grpSpPr>
          <a:xfrm>
            <a:off x="4460730" y="8545599"/>
            <a:ext cx="16143466" cy="1403999"/>
            <a:chOff x="4460730" y="8545599"/>
            <a:chExt cx="16143466" cy="1403999"/>
          </a:xfrm>
        </p:grpSpPr>
        <p:sp>
          <p:nvSpPr>
            <p:cNvPr id="65" name="TextBox 64"/>
            <p:cNvSpPr txBox="1"/>
            <p:nvPr/>
          </p:nvSpPr>
          <p:spPr>
            <a:xfrm>
              <a:off x="16946405" y="8803377"/>
              <a:ext cx="3657791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index 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2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sz="2600" b="0" dirty="0">
                  <a:solidFill>
                    <a:srgbClr val="666666"/>
                  </a:solidFill>
                </a:rPr>
                <a:t>→ </a:t>
              </a:r>
              <a:r>
                <a:rPr lang="en-US" sz="2600" b="0" dirty="0" smtClean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lang="en-US" sz="2600" dirty="0">
                  <a:solidFill>
                    <a:srgbClr val="666666"/>
                  </a:solidFill>
                </a:rPr>
                <a:t>=</a:t>
              </a:r>
              <a:r>
                <a:rPr sz="2600" b="0" dirty="0" smtClean="0">
                  <a:solidFill>
                    <a:srgbClr val="666666"/>
                  </a:solidFill>
                </a:rPr>
                <a:t> </a:t>
              </a:r>
              <a:r>
                <a:rPr lang="en-US" sz="2600" dirty="0">
                  <a:solidFill>
                    <a:srgbClr val="666666"/>
                  </a:solidFill>
                </a:rPr>
                <a:t>4</a:t>
              </a:r>
              <a:r>
                <a:rPr sz="2600" b="0" dirty="0" smtClean="0">
                  <a:solidFill>
                    <a:srgbClr val="666666"/>
                  </a:solidFill>
                </a:rPr>
                <a:t>  </a:t>
              </a:r>
              <a:r>
                <a:rPr sz="2600" b="0" dirty="0">
                  <a:solidFill>
                    <a:srgbClr val="666666"/>
                  </a:solidFill>
                </a:rPr>
                <a:t>→ 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発見</a:t>
              </a:r>
              <a:endParaRPr sz="2600" b="0" dirty="0">
                <a:solidFill>
                  <a:srgbClr val="666666"/>
                </a:solidFill>
              </a:endParaRPr>
            </a:p>
          </p:txBody>
        </p:sp>
        <p:sp>
          <p:nvSpPr>
            <p:cNvPr id="121" name="TextBox 4"/>
            <p:cNvSpPr txBox="1"/>
            <p:nvPr/>
          </p:nvSpPr>
          <p:spPr>
            <a:xfrm>
              <a:off x="4460730" y="8787988"/>
              <a:ext cx="180000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altLang="ja-JP" sz="2800" b="1" dirty="0" smtClean="0">
                  <a:solidFill>
                    <a:srgbClr val="666666"/>
                  </a:solidFill>
                </a:rPr>
                <a:t>STEP2</a:t>
              </a:r>
              <a:r>
                <a:rPr sz="2800" b="1" dirty="0" smtClean="0">
                  <a:solidFill>
                    <a:srgbClr val="666666"/>
                  </a:solidFill>
                </a:rPr>
                <a:t>:</a:t>
              </a:r>
              <a:endParaRPr sz="2800" b="1" dirty="0">
                <a:solidFill>
                  <a:srgbClr val="666666"/>
                </a:solidFill>
              </a:endParaRPr>
            </a:p>
          </p:txBody>
        </p:sp>
        <p:sp>
          <p:nvSpPr>
            <p:cNvPr id="122" name="Rectangle 5"/>
            <p:cNvSpPr/>
            <p:nvPr/>
          </p:nvSpPr>
          <p:spPr>
            <a:xfrm>
              <a:off x="5899429" y="8545599"/>
              <a:ext cx="1656000" cy="1007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3" name="TextBox 6"/>
            <p:cNvSpPr txBox="1"/>
            <p:nvPr/>
          </p:nvSpPr>
          <p:spPr>
            <a:xfrm>
              <a:off x="6547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0</a:t>
              </a:r>
            </a:p>
          </p:txBody>
        </p:sp>
        <p:sp>
          <p:nvSpPr>
            <p:cNvPr id="124" name="Rectangle 7"/>
            <p:cNvSpPr/>
            <p:nvPr/>
          </p:nvSpPr>
          <p:spPr>
            <a:xfrm>
              <a:off x="7627429" y="8545599"/>
              <a:ext cx="1656000" cy="1007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5" name="TextBox 8"/>
            <p:cNvSpPr txBox="1"/>
            <p:nvPr/>
          </p:nvSpPr>
          <p:spPr>
            <a:xfrm>
              <a:off x="8275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1</a:t>
              </a:r>
            </a:p>
          </p:txBody>
        </p:sp>
        <p:sp>
          <p:nvSpPr>
            <p:cNvPr id="126" name="Rectangle 9"/>
            <p:cNvSpPr/>
            <p:nvPr/>
          </p:nvSpPr>
          <p:spPr>
            <a:xfrm>
              <a:off x="9355429" y="8545599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27" name="TextBox 10"/>
            <p:cNvSpPr txBox="1"/>
            <p:nvPr/>
          </p:nvSpPr>
          <p:spPr>
            <a:xfrm>
              <a:off x="10003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128" name="Rectangle 11"/>
            <p:cNvSpPr/>
            <p:nvPr/>
          </p:nvSpPr>
          <p:spPr>
            <a:xfrm>
              <a:off x="11083429" y="8545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29" name="TextBox 12"/>
            <p:cNvSpPr txBox="1"/>
            <p:nvPr/>
          </p:nvSpPr>
          <p:spPr>
            <a:xfrm>
              <a:off x="11731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3</a:t>
              </a:r>
            </a:p>
          </p:txBody>
        </p:sp>
        <p:sp>
          <p:nvSpPr>
            <p:cNvPr id="130" name="Rectangle 13"/>
            <p:cNvSpPr/>
            <p:nvPr/>
          </p:nvSpPr>
          <p:spPr>
            <a:xfrm>
              <a:off x="12811429" y="8545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31" name="TextBox 14"/>
            <p:cNvSpPr txBox="1"/>
            <p:nvPr/>
          </p:nvSpPr>
          <p:spPr>
            <a:xfrm>
              <a:off x="13459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132" name="Rectangle 15"/>
            <p:cNvSpPr/>
            <p:nvPr/>
          </p:nvSpPr>
          <p:spPr>
            <a:xfrm>
              <a:off x="14539429" y="8545599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33" name="TextBox 16"/>
            <p:cNvSpPr txBox="1"/>
            <p:nvPr/>
          </p:nvSpPr>
          <p:spPr>
            <a:xfrm>
              <a:off x="15187429" y="9589598"/>
              <a:ext cx="54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>
                  <a:solidFill>
                    <a:srgbClr val="666666"/>
                  </a:solidFill>
                </a:rPr>
                <a:t>5</a:t>
              </a:r>
            </a:p>
          </p:txBody>
        </p:sp>
        <p:sp>
          <p:nvSpPr>
            <p:cNvPr id="134" name="TextBox 25"/>
            <p:cNvSpPr txBox="1"/>
            <p:nvPr/>
          </p:nvSpPr>
          <p:spPr>
            <a:xfrm>
              <a:off x="4460730" y="9589598"/>
              <a:ext cx="162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666666"/>
                  </a:solidFill>
                </a:rPr>
                <a:t>index: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90400" cy="12446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8779326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 dirty="0">
                <a:solidFill>
                  <a:srgbClr val="FFFFFF"/>
                </a:solidFill>
              </a:rPr>
              <a:t>番兵法（Sentinel Search）</a:t>
            </a:r>
            <a:r>
              <a:rPr sz="5000" b="1" dirty="0" smtClean="0">
                <a:solidFill>
                  <a:srgbClr val="FFFFFF"/>
                </a:solidFill>
              </a:rPr>
              <a:t>とは</a:t>
            </a:r>
            <a:endParaRPr lang="en-US" sz="5000" b="1" dirty="0" smtClean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2160000"/>
            <a:ext cx="7448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通常の線形探索：ループ条件が 2 つ必要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880000"/>
            <a:ext cx="9720000" cy="1440000"/>
          </a:xfrm>
          <a:prstGeom prst="rect">
            <a:avLst/>
          </a:prstGeom>
          <a:solidFill>
            <a:srgbClr val="F0F4F8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3060000"/>
            <a:ext cx="364413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while</a:t>
            </a:r>
            <a:r>
              <a:rPr sz="2200" b="1" dirty="0">
                <a:solidFill>
                  <a:srgbClr val="FF0000"/>
                </a:solidFill>
              </a:rPr>
              <a:t> i &lt; n </a:t>
            </a:r>
            <a:r>
              <a:rPr sz="2200" b="0" dirty="0"/>
              <a:t>and</a:t>
            </a:r>
            <a:r>
              <a:rPr sz="2200" b="0" dirty="0">
                <a:solidFill>
                  <a:srgbClr val="013CA6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arr[i] != target</a:t>
            </a:r>
            <a:r>
              <a:rPr sz="2200" b="0" dirty="0">
                <a:solidFill>
                  <a:srgbClr val="013CA6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600000"/>
            <a:ext cx="586090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    i += 1                          # 条件チェック: 2回/反復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380000"/>
            <a:ext cx="972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dirty="0">
                <a:solidFill>
                  <a:srgbClr val="666666"/>
                </a:solidFill>
              </a:rPr>
              <a:t>  → 1反復あたり「i &lt; n」と「arr[i] != target」の 2 回比較が発生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6697350"/>
            <a:ext cx="200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番兵法：配列末尾に探索値（番兵）を追加 → 条件を 1 つに削減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7417350"/>
            <a:ext cx="9720000" cy="1980000"/>
          </a:xfrm>
          <a:prstGeom prst="rect">
            <a:avLst/>
          </a:prstGeom>
          <a:solidFill>
            <a:srgbClr val="F0F4F8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7597350"/>
            <a:ext cx="49316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arr.append(target)   # 番兵を末尾に追加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8137350"/>
            <a:ext cx="260058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dirty="0"/>
              <a:t>while </a:t>
            </a:r>
            <a:r>
              <a:rPr sz="2200" b="1" dirty="0">
                <a:solidFill>
                  <a:srgbClr val="00B050"/>
                </a:solidFill>
              </a:rPr>
              <a:t>arr[i] != target: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8677350"/>
            <a:ext cx="489909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/>
              <a:t>    i += 1           # 条件チェック: 1回/反復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9457350"/>
            <a:ext cx="972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  → 1反復あたり「arr[i] != target」の 1 回比較のみ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6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2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58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100000" y="313510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4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0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60000" y="412510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0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6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32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8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4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100000" y="7930350"/>
            <a:ext cx="1260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365400" y="7930350"/>
            <a:ext cx="1260000" cy="900000"/>
          </a:xfrm>
          <a:prstGeom prst="rect">
            <a:avLst/>
          </a:prstGeom>
          <a:solidFill>
            <a:srgbClr val="FFE8CC"/>
          </a:solidFill>
          <a:ln w="25400">
            <a:solidFill>
              <a:srgbClr val="EB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000" b="1">
                <a:solidFill>
                  <a:srgbClr val="EB6800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6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2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68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4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0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460000" y="8920350"/>
            <a:ext cx="5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838145" y="8920350"/>
            <a:ext cx="3145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ja-JP" sz="2000" dirty="0">
                <a:solidFill>
                  <a:srgbClr val="666666"/>
                </a:solidFill>
              </a:rPr>
              <a:t>6</a:t>
            </a:r>
            <a:endParaRPr sz="2000" b="0" dirty="0">
              <a:solidFill>
                <a:srgbClr val="666666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8365400" y="9370350"/>
            <a:ext cx="2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B6800"/>
                </a:solidFill>
              </a:rPr>
              <a:t>↑ 番兵 (target=7)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番兵を末尾に追加 → 境界チェック「i &lt; n」を省略  ／  O(n) は不変  ／  比較回数を 1回/反復に削減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247</Words>
  <Application>Microsoft Office PowerPoint</Application>
  <PresentationFormat>ユーザー設定</PresentationFormat>
  <Paragraphs>98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shining</cp:lastModifiedBy>
  <cp:revision>13</cp:revision>
  <dcterms:created xsi:type="dcterms:W3CDTF">2013-01-27T09:14:16Z</dcterms:created>
  <dcterms:modified xsi:type="dcterms:W3CDTF">2026-06-03T14:03:29Z</dcterms:modified>
  <cp:category/>
</cp:coreProperties>
</file>