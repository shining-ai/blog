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Rabin-Karp法：ローリングハッシュ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880000"/>
            <a:ext cx="2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6666"/>
                </a:solidFill>
              </a:rPr>
              <a:t>テキスト: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2700000"/>
            <a:ext cx="1746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0" y="2700000"/>
            <a:ext cx="1746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0" y="2700000"/>
            <a:ext cx="1746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C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0" y="2700000"/>
            <a:ext cx="1746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0" y="2700000"/>
            <a:ext cx="17460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4320000"/>
            <a:ext cx="198504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0000" y="4428000"/>
            <a:ext cx="191304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13CA6"/>
                </a:solidFill>
              </a:rPr>
              <a:t>h(s) = s[0]×base² + s[1]×base + s[2]  (mod 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5940000"/>
            <a:ext cx="20210400" cy="14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00000" y="6048000"/>
            <a:ext cx="1746000" cy="864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0" y="6048000"/>
            <a:ext cx="1746000" cy="864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0" y="6048000"/>
            <a:ext cx="1746000" cy="864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13CA6"/>
                </a:solidFill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0" y="6048000"/>
            <a:ext cx="1746000" cy="864000"/>
          </a:xfrm>
          <a:prstGeom prst="rect">
            <a:avLst/>
          </a:prstGeom>
          <a:solidFill>
            <a:srgbClr val="EEEEE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CCCCCC"/>
                </a:solidFill>
              </a:rPr>
              <a:t>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0" y="6048000"/>
            <a:ext cx="1746000" cy="864000"/>
          </a:xfrm>
          <a:prstGeom prst="rect">
            <a:avLst/>
          </a:prstGeom>
          <a:solidFill>
            <a:srgbClr val="EEEEE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CCCCCC"/>
                </a:solidFill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40000" y="6120000"/>
            <a:ext cx="82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h("ABC") = A×b² + B×b + 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7452000"/>
            <a:ext cx="20210400" cy="1440000"/>
          </a:xfrm>
          <a:prstGeom prst="rect">
            <a:avLst/>
          </a:prstGeom>
          <a:solidFill>
            <a:srgbClr val="E6FFED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00000" y="7560000"/>
            <a:ext cx="1746000" cy="864000"/>
          </a:xfrm>
          <a:prstGeom prst="rect">
            <a:avLst/>
          </a:prstGeom>
          <a:solidFill>
            <a:srgbClr val="EEEEE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CCCCCC"/>
                </a:solidFill>
              </a:rPr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0" y="7560000"/>
            <a:ext cx="1746000" cy="864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0" y="7560000"/>
            <a:ext cx="1746000" cy="864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0" y="7560000"/>
            <a:ext cx="1746000" cy="864000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0000" y="7560000"/>
            <a:ext cx="1746000" cy="864000"/>
          </a:xfrm>
          <a:prstGeom prst="rect">
            <a:avLst/>
          </a:prstGeom>
          <a:solidFill>
            <a:srgbClr val="EEEEE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CCCCCC"/>
                </a:solidFill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40000" y="7632000"/>
            <a:ext cx="82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B050"/>
                </a:solidFill>
              </a:rPr>
              <a:t>h("BCD") = (h("ABC") − A×b²) × b + 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690400" y="7632000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690400" y="7596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ハッシュ一致
→ 文字列検証</a:t>
            </a:r>
            <a:br/>
            <a:r>
              <a:t>→ 文字列検証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8964000"/>
            <a:ext cx="20210400" cy="14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00000" y="9072000"/>
            <a:ext cx="1746000" cy="864000"/>
          </a:xfrm>
          <a:prstGeom prst="rect">
            <a:avLst/>
          </a:prstGeom>
          <a:solidFill>
            <a:srgbClr val="EEEEE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CCCCCC"/>
                </a:solidFill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0" y="9072000"/>
            <a:ext cx="1746000" cy="864000"/>
          </a:xfrm>
          <a:prstGeom prst="rect">
            <a:avLst/>
          </a:prstGeom>
          <a:solidFill>
            <a:srgbClr val="EEEEE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CCCCCC"/>
                </a:solidFill>
              </a:rPr>
              <a:t>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0000" y="9072000"/>
            <a:ext cx="1746000" cy="864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13CA6"/>
                </a:solidFill>
              </a:rPr>
              <a:t>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000" y="9072000"/>
            <a:ext cx="1746000" cy="864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13CA6"/>
                </a:solidFill>
              </a:rPr>
              <a:t>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0000" y="9072000"/>
            <a:ext cx="1746000" cy="864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013CA6"/>
                </a:solidFill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40000" y="9144000"/>
            <a:ext cx="82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h("CDE") = (h("BCD") − B×b²) × b + 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000" y="10620000"/>
            <a:ext cx="19850400" cy="126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0000" y="10692000"/>
            <a:ext cx="19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13CA6"/>
                </a:solidFill>
              </a:rPr>
              <a:t>① ウィンドウのスライドは O(1)（先頭を引いて末尾を追加するだけ）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000" y="11268000"/>
            <a:ext cx="19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013CA6"/>
                </a:solidFill>
              </a:rPr>
              <a:t>② ハッシュ一致時のみ文字列比較 → 平均 O(n+m)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