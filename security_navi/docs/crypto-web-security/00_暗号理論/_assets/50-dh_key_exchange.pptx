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Diffie-Hellman 鍵交換</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安全でないチャンネルを通じて共有秘密を確立する鍵交換プロトコル。現代のTLSの基盤となる技術。</a:t>
            </a:r>
          </a:p>
        </p:txBody>
      </p:sp>
      <p:sp>
        <p:nvSpPr>
          <p:cNvPr id="7" name="Rectangle 6"/>
          <p:cNvSpPr/>
          <p:nvPr/>
        </p:nvSpPr>
        <p:spPr>
          <a:xfrm>
            <a:off x="360000" y="2880000"/>
            <a:ext cx="6360000" cy="720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DH の原理</a:t>
            </a:r>
          </a:p>
        </p:txBody>
      </p:sp>
      <p:sp>
        <p:nvSpPr>
          <p:cNvPr id="9" name="TextBox 8"/>
          <p:cNvSpPr txBox="1"/>
          <p:nvPr/>
        </p:nvSpPr>
        <p:spPr>
          <a:xfrm>
            <a:off x="360000" y="3528000"/>
            <a:ext cx="6360000" cy="6480000"/>
          </a:xfrm>
          <a:prstGeom prst="rect">
            <a:avLst/>
          </a:prstGeom>
          <a:noFill/>
        </p:spPr>
        <p:txBody>
          <a:bodyPr wrap="square">
            <a:spAutoFit/>
          </a:bodyPr>
          <a:lstStyle/>
          <a:p>
            <a:pPr algn="ctr"/>
            <a:r>
              <a:rPr sz="1600" b="0">
                <a:solidFill>
                  <a:srgbClr val="FFFFFF"/>
                </a:solidFill>
              </a:rPr>
              <a:t>g^(ab) = (g^a)^b = (g^b)^a mod p。離散対数問題の難しさで第三者に共有秘密が漏れない</a:t>
            </a:r>
          </a:p>
        </p:txBody>
      </p:sp>
      <p:sp>
        <p:nvSpPr>
          <p:cNvPr id="10" name="Rectangle 9"/>
          <p:cNvSpPr/>
          <p:nvPr/>
        </p:nvSpPr>
        <p:spPr>
          <a:xfrm>
            <a:off x="7080000" y="2880000"/>
            <a:ext cx="6360000" cy="720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ECDH</a:t>
            </a:r>
          </a:p>
        </p:txBody>
      </p:sp>
      <p:sp>
        <p:nvSpPr>
          <p:cNvPr id="12" name="TextBox 11"/>
          <p:cNvSpPr txBox="1"/>
          <p:nvPr/>
        </p:nvSpPr>
        <p:spPr>
          <a:xfrm>
            <a:off x="7080000" y="3528000"/>
            <a:ext cx="6360000" cy="6480000"/>
          </a:xfrm>
          <a:prstGeom prst="rect">
            <a:avLst/>
          </a:prstGeom>
          <a:noFill/>
        </p:spPr>
        <p:txBody>
          <a:bodyPr wrap="square">
            <a:spAutoFit/>
          </a:bodyPr>
          <a:lstStyle/>
          <a:p>
            <a:pPr algn="ctr"/>
            <a:r>
              <a:rPr sz="1600" b="0">
                <a:solidFill>
                  <a:srgbClr val="FFFFFF"/>
                </a:solidFill>
              </a:rPr>
              <a:t>楕円曲線版DH。より短い鍵で高速。TLS 1.3ではECDHEが必須の鍵交換方式</a:t>
            </a:r>
          </a:p>
        </p:txBody>
      </p:sp>
      <p:sp>
        <p:nvSpPr>
          <p:cNvPr id="13" name="Rectangle 12"/>
          <p:cNvSpPr/>
          <p:nvPr/>
        </p:nvSpPr>
        <p:spPr>
          <a:xfrm>
            <a:off x="13800000" y="2880000"/>
            <a:ext cx="6360000" cy="720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前方秘匿性(PFS)</a:t>
            </a:r>
          </a:p>
        </p:txBody>
      </p:sp>
      <p:sp>
        <p:nvSpPr>
          <p:cNvPr id="15" name="TextBox 14"/>
          <p:cNvSpPr txBox="1"/>
          <p:nvPr/>
        </p:nvSpPr>
        <p:spPr>
          <a:xfrm>
            <a:off x="13800000" y="3528000"/>
            <a:ext cx="6360000" cy="6480000"/>
          </a:xfrm>
          <a:prstGeom prst="rect">
            <a:avLst/>
          </a:prstGeom>
          <a:noFill/>
        </p:spPr>
        <p:txBody>
          <a:bodyPr wrap="square">
            <a:spAutoFit/>
          </a:bodyPr>
          <a:lstStyle/>
          <a:p>
            <a:pPr algn="ctr"/>
            <a:r>
              <a:rPr sz="1600" b="0">
                <a:solidFill>
                  <a:srgbClr val="FFFFFF"/>
                </a:solidFill>
              </a:rPr>
              <a:t>セッションごとに一時鍵を使用するEphemeral DH。秘密鍵が漏れても過去の通信を保護</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