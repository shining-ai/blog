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21290400" cy="11973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290400" cy="1197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290400" cy="1260000"/>
          </a:xfrm>
          <a:prstGeom prst="rect">
            <a:avLst/>
          </a:prstGeom>
          <a:solidFill>
            <a:srgbClr val="013C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0000" y="216000"/>
            <a:ext cx="20520000" cy="864000"/>
          </a:xfrm>
          <a:prstGeom prst="rect">
            <a:avLst/>
          </a:prstGeom>
          <a:noFill/>
        </p:spPr>
        <p:txBody>
          <a:bodyPr wrap="square">
            <a:spAutoFit/>
          </a:bodyPr>
          <a:lstStyle/>
          <a:p>
            <a:pPr algn="ctr"/>
            <a:r>
              <a:rPr sz="3000" b="1">
                <a:solidFill>
                  <a:srgbClr val="FFFFFF"/>
                </a:solidFill>
              </a:rPr>
              <a:t>サンドボックス解析</a:t>
            </a:r>
          </a:p>
        </p:txBody>
      </p:sp>
      <p:sp>
        <p:nvSpPr>
          <p:cNvPr id="5" name="Rectangle 4"/>
          <p:cNvSpPr/>
          <p:nvPr/>
        </p:nvSpPr>
        <p:spPr>
          <a:xfrm>
            <a:off x="360000" y="1440000"/>
            <a:ext cx="20520000" cy="1260000"/>
          </a:xfrm>
          <a:prstGeom prst="rect">
            <a:avLst/>
          </a:prstGeom>
          <a:solidFill>
            <a:srgbClr val="BDE4FC"/>
          </a:solidFill>
          <a:ln w="19050">
            <a:solidFill>
              <a:srgbClr val="013C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0000" y="1548000"/>
            <a:ext cx="20160000" cy="1080000"/>
          </a:xfrm>
          <a:prstGeom prst="rect">
            <a:avLst/>
          </a:prstGeom>
          <a:noFill/>
        </p:spPr>
        <p:txBody>
          <a:bodyPr wrap="square">
            <a:spAutoFit/>
          </a:bodyPr>
          <a:lstStyle/>
          <a:p>
            <a:pPr algn="l"/>
            <a:r>
              <a:rPr sz="1800" b="0">
                <a:solidFill>
                  <a:srgbClr val="202020"/>
                </a:solidFill>
              </a:rPr>
              <a:t>マルウェアを隔離した安全な環境で実行して挙動を観察するセキュリティ分析手法。</a:t>
            </a:r>
          </a:p>
        </p:txBody>
      </p:sp>
      <p:sp>
        <p:nvSpPr>
          <p:cNvPr id="7" name="Rectangle 6"/>
          <p:cNvSpPr/>
          <p:nvPr/>
        </p:nvSpPr>
        <p:spPr>
          <a:xfrm>
            <a:off x="360000" y="2880000"/>
            <a:ext cx="6360000" cy="7200000"/>
          </a:xfrm>
          <a:prstGeom prst="rect">
            <a:avLst/>
          </a:prstGeom>
          <a:solidFill>
            <a:srgbClr val="013C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000" y="2988000"/>
            <a:ext cx="6360000" cy="540000"/>
          </a:xfrm>
          <a:prstGeom prst="rect">
            <a:avLst/>
          </a:prstGeom>
          <a:noFill/>
        </p:spPr>
        <p:txBody>
          <a:bodyPr wrap="square">
            <a:spAutoFit/>
          </a:bodyPr>
          <a:lstStyle/>
          <a:p>
            <a:pPr algn="ctr"/>
            <a:r>
              <a:rPr sz="2000" b="1">
                <a:solidFill>
                  <a:srgbClr val="FFFFFF"/>
                </a:solidFill>
              </a:rPr>
              <a:t>サンドボックスの種類</a:t>
            </a:r>
          </a:p>
        </p:txBody>
      </p:sp>
      <p:sp>
        <p:nvSpPr>
          <p:cNvPr id="9" name="TextBox 8"/>
          <p:cNvSpPr txBox="1"/>
          <p:nvPr/>
        </p:nvSpPr>
        <p:spPr>
          <a:xfrm>
            <a:off x="360000" y="3528000"/>
            <a:ext cx="6360000" cy="6480000"/>
          </a:xfrm>
          <a:prstGeom prst="rect">
            <a:avLst/>
          </a:prstGeom>
          <a:noFill/>
        </p:spPr>
        <p:txBody>
          <a:bodyPr wrap="square">
            <a:spAutoFit/>
          </a:bodyPr>
          <a:lstStyle/>
          <a:p>
            <a:pPr algn="ctr"/>
            <a:r>
              <a:rPr sz="1600" b="0">
                <a:solidFill>
                  <a:srgbClr val="FFFFFF"/>
                </a:solidFill>
              </a:rPr>
              <a:t>クラウド型(Cuckoo/Any.run/Hybrid Analysis)とローカル型(VM)。動的解析の自動化</a:t>
            </a:r>
          </a:p>
        </p:txBody>
      </p:sp>
      <p:sp>
        <p:nvSpPr>
          <p:cNvPr id="10" name="Rectangle 9"/>
          <p:cNvSpPr/>
          <p:nvPr/>
        </p:nvSpPr>
        <p:spPr>
          <a:xfrm>
            <a:off x="7080000" y="2880000"/>
            <a:ext cx="6360000" cy="7200000"/>
          </a:xfrm>
          <a:prstGeom prst="rect">
            <a:avLst/>
          </a:prstGeom>
          <a:solidFill>
            <a:srgbClr val="015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0000" y="2988000"/>
            <a:ext cx="6360000" cy="540000"/>
          </a:xfrm>
          <a:prstGeom prst="rect">
            <a:avLst/>
          </a:prstGeom>
          <a:noFill/>
        </p:spPr>
        <p:txBody>
          <a:bodyPr wrap="square">
            <a:spAutoFit/>
          </a:bodyPr>
          <a:lstStyle/>
          <a:p>
            <a:pPr algn="ctr"/>
            <a:r>
              <a:rPr sz="2000" b="1">
                <a:solidFill>
                  <a:srgbClr val="FFFFFF"/>
                </a:solidFill>
              </a:rPr>
              <a:t>回避技術</a:t>
            </a:r>
          </a:p>
        </p:txBody>
      </p:sp>
      <p:sp>
        <p:nvSpPr>
          <p:cNvPr id="12" name="TextBox 11"/>
          <p:cNvSpPr txBox="1"/>
          <p:nvPr/>
        </p:nvSpPr>
        <p:spPr>
          <a:xfrm>
            <a:off x="7080000" y="3528000"/>
            <a:ext cx="6360000" cy="6480000"/>
          </a:xfrm>
          <a:prstGeom prst="rect">
            <a:avLst/>
          </a:prstGeom>
          <a:noFill/>
        </p:spPr>
        <p:txBody>
          <a:bodyPr wrap="square">
            <a:spAutoFit/>
          </a:bodyPr>
          <a:lstStyle/>
          <a:p>
            <a:pPr algn="ctr"/>
            <a:r>
              <a:rPr sz="1600" b="0">
                <a:solidFill>
                  <a:srgbClr val="FFFFFF"/>
                </a:solidFill>
              </a:rPr>
              <a:t>VM検出(CPUID/Timing)・長時間スリープ・特定環境チェックでサンドボックス回避するマルウェアも存在</a:t>
            </a:r>
          </a:p>
        </p:txBody>
      </p:sp>
      <p:sp>
        <p:nvSpPr>
          <p:cNvPr id="13" name="Rectangle 12"/>
          <p:cNvSpPr/>
          <p:nvPr/>
        </p:nvSpPr>
        <p:spPr>
          <a:xfrm>
            <a:off x="13800000" y="2880000"/>
            <a:ext cx="6360000" cy="7200000"/>
          </a:xfrm>
          <a:prstGeom prst="rect">
            <a:avLst/>
          </a:prstGeom>
          <a:solidFill>
            <a:srgbClr val="EBA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800000" y="2988000"/>
            <a:ext cx="6360000" cy="540000"/>
          </a:xfrm>
          <a:prstGeom prst="rect">
            <a:avLst/>
          </a:prstGeom>
          <a:noFill/>
        </p:spPr>
        <p:txBody>
          <a:bodyPr wrap="square">
            <a:spAutoFit/>
          </a:bodyPr>
          <a:lstStyle/>
          <a:p>
            <a:pPr algn="ctr"/>
            <a:r>
              <a:rPr sz="2000" b="1">
                <a:solidFill>
                  <a:srgbClr val="FFFFFF"/>
                </a:solidFill>
              </a:rPr>
              <a:t>出力</a:t>
            </a:r>
          </a:p>
        </p:txBody>
      </p:sp>
      <p:sp>
        <p:nvSpPr>
          <p:cNvPr id="15" name="TextBox 14"/>
          <p:cNvSpPr txBox="1"/>
          <p:nvPr/>
        </p:nvSpPr>
        <p:spPr>
          <a:xfrm>
            <a:off x="13800000" y="3528000"/>
            <a:ext cx="6360000" cy="6480000"/>
          </a:xfrm>
          <a:prstGeom prst="rect">
            <a:avLst/>
          </a:prstGeom>
          <a:noFill/>
        </p:spPr>
        <p:txBody>
          <a:bodyPr wrap="square">
            <a:spAutoFit/>
          </a:bodyPr>
          <a:lstStyle/>
          <a:p>
            <a:pPr algn="ctr"/>
            <a:r>
              <a:rPr sz="1600" b="0">
                <a:solidFill>
                  <a:srgbClr val="FFFFFF"/>
                </a:solidFill>
              </a:rPr>
              <a:t>APIコール・ネットワーク通信・ファイル操作・レジストリ変更・スクリーンショット・IOCリスト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13CA6"/>
      </a:dk2>
      <a:lt2>
        <a:srgbClr val="F3FAFE"/>
      </a:lt2>
      <a:accent1>
        <a:srgbClr val="013CA6"/>
      </a:accent1>
      <a:accent2>
        <a:srgbClr val="BDE4FC"/>
      </a:accent2>
      <a:accent3>
        <a:srgbClr val="F3FAFE"/>
      </a:accent3>
      <a:accent4>
        <a:srgbClr val="EBA81A"/>
      </a:accent4>
      <a:accent5>
        <a:srgbClr val="00B050"/>
      </a:accent5>
      <a:accent6>
        <a:srgbClr val="FF0000"/>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