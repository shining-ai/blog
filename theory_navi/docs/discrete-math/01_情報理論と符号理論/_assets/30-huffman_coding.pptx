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ハフマン符号</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ハフマン符号: 最適接頭符号。確率の低いシンボルを組み合わせてボトムアップに木を構築するグリーディアルゴリズム。</a:t>
            </a:r>
          </a:p>
        </p:txBody>
      </p:sp>
      <p:sp>
        <p:nvSpPr>
          <p:cNvPr id="7" name="Rectangle 6"/>
          <p:cNvSpPr/>
          <p:nvPr/>
        </p:nvSpPr>
        <p:spPr>
          <a:xfrm>
            <a:off x="360000" y="2880000"/>
            <a:ext cx="6360000" cy="351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ステップ1: 初期化</a:t>
            </a:r>
          </a:p>
        </p:txBody>
      </p:sp>
      <p:sp>
        <p:nvSpPr>
          <p:cNvPr id="9" name="TextBox 8"/>
          <p:cNvSpPr txBox="1"/>
          <p:nvPr/>
        </p:nvSpPr>
        <p:spPr>
          <a:xfrm>
            <a:off x="360000" y="3528000"/>
            <a:ext cx="6360000" cy="2790000"/>
          </a:xfrm>
          <a:prstGeom prst="rect">
            <a:avLst/>
          </a:prstGeom>
          <a:noFill/>
        </p:spPr>
        <p:txBody>
          <a:bodyPr wrap="square">
            <a:spAutoFit/>
          </a:bodyPr>
          <a:lstStyle/>
          <a:p>
            <a:pPr algn="ctr"/>
            <a:r>
              <a:rPr sz="1600" b="0">
                <a:solidFill>
                  <a:srgbClr val="FFFFFF"/>
                </a:solidFill>
              </a:rPr>
              <a:t>各シンボルを確率付きの
リーフノードとして作成</a:t>
            </a:r>
          </a:p>
        </p:txBody>
      </p:sp>
      <p:sp>
        <p:nvSpPr>
          <p:cNvPr id="10" name="Rectangle 9"/>
          <p:cNvSpPr/>
          <p:nvPr/>
        </p:nvSpPr>
        <p:spPr>
          <a:xfrm>
            <a:off x="7080000" y="2880000"/>
            <a:ext cx="6360000" cy="351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ステップ2: 最小統合</a:t>
            </a:r>
          </a:p>
        </p:txBody>
      </p:sp>
      <p:sp>
        <p:nvSpPr>
          <p:cNvPr id="12" name="TextBox 11"/>
          <p:cNvSpPr txBox="1"/>
          <p:nvPr/>
        </p:nvSpPr>
        <p:spPr>
          <a:xfrm>
            <a:off x="7080000" y="3528000"/>
            <a:ext cx="6360000" cy="2790000"/>
          </a:xfrm>
          <a:prstGeom prst="rect">
            <a:avLst/>
          </a:prstGeom>
          <a:noFill/>
        </p:spPr>
        <p:txBody>
          <a:bodyPr wrap="square">
            <a:spAutoFit/>
          </a:bodyPr>
          <a:lstStyle/>
          <a:p>
            <a:pPr algn="ctr"/>
            <a:r>
              <a:rPr sz="1600" b="0">
                <a:solidFill>
                  <a:srgbClr val="FFFFFF"/>
                </a:solidFill>
              </a:rPr>
              <a:t>最小確率2ノードを
内部ノードに統合</a:t>
            </a:r>
          </a:p>
        </p:txBody>
      </p:sp>
      <p:sp>
        <p:nvSpPr>
          <p:cNvPr id="13" name="Rectangle 12"/>
          <p:cNvSpPr/>
          <p:nvPr/>
        </p:nvSpPr>
        <p:spPr>
          <a:xfrm>
            <a:off x="13800000" y="2880000"/>
            <a:ext cx="6360000" cy="3510000"/>
          </a:xfrm>
          <a:prstGeom prst="rect">
            <a:avLst/>
          </a:prstGeom>
          <a:solidFill>
            <a:srgbClr val="017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ステップ3: 繰り返し</a:t>
            </a:r>
          </a:p>
        </p:txBody>
      </p:sp>
      <p:sp>
        <p:nvSpPr>
          <p:cNvPr id="15" name="TextBox 14"/>
          <p:cNvSpPr txBox="1"/>
          <p:nvPr/>
        </p:nvSpPr>
        <p:spPr>
          <a:xfrm>
            <a:off x="13800000" y="3528000"/>
            <a:ext cx="6360000" cy="2790000"/>
          </a:xfrm>
          <a:prstGeom prst="rect">
            <a:avLst/>
          </a:prstGeom>
          <a:noFill/>
        </p:spPr>
        <p:txBody>
          <a:bodyPr wrap="square">
            <a:spAutoFit/>
          </a:bodyPr>
          <a:lstStyle/>
          <a:p>
            <a:pPr algn="ctr"/>
            <a:r>
              <a:rPr sz="1600" b="0">
                <a:solidFill>
                  <a:srgbClr val="FFFFFF"/>
                </a:solidFill>
              </a:rPr>
              <a:t>1ノードになるまで
ステップ2を繰り返す</a:t>
            </a:r>
          </a:p>
        </p:txBody>
      </p:sp>
      <p:sp>
        <p:nvSpPr>
          <p:cNvPr id="16" name="Rectangle 15"/>
          <p:cNvSpPr/>
          <p:nvPr/>
        </p:nvSpPr>
        <p:spPr>
          <a:xfrm>
            <a:off x="360000" y="6570000"/>
            <a:ext cx="6360000" cy="351000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000" y="6678000"/>
            <a:ext cx="6360000" cy="540000"/>
          </a:xfrm>
          <a:prstGeom prst="rect">
            <a:avLst/>
          </a:prstGeom>
          <a:noFill/>
        </p:spPr>
        <p:txBody>
          <a:bodyPr wrap="square">
            <a:spAutoFit/>
          </a:bodyPr>
          <a:lstStyle/>
          <a:p>
            <a:pPr algn="ctr"/>
            <a:r>
              <a:rPr sz="2000" b="1">
                <a:solidFill>
                  <a:srgbClr val="FFFFFF"/>
                </a:solidFill>
              </a:rPr>
              <a:t>ステップ4: コード割当</a:t>
            </a:r>
          </a:p>
        </p:txBody>
      </p:sp>
      <p:sp>
        <p:nvSpPr>
          <p:cNvPr id="18" name="TextBox 17"/>
          <p:cNvSpPr txBox="1"/>
          <p:nvPr/>
        </p:nvSpPr>
        <p:spPr>
          <a:xfrm>
            <a:off x="360000" y="7218000"/>
            <a:ext cx="6360000" cy="2790000"/>
          </a:xfrm>
          <a:prstGeom prst="rect">
            <a:avLst/>
          </a:prstGeom>
          <a:noFill/>
        </p:spPr>
        <p:txBody>
          <a:bodyPr wrap="square">
            <a:spAutoFit/>
          </a:bodyPr>
          <a:lstStyle/>
          <a:p>
            <a:pPr algn="ctr"/>
            <a:r>
              <a:rPr sz="1600" b="0">
                <a:solidFill>
                  <a:srgbClr val="FFFFFF"/>
                </a:solidFill>
              </a:rPr>
              <a:t>左枝=0, 右枝=1で
ルートから符号を割当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