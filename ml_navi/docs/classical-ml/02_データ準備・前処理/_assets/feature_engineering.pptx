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特徴量エンジニアリング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6628800" cy="57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890000"/>
            <a:ext cx="66288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スケーリング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14000"/>
            <a:ext cx="66288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E4FC"/>
                </a:solidFill>
                <a:latin typeface="Meiryo UI"/>
              </a:rPr>
              <a:t>Scaling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448000"/>
            <a:ext cx="6628800" cy="23004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" y="2448000"/>
            <a:ext cx="6628800" cy="324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24660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Min-Max正規化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" y="27900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27972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x' = (x - min) / (max - min)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000" y="31320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出力範囲: [0, 1]
✓ 直感的・境界明確
✗ 外れ値に敏感
用途: ニューラルネット
画像処理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4784400"/>
            <a:ext cx="6628800" cy="23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0000" y="4784400"/>
            <a:ext cx="6628800" cy="324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48024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標準化 (Z-score)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" y="51264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" y="51336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x' = (x - μ) / 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" y="54684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出力: μ=0, σ=1
✓ 外れ値に比較的強い
✗ 範囲が不定
用途: SVM・線形回帰
多くの手法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7120800"/>
            <a:ext cx="6628800" cy="2300400"/>
          </a:xfrm>
          <a:prstGeom prst="rect">
            <a:avLst/>
          </a:prstGeom>
          <a:solidFill>
            <a:srgbClr val="F3FAFE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0000" y="7120800"/>
            <a:ext cx="6628800" cy="324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71388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RobustScaler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" y="74628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74700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x' = (x - med) / IQR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78048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外れ値を軽視
✓ 外れ値に強い
✗ 範囲が不定
用途: 外れ値が多い
データ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9457200"/>
            <a:ext cx="6628800" cy="23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0000" y="9457200"/>
            <a:ext cx="6628800" cy="324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00" y="94752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対数変換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" y="97992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98064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13CA6"/>
                </a:solidFill>
                <a:latin typeface="Meiryo UI"/>
              </a:rPr>
              <a:t>x' = log(x + 1)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000" y="101412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正の値のみ
✓ 歪みを補正
✗ 負の値不可
用途: 右歪み分布
価格・頻度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76800" y="1872000"/>
            <a:ext cx="6628800" cy="576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6800" y="1890000"/>
            <a:ext cx="66288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エンコーディング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6800" y="2214000"/>
            <a:ext cx="66288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E4FC"/>
                </a:solidFill>
                <a:latin typeface="Meiryo UI"/>
              </a:rPr>
              <a:t>Encoding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6800" y="2448000"/>
            <a:ext cx="6628800" cy="2300400"/>
          </a:xfrm>
          <a:prstGeom prst="rect">
            <a:avLst/>
          </a:prstGeom>
          <a:solidFill>
            <a:srgbClr val="F3FAFE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76800" y="2448000"/>
            <a:ext cx="6628800" cy="324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2800" y="24660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ラベルエンコード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48800" y="27900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4800" y="27972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26AC9"/>
                </a:solidFill>
                <a:latin typeface="Meiryo UI"/>
              </a:rPr>
              <a:t>A→0, B→1, C→2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48800" y="31320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整数値に変換
✓ メモリ効率良い
✗ 順序関係を誤解
用途: 順序尺度
木モデル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76800" y="4784400"/>
            <a:ext cx="6628800" cy="23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76800" y="4784400"/>
            <a:ext cx="6628800" cy="324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2800" y="48024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One-Hot エンコード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48800" y="51264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84800" y="51336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26AC9"/>
                </a:solidFill>
                <a:latin typeface="Meiryo UI"/>
              </a:rPr>
              <a:t>[赤,青,緑]→[1,0,0]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8800" y="54684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0/1のベクトル
✓ 順序関係なし
✗ 次元数が増加
用途: 名義尺度
低カーディナリティ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76800" y="7120800"/>
            <a:ext cx="6628800" cy="2300400"/>
          </a:xfrm>
          <a:prstGeom prst="rect">
            <a:avLst/>
          </a:prstGeom>
          <a:solidFill>
            <a:srgbClr val="F3FAFE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76800" y="7120800"/>
            <a:ext cx="6628800" cy="324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2800" y="71388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頻度エンコード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48800" y="74628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84800" y="74700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26AC9"/>
                </a:solidFill>
                <a:latin typeface="Meiryo UI"/>
              </a:rPr>
              <a:t>カテゴリの出現頻度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48800" y="78048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0〜1の実数
✓ 次元増加なし
✗ 情報損失あり
用途: 高カーディナリティ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76800" y="9457200"/>
            <a:ext cx="6628800" cy="23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76800" y="9457200"/>
            <a:ext cx="6628800" cy="324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2800" y="94752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ターゲットエンコード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48800" y="97992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84800" y="98064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26AC9"/>
                </a:solidFill>
                <a:latin typeface="Meiryo UI"/>
              </a:rPr>
              <a:t>目的変数の平均値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48800" y="101412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連続値
✓ 予測力が高い
✗ リーク注意
用途: 高カーディナリティ
GBDT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4013600" y="1872000"/>
            <a:ext cx="6628800" cy="576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013600" y="1890000"/>
            <a:ext cx="66288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</a:rPr>
              <a:t>特徴量生成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013600" y="2214000"/>
            <a:ext cx="66288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E4FC"/>
                </a:solidFill>
                <a:latin typeface="Meiryo UI"/>
              </a:rPr>
              <a:t>Feature Generation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013600" y="2448000"/>
            <a:ext cx="6628800" cy="2300400"/>
          </a:xfrm>
          <a:prstGeom prst="rect">
            <a:avLst/>
          </a:prstGeom>
          <a:solidFill>
            <a:srgbClr val="F3FAFE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013600" y="2448000"/>
            <a:ext cx="6628800" cy="324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049600" y="24660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多項式特徴量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085600" y="27900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121600" y="27972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050"/>
                </a:solidFill>
                <a:latin typeface="Meiryo UI"/>
              </a:rPr>
              <a:t>x₁², x₁x₂, x₁x₂²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085600" y="31320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非線形関係を表現
✓ 非線形表現力
✗ 次元爆発
用途: 線形モデルの
表現力向上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013600" y="4784400"/>
            <a:ext cx="6628800" cy="23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4013600" y="4784400"/>
            <a:ext cx="6628800" cy="324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4049600" y="48024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交互作用特徴量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4085600" y="51264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4121600" y="51336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050"/>
                </a:solidFill>
                <a:latin typeface="Meiryo UI"/>
              </a:rPr>
              <a:t>x₁ × x₂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085600" y="54684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変数間の相乗効果
✓ 関係性を表現
✗ ドメイン知識要
用途: 回帰・分類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013600" y="7120800"/>
            <a:ext cx="6628800" cy="2300400"/>
          </a:xfrm>
          <a:prstGeom prst="rect">
            <a:avLst/>
          </a:prstGeom>
          <a:solidFill>
            <a:srgbClr val="F3FAFE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013600" y="7120800"/>
            <a:ext cx="6628800" cy="324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4049600" y="71388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集約特徴量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085600" y="74628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121600" y="74700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050"/>
                </a:solidFill>
                <a:latin typeface="Meiryo UI"/>
              </a:rPr>
              <a:t>グループ別 mean/std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085600" y="78048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統計量
✓ 文脈情報追加
✗ グループ定義要
用途: 時系列
グループデータ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4013600" y="9457200"/>
            <a:ext cx="6628800" cy="23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4013600" y="9457200"/>
            <a:ext cx="6628800" cy="324000"/>
          </a:xfrm>
          <a:prstGeom prst="rect">
            <a:avLst/>
          </a:prstGeom>
          <a:solidFill>
            <a:srgbClr val="00B05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4049600" y="9475200"/>
            <a:ext cx="6556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日付時刻特徴量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4085600" y="9799200"/>
            <a:ext cx="6484800" cy="30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4121600" y="9806400"/>
            <a:ext cx="6412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050"/>
                </a:solidFill>
                <a:latin typeface="Meiryo UI"/>
              </a:rPr>
              <a:t>年・月・曜日・時刻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4085600" y="10141200"/>
            <a:ext cx="6484800" cy="158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Meiryo UI"/>
              </a:rPr>
              <a:t>範囲: 周期性の表現
✓ 時間パターン
✗ 周期エンコード要
用途: 時系列
予測タスク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