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欠損値処理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Missing Value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872000"/>
            <a:ext cx="1422000" cy="64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908000"/>
            <a:ext cx="136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種類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0000" y="1872000"/>
            <a:ext cx="2682000" cy="64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6000" y="1908000"/>
            <a:ext cx="262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正式名称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0" y="1872000"/>
            <a:ext cx="2862000" cy="64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6000" y="1908000"/>
            <a:ext cx="280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定義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60000" y="1872000"/>
            <a:ext cx="2502000" cy="64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6000" y="1908000"/>
            <a:ext cx="244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80000" y="1872000"/>
            <a:ext cx="1782000" cy="64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16000" y="1908000"/>
            <a:ext cx="172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検出方法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0000" y="1872000"/>
            <a:ext cx="1782000" cy="648000"/>
          </a:xfrm>
          <a:prstGeom prst="rect">
            <a:avLst/>
          </a:prstGeom>
          <a:solidFill>
            <a:srgbClr val="013CA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16000" y="1908000"/>
            <a:ext cx="172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対処法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2520000"/>
            <a:ext cx="1422000" cy="1152000"/>
          </a:xfrm>
          <a:prstGeom prst="rect">
            <a:avLst/>
          </a:prstGeom>
          <a:solidFill>
            <a:srgbClr val="013CA6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2556000"/>
            <a:ext cx="136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MCAR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0000" y="2520000"/>
            <a:ext cx="268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6000" y="2556000"/>
            <a:ext cx="26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Missing
Completely
At Random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0000" y="2520000"/>
            <a:ext cx="286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6000" y="2556000"/>
            <a:ext cx="280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欠損がデータと
全く無関係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60000" y="2520000"/>
            <a:ext cx="250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6000" y="2556000"/>
            <a:ext cx="244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機器の
ランダム故障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80000" y="2520000"/>
            <a:ext cx="178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16000" y="2556000"/>
            <a:ext cx="17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Little's
MCAR検定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0000" y="2520000"/>
            <a:ext cx="178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916000" y="2556000"/>
            <a:ext cx="17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完全ケース分析
単純補完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3168000"/>
            <a:ext cx="1422000" cy="1152000"/>
          </a:xfrm>
          <a:prstGeom prst="rect">
            <a:avLst/>
          </a:prstGeom>
          <a:solidFill>
            <a:srgbClr val="026AC9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00" y="3204000"/>
            <a:ext cx="136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MAR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80000" y="3168000"/>
            <a:ext cx="2682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6000" y="3204000"/>
            <a:ext cx="26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Missing
At Random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0000" y="3168000"/>
            <a:ext cx="2862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6000" y="3204000"/>
            <a:ext cx="280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欠損が観測済み
データに依存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60000" y="3168000"/>
            <a:ext cx="2502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96000" y="3204000"/>
            <a:ext cx="244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高齢者は収入
記入を省略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80000" y="3168000"/>
            <a:ext cx="1782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16000" y="3204000"/>
            <a:ext cx="17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欠損パターン
の分析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880000" y="3168000"/>
            <a:ext cx="1782000" cy="11520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916000" y="3204000"/>
            <a:ext cx="17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多重代入法
EM アルゴリズム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0000" y="3816000"/>
            <a:ext cx="1422000" cy="1152000"/>
          </a:xfrm>
          <a:prstGeom prst="rect">
            <a:avLst/>
          </a:prstGeom>
          <a:solidFill>
            <a:srgbClr val="FF0000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00" y="3852000"/>
            <a:ext cx="136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MNAR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80000" y="3816000"/>
            <a:ext cx="268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6000" y="3852000"/>
            <a:ext cx="26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Missing Not
At Random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80000" y="3816000"/>
            <a:ext cx="286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6000" y="3852000"/>
            <a:ext cx="280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欠損が欠損値
自体に依存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60000" y="3816000"/>
            <a:ext cx="250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96000" y="3852000"/>
            <a:ext cx="244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高所得者が
収入を非公開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80000" y="3816000"/>
            <a:ext cx="178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16000" y="3852000"/>
            <a:ext cx="17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ドメイン知識
専門家確認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0000" y="3816000"/>
            <a:ext cx="1782000" cy="1152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916000" y="3852000"/>
            <a:ext cx="17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  <a:latin typeface="Meiryo UI"/>
              </a:rPr>
              <a:t>モデルベース
補完・感度分析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000" y="6192000"/>
            <a:ext cx="2021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  <a:latin typeface="Meiryo UI"/>
              </a:rPr>
              <a:t>欠損値対処法の選択フロー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0000" y="6552000"/>
            <a:ext cx="2520000" cy="7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0000" y="6588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欠損値検出
(df.isnull())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060000" y="6912000.0"/>
            <a:ext cx="540000" cy="0.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3600000" y="6552000"/>
            <a:ext cx="2520000" cy="720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0000" y="6588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2E"/>
                </a:solidFill>
                <a:latin typeface="Meiryo UI"/>
              </a:rPr>
              <a:t>欠損率
&gt; 50%?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32000" y="6336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0000"/>
                </a:solidFill>
                <a:latin typeface="Meiryo UI"/>
              </a:rPr>
              <a:t>YES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6660000" y="6012000"/>
            <a:ext cx="0" cy="54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5940000" y="5292000"/>
            <a:ext cx="2520000" cy="720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0000" y="5328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列削除
df.drop()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52000" y="6768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50"/>
                </a:solidFill>
                <a:latin typeface="Meiryo UI"/>
              </a:rPr>
              <a:t>NO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180000" y="6912000.0"/>
            <a:ext cx="540000" cy="0.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805040.0" y="6552000"/>
            <a:ext cx="0.0" cy="540000"/>
          </a:xfrm>
          <a:prstGeom prst="line">
            <a:avLst/>
          </a:prstGeom>
          <a:ln w="190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720000" y="7092000"/>
            <a:ext cx="2098080" cy="108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20000" y="7092000"/>
            <a:ext cx="209808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平均値補完
(mean imputation)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720000" y="8172000"/>
            <a:ext cx="2098080" cy="2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20000" y="8172000"/>
            <a:ext cx="209808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数値・MCAR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2975120.0" y="6552000"/>
            <a:ext cx="0.0" cy="540000"/>
          </a:xfrm>
          <a:prstGeom prst="line">
            <a:avLst/>
          </a:prstGeom>
          <a:ln w="19050">
            <a:solidFill>
              <a:srgbClr val="026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1890080" y="7092000"/>
            <a:ext cx="2098080" cy="1080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890080" y="7092000"/>
            <a:ext cx="209808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中央値補完
(median imputation)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890080" y="8172000"/>
            <a:ext cx="2098080" cy="2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890080" y="8172000"/>
            <a:ext cx="209808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外れ値あり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5145200.0" y="6552000"/>
            <a:ext cx="0.0" cy="54000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14060160" y="7092000"/>
            <a:ext cx="2098080" cy="1080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4060160" y="7092000"/>
            <a:ext cx="209808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最頻値補完
(mode imputation)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060160" y="8172000"/>
            <a:ext cx="2098080" cy="2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4060160" y="8172000"/>
            <a:ext cx="209808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カテゴリ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7315280.0" y="6552000"/>
            <a:ext cx="0.0" cy="540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16230240" y="7092000"/>
            <a:ext cx="2098080" cy="1080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30240" y="7092000"/>
            <a:ext cx="209808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KNN補完
(KNNImputer)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230240" y="8172000"/>
            <a:ext cx="2098080" cy="2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230240" y="8172000"/>
            <a:ext cx="209808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MAR・複雑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9485360.0" y="6552000"/>
            <a:ext cx="0.0" cy="540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18400320" y="7092000"/>
            <a:ext cx="2098080" cy="1080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400320" y="7092000"/>
            <a:ext cx="209808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多重代入法
(MICE)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400320" y="8172000"/>
            <a:ext cx="2098080" cy="288000"/>
          </a:xfrm>
          <a:prstGeom prst="rect">
            <a:avLst/>
          </a:prstGeom>
          <a:solidFill>
            <a:srgbClr val="F3FAFE"/>
          </a:solidFill>
          <a:ln w="63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400320" y="8172000"/>
            <a:ext cx="209808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1A2E"/>
                </a:solidFill>
                <a:latin typeface="Meiryo UI"/>
              </a:rPr>
              <a:t>MNAR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