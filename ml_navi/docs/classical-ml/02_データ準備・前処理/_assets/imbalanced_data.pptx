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8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不均衡データへの対処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72000"/>
            <a:ext cx="19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E4FC"/>
                </a:solidFill>
                <a:latin typeface="Meiryo UI"/>
              </a:rPr>
              <a:t>Imbalanced Data Handling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20000"/>
            <a:ext cx="21290400" cy="54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872000"/>
            <a:ext cx="9360000" cy="68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1944000"/>
            <a:ext cx="914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13CA6"/>
                </a:solidFill>
                <a:latin typeface="Meiryo UI"/>
              </a:rPr>
              <a:t>SMOTE概念図（少数クラスの補間）</a:t>
            </a:r>
          </a:p>
        </p:txBody>
      </p:sp>
      <p:sp>
        <p:nvSpPr>
          <p:cNvPr id="9" name="Oval 8"/>
          <p:cNvSpPr/>
          <p:nvPr/>
        </p:nvSpPr>
        <p:spPr>
          <a:xfrm>
            <a:off x="1656000" y="3456000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20000" y="4032000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88000" y="4608000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4000" y="3168000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52000" y="4320000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4000" y="3744000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16000" y="3744000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48000" y="2880000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56000" y="2592000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80000" y="4032000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20000" y="4896000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84000" y="5184000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2000" y="3456000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22001" y="6318001"/>
            <a:ext cx="251999" cy="2519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86001" y="6894001"/>
            <a:ext cx="251999" cy="2519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54001" y="7182001"/>
            <a:ext cx="251999" cy="2519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80000" y="7272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0000"/>
                </a:solidFill>
                <a:latin typeface="Meiryo UI"/>
              </a:rPr>
              <a:t>元の少数クラス (3点)</a:t>
            </a:r>
          </a:p>
        </p:txBody>
      </p:sp>
      <p:sp>
        <p:nvSpPr>
          <p:cNvPr id="26" name="Oval 25"/>
          <p:cNvSpPr/>
          <p:nvPr/>
        </p:nvSpPr>
        <p:spPr>
          <a:xfrm>
            <a:off x="7012800" y="6508800"/>
            <a:ext cx="216000" cy="216000"/>
          </a:xfrm>
          <a:prstGeom prst="ellipse">
            <a:avLst/>
          </a:prstGeom>
          <a:solidFill>
            <a:srgbClr val="EBA81A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85600" y="6739200"/>
            <a:ext cx="216000" cy="216000"/>
          </a:xfrm>
          <a:prstGeom prst="ellipse">
            <a:avLst/>
          </a:prstGeom>
          <a:solidFill>
            <a:srgbClr val="EBA81A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44800" y="7084800"/>
            <a:ext cx="216000" cy="216000"/>
          </a:xfrm>
          <a:prstGeom prst="ellipse">
            <a:avLst/>
          </a:prstGeom>
          <a:solidFill>
            <a:srgbClr val="EBA81A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99200" y="6912000"/>
            <a:ext cx="216000" cy="216000"/>
          </a:xfrm>
          <a:prstGeom prst="ellipse">
            <a:avLst/>
          </a:prstGeom>
          <a:solidFill>
            <a:srgbClr val="EBA81A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31200" y="6624000"/>
            <a:ext cx="216000" cy="216000"/>
          </a:xfrm>
          <a:prstGeom prst="ellipse">
            <a:avLst/>
          </a:prstGeom>
          <a:solidFill>
            <a:srgbClr val="EBA81A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58400" y="6796800"/>
            <a:ext cx="216000" cy="216000"/>
          </a:xfrm>
          <a:prstGeom prst="ellipse">
            <a:avLst/>
          </a:prstGeom>
          <a:solidFill>
            <a:srgbClr val="EBA81A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948000.0" y="6444000.0"/>
            <a:ext cx="864000.0" cy="576000.0"/>
          </a:xfrm>
          <a:prstGeom prst="line">
            <a:avLst/>
          </a:prstGeom>
          <a:ln w="152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948000.0" y="6444000.0"/>
            <a:ext cx="432000.0" cy="864000.0"/>
          </a:xfrm>
          <a:prstGeom prst="line">
            <a:avLst/>
          </a:prstGeom>
          <a:ln w="152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380000.0" y="7020000.0"/>
            <a:ext cx="432000.0" cy="288000.0"/>
          </a:xfrm>
          <a:prstGeom prst="line">
            <a:avLst/>
          </a:prstGeom>
          <a:ln w="152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80000" y="7524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BA81A"/>
                </a:solidFill>
                <a:latin typeface="Meiryo UI"/>
              </a:rPr>
              <a:t>SMOTE生成点 (合成)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4000" y="7272000"/>
            <a:ext cx="90720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SMOTE手順:
①少数クラスの点を選択
②k近傍を求める
③近傍間を補間して合成サンプル生成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40000" y="1872000"/>
            <a:ext cx="1837872" cy="558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76000" y="1908000"/>
            <a:ext cx="1783872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手法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295872" y="1872000"/>
            <a:ext cx="1837872" cy="558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331872" y="1908000"/>
            <a:ext cx="1783872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分類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151744" y="1872000"/>
            <a:ext cx="2868912" cy="558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187744" y="1908000"/>
            <a:ext cx="2814912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概要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038656" y="1872000"/>
            <a:ext cx="1837872" cy="558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074656" y="1908000"/>
            <a:ext cx="1783872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長所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894528" y="1872000"/>
            <a:ext cx="1837872" cy="558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930528" y="1908000"/>
            <a:ext cx="1783872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短所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40000" y="2430000"/>
            <a:ext cx="1837872" cy="558000"/>
          </a:xfrm>
          <a:prstGeom prst="rect">
            <a:avLst/>
          </a:prstGeom>
          <a:solidFill>
            <a:srgbClr val="013CA6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76000" y="2448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過小
サンプリング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295872" y="2430000"/>
            <a:ext cx="1837872" cy="55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331872" y="2448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データ削除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151744" y="2430000"/>
            <a:ext cx="2868912" cy="55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187744" y="2448000"/>
            <a:ext cx="281491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多数クラスを削減
(RandomUnderSampler)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038656" y="2430000"/>
            <a:ext cx="1837872" cy="55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074656" y="2448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高速・簡単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894528" y="2430000"/>
            <a:ext cx="1837872" cy="55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930528" y="2448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情報損失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40000" y="2988000"/>
            <a:ext cx="1837872" cy="558000"/>
          </a:xfrm>
          <a:prstGeom prst="rect">
            <a:avLst/>
          </a:prstGeom>
          <a:solidFill>
            <a:srgbClr val="013CA6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76000" y="3006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過大
サンプリング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295872" y="2988000"/>
            <a:ext cx="1837872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331872" y="3006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データ追加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151744" y="2988000"/>
            <a:ext cx="2868912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187744" y="3006000"/>
            <a:ext cx="281491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少数クラスを複製
(RandomOverSampler)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038656" y="2988000"/>
            <a:ext cx="1837872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074656" y="3006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簡単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894528" y="2988000"/>
            <a:ext cx="1837872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930528" y="3006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過学習リスク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440000" y="3546000"/>
            <a:ext cx="1837872" cy="558000"/>
          </a:xfrm>
          <a:prstGeom prst="rect">
            <a:avLst/>
          </a:prstGeom>
          <a:solidFill>
            <a:srgbClr val="026AC9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476000" y="3564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SMOTE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295872" y="3546000"/>
            <a:ext cx="1837872" cy="55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331872" y="3564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合成生成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151744" y="3546000"/>
            <a:ext cx="2868912" cy="55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87744" y="3564000"/>
            <a:ext cx="281491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少数クラスを
補間して合成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038656" y="3546000"/>
            <a:ext cx="1837872" cy="55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074656" y="3564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多様性確保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894528" y="3546000"/>
            <a:ext cx="1837872" cy="55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930528" y="3564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ノイズ生成も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440000" y="4104000"/>
            <a:ext cx="1837872" cy="558000"/>
          </a:xfrm>
          <a:prstGeom prst="rect">
            <a:avLst/>
          </a:prstGeom>
          <a:solidFill>
            <a:srgbClr val="026AC9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476000" y="4122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ADASYN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2295872" y="4104000"/>
            <a:ext cx="1837872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331872" y="4122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適応的生成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151744" y="4104000"/>
            <a:ext cx="2868912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187744" y="4122000"/>
            <a:ext cx="281491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難しい境界付近
を重点的に生成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7038656" y="4104000"/>
            <a:ext cx="1837872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7074656" y="4122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境界改善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8894528" y="4104000"/>
            <a:ext cx="1837872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8930528" y="4122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計算コスト高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440000" y="4662000"/>
            <a:ext cx="1837872" cy="558000"/>
          </a:xfrm>
          <a:prstGeom prst="rect">
            <a:avLst/>
          </a:prstGeom>
          <a:solidFill>
            <a:srgbClr val="00B050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476000" y="4680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クラス重み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2295872" y="4662000"/>
            <a:ext cx="1837872" cy="55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331872" y="4680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損失調整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4151744" y="4662000"/>
            <a:ext cx="2868912" cy="55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4187744" y="4680000"/>
            <a:ext cx="281491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class_weight=
'balanced'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038656" y="4662000"/>
            <a:ext cx="1837872" cy="55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7074656" y="4680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実装が容易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894528" y="4662000"/>
            <a:ext cx="1837872" cy="55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8930528" y="4680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調整が必要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440000" y="5220000"/>
            <a:ext cx="1837872" cy="558000"/>
          </a:xfrm>
          <a:prstGeom prst="rect">
            <a:avLst/>
          </a:prstGeom>
          <a:solidFill>
            <a:srgbClr val="00B050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476000" y="5238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閾値調整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2295872" y="5220000"/>
            <a:ext cx="1837872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2331872" y="5238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判定基準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4151744" y="5220000"/>
            <a:ext cx="2868912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4187744" y="5238000"/>
            <a:ext cx="281491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確率閾値を
最適化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7038656" y="5220000"/>
            <a:ext cx="1837872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7074656" y="5238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柔軟な制御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8894528" y="5220000"/>
            <a:ext cx="1837872" cy="5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8930528" y="5238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評価指標要確認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440000" y="5778000"/>
            <a:ext cx="1837872" cy="558000"/>
          </a:xfrm>
          <a:prstGeom prst="rect">
            <a:avLst/>
          </a:prstGeom>
          <a:solidFill>
            <a:srgbClr val="EBA81A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476000" y="5796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アンサンブル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2295872" y="5778000"/>
            <a:ext cx="1837872" cy="55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2331872" y="5796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モデル調整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4151744" y="5778000"/>
            <a:ext cx="2868912" cy="55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4187744" y="5796000"/>
            <a:ext cx="281491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BalancedRF
EasyEnsemble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7038656" y="5778000"/>
            <a:ext cx="1837872" cy="55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7074656" y="5796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高精度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8894528" y="5778000"/>
            <a:ext cx="1837872" cy="55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8930528" y="5796000"/>
            <a:ext cx="1783872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計算コスト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0000" y="8856000"/>
            <a:ext cx="20210400" cy="29736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12000" y="8928000"/>
            <a:ext cx="4320000" cy="28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 UI"/>
              </a:rPr>
              <a:t>不均衡データに適した評価指標: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040000" y="8928000"/>
            <a:ext cx="2576400" cy="2829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40000" y="8946000"/>
            <a:ext cx="2576400" cy="27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13CA6"/>
                </a:solidFill>
                <a:latin typeface="Meiryo UI"/>
              </a:rPr>
              <a:t>Precision（適合率）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688400" y="8928000"/>
            <a:ext cx="2576400" cy="2829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688400" y="8946000"/>
            <a:ext cx="2576400" cy="27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13CA6"/>
                </a:solidFill>
                <a:latin typeface="Meiryo UI"/>
              </a:rPr>
              <a:t>Recall（再現率）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336800" y="8928000"/>
            <a:ext cx="2576400" cy="2829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336800" y="8946000"/>
            <a:ext cx="2576400" cy="27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13CA6"/>
                </a:solidFill>
                <a:latin typeface="Meiryo UI"/>
              </a:rPr>
              <a:t>F1スコア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2985200" y="8928000"/>
            <a:ext cx="2576400" cy="2829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2985200" y="8946000"/>
            <a:ext cx="2576400" cy="27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13CA6"/>
                </a:solidFill>
                <a:latin typeface="Meiryo UI"/>
              </a:rPr>
              <a:t>AUC-ROC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5633600" y="8928000"/>
            <a:ext cx="2576400" cy="2829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5633600" y="8946000"/>
            <a:ext cx="2576400" cy="27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13CA6"/>
                </a:solidFill>
                <a:latin typeface="Meiryo UI"/>
              </a:rPr>
              <a:t>PR曲線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8282000" y="8928000"/>
            <a:ext cx="2576400" cy="2829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8282000" y="8946000"/>
            <a:ext cx="2576400" cy="27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13CA6"/>
                </a:solidFill>
                <a:latin typeface="Meiryo UI"/>
              </a:rPr>
              <a:t>MCC（マシューズ相関）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