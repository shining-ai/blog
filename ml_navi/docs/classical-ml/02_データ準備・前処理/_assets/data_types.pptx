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8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データの種類と品質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72000"/>
            <a:ext cx="19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E4FC"/>
                </a:solidFill>
                <a:latin typeface="Meiryo UI"/>
              </a:rPr>
              <a:t>Data Types &amp;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20000"/>
            <a:ext cx="21290400" cy="54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872000"/>
            <a:ext cx="4980600" cy="99216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872000"/>
            <a:ext cx="4980600" cy="90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908000"/>
            <a:ext cx="4980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196000"/>
            <a:ext cx="4980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数値データ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484000"/>
            <a:ext cx="4980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E4FC"/>
                </a:solidFill>
                <a:latin typeface="Meiryo UI"/>
              </a:rPr>
              <a:t>Numerical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" y="2844000"/>
            <a:ext cx="483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3CA6"/>
                </a:solidFill>
                <a:latin typeface="Meiryo UI"/>
              </a:rPr>
              <a:t>種類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" y="3060000"/>
            <a:ext cx="4836600" cy="2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3078000"/>
            <a:ext cx="4764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連続値 (Continuous)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" y="3420000"/>
            <a:ext cx="4836600" cy="2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00" y="3438000"/>
            <a:ext cx="4764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離散値 (Discrete)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" y="3888000"/>
            <a:ext cx="483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3CA6"/>
                </a:solidFill>
                <a:latin typeface="Meiryo UI"/>
              </a:rPr>
              <a:t>具体例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000" y="4104000"/>
            <a:ext cx="4836600" cy="86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000" y="4140000"/>
            <a:ext cx="47646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年齢: 25.5, 30.2
身長: 165.3 cm
気温: 23.1°C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000" y="5040000"/>
            <a:ext cx="4836600" cy="86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000" y="5076000"/>
            <a:ext cx="47646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来客数: 120人
クリック数: 50
テストスコア: 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000" y="6048000"/>
            <a:ext cx="483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3CA6"/>
                </a:solidFill>
                <a:latin typeface="Meiryo UI"/>
              </a:rPr>
              <a:t>前処理手法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000" y="6264000"/>
            <a:ext cx="4836600" cy="1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000" y="6299999"/>
            <a:ext cx="4764600" cy="11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• 正規化/標準化
• 外れ値除去
• ビニング変換
• ログ変換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" y="7596000"/>
            <a:ext cx="4836600" cy="36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7632000"/>
            <a:ext cx="476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可視化: ヒストグラム/箱ひげ図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92600" y="1872000"/>
            <a:ext cx="4980600" cy="9921600"/>
          </a:xfrm>
          <a:prstGeom prst="rect">
            <a:avLst/>
          </a:prstGeom>
          <a:solidFill>
            <a:srgbClr val="F3FAFE"/>
          </a:solidFill>
          <a:ln w="2540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92600" y="1872000"/>
            <a:ext cx="4980600" cy="9000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2600" y="1908000"/>
            <a:ext cx="4980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A B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2600" y="2196000"/>
            <a:ext cx="4980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カテゴリデータ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2600" y="2484000"/>
            <a:ext cx="4980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E4FC"/>
                </a:solidFill>
                <a:latin typeface="Meiryo UI"/>
              </a:rPr>
              <a:t>Categorical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4600" y="2844000"/>
            <a:ext cx="483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6AC9"/>
                </a:solidFill>
                <a:latin typeface="Meiryo UI"/>
              </a:rPr>
              <a:t>種類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4600" y="3060000"/>
            <a:ext cx="4836600" cy="2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00600" y="3078000"/>
            <a:ext cx="4764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名義尺度 (Nominal)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4600" y="3420000"/>
            <a:ext cx="4836600" cy="2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00600" y="3438000"/>
            <a:ext cx="4764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順序尺度 (Ordinal)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4600" y="3888000"/>
            <a:ext cx="483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6AC9"/>
                </a:solidFill>
                <a:latin typeface="Meiryo UI"/>
              </a:rPr>
              <a:t>具体例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4600" y="4104000"/>
            <a:ext cx="4836600" cy="86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00600" y="4140000"/>
            <a:ext cx="47646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性別: 男/女
色: 赤/青/緑
国名: 日本/米国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4600" y="5040000"/>
            <a:ext cx="4836600" cy="86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00600" y="5076000"/>
            <a:ext cx="47646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評価: 低/中/高
学年: 1/2/3年
満足度: 1-5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4600" y="6048000"/>
            <a:ext cx="483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6AC9"/>
                </a:solidFill>
                <a:latin typeface="Meiryo UI"/>
              </a:rPr>
              <a:t>前処理手法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4600" y="6264000"/>
            <a:ext cx="4836600" cy="1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00600" y="6299999"/>
            <a:ext cx="4764600" cy="11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• ラベルエンコード
• One-Hotエンコード
• 順序エンコード
• 頻度エンコード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4600" y="7596000"/>
            <a:ext cx="4836600" cy="3600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00600" y="7632000"/>
            <a:ext cx="476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可視化: 棒グラフ/円グラフ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45200" y="1872000"/>
            <a:ext cx="4980600" cy="9921600"/>
          </a:xfrm>
          <a:prstGeom prst="rect">
            <a:avLst/>
          </a:prstGeom>
          <a:solidFill>
            <a:srgbClr val="F3FAFE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645200" y="1872000"/>
            <a:ext cx="4980600" cy="900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45200" y="1908000"/>
            <a:ext cx="4980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テキスト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45200" y="2196000"/>
            <a:ext cx="4980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テキストデータ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45200" y="2484000"/>
            <a:ext cx="4980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E4FC"/>
                </a:solidFill>
                <a:latin typeface="Meiryo UI"/>
              </a:rPr>
              <a:t>Text 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17200" y="2844000"/>
            <a:ext cx="483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050"/>
                </a:solidFill>
                <a:latin typeface="Meiryo UI"/>
              </a:rPr>
              <a:t>種類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717200" y="3060000"/>
            <a:ext cx="4836600" cy="2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53200" y="3078000"/>
            <a:ext cx="4764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非構造化テキスト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717200" y="3420000"/>
            <a:ext cx="4836600" cy="2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53200" y="3438000"/>
            <a:ext cx="4764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構造化テキスト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17200" y="3888000"/>
            <a:ext cx="483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050"/>
                </a:solidFill>
                <a:latin typeface="Meiryo UI"/>
              </a:rPr>
              <a:t>具体例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17200" y="4104000"/>
            <a:ext cx="4836600" cy="86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53200" y="4140000"/>
            <a:ext cx="47646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レビュー文
ニュース記事
SNS投稿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717200" y="5040000"/>
            <a:ext cx="4836600" cy="86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53200" y="5076000"/>
            <a:ext cx="47646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住所
メールアドレス
URL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17200" y="6048000"/>
            <a:ext cx="483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050"/>
                </a:solidFill>
                <a:latin typeface="Meiryo UI"/>
              </a:rPr>
              <a:t>前処理手法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717200" y="6264000"/>
            <a:ext cx="4836600" cy="1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53200" y="6299999"/>
            <a:ext cx="4764600" cy="11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• トークナイゼーション
• TF-IDF / Bag-of-Words
• 埋め込み表現
• 前処理（正規化）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717200" y="7596000"/>
            <a:ext cx="4836600" cy="360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53200" y="7632000"/>
            <a:ext cx="476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可視化: ワードクラウド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697800" y="1872000"/>
            <a:ext cx="4980600" cy="9921600"/>
          </a:xfrm>
          <a:prstGeom prst="rect">
            <a:avLst/>
          </a:prstGeom>
          <a:solidFill>
            <a:srgbClr val="F3FAFE"/>
          </a:solidFill>
          <a:ln w="254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5697800" y="1872000"/>
            <a:ext cx="4980600" cy="900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5697800" y="1908000"/>
            <a:ext cx="4980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□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697800" y="2196000"/>
            <a:ext cx="4980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画像データ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697800" y="2484000"/>
            <a:ext cx="4980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E4FC"/>
                </a:solidFill>
                <a:latin typeface="Meiryo UI"/>
              </a:rPr>
              <a:t>Image Data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769800" y="2844000"/>
            <a:ext cx="483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BA81A"/>
                </a:solidFill>
                <a:latin typeface="Meiryo UI"/>
              </a:rPr>
              <a:t>種類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769800" y="3060000"/>
            <a:ext cx="4836600" cy="2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805800" y="3078000"/>
            <a:ext cx="4764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グレースケール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769800" y="3420000"/>
            <a:ext cx="4836600" cy="2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05800" y="3438000"/>
            <a:ext cx="4764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カラー (RGB)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769800" y="3888000"/>
            <a:ext cx="483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BA81A"/>
                </a:solidFill>
                <a:latin typeface="Meiryo UI"/>
              </a:rPr>
              <a:t>具体例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5769800" y="4104000"/>
            <a:ext cx="4836600" cy="86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805800" y="4140000"/>
            <a:ext cx="47646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写真: H×W×3
医療画像
衛星画像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769800" y="5040000"/>
            <a:ext cx="4836600" cy="864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805800" y="5076000"/>
            <a:ext cx="47646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手書き文字
ドキュメント
動画フレーム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5769800" y="6048000"/>
            <a:ext cx="483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BA81A"/>
                </a:solidFill>
                <a:latin typeface="Meiryo UI"/>
              </a:rPr>
              <a:t>前処理手法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769800" y="6264000"/>
            <a:ext cx="4836600" cy="1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05800" y="6299999"/>
            <a:ext cx="4764600" cy="11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eiryo UI"/>
              </a:rPr>
              <a:t>• リサイズ/クロップ
• 正規化 [0,1]
• データ拡張
• 特徴抽出 (CNN)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769800" y="7596000"/>
            <a:ext cx="4836600" cy="360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805800" y="7632000"/>
            <a:ext cx="476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可視化: 画像表示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