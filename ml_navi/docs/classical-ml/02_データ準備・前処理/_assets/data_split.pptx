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データ分割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Data Splitting &amp; Cross-Validation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72000"/>
            <a:ext cx="2021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  <a:latin typeface="Meiryo UI"/>
              </a:rPr>
              <a:t>k-fold クロスバリデーション（k=5 の例）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04000"/>
            <a:ext cx="16200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  <a:latin typeface="Meiryo UI"/>
              </a:rPr>
              <a:t>fold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340000" y="2304000"/>
            <a:ext cx="3664080" cy="917999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000" y="2304000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Fold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2080" y="2304000"/>
            <a:ext cx="3664080" cy="917999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2080" y="2304000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Fold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04160" y="2304000"/>
            <a:ext cx="3664080" cy="917999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04160" y="2304000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Fold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86240" y="2304000"/>
            <a:ext cx="3664080" cy="917999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86240" y="2304000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Fold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068320" y="2304000"/>
            <a:ext cx="3664080" cy="917999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68320" y="2304000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Fold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401999"/>
            <a:ext cx="1620000" cy="917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3401999"/>
            <a:ext cx="16200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反復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0000" y="3401999"/>
            <a:ext cx="3664080" cy="917999"/>
          </a:xfrm>
          <a:prstGeom prst="rect">
            <a:avLst/>
          </a:prstGeom>
          <a:solidFill>
            <a:srgbClr val="FF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000" y="3401999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検証
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22080" y="3401999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22080" y="3401999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04160" y="3401999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04160" y="3401999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386240" y="3401999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386240" y="3401999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068320" y="3401999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68320" y="3401999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499998"/>
            <a:ext cx="1620000" cy="917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" y="4499998"/>
            <a:ext cx="16200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反復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40000" y="4499998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000" y="4499998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22080" y="4499998"/>
            <a:ext cx="3664080" cy="917999"/>
          </a:xfrm>
          <a:prstGeom prst="rect">
            <a:avLst/>
          </a:prstGeom>
          <a:solidFill>
            <a:srgbClr val="FF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2080" y="4499998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検証
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04160" y="4499998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4160" y="4499998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386240" y="4499998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386240" y="4499998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068320" y="4499998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068320" y="4499998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0000" y="5597997"/>
            <a:ext cx="1620000" cy="917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0000" y="5597997"/>
            <a:ext cx="16200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反復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40000" y="5597997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40000" y="5597997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22080" y="5597997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22080" y="5597997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04160" y="5597997"/>
            <a:ext cx="3664080" cy="917999"/>
          </a:xfrm>
          <a:prstGeom prst="rect">
            <a:avLst/>
          </a:prstGeom>
          <a:solidFill>
            <a:srgbClr val="FF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04160" y="5597997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検証
Validation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386240" y="5597997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386240" y="5597997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068320" y="5597997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068320" y="5597997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0000" y="6695996"/>
            <a:ext cx="1620000" cy="917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0000" y="6695996"/>
            <a:ext cx="16200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反復 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40000" y="6695996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40000" y="6695996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22080" y="6695996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22080" y="6695996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04160" y="6695996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04160" y="6695996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386240" y="6695996"/>
            <a:ext cx="3664080" cy="917999"/>
          </a:xfrm>
          <a:prstGeom prst="rect">
            <a:avLst/>
          </a:prstGeom>
          <a:solidFill>
            <a:srgbClr val="FF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386240" y="6695996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検証
Validation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068320" y="6695996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068320" y="6695996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0000" y="7793995"/>
            <a:ext cx="1620000" cy="917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0000" y="7793995"/>
            <a:ext cx="162000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反復 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40000" y="7793995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40000" y="7793995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22080" y="7793995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22080" y="7793995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04160" y="7793995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04160" y="7793995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386240" y="7793995"/>
            <a:ext cx="3664080" cy="917999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86240" y="7793995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  <a:latin typeface="Meiryo UI"/>
              </a:rPr>
              <a:t>訓練
Training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068320" y="7793995"/>
            <a:ext cx="3664080" cy="917999"/>
          </a:xfrm>
          <a:prstGeom prst="rect">
            <a:avLst/>
          </a:prstGeom>
          <a:solidFill>
            <a:srgbClr val="FF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7068320" y="7793995"/>
            <a:ext cx="3664080" cy="91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検証
Validation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40000" y="8999994"/>
            <a:ext cx="1080000" cy="324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28000" y="8999994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  <a:latin typeface="Meiryo UI"/>
              </a:rPr>
              <a:t>検証データ (Validation)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20000" y="8999994"/>
            <a:ext cx="1080000" cy="324000"/>
          </a:xfrm>
          <a:prstGeom prst="rect">
            <a:avLst/>
          </a:prstGeom>
          <a:solidFill>
            <a:srgbClr val="BDE4FC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08000" y="8999994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13CA6"/>
                </a:solidFill>
                <a:latin typeface="Meiryo UI"/>
              </a:rPr>
              <a:t>訓練データ (Training)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0000" y="9431994"/>
            <a:ext cx="202104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0000" y="9503994"/>
            <a:ext cx="198504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  <a:latin typeface="Meiryo UI"/>
              </a:rPr>
              <a:t>各反復でスコアを記録 → 平均と分散でモデルの汎化性能を評価
CV Score = mean(Score₁, Score₂, Score₃, Score₄, Score₅)  ±  std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0000" y="10475994"/>
            <a:ext cx="3970080" cy="1353606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0000" y="10475994"/>
            <a:ext cx="3970080" cy="396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0000" y="10511994"/>
            <a:ext cx="397008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Holdout分割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2000" y="10907994"/>
            <a:ext cx="3898080" cy="885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設定: 訓練70% / 検証15% / テスト15%
✓ 高速・シンプル
✗ データ量に依存
用途: 大規模データ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82080" y="10475994"/>
            <a:ext cx="3970080" cy="1353606"/>
          </a:xfrm>
          <a:prstGeom prst="rect">
            <a:avLst/>
          </a:prstGeom>
          <a:solidFill>
            <a:srgbClr val="F3FAFE"/>
          </a:solidFill>
          <a:ln w="190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82080" y="10475994"/>
            <a:ext cx="3970080" cy="396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82080" y="10511994"/>
            <a:ext cx="397008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k-fold CV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54080" y="10907994"/>
            <a:ext cx="3898080" cy="885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設定: k=5〜10 が一般的
✓ 全データを評価に活用
✗ k倍の計算コスト
用途: 中規模データ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24160" y="10475994"/>
            <a:ext cx="3970080" cy="1353606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624160" y="10475994"/>
            <a:ext cx="3970080" cy="396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24160" y="10511994"/>
            <a:ext cx="397008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Stratified k-fold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96160" y="10907994"/>
            <a:ext cx="3898080" cy="885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設定: クラス比率を維持
✓ 不均衡データに有効
✗ 回帰に不適
用途: 分類タスク全般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666240" y="10475994"/>
            <a:ext cx="3970080" cy="1353606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2666240" y="10475994"/>
            <a:ext cx="3970080" cy="396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666240" y="10511994"/>
            <a:ext cx="397008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Leave-One-Out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738240" y="10907994"/>
            <a:ext cx="3898080" cy="885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設定: k=n（サンプル数）
✓ バイアスが最小
✗ 非常に計算コスト高
用途: 超小規模データ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708320" y="10475994"/>
            <a:ext cx="3970080" cy="1353606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6708320" y="10475994"/>
            <a:ext cx="3970080" cy="396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708320" y="10511994"/>
            <a:ext cx="397008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時系列分割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780320" y="10907994"/>
            <a:ext cx="3898080" cy="885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設定: 時系列順を維持
✓ リーク防止
✗ 未来→過去不可
用途: 時系列予測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