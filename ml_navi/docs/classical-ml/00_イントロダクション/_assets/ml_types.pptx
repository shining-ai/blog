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205704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機械学習の3分類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60000"/>
            <a:ext cx="6480000" cy="16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1368000"/>
            <a:ext cx="6264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教師あり学習
(Supervised Learning)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2951999"/>
            <a:ext cx="6480000" cy="126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3024000"/>
            <a:ext cx="6264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A1A2E"/>
                </a:solidFill>
              </a:rPr>
              <a:t>ラベル付きデータで学習
入力→出力のマッピング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4320000"/>
            <a:ext cx="6480000" cy="648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000" y="4356000"/>
            <a:ext cx="626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13CA6"/>
                </a:solidFill>
              </a:rPr>
              <a:t>タスク種別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8000" y="5040000"/>
            <a:ext cx="6264000" cy="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6000" y="5076000"/>
            <a:ext cx="615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• 回帰 (Regression)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8000" y="5688000"/>
            <a:ext cx="6264000" cy="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6000" y="5724000"/>
            <a:ext cx="615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• 分類 (Classification)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0000" y="6516000"/>
            <a:ext cx="6480000" cy="648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000" y="6552000"/>
            <a:ext cx="626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13CA6"/>
                </a:solidFill>
              </a:rPr>
              <a:t>代表アルゴリズム</a:t>
            </a:r>
          </a:p>
        </p:txBody>
      </p:sp>
      <p:sp>
        <p:nvSpPr>
          <p:cNvPr id="16" name="Oval 15"/>
          <p:cNvSpPr/>
          <p:nvPr/>
        </p:nvSpPr>
        <p:spPr>
          <a:xfrm>
            <a:off x="684000" y="7344000"/>
            <a:ext cx="180000" cy="180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2000" y="7164000"/>
            <a:ext cx="59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線形回帰</a:t>
            </a:r>
          </a:p>
        </p:txBody>
      </p:sp>
      <p:sp>
        <p:nvSpPr>
          <p:cNvPr id="18" name="Oval 17"/>
          <p:cNvSpPr/>
          <p:nvPr/>
        </p:nvSpPr>
        <p:spPr>
          <a:xfrm>
            <a:off x="684000" y="7920000"/>
            <a:ext cx="180000" cy="180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2000" y="7740000"/>
            <a:ext cx="59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ロジスティック回帰</a:t>
            </a:r>
          </a:p>
        </p:txBody>
      </p:sp>
      <p:sp>
        <p:nvSpPr>
          <p:cNvPr id="20" name="Oval 19"/>
          <p:cNvSpPr/>
          <p:nvPr/>
        </p:nvSpPr>
        <p:spPr>
          <a:xfrm>
            <a:off x="684000" y="8496000"/>
            <a:ext cx="180000" cy="180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2000" y="8316000"/>
            <a:ext cx="59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決定木</a:t>
            </a:r>
          </a:p>
        </p:txBody>
      </p:sp>
      <p:sp>
        <p:nvSpPr>
          <p:cNvPr id="22" name="Oval 21"/>
          <p:cNvSpPr/>
          <p:nvPr/>
        </p:nvSpPr>
        <p:spPr>
          <a:xfrm>
            <a:off x="684000" y="9072000"/>
            <a:ext cx="180000" cy="180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2000" y="8892000"/>
            <a:ext cx="59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SVM</a:t>
            </a:r>
          </a:p>
        </p:txBody>
      </p:sp>
      <p:sp>
        <p:nvSpPr>
          <p:cNvPr id="24" name="Oval 23"/>
          <p:cNvSpPr/>
          <p:nvPr/>
        </p:nvSpPr>
        <p:spPr>
          <a:xfrm>
            <a:off x="684000" y="9648000"/>
            <a:ext cx="180000" cy="180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2000" y="9468000"/>
            <a:ext cx="59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ランダムフォレスト</a:t>
            </a:r>
          </a:p>
        </p:txBody>
      </p:sp>
      <p:sp>
        <p:nvSpPr>
          <p:cNvPr id="26" name="Oval 25"/>
          <p:cNvSpPr/>
          <p:nvPr/>
        </p:nvSpPr>
        <p:spPr>
          <a:xfrm>
            <a:off x="684000" y="10224000"/>
            <a:ext cx="180000" cy="180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2000" y="10044000"/>
            <a:ext cx="59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ニューラルネット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80000" y="1260000"/>
            <a:ext cx="6480000" cy="1620000"/>
          </a:xfrm>
          <a:prstGeom prst="rect">
            <a:avLst/>
          </a:prstGeom>
          <a:solidFill>
            <a:srgbClr val="026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88000" y="1368000"/>
            <a:ext cx="6264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教師なし学習
(Unsupervised Learning)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80000" y="2951999"/>
            <a:ext cx="6480000" cy="126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26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88000" y="3024000"/>
            <a:ext cx="6264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A1A2E"/>
                </a:solidFill>
              </a:rPr>
              <a:t>ラベルなしデータで
構造・パターンを発見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80000" y="4320000"/>
            <a:ext cx="6480000" cy="648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88000" y="4356000"/>
            <a:ext cx="626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13CA6"/>
                </a:solidFill>
              </a:rPr>
              <a:t>タスク種別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88000" y="5040000"/>
            <a:ext cx="6264000" cy="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6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96000" y="5076000"/>
            <a:ext cx="615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• クラスタリング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88000" y="5688000"/>
            <a:ext cx="6264000" cy="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6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96000" y="5724000"/>
            <a:ext cx="615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• 次元削減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88000" y="6336000"/>
            <a:ext cx="6264000" cy="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6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96000" y="6372000"/>
            <a:ext cx="615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• 密度推定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80000" y="7164000"/>
            <a:ext cx="6480000" cy="648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88000" y="7200000"/>
            <a:ext cx="626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13CA6"/>
                </a:solidFill>
              </a:rPr>
              <a:t>代表アルゴリズム</a:t>
            </a:r>
          </a:p>
        </p:txBody>
      </p:sp>
      <p:sp>
        <p:nvSpPr>
          <p:cNvPr id="42" name="Oval 41"/>
          <p:cNvSpPr/>
          <p:nvPr/>
        </p:nvSpPr>
        <p:spPr>
          <a:xfrm>
            <a:off x="7524000" y="7992000"/>
            <a:ext cx="180000" cy="180000"/>
          </a:xfrm>
          <a:prstGeom prst="ellipse">
            <a:avLst/>
          </a:prstGeom>
          <a:solidFill>
            <a:srgbClr val="026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12000" y="7812000"/>
            <a:ext cx="59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k-means</a:t>
            </a:r>
          </a:p>
        </p:txBody>
      </p:sp>
      <p:sp>
        <p:nvSpPr>
          <p:cNvPr id="44" name="Oval 43"/>
          <p:cNvSpPr/>
          <p:nvPr/>
        </p:nvSpPr>
        <p:spPr>
          <a:xfrm>
            <a:off x="7524000" y="8568000"/>
            <a:ext cx="180000" cy="180000"/>
          </a:xfrm>
          <a:prstGeom prst="ellipse">
            <a:avLst/>
          </a:prstGeom>
          <a:solidFill>
            <a:srgbClr val="026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12000" y="8388000"/>
            <a:ext cx="59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階層的クラスタリング</a:t>
            </a:r>
          </a:p>
        </p:txBody>
      </p:sp>
      <p:sp>
        <p:nvSpPr>
          <p:cNvPr id="46" name="Oval 45"/>
          <p:cNvSpPr/>
          <p:nvPr/>
        </p:nvSpPr>
        <p:spPr>
          <a:xfrm>
            <a:off x="7524000" y="9144000"/>
            <a:ext cx="180000" cy="180000"/>
          </a:xfrm>
          <a:prstGeom prst="ellipse">
            <a:avLst/>
          </a:prstGeom>
          <a:solidFill>
            <a:srgbClr val="026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12000" y="8964000"/>
            <a:ext cx="59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PCA</a:t>
            </a:r>
          </a:p>
        </p:txBody>
      </p:sp>
      <p:sp>
        <p:nvSpPr>
          <p:cNvPr id="48" name="Oval 47"/>
          <p:cNvSpPr/>
          <p:nvPr/>
        </p:nvSpPr>
        <p:spPr>
          <a:xfrm>
            <a:off x="7524000" y="9720000"/>
            <a:ext cx="180000" cy="180000"/>
          </a:xfrm>
          <a:prstGeom prst="ellipse">
            <a:avLst/>
          </a:prstGeom>
          <a:solidFill>
            <a:srgbClr val="026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12000" y="9540000"/>
            <a:ext cx="59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t-SNE</a:t>
            </a:r>
          </a:p>
        </p:txBody>
      </p:sp>
      <p:sp>
        <p:nvSpPr>
          <p:cNvPr id="50" name="Oval 49"/>
          <p:cNvSpPr/>
          <p:nvPr/>
        </p:nvSpPr>
        <p:spPr>
          <a:xfrm>
            <a:off x="7524000" y="10296000"/>
            <a:ext cx="180000" cy="180000"/>
          </a:xfrm>
          <a:prstGeom prst="ellipse">
            <a:avLst/>
          </a:prstGeom>
          <a:solidFill>
            <a:srgbClr val="026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12000" y="10116000"/>
            <a:ext cx="59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UMAP</a:t>
            </a:r>
          </a:p>
        </p:txBody>
      </p:sp>
      <p:sp>
        <p:nvSpPr>
          <p:cNvPr id="52" name="Oval 51"/>
          <p:cNvSpPr/>
          <p:nvPr/>
        </p:nvSpPr>
        <p:spPr>
          <a:xfrm>
            <a:off x="7524000" y="10872000"/>
            <a:ext cx="180000" cy="180000"/>
          </a:xfrm>
          <a:prstGeom prst="ellipse">
            <a:avLst/>
          </a:prstGeom>
          <a:solidFill>
            <a:srgbClr val="026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12000" y="10692000"/>
            <a:ext cx="59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オートエンコーダ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4220000" y="1260000"/>
            <a:ext cx="6480000" cy="1620000"/>
          </a:xfrm>
          <a:prstGeom prst="rect">
            <a:avLst/>
          </a:prstGeom>
          <a:solidFill>
            <a:srgbClr val="006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4328000" y="1368000"/>
            <a:ext cx="6264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強化学習
(Reinforcement Learning)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4220000" y="2951999"/>
            <a:ext cx="6480000" cy="126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06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4328000" y="3024000"/>
            <a:ext cx="6264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A1A2E"/>
                </a:solidFill>
              </a:rPr>
              <a:t>環境との相互作用で
報酬を最大化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4220000" y="4320000"/>
            <a:ext cx="6480000" cy="648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4328000" y="4356000"/>
            <a:ext cx="626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13CA6"/>
                </a:solidFill>
              </a:rPr>
              <a:t>タスク種別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4328000" y="5040000"/>
            <a:ext cx="6264000" cy="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4436000" y="5076000"/>
            <a:ext cx="615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• 方策学習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4328000" y="5688000"/>
            <a:ext cx="6264000" cy="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4436000" y="5724000"/>
            <a:ext cx="615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• 価値関数推定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4220000" y="6516000"/>
            <a:ext cx="6480000" cy="648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4328000" y="6552000"/>
            <a:ext cx="626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13CA6"/>
                </a:solidFill>
              </a:rPr>
              <a:t>代表アルゴリズム</a:t>
            </a:r>
          </a:p>
        </p:txBody>
      </p:sp>
      <p:sp>
        <p:nvSpPr>
          <p:cNvPr id="66" name="Oval 65"/>
          <p:cNvSpPr/>
          <p:nvPr/>
        </p:nvSpPr>
        <p:spPr>
          <a:xfrm>
            <a:off x="14364000" y="7344000"/>
            <a:ext cx="180000" cy="180000"/>
          </a:xfrm>
          <a:prstGeom prst="ellipse">
            <a:avLst/>
          </a:prstGeom>
          <a:solidFill>
            <a:srgbClr val="006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4652000" y="7164000"/>
            <a:ext cx="59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Q-Learning</a:t>
            </a:r>
          </a:p>
        </p:txBody>
      </p:sp>
      <p:sp>
        <p:nvSpPr>
          <p:cNvPr id="68" name="Oval 67"/>
          <p:cNvSpPr/>
          <p:nvPr/>
        </p:nvSpPr>
        <p:spPr>
          <a:xfrm>
            <a:off x="14364000" y="7920000"/>
            <a:ext cx="180000" cy="180000"/>
          </a:xfrm>
          <a:prstGeom prst="ellipse">
            <a:avLst/>
          </a:prstGeom>
          <a:solidFill>
            <a:srgbClr val="006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4652000" y="7740000"/>
            <a:ext cx="59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DQN</a:t>
            </a:r>
          </a:p>
        </p:txBody>
      </p:sp>
      <p:sp>
        <p:nvSpPr>
          <p:cNvPr id="70" name="Oval 69"/>
          <p:cNvSpPr/>
          <p:nvPr/>
        </p:nvSpPr>
        <p:spPr>
          <a:xfrm>
            <a:off x="14364000" y="8496000"/>
            <a:ext cx="180000" cy="180000"/>
          </a:xfrm>
          <a:prstGeom prst="ellipse">
            <a:avLst/>
          </a:prstGeom>
          <a:solidFill>
            <a:srgbClr val="006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4652000" y="8316000"/>
            <a:ext cx="59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Policy Gradient</a:t>
            </a:r>
          </a:p>
        </p:txBody>
      </p:sp>
      <p:sp>
        <p:nvSpPr>
          <p:cNvPr id="72" name="Oval 71"/>
          <p:cNvSpPr/>
          <p:nvPr/>
        </p:nvSpPr>
        <p:spPr>
          <a:xfrm>
            <a:off x="14364000" y="9072000"/>
            <a:ext cx="180000" cy="180000"/>
          </a:xfrm>
          <a:prstGeom prst="ellipse">
            <a:avLst/>
          </a:prstGeom>
          <a:solidFill>
            <a:srgbClr val="006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4652000" y="8892000"/>
            <a:ext cx="59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PPO</a:t>
            </a:r>
          </a:p>
        </p:txBody>
      </p:sp>
      <p:sp>
        <p:nvSpPr>
          <p:cNvPr id="74" name="Oval 73"/>
          <p:cNvSpPr/>
          <p:nvPr/>
        </p:nvSpPr>
        <p:spPr>
          <a:xfrm>
            <a:off x="14364000" y="9648000"/>
            <a:ext cx="180000" cy="180000"/>
          </a:xfrm>
          <a:prstGeom prst="ellipse">
            <a:avLst/>
          </a:prstGeom>
          <a:solidFill>
            <a:srgbClr val="006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4652000" y="9468000"/>
            <a:ext cx="59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A3C</a:t>
            </a:r>
          </a:p>
        </p:txBody>
      </p:sp>
      <p:sp>
        <p:nvSpPr>
          <p:cNvPr id="76" name="Oval 75"/>
          <p:cNvSpPr/>
          <p:nvPr/>
        </p:nvSpPr>
        <p:spPr>
          <a:xfrm>
            <a:off x="14364000" y="10224000"/>
            <a:ext cx="180000" cy="180000"/>
          </a:xfrm>
          <a:prstGeom prst="ellipse">
            <a:avLst/>
          </a:prstGeom>
          <a:solidFill>
            <a:srgbClr val="006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4652000" y="10044000"/>
            <a:ext cx="59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AlphaGo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