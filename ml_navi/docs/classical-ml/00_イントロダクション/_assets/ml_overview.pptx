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205704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AI・機械学習・深層学習の全体像</a:t>
            </a:r>
          </a:p>
        </p:txBody>
      </p:sp>
      <p:sp>
        <p:nvSpPr>
          <p:cNvPr id="4" name="Oval 3"/>
          <p:cNvSpPr/>
          <p:nvPr/>
        </p:nvSpPr>
        <p:spPr>
          <a:xfrm>
            <a:off x="1440000" y="2520000"/>
            <a:ext cx="9360000" cy="7920000"/>
          </a:xfrm>
          <a:prstGeom prst="ellipse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00000" y="3600000"/>
            <a:ext cx="6840000" cy="5760000"/>
          </a:xfrm>
          <a:prstGeom prst="ellipse">
            <a:avLst/>
          </a:prstGeom>
          <a:solidFill>
            <a:srgbClr val="68B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960000" y="4680000"/>
            <a:ext cx="4320000" cy="360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0000" y="1980000"/>
            <a:ext cx="2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</a:rPr>
              <a:t>AI（人工知能）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0000" y="2880000"/>
            <a:ext cx="2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1A2E"/>
                </a:solidFill>
              </a:rPr>
              <a:t>機械学習 (ML)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80000" y="5040000"/>
            <a:ext cx="25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深層学習
(Deep Learning)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0000" y="6840000"/>
            <a:ext cx="28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エキスパートシステム
遺伝的アルゴリズム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0000" y="4140000"/>
            <a:ext cx="2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決定木・SVM
ランダムフォレスト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0" y="5940000"/>
            <a:ext cx="21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CNN・RNN
Transformer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960000" y="1440000"/>
            <a:ext cx="7740000" cy="936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140000" y="1548000"/>
            <a:ext cx="73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13CA6"/>
                </a:solidFill>
              </a:rPr>
              <a:t>ルールベース  vs  学習ベース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320000" y="2520000"/>
            <a:ext cx="3240000" cy="684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500000" y="2700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ルールベース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00000" y="3311999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人間がルールを記述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00000" y="3851999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例: if 気温&gt;30 then 暑い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00000" y="4391999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00000" y="4931999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長所: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00000" y="5471999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・解釈しやすい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00000" y="6011999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・少データで動作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00000" y="6551999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00000" y="7091999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短所: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00000" y="7631999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・ルール作成コスト高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00000" y="8171999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・複雑な問題に限界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100000" y="2520000"/>
            <a:ext cx="3240000" cy="684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280000" y="2700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学習ベース (ML)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280000" y="3311999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データからルール自動抽出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280000" y="3851999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例: 大量データで学習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280000" y="4391999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280000" y="4931999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長所: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280000" y="5471999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・複雑なパターン対応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280000" y="6011999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・自動的に改善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280000" y="6551999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280000" y="7091999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短所: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280000" y="7631999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・大量データが必要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280000" y="8171999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・ブラックボックス化</a:t>
            </a:r>
          </a:p>
        </p:txBody>
      </p:sp>
      <p:sp>
        <p:nvSpPr>
          <p:cNvPr id="39" name="Oval 38"/>
          <p:cNvSpPr/>
          <p:nvPr/>
        </p:nvSpPr>
        <p:spPr>
          <a:xfrm>
            <a:off x="16020000" y="5220000"/>
            <a:ext cx="900000" cy="900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020000" y="5364000"/>
            <a:ext cx="9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VS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