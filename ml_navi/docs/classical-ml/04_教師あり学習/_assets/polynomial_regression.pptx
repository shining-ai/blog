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>
                <a:solidFill>
                  <a:srgbClr val="FFFFFF"/>
                </a:solidFill>
              </a:rPr>
              <a:t>多項式回帰 — 次数と過学習の関係（1次・2次・高次の比較）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368000"/>
            <a:ext cx="6660000" cy="82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66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0000"/>
                </a:solidFill>
              </a:rPr>
              <a:t>1次 (線形)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980000"/>
            <a:ext cx="66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ŷ = w₀ + w₁x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0000" y="2700000"/>
            <a:ext cx="0" cy="612000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80000" y="8820000"/>
            <a:ext cx="558000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90000" y="3522078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69000" y="4277150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8000" y="4929825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6999" y="5306651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06000" y="603569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85000" y="6827734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64000" y="670192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43000" y="7134604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21999" y="7318105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01000" y="734883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80000" y="735764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59000" y="707404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8000" y="708897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000" y="7035501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96000" y="6982736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75000" y="6701131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54000" y="5937616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33000" y="514689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12000" y="4889702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91000" y="4259687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080000" y="3924000"/>
            <a:ext cx="5301000" cy="37594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40000" y="9000000"/>
            <a:ext cx="6660000" cy="72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0" y="9000000"/>
            <a:ext cx="66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高バイアス
過小適合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9792000"/>
            <a:ext cx="666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0000" y="9792000"/>
            <a:ext cx="66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</a:rPr>
              <a:t>訓練R²≈0.45
検証R²≈0.42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60000" y="1368000"/>
            <a:ext cx="6660000" cy="82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60000" y="1440000"/>
            <a:ext cx="66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0B050"/>
                </a:solidFill>
              </a:rPr>
              <a:t>2次 (適切)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0000" y="1980000"/>
            <a:ext cx="66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ŷ = w₀+w₁x+w₂x²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100000" y="2700000"/>
            <a:ext cx="0" cy="612000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100000" y="8820000"/>
            <a:ext cx="558000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010000" y="3522078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88999" y="4277150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68000" y="4929825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47000" y="5306651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26000" y="603569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05000" y="6827734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84000" y="670192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963000" y="7134604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242000" y="7318105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521000" y="734883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800000" y="735764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079000" y="707404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357999" y="708897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637000" y="7035501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916000" y="6982736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2195000" y="6701131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474000" y="5937616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2752999" y="514689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3032000" y="4889702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3311000" y="4259687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8100000" y="3486857"/>
            <a:ext cx="186000" cy="5070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286000" y="3993942"/>
            <a:ext cx="186000" cy="47211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72000" y="4466057"/>
            <a:ext cx="186000" cy="43714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658000" y="4903200"/>
            <a:ext cx="186000" cy="40217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844000" y="5305371"/>
            <a:ext cx="186000" cy="3672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030000" y="5672571"/>
            <a:ext cx="186000" cy="33222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216000" y="6004800"/>
            <a:ext cx="186000" cy="29725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402000" y="6302057"/>
            <a:ext cx="186000" cy="2622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588000" y="6564342"/>
            <a:ext cx="186000" cy="22731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4000" y="6791657"/>
            <a:ext cx="186000" cy="19234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960000" y="6983999"/>
            <a:ext cx="186000" cy="15737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146000" y="7141371"/>
            <a:ext cx="186000" cy="1224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332000" y="7263771"/>
            <a:ext cx="186000" cy="8742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518000" y="7351200"/>
            <a:ext cx="186000" cy="5245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704000" y="7403657"/>
            <a:ext cx="186000" cy="174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890000" y="7403657"/>
            <a:ext cx="186000" cy="174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1076000" y="7351200"/>
            <a:ext cx="186000" cy="5245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1262000" y="7263771"/>
            <a:ext cx="186000" cy="8742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1448000" y="7141371"/>
            <a:ext cx="186000" cy="1224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1634000" y="6983999"/>
            <a:ext cx="186000" cy="15737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820000" y="6791657"/>
            <a:ext cx="186000" cy="19234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2006000" y="6564342"/>
            <a:ext cx="186000" cy="22731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2192000" y="6302057"/>
            <a:ext cx="186000" cy="2622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2378000" y="6004800"/>
            <a:ext cx="186000" cy="297257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2564000" y="5672571"/>
            <a:ext cx="186000" cy="33222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2750000" y="5305371"/>
            <a:ext cx="186000" cy="3672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2936000" y="4903200"/>
            <a:ext cx="186000" cy="40217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3122000" y="4466057"/>
            <a:ext cx="186000" cy="43714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3308000" y="3993942"/>
            <a:ext cx="186000" cy="47211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3494000" y="3486857"/>
            <a:ext cx="186000" cy="5070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7560000" y="9000000"/>
            <a:ext cx="666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560000" y="9000000"/>
            <a:ext cx="66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最適バランス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60000" y="9792000"/>
            <a:ext cx="666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60000" y="9792000"/>
            <a:ext cx="66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050"/>
                </a:solidFill>
              </a:rPr>
              <a:t>訓練R²≈0.92
検証R²≈0.90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4580000" y="1368000"/>
            <a:ext cx="6660000" cy="828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4580000" y="1440000"/>
            <a:ext cx="66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13CA6"/>
                </a:solidFill>
              </a:rPr>
              <a:t>9次 (過学習)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580000" y="1980000"/>
            <a:ext cx="66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</a:rPr>
              <a:t>ŷ = Σᵢw_ix^i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5120000" y="2700000"/>
            <a:ext cx="0" cy="612000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5120000" y="8820000"/>
            <a:ext cx="558000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15030000" y="3522078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5309000" y="4277150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5587999" y="4929825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5867000" y="5306651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6146000" y="603569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6425000" y="6827734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6704000" y="670192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6983000" y="7134604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7262000" y="7318105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7541000" y="734883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7820000" y="735764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8099000" y="707404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8378000" y="708897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8657000" y="7035501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8936000" y="6982736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9215000" y="6701131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9494000" y="5937616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9773000" y="5146893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0052000" y="4889702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0331000" y="4259687"/>
            <a:ext cx="216000" cy="216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 flipV="1">
            <a:off x="15120000" y="3346412"/>
            <a:ext cx="93000" cy="22787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5213000" y="3230135"/>
            <a:ext cx="93000" cy="11627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5306000" y="3230135"/>
            <a:ext cx="93000" cy="3961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5399000" y="3269754"/>
            <a:ext cx="93000" cy="210482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5492000" y="3480236"/>
            <a:ext cx="93000" cy="36748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5585000" y="3847725"/>
            <a:ext cx="92999" cy="48667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5677999" y="4334395"/>
            <a:ext cx="93001" cy="552112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5771000" y="4886507"/>
            <a:ext cx="93000" cy="55760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5864000" y="5444115"/>
            <a:ext cx="93000" cy="50669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5957000" y="5950808"/>
            <a:ext cx="93000" cy="41116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6050000" y="6361977"/>
            <a:ext cx="93000" cy="28851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6143000" y="6650494"/>
            <a:ext cx="93000" cy="158701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6236000" y="6809195"/>
            <a:ext cx="93000" cy="4086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6329000" y="6800589"/>
            <a:ext cx="93000" cy="4947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6422000" y="6698090"/>
            <a:ext cx="93000" cy="10249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6515000" y="6583093"/>
            <a:ext cx="93000" cy="11499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6608000" y="6492837"/>
            <a:ext cx="93000" cy="90256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6701000" y="6455912"/>
            <a:ext cx="93000" cy="3692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6794000" y="6455912"/>
            <a:ext cx="93000" cy="3280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6887000" y="6488715"/>
            <a:ext cx="93000" cy="1054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6980000" y="6594115"/>
            <a:ext cx="93000" cy="16817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7073000" y="6762294"/>
            <a:ext cx="93000" cy="21116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7166000" y="6973462"/>
            <a:ext cx="93000" cy="22835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7259000" y="7201817"/>
            <a:ext cx="93000" cy="218241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7352000" y="7420058"/>
            <a:ext cx="93000" cy="18363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7445000" y="7603691"/>
            <a:ext cx="93000" cy="13080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17538000" y="7734498"/>
            <a:ext cx="93000" cy="6822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7631000" y="7802722"/>
            <a:ext cx="93000" cy="502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7724000" y="7757320"/>
            <a:ext cx="93000" cy="50426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17817000" y="7665583"/>
            <a:ext cx="93000" cy="9173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17910000" y="7550295"/>
            <a:ext cx="93000" cy="11528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18003000" y="7429788"/>
            <a:ext cx="93000" cy="12050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18096000" y="7320109"/>
            <a:ext cx="93000" cy="10967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18189000" y="7232793"/>
            <a:ext cx="93000" cy="87316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18282000" y="7173534"/>
            <a:ext cx="93000" cy="5925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18375000" y="7141866"/>
            <a:ext cx="93000" cy="3166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18468000" y="7131829"/>
            <a:ext cx="93000" cy="1003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8561000" y="7131829"/>
            <a:ext cx="93000" cy="156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8654000" y="7133393"/>
            <a:ext cx="93000" cy="98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18747000" y="7122526"/>
            <a:ext cx="93000" cy="1185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18840000" y="7087357"/>
            <a:ext cx="93000" cy="3516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18933000" y="7021622"/>
            <a:ext cx="93000" cy="6573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19026000" y="6922087"/>
            <a:ext cx="93000" cy="9953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9119000" y="6789648"/>
            <a:ext cx="93000" cy="13243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9212000" y="6628804"/>
            <a:ext cx="93000" cy="16084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9305000" y="6446623"/>
            <a:ext cx="93000" cy="182181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9398000" y="6251423"/>
            <a:ext cx="93000" cy="1952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9491000" y="6051384"/>
            <a:ext cx="93000" cy="200039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9584000" y="5853309"/>
            <a:ext cx="93000" cy="19807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9677000" y="5661722"/>
            <a:ext cx="93000" cy="19158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9770000" y="5478394"/>
            <a:ext cx="93000" cy="18332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9863000" y="5302331"/>
            <a:ext cx="93000" cy="17606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9956000" y="5130193"/>
            <a:ext cx="93000" cy="17213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20049000" y="4957026"/>
            <a:ext cx="93000" cy="17316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20142000" y="4777170"/>
            <a:ext cx="93000" cy="179856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20235000" y="4585190"/>
            <a:ext cx="93000" cy="19198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20328000" y="4376683"/>
            <a:ext cx="93000" cy="20850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20421000" y="4148855"/>
            <a:ext cx="93000" cy="22782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20514000" y="3900790"/>
            <a:ext cx="93000" cy="248065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20607000" y="3633412"/>
            <a:ext cx="93000" cy="26737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 178"/>
          <p:cNvSpPr/>
          <p:nvPr/>
        </p:nvSpPr>
        <p:spPr>
          <a:xfrm>
            <a:off x="14580000" y="9000000"/>
            <a:ext cx="6660000" cy="7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4580000" y="9000000"/>
            <a:ext cx="66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高バリアンス
過学習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4580000" y="9792000"/>
            <a:ext cx="666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4580000" y="9792000"/>
            <a:ext cx="66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訓練R²≈0.99
検証R²≈0.52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40000" y="10800000"/>
            <a:ext cx="202104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40000" y="10800000"/>
            <a:ext cx="202104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</a:rPr>
              <a:t>特徴量変換: 1次 → [x]  |  2次 → [x, x²]  |  d次 → [x, x², ..., xᵈ]  →  線形回帰で学習可能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40000" y="11232000"/>
            <a:ext cx="202104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</a:rPr>
              <a:t>過学習防止策: 正則化 (Ridge/Lasso) / 交差検証で最適次数d の選択 / データ量を増やす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