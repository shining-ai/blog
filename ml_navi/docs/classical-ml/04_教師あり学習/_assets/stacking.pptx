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スタッキング — Level-0 / Level-1 構造図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0" y="1440000"/>
            <a:ext cx="43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0" y="1440000"/>
            <a:ext cx="43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元データ X
(訓練 + テスト)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620000" y="2340000"/>
            <a:ext cx="0" cy="54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0000" y="2880000"/>
            <a:ext cx="202104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2880000"/>
            <a:ext cx="202104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Level-0: ベースモデル (Base Learners)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880000" y="2880000"/>
            <a:ext cx="7740000" cy="828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260000" y="3708000"/>
            <a:ext cx="3420000" cy="9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0000" y="3708000"/>
            <a:ext cx="34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ロジスティック
回帰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0000" y="4752000"/>
            <a:ext cx="34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0000" y="4752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0000"/>
                </a:solidFill>
              </a:rPr>
              <a:t>OOF予測
(Out-of-Fold)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0000" y="5688000"/>
            <a:ext cx="3420000" cy="6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5688000"/>
            <a:ext cx="34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0000"/>
                </a:solidFill>
              </a:rPr>
              <a:t>テスト予測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70000" y="6336000"/>
            <a:ext cx="0" cy="576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200000" y="2880000"/>
            <a:ext cx="3420000" cy="828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580000" y="3708000"/>
            <a:ext cx="3420000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0" y="3708000"/>
            <a:ext cx="34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決定木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80000" y="4752000"/>
            <a:ext cx="34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0000" y="4752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BA81A"/>
                </a:solidFill>
              </a:rPr>
              <a:t>OOF予測
(Out-of-Fold)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0000" y="5688000"/>
            <a:ext cx="3420000" cy="6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0000" y="5688000"/>
            <a:ext cx="34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BA81A"/>
                </a:solidFill>
              </a:rPr>
              <a:t>テスト予測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90000" y="6336000"/>
            <a:ext cx="0" cy="576000"/>
          </a:xfrm>
          <a:prstGeom prst="line">
            <a:avLst/>
          </a:prstGeom>
          <a:ln w="254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20000" y="2880000"/>
            <a:ext cx="900000" cy="82800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900000" y="3708000"/>
            <a:ext cx="3420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0000" y="3708000"/>
            <a:ext cx="34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Random
Forest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00000" y="4752000"/>
            <a:ext cx="34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00000" y="4752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050"/>
                </a:solidFill>
              </a:rPr>
              <a:t>OOF予測
(Out-of-Fold)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0000" y="5688000"/>
            <a:ext cx="3420000" cy="6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0000" y="5688000"/>
            <a:ext cx="34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050"/>
                </a:solidFill>
              </a:rPr>
              <a:t>テスト予測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610000" y="6336000"/>
            <a:ext cx="0" cy="5760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620000" y="2880000"/>
            <a:ext cx="5220000" cy="828000"/>
          </a:xfrm>
          <a:prstGeom prst="line">
            <a:avLst/>
          </a:prstGeom>
          <a:ln w="1905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4220000" y="3708000"/>
            <a:ext cx="3420000" cy="9000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20000" y="3708000"/>
            <a:ext cx="34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SVM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220000" y="4752000"/>
            <a:ext cx="34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220000" y="4752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0080"/>
                </a:solidFill>
              </a:rPr>
              <a:t>OOF予測
(Out-of-Fold)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220000" y="5688000"/>
            <a:ext cx="3420000" cy="6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220000" y="5688000"/>
            <a:ext cx="34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0080"/>
                </a:solidFill>
              </a:rPr>
              <a:t>テスト予測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5930000" y="6336000"/>
            <a:ext cx="0" cy="576000"/>
          </a:xfrm>
          <a:prstGeom prst="line">
            <a:avLst/>
          </a:prstGeom>
          <a:ln w="25400">
            <a:solidFill>
              <a:srgbClr val="800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620000" y="2880000"/>
            <a:ext cx="9360000" cy="828000"/>
          </a:xfrm>
          <a:prstGeom prst="line">
            <a:avLst/>
          </a:prstGeom>
          <a:ln w="1905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8360000" y="3708000"/>
            <a:ext cx="3420000" cy="900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360000" y="3708000"/>
            <a:ext cx="34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k-NN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360000" y="4752000"/>
            <a:ext cx="342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360000" y="4752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080"/>
                </a:solidFill>
              </a:rPr>
              <a:t>OOF予測
(Out-of-Fold)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360000" y="5688000"/>
            <a:ext cx="3420000" cy="648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360000" y="5688000"/>
            <a:ext cx="34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080"/>
                </a:solidFill>
              </a:rPr>
              <a:t>テスト予測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0070000" y="6336000"/>
            <a:ext cx="0" cy="576000"/>
          </a:xfrm>
          <a:prstGeom prst="line">
            <a:avLst/>
          </a:prstGeom>
          <a:ln w="254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40000" y="6912000"/>
            <a:ext cx="202104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0000" y="6912000"/>
            <a:ext cx="2021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メタ特徴量 (Meta-Features)
Level-0 各モデルの予測値を新しい特徴量として結合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620000" y="7812000"/>
            <a:ext cx="0" cy="46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40000" y="8280000"/>
            <a:ext cx="202104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0000" y="8280000"/>
            <a:ext cx="202104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Level-1: メタモデル (Meta Learner / Blender)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00000" y="9072000"/>
            <a:ext cx="5040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00000" y="9072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メタモデル
(例: ロジスティック回帰)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620000" y="10152000"/>
            <a:ext cx="0" cy="468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8100000" y="10620000"/>
            <a:ext cx="5040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00000" y="10620000"/>
            <a:ext cx="50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最終予測 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0000" y="11520000"/>
            <a:ext cx="20340000" cy="36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0000" y="11520000"/>
            <a:ext cx="20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OOF: k-fold CVで各foldをhold-outして予測 → 情報リークを防ぎながらLevel-0の予測を生成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