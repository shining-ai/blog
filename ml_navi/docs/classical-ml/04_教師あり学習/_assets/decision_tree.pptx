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決定木 — 構造・分岐条件・ジニ不純度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368000"/>
            <a:ext cx="12960000" cy="10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12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決定木の構造（天気予報データの例）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0000" y="2160000"/>
            <a:ext cx="3060000" cy="792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80000" y="2160000"/>
            <a:ext cx="30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天気 == 晴れ？
[不純度: 0.46]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420000" y="2951999"/>
            <a:ext cx="3690000" cy="108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10000" y="2951999"/>
            <a:ext cx="2790000" cy="108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20000" y="3023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0000" y="3023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20000" y="4031999"/>
            <a:ext cx="3240000" cy="792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0000" y="4031999"/>
            <a:ext cx="32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湿度 &gt; 75%？
[不純度: 0.32]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0000" y="4031999"/>
            <a:ext cx="3240000" cy="792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0000" y="4031999"/>
            <a:ext cx="32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風 == 強い？
[不純度: 0.38]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700000" y="4824000"/>
            <a:ext cx="1440000" cy="1296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140000" y="4824000"/>
            <a:ext cx="1440000" cy="1296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20000" y="496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0" y="496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050"/>
                </a:solidFill>
              </a:rPr>
              <a:t>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00000" y="6120000"/>
            <a:ext cx="2160000" cy="720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00000" y="6120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雨
（葉ノード）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00000" y="6120000"/>
            <a:ext cx="2160000" cy="720000"/>
          </a:xfrm>
          <a:prstGeom prst="rect">
            <a:avLst/>
          </a:prstGeom>
          <a:solidFill>
            <a:srgbClr val="00B0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0000" y="6120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晴れ
（葉ノード）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8820000" y="4824000"/>
            <a:ext cx="1440000" cy="1296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60000" y="4824000"/>
            <a:ext cx="1440000" cy="1296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80000" y="496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40000" y="496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050"/>
                </a:solidFill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0000" y="6120000"/>
            <a:ext cx="2160000" cy="720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0000" y="6120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雨
（葉ノード）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40000" y="6120000"/>
            <a:ext cx="3060000" cy="720000"/>
          </a:xfrm>
          <a:prstGeom prst="rect">
            <a:avLst/>
          </a:prstGeom>
          <a:solidFill>
            <a:srgbClr val="00B0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40000" y="6120000"/>
            <a:ext cx="30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曇りor晴れ
（葉ノード）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000" y="2232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13CA6"/>
                </a:solidFill>
              </a:rPr>
              <a:t>根ノード
(Root)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4104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13CA6"/>
                </a:solidFill>
              </a:rPr>
              <a:t>内部ノード
(Internal)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00" y="6300000"/>
            <a:ext cx="16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葉ノード
(Leaf)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0000" y="7380000"/>
            <a:ext cx="11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訓練データの例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80000" y="7992000"/>
            <a:ext cx="1908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0000" y="7992000"/>
            <a:ext cx="190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天気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0000" y="7992000"/>
            <a:ext cx="2268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0000" y="7992000"/>
            <a:ext cx="226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湿度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000" y="7992000"/>
            <a:ext cx="2268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000" y="7992000"/>
            <a:ext cx="226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80000" y="7992000"/>
            <a:ext cx="2088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80000" y="7992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プレイ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80000" y="8604000"/>
            <a:ext cx="1908000" cy="503999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0000" y="8604000"/>
            <a:ext cx="19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晴れ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40000" y="8604000"/>
            <a:ext cx="2268000" cy="503999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40000" y="8604000"/>
            <a:ext cx="22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000" y="8604000"/>
            <a:ext cx="2268000" cy="503999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000" y="8604000"/>
            <a:ext cx="22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80000" y="8604000"/>
            <a:ext cx="2088000" cy="503999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0000" y="8604000"/>
            <a:ext cx="208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0000" y="9144000"/>
            <a:ext cx="1908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0000" y="9144000"/>
            <a:ext cx="19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晴れ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40000" y="9144000"/>
            <a:ext cx="2268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40000" y="9144000"/>
            <a:ext cx="22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0000" y="9144000"/>
            <a:ext cx="2268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60000" y="9144000"/>
            <a:ext cx="22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80000" y="9144000"/>
            <a:ext cx="2088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80000" y="9144000"/>
            <a:ext cx="208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80000" y="9684000"/>
            <a:ext cx="1908000" cy="503999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0000" y="9684000"/>
            <a:ext cx="19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曇り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40000" y="9684000"/>
            <a:ext cx="2268000" cy="503999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40000" y="9684000"/>
            <a:ext cx="22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低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60000" y="9684000"/>
            <a:ext cx="2268000" cy="503999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60000" y="9684000"/>
            <a:ext cx="22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80000" y="9684000"/>
            <a:ext cx="2088000" cy="503999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80000" y="9684000"/>
            <a:ext cx="208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80000" y="10224000"/>
            <a:ext cx="1908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80000" y="10224000"/>
            <a:ext cx="19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雨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40000" y="10224000"/>
            <a:ext cx="2268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40000" y="10224000"/>
            <a:ext cx="22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低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60000" y="10224000"/>
            <a:ext cx="2268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60000" y="10224000"/>
            <a:ext cx="22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強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80000" y="10224000"/>
            <a:ext cx="2088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80000" y="10224000"/>
            <a:ext cx="208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80000" y="10764000"/>
            <a:ext cx="1908000" cy="503999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80000" y="10764000"/>
            <a:ext cx="19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晴れ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40000" y="10764000"/>
            <a:ext cx="2268000" cy="503999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40000" y="10764000"/>
            <a:ext cx="22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低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60000" y="10764000"/>
            <a:ext cx="2268000" cy="503999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760000" y="10764000"/>
            <a:ext cx="22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弱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280000" y="10764000"/>
            <a:ext cx="2088000" cy="503999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80000" y="10764000"/>
            <a:ext cx="208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4040000" y="1368000"/>
            <a:ext cx="6840000" cy="10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4040000" y="1440000"/>
            <a:ext cx="6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ジニ不純度の計算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4220000" y="2160000"/>
            <a:ext cx="6480000" cy="10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4220000" y="2232000"/>
            <a:ext cx="64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Gini = 1 - Σ pᵢ²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220000" y="2664000"/>
            <a:ext cx="64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pᵢ = クラスiの割合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4220000" y="3420000"/>
            <a:ext cx="6480000" cy="136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4327999" y="3491999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B050"/>
                </a:solidFill>
              </a:rPr>
              <a:t>純粋なノード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7280000" y="3491999"/>
            <a:ext cx="1620000" cy="3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7280000" y="3491999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最良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327999" y="3888000"/>
            <a:ext cx="63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p=[1.0, 0.0]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327999" y="4320000"/>
            <a:ext cx="63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</a:rPr>
              <a:t>Gini = 1-(1²+0²) = 0.0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4220000" y="5040000"/>
            <a:ext cx="6480000" cy="136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4327999" y="5112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0000"/>
                </a:solidFill>
              </a:rPr>
              <a:t>均等分割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7280000" y="5112000"/>
            <a:ext cx="1620000" cy="36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7280000" y="5112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最悪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327999" y="5508000"/>
            <a:ext cx="63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p=[0.5, 0.5]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4327999" y="5940000"/>
            <a:ext cx="63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</a:rPr>
              <a:t>Gini = 1-(0.25+0.25) = 0.5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4220000" y="6660000"/>
            <a:ext cx="6480000" cy="136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4327999" y="6732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BA81A"/>
                </a:solidFill>
              </a:rPr>
              <a:t>偏りあり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7280000" y="6732000"/>
            <a:ext cx="1620000" cy="36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7280000" y="6732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中程度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327999" y="7128000"/>
            <a:ext cx="63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p=[0.7, 0.3]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4327999" y="7560000"/>
            <a:ext cx="63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</a:rPr>
              <a:t>Gini = 1-(0.49+0.09) = 0.42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4220000" y="8460000"/>
            <a:ext cx="6480000" cy="2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4327999" y="8532000"/>
            <a:ext cx="63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13CA6"/>
                </a:solidFill>
              </a:rPr>
              <a:t>情報利得 (Information Gain)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4327999" y="9072000"/>
            <a:ext cx="63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IG = Gini(親) - Σ(|子|/|親|)×Gini(子)
分岐の選択: IGが最大になる
特徴量・閾値を選択
Gini低下 → より純粋なノード
への分割 → 予測精度向上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