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8000"/>
            <a:ext cx="2129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ナイーブベイズ — ベイズの定理の適用フロー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0" y="1368000"/>
            <a:ext cx="1044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0" y="1368000"/>
            <a:ext cx="1044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ベイズの定理
P(C|X) = P(X|C) × P(C) / P(X)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2880000"/>
            <a:ext cx="378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2880000"/>
            <a:ext cx="37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P(C|X)
事後確率
(Posterior)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4212000"/>
            <a:ext cx="378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4248000"/>
            <a:ext cx="3636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クラスCである確率
(特徴量Xを観測した後)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0000" y="2880000"/>
            <a:ext cx="3780000" cy="126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0000" y="2880000"/>
            <a:ext cx="37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P(X|C)
尤度
(Likelihood)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0000" y="4212000"/>
            <a:ext cx="378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2000" y="4248000"/>
            <a:ext cx="3636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クラスCのとき
Xが観測される確率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520000" y="2880000"/>
            <a:ext cx="3780000" cy="126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0000" y="2880000"/>
            <a:ext cx="37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P(C)
事前確率
(Prior)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20000" y="4212000"/>
            <a:ext cx="378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92000" y="4248000"/>
            <a:ext cx="3636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Xを観測する前の
クラスCの確率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20000" y="2880000"/>
            <a:ext cx="3780000" cy="126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20000" y="2880000"/>
            <a:ext cx="37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P(X)
証拠
(Evidence)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920000" y="4212000"/>
            <a:ext cx="378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92000" y="4248000"/>
            <a:ext cx="3636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特徴量Xが観測
される確率 (定数)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0000" y="2628000"/>
            <a:ext cx="8010000" cy="180000"/>
          </a:xfrm>
          <a:prstGeom prst="line">
            <a:avLst/>
          </a:prstGeom>
          <a:ln w="190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010000" y="2628000"/>
            <a:ext cx="2610000" cy="180000"/>
          </a:xfrm>
          <a:prstGeom prst="line">
            <a:avLst/>
          </a:prstGeom>
          <a:ln w="190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0620000" y="2628000"/>
            <a:ext cx="2790000" cy="180000"/>
          </a:xfrm>
          <a:prstGeom prst="line">
            <a:avLst/>
          </a:prstGeom>
          <a:ln w="190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40000" y="5400000"/>
            <a:ext cx="20340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00" y="5400000"/>
            <a:ext cx="203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BA81A"/>
                </a:solidFill>
              </a:rPr>
              <a:t>"ナイーブ" の仮定: 特徴量の条件付き独立性
P(X|C) = P(x₁|C) × P(x₂|C) × ... × P(xₙ|C)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6660000"/>
            <a:ext cx="20340000" cy="46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0000" y="6732000"/>
            <a:ext cx="20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具体例: スパムフィルタリング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000" y="7380000"/>
            <a:ext cx="4320000" cy="162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000" y="7452000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BA81A"/>
                </a:solidFill>
              </a:rPr>
              <a:t>Step1: 事前確率
P(C)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000" y="7992000"/>
            <a:ext cx="417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訓練データから:
P(スパム) = 0.30
P(正常) = 0.70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80000" y="7380000"/>
            <a:ext cx="5760000" cy="162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80000" y="7452000"/>
            <a:ext cx="57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B050"/>
                </a:solidFill>
              </a:rPr>
              <a:t>Step2: 尤度 P(X|C)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52000" y="7992000"/>
            <a:ext cx="5616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P('無料'|スパム) = 0.8
P('無料'|正常) = 0.1
P('今すぐ'|スパム) = 0.7
P('今すぐ'|正常) = 0.05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40000" y="8190000"/>
            <a:ext cx="54000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1880000" y="7380000"/>
            <a:ext cx="5400000" cy="162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80000" y="7452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13CA6"/>
                </a:solidFill>
              </a:rPr>
              <a:t>Step3: 掛け算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952000" y="7992000"/>
            <a:ext cx="5256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スパム:
0.3×0.8×0.7 = 0.168
正常:
0.7×0.1×0.05 = 0.0035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1340000" y="8190000"/>
            <a:ext cx="540000" cy="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7820000" y="7380000"/>
            <a:ext cx="3060000" cy="162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820000" y="74520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0000"/>
                </a:solidFill>
              </a:rPr>
              <a:t>Step4: 予測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892000" y="7992000"/>
            <a:ext cx="2916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0000"/>
                </a:solidFill>
              </a:rPr>
              <a:t>0.168 &gt; 0.0035
→ スパム判定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7280000" y="8190000"/>
            <a:ext cx="540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720000" y="9180000"/>
            <a:ext cx="19980000" cy="198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0000" y="9252000"/>
            <a:ext cx="19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ナイーブベイズの種類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80000" y="9828000"/>
            <a:ext cx="4500000" cy="11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80000" y="9828000"/>
            <a:ext cx="180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0000" y="9828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ガウスNB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51999" y="982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050"/>
                </a:solidFill>
              </a:rPr>
              <a:t>連続値特徴量
(正規分布仮定)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88000" y="10440000"/>
            <a:ext cx="428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連続値特徴量
(正規分布仮定)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0000" y="9828000"/>
            <a:ext cx="4500000" cy="11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940000" y="9828000"/>
            <a:ext cx="1800000" cy="54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0000" y="9828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多項式NB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12000" y="982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BA81A"/>
                </a:solidFill>
              </a:rPr>
              <a:t>カウントデータ
(テキスト分類)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48000" y="10440000"/>
            <a:ext cx="428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カウントデータ
(テキスト分類)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800000" y="9828000"/>
            <a:ext cx="4500000" cy="11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800000" y="9828000"/>
            <a:ext cx="180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800000" y="9828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ベルヌーイNB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672000" y="982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13CA6"/>
                </a:solidFill>
              </a:rPr>
              <a:t>2値特徴量
(単語の有無)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08000" y="10440000"/>
            <a:ext cx="428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2値特徴量
(単語の有無)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660000" y="9828000"/>
            <a:ext cx="4500000" cy="11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5660000" y="9828000"/>
            <a:ext cx="1800000" cy="54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660000" y="9828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補完NB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532000" y="982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0000"/>
                </a:solidFill>
              </a:rPr>
              <a:t>テキスト分類
(不均衡クラス)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767999" y="10440000"/>
            <a:ext cx="4284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テキスト分類
(不均衡クラス)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