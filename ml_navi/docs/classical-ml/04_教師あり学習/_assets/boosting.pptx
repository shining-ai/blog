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ブースティング — 弱学習器の反復学習と重み付き組み合わせ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1260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AdaBoost の学習フロー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160000"/>
            <a:ext cx="36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16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データ D
(均等重み w=1/N)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0" y="2880000"/>
            <a:ext cx="0" cy="18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000" y="3060000"/>
            <a:ext cx="3600000" cy="72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06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弱学習器 h₁
誤分類を特定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0" y="3060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0" y="306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0000"/>
                </a:solidFill>
              </a:rPr>
              <a:t>誤差 εₜ
αₜ = 0.5 ln((1-εₜ)/εₜ)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0000" y="3420000"/>
            <a:ext cx="5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00000" y="3060000"/>
            <a:ext cx="4680000" cy="7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0000" y="3060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重みを更新
誤分類↑ 正分類↓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40000" y="3420000"/>
            <a:ext cx="36000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20000" y="4500000"/>
            <a:ext cx="0" cy="720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20000" y="5220000"/>
            <a:ext cx="3600000" cy="7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522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弱学習器 h₂
更新重みで学習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0000" y="5220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0000" y="522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BA81A"/>
                </a:solidFill>
              </a:rPr>
              <a:t>誤差 εₜ
αₜ = 0.5 ln((1-εₜ)/εₜ)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0" y="5580000"/>
            <a:ext cx="540000" cy="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100000" y="5220000"/>
            <a:ext cx="4680000" cy="7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0000" y="5220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重みを更新
誤分類↑ 正分類↓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40000" y="5580000"/>
            <a:ext cx="36000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20000" y="6660000"/>
            <a:ext cx="0" cy="720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0000" y="7380000"/>
            <a:ext cx="360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738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弱学習器 h₃
更新重みで学習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0" y="7380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0000" y="738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050"/>
                </a:solidFill>
              </a:rPr>
              <a:t>誤差 εₜ
αₜ = 0.5 ln((1-εₜ)/εₜ)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20000" y="7740000"/>
            <a:ext cx="54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100000" y="7380000"/>
            <a:ext cx="4680000" cy="7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0000" y="7380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重みを更新
誤分類↑ 正分類↓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40000" y="7740000"/>
            <a:ext cx="36000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520000" y="8820000"/>
            <a:ext cx="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20000" y="9540000"/>
            <a:ext cx="36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000" y="95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弱学習器 hₜ
最終弱学習器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0000" y="9540000"/>
            <a:ext cx="28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60000" y="954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3CA6"/>
                </a:solidFill>
              </a:rPr>
              <a:t>誤差 εₜ
αₜ = 0.5 ln((1-εₜ)/εₜ)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320000" y="9900000"/>
            <a:ext cx="540000" cy="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80000" y="882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88"/>
                </a:solidFill>
              </a:rPr>
              <a:t>・・・・・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20000" y="10260000"/>
            <a:ext cx="0" cy="54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20000" y="10800000"/>
            <a:ext cx="1242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0000" y="10800000"/>
            <a:ext cx="12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最終予測: H(x) = sign( Σ αₜ hₜ(x) 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500000" y="1368000"/>
            <a:ext cx="738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00000" y="1440000"/>
            <a:ext cx="73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バギング vs ブースティング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680000" y="2160000"/>
            <a:ext cx="1728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680000" y="2160000"/>
            <a:ext cx="17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5660000" y="2160000"/>
            <a:ext cx="2268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660000" y="2160000"/>
            <a:ext cx="22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バギング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180000" y="2160000"/>
            <a:ext cx="2448000" cy="5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180000" y="2160000"/>
            <a:ext cx="24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ブースティング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680000" y="2808000"/>
            <a:ext cx="1728000" cy="1152000"/>
          </a:xfrm>
          <a:prstGeom prst="rect">
            <a:avLst/>
          </a:prstGeom>
          <a:solidFill>
            <a:srgbClr val="BDE4FC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680000" y="2808000"/>
            <a:ext cx="17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</a:rPr>
              <a:t>学習方式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587999" y="2808000"/>
            <a:ext cx="2268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87999" y="2916000"/>
            <a:ext cx="22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並列 (独立)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108000" y="2808000"/>
            <a:ext cx="2448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108000" y="2916000"/>
            <a:ext cx="244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逐次 (依存)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680000" y="4068000"/>
            <a:ext cx="1728000" cy="1152000"/>
          </a:xfrm>
          <a:prstGeom prst="rect">
            <a:avLst/>
          </a:prstGeom>
          <a:solidFill>
            <a:srgbClr val="BDE4FC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680000" y="4068000"/>
            <a:ext cx="17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</a:rPr>
              <a:t>サンプリング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87999" y="4068000"/>
            <a:ext cx="2268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87999" y="4176000"/>
            <a:ext cx="22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復元抽出
(ランダム)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108000" y="4068000"/>
            <a:ext cx="2448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108000" y="4176000"/>
            <a:ext cx="244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重み付き
サンプリング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680000" y="5328000"/>
            <a:ext cx="1728000" cy="1152000"/>
          </a:xfrm>
          <a:prstGeom prst="rect">
            <a:avLst/>
          </a:prstGeom>
          <a:solidFill>
            <a:srgbClr val="BDE4FC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680000" y="5328000"/>
            <a:ext cx="17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</a:rPr>
              <a:t>誤差への対応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587999" y="5328000"/>
            <a:ext cx="2268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587999" y="5436000"/>
            <a:ext cx="22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バリアンス
削減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108000" y="5328000"/>
            <a:ext cx="2448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108000" y="5436000"/>
            <a:ext cx="244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バイアス
削減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680000" y="6588000"/>
            <a:ext cx="1728000" cy="1152000"/>
          </a:xfrm>
          <a:prstGeom prst="rect">
            <a:avLst/>
          </a:prstGeom>
          <a:solidFill>
            <a:srgbClr val="BDE4FC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680000" y="6588000"/>
            <a:ext cx="17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</a:rPr>
              <a:t>代表例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587999" y="6588000"/>
            <a:ext cx="2268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587999" y="6696000"/>
            <a:ext cx="22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Random Forest
Extra Trees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108000" y="6588000"/>
            <a:ext cx="2448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108000" y="6696000"/>
            <a:ext cx="244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AdaBoost
Gradient Boosting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680000" y="7848000"/>
            <a:ext cx="1728000" cy="1152000"/>
          </a:xfrm>
          <a:prstGeom prst="rect">
            <a:avLst/>
          </a:prstGeom>
          <a:solidFill>
            <a:srgbClr val="BDE4FC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680000" y="7848000"/>
            <a:ext cx="17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</a:rPr>
              <a:t>過学習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587999" y="7848000"/>
            <a:ext cx="2268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87999" y="7956000"/>
            <a:ext cx="22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起きにくい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108000" y="7848000"/>
            <a:ext cx="2448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108000" y="7956000"/>
            <a:ext cx="244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チューニング
次第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680000" y="9108000"/>
            <a:ext cx="1728000" cy="1152000"/>
          </a:xfrm>
          <a:prstGeom prst="rect">
            <a:avLst/>
          </a:prstGeom>
          <a:solidFill>
            <a:srgbClr val="BDE4FC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680000" y="9108000"/>
            <a:ext cx="172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</a:rPr>
              <a:t>解釈性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587999" y="9108000"/>
            <a:ext cx="2268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87999" y="9216000"/>
            <a:ext cx="226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中程度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108000" y="9108000"/>
            <a:ext cx="2448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108000" y="9216000"/>
            <a:ext cx="244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やや複雑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0000" y="11520000"/>
            <a:ext cx="20340000" cy="36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0000" y="11520000"/>
            <a:ext cx="20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Gradient Boosting = ブースティング + 勾配降下法 → 各反復で残差（擬似残差）を学習する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