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L1/L2 正則化 — 制約領域と係数縮小効果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9720000" cy="72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</a:rPr>
              <a:t>L1正則化 (Lasso) — ダイヤモンド型制約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0" y="2700000"/>
            <a:ext cx="2520000" cy="252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400000" y="5220000"/>
            <a:ext cx="2520000" cy="252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2880000" y="5220000"/>
            <a:ext cx="2520000" cy="252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80000" y="2700000"/>
            <a:ext cx="2520000" cy="252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20000" y="5220000"/>
            <a:ext cx="576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00000" y="2340000"/>
            <a:ext cx="0" cy="576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00000" y="496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w₁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2000" y="216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w₂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2000" y="4031999"/>
            <a:ext cx="251999" cy="251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0" y="3780000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13CA6"/>
                </a:solidFill>
              </a:rPr>
              <a:t>OLS最適点
(w₁*, w₂*)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205596" y="4140000"/>
            <a:ext cx="84404" cy="225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975000" y="4365000"/>
            <a:ext cx="230596" cy="164711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660000" y="4529711"/>
            <a:ext cx="315000" cy="60289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6345000" y="4529711"/>
            <a:ext cx="315000" cy="60289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6114403" y="4365000"/>
            <a:ext cx="230597" cy="164711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6030000" y="4140000"/>
            <a:ext cx="84403" cy="225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30000" y="3915000"/>
            <a:ext cx="84403" cy="225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114403" y="3750288"/>
            <a:ext cx="230597" cy="164712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345000" y="3690000"/>
            <a:ext cx="315000" cy="60288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60000" y="3690000"/>
            <a:ext cx="315000" cy="60288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75000" y="3750288"/>
            <a:ext cx="230596" cy="164712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05596" y="3915000"/>
            <a:ext cx="84404" cy="225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532953" y="4140000"/>
            <a:ext cx="135047" cy="360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163999" y="4500000"/>
            <a:ext cx="368954" cy="263538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660000" y="4763538"/>
            <a:ext cx="503999" cy="96462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6156000" y="4763538"/>
            <a:ext cx="504000" cy="96462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787046" y="4500000"/>
            <a:ext cx="368954" cy="263538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5652000" y="4140000"/>
            <a:ext cx="135046" cy="360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52000" y="3780000"/>
            <a:ext cx="135046" cy="360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87046" y="3516461"/>
            <a:ext cx="368953" cy="263539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155999" y="3420000"/>
            <a:ext cx="504001" cy="96461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660000" y="3420000"/>
            <a:ext cx="503999" cy="96461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63999" y="3516461"/>
            <a:ext cx="368954" cy="263539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32953" y="3780000"/>
            <a:ext cx="135047" cy="360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860311" y="4140000"/>
            <a:ext cx="185689" cy="495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353000" y="4635000"/>
            <a:ext cx="507311" cy="362365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660000" y="4997365"/>
            <a:ext cx="693000" cy="132635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5967000" y="4997365"/>
            <a:ext cx="693000" cy="132635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5459688" y="4635000"/>
            <a:ext cx="507312" cy="362365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5274000" y="4140000"/>
            <a:ext cx="185688" cy="495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274000" y="3645000"/>
            <a:ext cx="185688" cy="495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459688" y="3282634"/>
            <a:ext cx="507312" cy="362366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967000" y="3150000"/>
            <a:ext cx="693000" cy="132634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660000" y="3150000"/>
            <a:ext cx="693000" cy="132634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53000" y="3282634"/>
            <a:ext cx="507311" cy="362365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60311" y="3644999"/>
            <a:ext cx="185689" cy="495001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8187668" y="4140000"/>
            <a:ext cx="236332" cy="630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542000" y="4770000"/>
            <a:ext cx="645668" cy="461192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660000" y="5231192"/>
            <a:ext cx="882000" cy="168808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5778000" y="5231192"/>
            <a:ext cx="882000" cy="168808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5132331" y="4770000"/>
            <a:ext cx="645669" cy="461192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4896000" y="4140000"/>
            <a:ext cx="236331" cy="630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896000" y="3510000"/>
            <a:ext cx="236331" cy="630000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132331" y="3048807"/>
            <a:ext cx="645668" cy="461193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77999" y="2880000"/>
            <a:ext cx="882001" cy="168807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660000" y="2880000"/>
            <a:ext cx="882000" cy="168807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542000" y="3048807"/>
            <a:ext cx="645668" cy="461192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187668" y="3509999"/>
            <a:ext cx="236332" cy="630001"/>
          </a:xfrm>
          <a:prstGeom prst="line">
            <a:avLst/>
          </a:prstGeom>
          <a:ln w="127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256000" y="2556000"/>
            <a:ext cx="324000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80000" y="2160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0"/>
                </a:solidFill>
              </a:rPr>
              <a:t>L1解 (スパース!)
w₁=0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0000" y="7920000"/>
            <a:ext cx="43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0000"/>
                </a:solidFill>
              </a:rPr>
              <a:t>角（コーナー）で解が求まる
→ 係数がゼロになりやすい
→ 特徴量選択効果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80000" y="1368000"/>
            <a:ext cx="9720000" cy="72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80000" y="144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L2正則化 (Ridge) — 円形制約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18321715" y="5220000"/>
            <a:ext cx="38285" cy="43759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8208025" y="5657593"/>
            <a:ext cx="113690" cy="42429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8022384" y="6081890"/>
            <a:ext cx="185641" cy="39811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7770431" y="6480000"/>
            <a:ext cx="251953" cy="35982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7459824" y="6839824"/>
            <a:ext cx="310607" cy="31060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17100000" y="7150431"/>
            <a:ext cx="359824" cy="25195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16701890" y="7402384"/>
            <a:ext cx="398110" cy="18564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6277593" y="7588025"/>
            <a:ext cx="424297" cy="11369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15840000" y="7701715"/>
            <a:ext cx="437593" cy="3828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15402406" y="7701715"/>
            <a:ext cx="437594" cy="3828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14978109" y="7588025"/>
            <a:ext cx="424297" cy="11369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 flipV="1">
            <a:off x="14580000" y="7402384"/>
            <a:ext cx="398109" cy="18564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14220175" y="7150431"/>
            <a:ext cx="359825" cy="25195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13909568" y="6839824"/>
            <a:ext cx="310607" cy="31060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3657615" y="6480000"/>
            <a:ext cx="251953" cy="35982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13471974" y="6081890"/>
            <a:ext cx="185641" cy="39811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13358284" y="5657593"/>
            <a:ext cx="113690" cy="42429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13320000" y="5220000"/>
            <a:ext cx="38284" cy="43759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3320000" y="4782406"/>
            <a:ext cx="38284" cy="43759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3358284" y="4358109"/>
            <a:ext cx="113690" cy="42429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3471974" y="3960000"/>
            <a:ext cx="185641" cy="39810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3657615" y="3600175"/>
            <a:ext cx="251953" cy="35982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3909568" y="3289568"/>
            <a:ext cx="310607" cy="31060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4220175" y="3037615"/>
            <a:ext cx="359825" cy="25195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4580000" y="2851974"/>
            <a:ext cx="398109" cy="18564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4978109" y="2738284"/>
            <a:ext cx="424297" cy="11369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5402406" y="2700000"/>
            <a:ext cx="437594" cy="3828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5840000" y="2700000"/>
            <a:ext cx="437593" cy="3828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6277593" y="2738284"/>
            <a:ext cx="424297" cy="11369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6701890" y="2851974"/>
            <a:ext cx="398110" cy="18564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7100000" y="3037615"/>
            <a:ext cx="359824" cy="25195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7459824" y="3289568"/>
            <a:ext cx="310607" cy="31060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7770431" y="3600175"/>
            <a:ext cx="251953" cy="35982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8022384" y="3959999"/>
            <a:ext cx="185641" cy="39811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8208025" y="4358109"/>
            <a:ext cx="113690" cy="42429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8321715" y="4782406"/>
            <a:ext cx="38285" cy="43759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2960000" y="5220000"/>
            <a:ext cx="576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5840000" y="2340000"/>
            <a:ext cx="0" cy="576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8540000" y="496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w₁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552000" y="2160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w₂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992000" y="4031999"/>
            <a:ext cx="251999" cy="25199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7280000" y="3960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0000"/>
                </a:solidFill>
              </a:rPr>
              <a:t>OLS最適点</a:t>
            </a:r>
          </a:p>
        </p:txBody>
      </p:sp>
      <p:cxnSp>
        <p:nvCxnSpPr>
          <p:cNvPr id="112" name="Connector 111"/>
          <p:cNvCxnSpPr/>
          <p:nvPr/>
        </p:nvCxnSpPr>
        <p:spPr>
          <a:xfrm flipH="1">
            <a:off x="17645596" y="4140000"/>
            <a:ext cx="84404" cy="225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17415000" y="4365000"/>
            <a:ext cx="230596" cy="16471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17100000" y="4529711"/>
            <a:ext cx="315000" cy="6028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 flipV="1">
            <a:off x="16785000" y="4529711"/>
            <a:ext cx="315000" cy="6028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 flipV="1">
            <a:off x="16554403" y="4365000"/>
            <a:ext cx="230597" cy="16471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16470000" y="4140000"/>
            <a:ext cx="84403" cy="225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6470000" y="3915000"/>
            <a:ext cx="84403" cy="225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6554403" y="3750288"/>
            <a:ext cx="230597" cy="16471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785000" y="3690000"/>
            <a:ext cx="315000" cy="6028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7100000" y="3690000"/>
            <a:ext cx="315000" cy="6028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415000" y="3750288"/>
            <a:ext cx="230596" cy="16471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7645596" y="3915000"/>
            <a:ext cx="84404" cy="225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17972953" y="4140000"/>
            <a:ext cx="135047" cy="360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17604000" y="4500000"/>
            <a:ext cx="368953" cy="26353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17100000" y="4763538"/>
            <a:ext cx="504000" cy="9646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 flipV="1">
            <a:off x="16596000" y="4763538"/>
            <a:ext cx="504000" cy="9646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 flipV="1">
            <a:off x="16227046" y="4500000"/>
            <a:ext cx="368954" cy="26353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16092000" y="4140000"/>
            <a:ext cx="135046" cy="360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6092000" y="3780000"/>
            <a:ext cx="135046" cy="360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6227046" y="3516461"/>
            <a:ext cx="368954" cy="26353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6596000" y="3420000"/>
            <a:ext cx="504000" cy="9646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7100000" y="3420000"/>
            <a:ext cx="504000" cy="9646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7604000" y="3516461"/>
            <a:ext cx="368953" cy="26353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7972953" y="3780000"/>
            <a:ext cx="135047" cy="360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18300311" y="4140000"/>
            <a:ext cx="185689" cy="495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17793000" y="4635000"/>
            <a:ext cx="507311" cy="36236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17100000" y="4997365"/>
            <a:ext cx="693000" cy="13263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 flipV="1">
            <a:off x="16407000" y="4997365"/>
            <a:ext cx="693000" cy="13263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15899688" y="4635000"/>
            <a:ext cx="507312" cy="36236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 flipV="1">
            <a:off x="15714000" y="4140000"/>
            <a:ext cx="185688" cy="495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5714000" y="3645000"/>
            <a:ext cx="185688" cy="495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5899688" y="3282634"/>
            <a:ext cx="507311" cy="36236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6406999" y="3150000"/>
            <a:ext cx="693001" cy="13263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7100000" y="3150000"/>
            <a:ext cx="693000" cy="13263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7793000" y="3282634"/>
            <a:ext cx="507311" cy="36236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8300311" y="3644999"/>
            <a:ext cx="185689" cy="49500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18627668" y="4140000"/>
            <a:ext cx="236332" cy="630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17982000" y="4770000"/>
            <a:ext cx="645668" cy="46119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17100000" y="5231192"/>
            <a:ext cx="882000" cy="16880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 flipV="1">
            <a:off x="16218000" y="5231192"/>
            <a:ext cx="882000" cy="16880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 flipV="1">
            <a:off x="15572331" y="4770000"/>
            <a:ext cx="645669" cy="46119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 flipV="1">
            <a:off x="15336000" y="4140000"/>
            <a:ext cx="236331" cy="630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5336000" y="3510000"/>
            <a:ext cx="236331" cy="63000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5572331" y="3048807"/>
            <a:ext cx="645668" cy="46119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6217999" y="2880000"/>
            <a:ext cx="882001" cy="16880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7100000" y="2880000"/>
            <a:ext cx="882000" cy="16880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7982000" y="3048807"/>
            <a:ext cx="645668" cy="46119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8627668" y="3509999"/>
            <a:ext cx="236332" cy="63000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16956000" y="2893615"/>
            <a:ext cx="324000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7280000" y="2857615"/>
            <a:ext cx="1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50"/>
                </a:solidFill>
              </a:rPr>
              <a:t>L2解
(両方≠0)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3680000" y="7920000"/>
            <a:ext cx="43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13CA6"/>
                </a:solidFill>
              </a:rPr>
              <a:t>辺上で解が求まる
→ 係数はゼロにならず縮小
→ 全特徴量を保持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40000" y="8748000"/>
            <a:ext cx="20340000" cy="280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40000" y="8820000"/>
            <a:ext cx="20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L1 vs L2 比較表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00000" y="9468000"/>
            <a:ext cx="3168000" cy="54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00000" y="9504000"/>
            <a:ext cx="31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4320000" y="9468000"/>
            <a:ext cx="4788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320000" y="9504000"/>
            <a:ext cx="478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L1 (Lasso)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360000" y="9468000"/>
            <a:ext cx="4968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360000" y="9504000"/>
            <a:ext cx="49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L2 (Ridge)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4580000" y="9468000"/>
            <a:ext cx="5508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4580000" y="9504000"/>
            <a:ext cx="550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Elastic Net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00000" y="10080000"/>
            <a:ext cx="3168000" cy="540000"/>
          </a:xfrm>
          <a:prstGeom prst="rect">
            <a:avLst/>
          </a:prstGeom>
          <a:solidFill>
            <a:srgbClr val="DDDDDD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36000" y="10116000"/>
            <a:ext cx="30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正則化項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320000" y="10080000"/>
            <a:ext cx="478800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356000" y="10116000"/>
            <a:ext cx="47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Σ|wⱼ|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360000" y="10080000"/>
            <a:ext cx="496800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396000" y="10116000"/>
            <a:ext cx="48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Σwⱼ²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4580000" y="10080000"/>
            <a:ext cx="550800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4616000" y="10116000"/>
            <a:ext cx="543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αΣ|wⱼ| + (1-α)Σwⱼ²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00000" y="10656000"/>
            <a:ext cx="3168000" cy="540000"/>
          </a:xfrm>
          <a:prstGeom prst="rect">
            <a:avLst/>
          </a:prstGeom>
          <a:solidFill>
            <a:srgbClr val="DDDDDD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36000" y="10692000"/>
            <a:ext cx="30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スパース性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320000" y="10656000"/>
            <a:ext cx="4788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356000" y="10692000"/>
            <a:ext cx="47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YES (特徴量選択)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360000" y="10656000"/>
            <a:ext cx="4968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396000" y="10692000"/>
            <a:ext cx="48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NO (縮小のみ)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4580000" y="10656000"/>
            <a:ext cx="5508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4616000" y="10692000"/>
            <a:ext cx="543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調整可能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00000" y="11232000"/>
            <a:ext cx="3168000" cy="540000"/>
          </a:xfrm>
          <a:prstGeom prst="rect">
            <a:avLst/>
          </a:prstGeom>
          <a:solidFill>
            <a:srgbClr val="DDDDDD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36000" y="11268000"/>
            <a:ext cx="30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用途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320000" y="11232000"/>
            <a:ext cx="478800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356000" y="11268000"/>
            <a:ext cx="47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特徴量が多い
高次元データ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9360000" y="11232000"/>
            <a:ext cx="496800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396000" y="11268000"/>
            <a:ext cx="48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多重共線性対策
全特徴量保持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4580000" y="11232000"/>
            <a:ext cx="5508000" cy="540000"/>
          </a:xfrm>
          <a:prstGeom prst="rect">
            <a:avLst/>
          </a:prstGeom>
          <a:solidFill>
            <a:srgbClr val="F3FAFE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4616000" y="11268000"/>
            <a:ext cx="543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両方の性質が
必要な場合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00000" y="11807999"/>
            <a:ext cx="3168000" cy="540000"/>
          </a:xfrm>
          <a:prstGeom prst="rect">
            <a:avLst/>
          </a:prstGeom>
          <a:solidFill>
            <a:srgbClr val="DDDDDD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36000" y="11844000"/>
            <a:ext cx="30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ハイパーパラメータ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4320000" y="11807999"/>
            <a:ext cx="4788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356000" y="11844000"/>
            <a:ext cx="47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λ (正則化強度)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360000" y="11807999"/>
            <a:ext cx="4968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396000" y="11844000"/>
            <a:ext cx="489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λ (正則化強度)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4580000" y="11807999"/>
            <a:ext cx="5508000" cy="5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4616000" y="11844000"/>
            <a:ext cx="543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λ と 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