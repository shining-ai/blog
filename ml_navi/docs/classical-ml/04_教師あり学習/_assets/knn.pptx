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k-NN — 距離ベース分類の視覚化（k=1, 3, 5 の比較）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6660000" cy="972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66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k=1 (過学習)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0000" y="2340000"/>
            <a:ext cx="0" cy="792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0000" y="10260000"/>
            <a:ext cx="594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92999" y="7272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0000" y="6030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7000" y="8100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94000" y="6444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1000" y="7686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000" y="8928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05000" y="5616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7000" y="6030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4000" y="7272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95000" y="8514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1000" y="6858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40000" y="8100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9000" y="7686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62000" y="5616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77999" y="7199999"/>
            <a:ext cx="468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77999" y="7127999"/>
            <a:ext cx="4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5" name="Oval 24"/>
          <p:cNvSpPr/>
          <p:nvPr/>
        </p:nvSpPr>
        <p:spPr>
          <a:xfrm>
            <a:off x="5571383" y="6993383"/>
            <a:ext cx="845233" cy="84523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>
            <a:off x="5805000" y="7415999"/>
            <a:ext cx="188999" cy="4140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20000" y="9648000"/>
            <a:ext cx="63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00" y="9720000"/>
            <a:ext cx="630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多数決: クラスA
(A:1 B:0)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60000" y="1368000"/>
            <a:ext cx="6660000" cy="972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0000" y="1440000"/>
            <a:ext cx="66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50"/>
                </a:solidFill>
              </a:rPr>
              <a:t>k=3 (バランス)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0000" y="2340000"/>
            <a:ext cx="0" cy="792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20000" y="10260000"/>
            <a:ext cx="594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413000" y="7272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80000" y="6030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47000" y="8100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114000" y="6444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681000" y="7686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791000" y="8928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925000" y="5616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437000" y="6030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004000" y="7272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3815000" y="8514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4571000" y="6858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760000" y="8100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059000" y="7686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382000" y="5616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797999" y="7199999"/>
            <a:ext cx="468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797999" y="7127999"/>
            <a:ext cx="4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?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2825000" y="7415999"/>
            <a:ext cx="189000" cy="41400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3014000" y="7415999"/>
            <a:ext cx="188999" cy="41400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1944854" y="6346854"/>
            <a:ext cx="2138290" cy="213829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12257999" y="6588000"/>
            <a:ext cx="756001" cy="82799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740000" y="9648000"/>
            <a:ext cx="63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40000" y="9720000"/>
            <a:ext cx="630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多数決: クラスA
(A:2 B:1)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580000" y="1368000"/>
            <a:ext cx="6660000" cy="972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580000" y="1440000"/>
            <a:ext cx="66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k=5 (滑らか)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4940000" y="2340000"/>
            <a:ext cx="0" cy="792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4940000" y="10260000"/>
            <a:ext cx="594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7433000" y="7272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000000" y="6030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8567000" y="8100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9134000" y="6444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9701000" y="7686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811000" y="8928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8945000" y="5616000"/>
            <a:ext cx="36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0457000" y="6030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024000" y="7272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835000" y="8514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1591000" y="6858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1780000" y="8100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079000" y="7686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402000" y="561600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9818000" y="7199999"/>
            <a:ext cx="468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818000" y="7127999"/>
            <a:ext cx="4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?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19845000" y="7415999"/>
            <a:ext cx="189000" cy="414001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034000" y="7415999"/>
            <a:ext cx="189000" cy="414001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9278000" y="6588000"/>
            <a:ext cx="756000" cy="827999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034000" y="7415999"/>
            <a:ext cx="1134000" cy="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18766149" y="6148149"/>
            <a:ext cx="2535701" cy="2535701"/>
          </a:xfrm>
          <a:prstGeom prst="ellipse">
            <a:avLst/>
          </a:prstGeom>
          <a:noFill/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20034000" y="6173999"/>
            <a:ext cx="567000" cy="124200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4760000" y="9648000"/>
            <a:ext cx="6300000" cy="12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760000" y="9720000"/>
            <a:ext cx="630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多数決: クラスB
(A:2 B:3)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000" y="11340000"/>
            <a:ext cx="720000" cy="28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48000" y="1126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13CA6"/>
                </a:solidFill>
              </a:rPr>
              <a:t>クラスA</a:t>
            </a:r>
          </a:p>
        </p:txBody>
      </p:sp>
      <p:sp>
        <p:nvSpPr>
          <p:cNvPr id="85" name="Oval 84"/>
          <p:cNvSpPr/>
          <p:nvPr/>
        </p:nvSpPr>
        <p:spPr>
          <a:xfrm>
            <a:off x="3960000" y="11340000"/>
            <a:ext cx="360000" cy="288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00000" y="1126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0000"/>
                </a:solidFill>
              </a:rPr>
              <a:t>クラスB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00000" y="11340000"/>
            <a:ext cx="540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48000" y="1126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050"/>
                </a:solidFill>
              </a:rPr>
              <a:t>クエリ点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0000" y="11520000"/>
            <a:ext cx="2021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k が小さい → 決定境界が複雑（過学習リスク）  |  k が大きい → 決定境界が滑らか（過小適合リスク）  |  交差検証でk最適化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