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8000"/>
            <a:ext cx="212904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SVM — マージン最大化とサポートベクターの視覚化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368000"/>
            <a:ext cx="10800000" cy="100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44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13CA6"/>
                </a:solidFill>
              </a:rPr>
              <a:t>線形SVM: マージン最大化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80000" y="2340000"/>
            <a:ext cx="0" cy="864000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80000" y="10980000"/>
            <a:ext cx="9720000" cy="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655999" y="3456000"/>
            <a:ext cx="324000" cy="324000"/>
          </a:xfrm>
          <a:prstGeom prst="ellipse">
            <a:avLst/>
          </a:prstGeom>
          <a:solidFill>
            <a:srgbClr val="013C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96000" y="2916000"/>
            <a:ext cx="324000" cy="324000"/>
          </a:xfrm>
          <a:prstGeom prst="ellipse">
            <a:avLst/>
          </a:prstGeom>
          <a:solidFill>
            <a:srgbClr val="013C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76000" y="4176000"/>
            <a:ext cx="324000" cy="324000"/>
          </a:xfrm>
          <a:prstGeom prst="ellipse">
            <a:avLst/>
          </a:prstGeom>
          <a:solidFill>
            <a:srgbClr val="013C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16000" y="3276000"/>
            <a:ext cx="324000" cy="324000"/>
          </a:xfrm>
          <a:prstGeom prst="ellipse">
            <a:avLst/>
          </a:prstGeom>
          <a:solidFill>
            <a:srgbClr val="013C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6000" y="2376000"/>
            <a:ext cx="324000" cy="324000"/>
          </a:xfrm>
          <a:prstGeom prst="ellipse">
            <a:avLst/>
          </a:prstGeom>
          <a:solidFill>
            <a:srgbClr val="013C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56000" y="4896000"/>
            <a:ext cx="324000" cy="324000"/>
          </a:xfrm>
          <a:prstGeom prst="ellipse">
            <a:avLst/>
          </a:prstGeom>
          <a:solidFill>
            <a:srgbClr val="013C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35999" y="5076000"/>
            <a:ext cx="324000" cy="324000"/>
          </a:xfrm>
          <a:prstGeom prst="ellipse">
            <a:avLst/>
          </a:prstGeom>
          <a:solidFill>
            <a:srgbClr val="013C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36000" y="3636000"/>
            <a:ext cx="324000" cy="324000"/>
          </a:xfrm>
          <a:prstGeom prst="ellipse">
            <a:avLst/>
          </a:prstGeom>
          <a:solidFill>
            <a:srgbClr val="013C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015999" y="5976000"/>
            <a:ext cx="324000" cy="324000"/>
          </a:xfrm>
          <a:prstGeom prst="ellipse">
            <a:avLst/>
          </a:prstGeom>
          <a:solidFill>
            <a:srgbClr val="013C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76000" y="4536000"/>
            <a:ext cx="324000" cy="324000"/>
          </a:xfrm>
          <a:prstGeom prst="ellipse">
            <a:avLst/>
          </a:prstGeom>
          <a:solidFill>
            <a:srgbClr val="013C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96000" y="7056000"/>
            <a:ext cx="324000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36000" y="6336000"/>
            <a:ext cx="324000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16000" y="7956000"/>
            <a:ext cx="324000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6000" y="6876000"/>
            <a:ext cx="324000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6000" y="8136000"/>
            <a:ext cx="324000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76000" y="7416000"/>
            <a:ext cx="324000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56000" y="8856000"/>
            <a:ext cx="324000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6000" y="9396000"/>
            <a:ext cx="324000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36000" y="6156000"/>
            <a:ext cx="324000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56000" y="9036000"/>
            <a:ext cx="324000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1080000" y="5940000"/>
            <a:ext cx="9720000" cy="0"/>
          </a:xfrm>
          <a:prstGeom prst="line">
            <a:avLst/>
          </a:prstGeom>
          <a:ln w="508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40000" y="5040000"/>
            <a:ext cx="36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B050"/>
                </a:solidFill>
              </a:rPr>
              <a:t>決定超平面
wᵀx + b = 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80000" y="4140000"/>
            <a:ext cx="9720000" cy="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80000" y="7740000"/>
            <a:ext cx="97200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440000" y="360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13CA6"/>
                </a:solidFill>
              </a:rPr>
              <a:t>wᵀx+b=+1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40000" y="7812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0000"/>
                </a:solidFill>
              </a:rPr>
              <a:t>wᵀx+b=-1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440000" y="4140000"/>
            <a:ext cx="0" cy="3600000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0440000" y="4140000"/>
            <a:ext cx="0" cy="3600000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540000" y="5580000"/>
            <a:ext cx="19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BA81A"/>
                </a:solidFill>
              </a:rPr>
              <a:t>マージン
= 2/||w||</a:t>
            </a:r>
          </a:p>
        </p:txBody>
      </p:sp>
      <p:sp>
        <p:nvSpPr>
          <p:cNvPr id="38" name="Oval 37"/>
          <p:cNvSpPr/>
          <p:nvPr/>
        </p:nvSpPr>
        <p:spPr>
          <a:xfrm>
            <a:off x="3564000" y="4104000"/>
            <a:ext cx="468000" cy="468000"/>
          </a:xfrm>
          <a:prstGeom prst="ellipse">
            <a:avLst/>
          </a:prstGeom>
          <a:solidFill>
            <a:srgbClr val="013CA6"/>
          </a:solidFill>
          <a:ln w="381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664000" y="3564000"/>
            <a:ext cx="468000" cy="468000"/>
          </a:xfrm>
          <a:prstGeom prst="ellipse">
            <a:avLst/>
          </a:prstGeom>
          <a:solidFill>
            <a:srgbClr val="013CA6"/>
          </a:solidFill>
          <a:ln w="381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204000" y="4824000"/>
            <a:ext cx="468000" cy="468000"/>
          </a:xfrm>
          <a:prstGeom prst="ellipse">
            <a:avLst/>
          </a:prstGeom>
          <a:solidFill>
            <a:srgbClr val="013CA6"/>
          </a:solidFill>
          <a:ln w="381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43999" y="7163999"/>
            <a:ext cx="468000" cy="468000"/>
          </a:xfrm>
          <a:prstGeom prst="rect">
            <a:avLst/>
          </a:prstGeom>
          <a:solidFill>
            <a:srgbClr val="FF0000"/>
          </a:solidFill>
          <a:ln w="381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63999" y="7703999"/>
            <a:ext cx="468000" cy="468000"/>
          </a:xfrm>
          <a:prstGeom prst="rect">
            <a:avLst/>
          </a:prstGeom>
          <a:solidFill>
            <a:srgbClr val="FF0000"/>
          </a:solidFill>
          <a:ln w="381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03999" y="6623999"/>
            <a:ext cx="468000" cy="468000"/>
          </a:xfrm>
          <a:prstGeom prst="rect">
            <a:avLst/>
          </a:prstGeom>
          <a:solidFill>
            <a:srgbClr val="FF0000"/>
          </a:solidFill>
          <a:ln w="381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40000" y="7560000"/>
            <a:ext cx="46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BA81A"/>
                </a:solidFill>
              </a:rPr>
              <a:t>サポートベクター
(決定境界を決定する点)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700000" y="1368000"/>
            <a:ext cx="9180000" cy="504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700000" y="1440000"/>
            <a:ext cx="91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13CA6"/>
                </a:solidFill>
              </a:rPr>
              <a:t>カーネルトリック: 非線形SVM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0000" y="2160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0000"/>
                </a:solidFill>
              </a:rPr>
              <a:t>元の空間 (非線形分離不可)</a:t>
            </a:r>
          </a:p>
        </p:txBody>
      </p:sp>
      <p:sp>
        <p:nvSpPr>
          <p:cNvPr id="48" name="Oval 47"/>
          <p:cNvSpPr/>
          <p:nvPr/>
        </p:nvSpPr>
        <p:spPr>
          <a:xfrm>
            <a:off x="12816000" y="3456000"/>
            <a:ext cx="324000" cy="324000"/>
          </a:xfrm>
          <a:prstGeom prst="ellipse">
            <a:avLst/>
          </a:prstGeom>
          <a:solidFill>
            <a:srgbClr val="013C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3356000" y="3276000"/>
            <a:ext cx="324000" cy="324000"/>
          </a:xfrm>
          <a:prstGeom prst="ellipse">
            <a:avLst/>
          </a:prstGeom>
          <a:solidFill>
            <a:srgbClr val="013C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3536000" y="3996000"/>
            <a:ext cx="324000" cy="324000"/>
          </a:xfrm>
          <a:prstGeom prst="ellipse">
            <a:avLst/>
          </a:prstGeom>
          <a:solidFill>
            <a:srgbClr val="013C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2996000" y="4356000"/>
            <a:ext cx="324000" cy="324000"/>
          </a:xfrm>
          <a:prstGeom prst="ellipse">
            <a:avLst/>
          </a:prstGeom>
          <a:solidFill>
            <a:srgbClr val="013C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3176000" y="2916000"/>
            <a:ext cx="324000" cy="324000"/>
          </a:xfrm>
          <a:prstGeom prst="ellipse">
            <a:avLst/>
          </a:prstGeom>
          <a:solidFill>
            <a:srgbClr val="013C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4616000" y="2736000"/>
            <a:ext cx="324000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5336000" y="3456000"/>
            <a:ext cx="324000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4796000" y="4356000"/>
            <a:ext cx="324000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4256000" y="3816000"/>
            <a:ext cx="324000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5156000" y="3096000"/>
            <a:ext cx="324000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6380000" y="3780000"/>
            <a:ext cx="900000" cy="0"/>
          </a:xfrm>
          <a:prstGeom prst="line">
            <a:avLst/>
          </a:prstGeom>
          <a:ln w="38100">
            <a:solidFill>
              <a:srgbClr val="EBA8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6020000" y="3420000"/>
            <a:ext cx="1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BA81A"/>
                </a:solidFill>
              </a:rPr>
              <a:t>φ(x)
カーネル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460000" y="2160000"/>
            <a:ext cx="32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B050"/>
                </a:solidFill>
              </a:rPr>
              <a:t>高次元空間 (線形分離可能)</a:t>
            </a:r>
          </a:p>
        </p:txBody>
      </p:sp>
      <p:sp>
        <p:nvSpPr>
          <p:cNvPr id="61" name="Oval 60"/>
          <p:cNvSpPr/>
          <p:nvPr/>
        </p:nvSpPr>
        <p:spPr>
          <a:xfrm>
            <a:off x="17856000" y="2916000"/>
            <a:ext cx="324000" cy="324000"/>
          </a:xfrm>
          <a:prstGeom prst="ellipse">
            <a:avLst/>
          </a:prstGeom>
          <a:solidFill>
            <a:srgbClr val="013C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8396000" y="3096000"/>
            <a:ext cx="324000" cy="324000"/>
          </a:xfrm>
          <a:prstGeom prst="ellipse">
            <a:avLst/>
          </a:prstGeom>
          <a:solidFill>
            <a:srgbClr val="013C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8576000" y="3636000"/>
            <a:ext cx="324000" cy="324000"/>
          </a:xfrm>
          <a:prstGeom prst="ellipse">
            <a:avLst/>
          </a:prstGeom>
          <a:solidFill>
            <a:srgbClr val="013C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8036000" y="3996000"/>
            <a:ext cx="324000" cy="324000"/>
          </a:xfrm>
          <a:prstGeom prst="ellipse">
            <a:avLst/>
          </a:prstGeom>
          <a:solidFill>
            <a:srgbClr val="013C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8216000" y="2736000"/>
            <a:ext cx="324000" cy="324000"/>
          </a:xfrm>
          <a:prstGeom prst="ellipse">
            <a:avLst/>
          </a:prstGeom>
          <a:solidFill>
            <a:srgbClr val="013CA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9116000" y="2736000"/>
            <a:ext cx="324000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9656000" y="3276000"/>
            <a:ext cx="324000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9476000" y="3996000"/>
            <a:ext cx="324000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8936000" y="3636000"/>
            <a:ext cx="324000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9836000" y="3024000"/>
            <a:ext cx="324000" cy="32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18900000" y="2700000"/>
            <a:ext cx="0" cy="18000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11700000" y="6588000"/>
            <a:ext cx="9180000" cy="486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1700000" y="6660000"/>
            <a:ext cx="91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主要カーネル関数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880000" y="7272000"/>
            <a:ext cx="1800000" cy="86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880000" y="7272000"/>
            <a:ext cx="1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線形カーネル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3752000" y="7272000"/>
            <a:ext cx="7020000" cy="864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824000" y="7343999"/>
            <a:ext cx="687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K(x,x') = xᵀx'
→ 線形分離可能な問題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880000" y="8280000"/>
            <a:ext cx="1800000" cy="864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880000" y="8280000"/>
            <a:ext cx="1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RBF/ガウスカーネル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3752000" y="8280000"/>
            <a:ext cx="7020000" cy="864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3824000" y="8352000"/>
            <a:ext cx="687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K(x,x') = exp(-γ||x-x'||²)
→ 非線形・最もよく使われる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1880000" y="9287999"/>
            <a:ext cx="1800000" cy="864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880000" y="9287999"/>
            <a:ext cx="1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多項式カーネル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3752000" y="9287999"/>
            <a:ext cx="7020000" cy="864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3824000" y="9359999"/>
            <a:ext cx="687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K(x,x') = (xᵀx'+c)ᵈ
→ 特徴量の多項式変換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880000" y="10296000"/>
            <a:ext cx="1800000" cy="864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880000" y="10296000"/>
            <a:ext cx="1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シグモイドカーネル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3752000" y="10296000"/>
            <a:ext cx="7020000" cy="864000"/>
          </a:xfrm>
          <a:prstGeom prst="rect">
            <a:avLst/>
          </a:prstGeom>
          <a:solidFill>
            <a:srgbClr val="FFFFFF"/>
          </a:solidFill>
          <a:ln w="63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824000" y="10367999"/>
            <a:ext cx="687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K(x,x') = tanh(αxᵀx'+β)
→ ニューラルネットに近い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