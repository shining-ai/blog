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8000"/>
            <a:ext cx="212904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ランダムフォレスト — バギング + 特徴量ランダム選択のアンサンブル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7920000" y="1368000"/>
            <a:ext cx="5400000" cy="9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0000" y="1404000"/>
            <a:ext cx="5400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元のデータセット D
(N サンプル × M 特徴量)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3600000" y="2268000"/>
            <a:ext cx="7020000" cy="7920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080000" y="3060000"/>
            <a:ext cx="5040000" cy="7200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0000" y="3060000"/>
            <a:ext cx="50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Bootstrap サンプル 1
(復元抽出: N サンプル)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0000" y="3960000"/>
            <a:ext cx="5040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0000" y="3960000"/>
            <a:ext cx="50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0000"/>
                </a:solidFill>
              </a:rPr>
              <a:t>特徴量: {x₁, x₃, x₅}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40000" y="4860000"/>
            <a:ext cx="2520000" cy="64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40000" y="4860000"/>
            <a:ext cx="25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分岐条件
(sqrt(M)特徴量)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800000" y="5508000"/>
            <a:ext cx="1620000" cy="6840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420000" y="5508000"/>
            <a:ext cx="900000" cy="6840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260000" y="6192000"/>
            <a:ext cx="1620000" cy="540000"/>
          </a:xfrm>
          <a:prstGeom prst="rect">
            <a:avLst/>
          </a:prstGeom>
          <a:solidFill>
            <a:srgbClr val="FF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60000" y="6192000"/>
            <a:ext cx="1620000" cy="540000"/>
          </a:xfrm>
          <a:prstGeom prst="rect">
            <a:avLst/>
          </a:prstGeom>
          <a:solidFill>
            <a:srgbClr val="FF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0000" y="6192000"/>
            <a:ext cx="16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葉1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60000" y="6192000"/>
            <a:ext cx="16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葉2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1440000" y="6732000"/>
            <a:ext cx="630000" cy="64800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070000" y="6732000"/>
            <a:ext cx="630000" cy="64800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332000" y="7380000"/>
            <a:ext cx="540000" cy="432000"/>
          </a:xfrm>
          <a:prstGeom prst="rect">
            <a:avLst/>
          </a:prstGeom>
          <a:solidFill>
            <a:srgbClr val="FF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92000" y="7380000"/>
            <a:ext cx="540000" cy="432000"/>
          </a:xfrm>
          <a:prstGeom prst="rect">
            <a:avLst/>
          </a:prstGeom>
          <a:solidFill>
            <a:srgbClr val="FF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H="1">
            <a:off x="4140000" y="6732000"/>
            <a:ext cx="630000" cy="64800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770000" y="6732000"/>
            <a:ext cx="630000" cy="64800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031999" y="7380000"/>
            <a:ext cx="540000" cy="432000"/>
          </a:xfrm>
          <a:prstGeom prst="rect">
            <a:avLst/>
          </a:prstGeom>
          <a:solidFill>
            <a:srgbClr val="FF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292000" y="7380000"/>
            <a:ext cx="540000" cy="432000"/>
          </a:xfrm>
          <a:prstGeom prst="rect">
            <a:avLst/>
          </a:prstGeom>
          <a:solidFill>
            <a:srgbClr val="FF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80000" y="8100000"/>
            <a:ext cx="5040000" cy="72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0000" y="8100000"/>
            <a:ext cx="50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0000"/>
                </a:solidFill>
              </a:rPr>
              <a:t>予測: クラスA
(or 値: 3.2)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600000" y="8820000"/>
            <a:ext cx="7020000" cy="9000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10440000" y="2268000"/>
            <a:ext cx="180000" cy="79200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7920000" y="3060000"/>
            <a:ext cx="5040000" cy="720000"/>
          </a:xfrm>
          <a:prstGeom prst="rect">
            <a:avLst/>
          </a:prstGeom>
          <a:solidFill>
            <a:srgbClr val="00B05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20000" y="3060000"/>
            <a:ext cx="50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Bootstrap サンプル 2
(復元抽出: N サンプル)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20000" y="3960000"/>
            <a:ext cx="5040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20000" y="3960000"/>
            <a:ext cx="50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B050"/>
                </a:solidFill>
              </a:rPr>
              <a:t>特徴量: {x₂, x₃, x₆}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80000" y="4860000"/>
            <a:ext cx="2520000" cy="64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80000" y="4860000"/>
            <a:ext cx="25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分岐条件
(sqrt(M)特徴量)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8640000" y="5508000"/>
            <a:ext cx="1620000" cy="68400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260000" y="5508000"/>
            <a:ext cx="900000" cy="68400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8100000" y="6192000"/>
            <a:ext cx="1620000" cy="540000"/>
          </a:xfrm>
          <a:prstGeom prst="rect">
            <a:avLst/>
          </a:prstGeom>
          <a:solidFill>
            <a:srgbClr val="00B05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800000" y="6192000"/>
            <a:ext cx="1620000" cy="540000"/>
          </a:xfrm>
          <a:prstGeom prst="rect">
            <a:avLst/>
          </a:prstGeom>
          <a:solidFill>
            <a:srgbClr val="00B05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00000" y="6192000"/>
            <a:ext cx="16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葉1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00000" y="6192000"/>
            <a:ext cx="16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葉2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8280000" y="6732000"/>
            <a:ext cx="630000" cy="648000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910000" y="6732000"/>
            <a:ext cx="630000" cy="648000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8172000" y="7380000"/>
            <a:ext cx="540000" cy="432000"/>
          </a:xfrm>
          <a:prstGeom prst="rect">
            <a:avLst/>
          </a:prstGeom>
          <a:solidFill>
            <a:srgbClr val="00B05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432000" y="7380000"/>
            <a:ext cx="540000" cy="432000"/>
          </a:xfrm>
          <a:prstGeom prst="rect">
            <a:avLst/>
          </a:prstGeom>
          <a:solidFill>
            <a:srgbClr val="00B05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 flipH="1">
            <a:off x="10980000" y="6732000"/>
            <a:ext cx="630000" cy="648000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1610000" y="6732000"/>
            <a:ext cx="630000" cy="648000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10872000" y="7380000"/>
            <a:ext cx="540000" cy="432000"/>
          </a:xfrm>
          <a:prstGeom prst="rect">
            <a:avLst/>
          </a:prstGeom>
          <a:solidFill>
            <a:srgbClr val="00B05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2132000" y="7380000"/>
            <a:ext cx="540000" cy="432000"/>
          </a:xfrm>
          <a:prstGeom prst="rect">
            <a:avLst/>
          </a:prstGeom>
          <a:solidFill>
            <a:srgbClr val="00B05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920000" y="8100000"/>
            <a:ext cx="5040000" cy="720000"/>
          </a:xfrm>
          <a:prstGeom prst="rect">
            <a:avLst/>
          </a:prstGeom>
          <a:solidFill>
            <a:srgbClr val="F0FFF0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20000" y="8100000"/>
            <a:ext cx="50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050"/>
                </a:solidFill>
              </a:rPr>
              <a:t>予測: クラスB
(or 値: 3.8)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0440000" y="8820000"/>
            <a:ext cx="180000" cy="90000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0620000" y="2268000"/>
            <a:ext cx="6660000" cy="792000"/>
          </a:xfrm>
          <a:prstGeom prst="line">
            <a:avLst/>
          </a:prstGeom>
          <a:ln w="254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14760000" y="3060000"/>
            <a:ext cx="5040000" cy="720000"/>
          </a:xfrm>
          <a:prstGeom prst="rect">
            <a:avLst/>
          </a:prstGeom>
          <a:solidFill>
            <a:srgbClr val="EBA81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4760000" y="3060000"/>
            <a:ext cx="50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Bootstrap サンプル 3
(復元抽出: N サンプル)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4760000" y="3960000"/>
            <a:ext cx="5040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4760000" y="3960000"/>
            <a:ext cx="50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BA81A"/>
                </a:solidFill>
              </a:rPr>
              <a:t>特徴量: {x₁, x₄, x₆}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6020000" y="4860000"/>
            <a:ext cx="2520000" cy="648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6020000" y="4860000"/>
            <a:ext cx="25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分岐条件
(sqrt(M)特徴量)</a:t>
            </a:r>
          </a:p>
        </p:txBody>
      </p:sp>
      <p:cxnSp>
        <p:nvCxnSpPr>
          <p:cNvPr id="62" name="Connector 61"/>
          <p:cNvCxnSpPr/>
          <p:nvPr/>
        </p:nvCxnSpPr>
        <p:spPr>
          <a:xfrm flipH="1">
            <a:off x="15480000" y="5508000"/>
            <a:ext cx="1620000" cy="684000"/>
          </a:xfrm>
          <a:prstGeom prst="line">
            <a:avLst/>
          </a:prstGeom>
          <a:ln w="190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7100000" y="5508000"/>
            <a:ext cx="900000" cy="684000"/>
          </a:xfrm>
          <a:prstGeom prst="line">
            <a:avLst/>
          </a:prstGeom>
          <a:ln w="190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14940000" y="6192000"/>
            <a:ext cx="1620000" cy="540000"/>
          </a:xfrm>
          <a:prstGeom prst="rect">
            <a:avLst/>
          </a:prstGeom>
          <a:solidFill>
            <a:srgbClr val="EBA81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7640000" y="6192000"/>
            <a:ext cx="1620000" cy="540000"/>
          </a:xfrm>
          <a:prstGeom prst="rect">
            <a:avLst/>
          </a:prstGeom>
          <a:solidFill>
            <a:srgbClr val="EBA81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4940000" y="6192000"/>
            <a:ext cx="16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葉1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7640000" y="6192000"/>
            <a:ext cx="16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葉2</a:t>
            </a:r>
          </a:p>
        </p:txBody>
      </p:sp>
      <p:cxnSp>
        <p:nvCxnSpPr>
          <p:cNvPr id="68" name="Connector 67"/>
          <p:cNvCxnSpPr/>
          <p:nvPr/>
        </p:nvCxnSpPr>
        <p:spPr>
          <a:xfrm flipH="1">
            <a:off x="15120000" y="6732000"/>
            <a:ext cx="630000" cy="648000"/>
          </a:xfrm>
          <a:prstGeom prst="line">
            <a:avLst/>
          </a:prstGeom>
          <a:ln w="127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5750000" y="6732000"/>
            <a:ext cx="630000" cy="648000"/>
          </a:xfrm>
          <a:prstGeom prst="line">
            <a:avLst/>
          </a:prstGeom>
          <a:ln w="127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15012000" y="7380000"/>
            <a:ext cx="540000" cy="432000"/>
          </a:xfrm>
          <a:prstGeom prst="rect">
            <a:avLst/>
          </a:prstGeom>
          <a:solidFill>
            <a:srgbClr val="EBA81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6272000" y="7380000"/>
            <a:ext cx="540000" cy="432000"/>
          </a:xfrm>
          <a:prstGeom prst="rect">
            <a:avLst/>
          </a:prstGeom>
          <a:solidFill>
            <a:srgbClr val="EBA81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Connector 71"/>
          <p:cNvCxnSpPr/>
          <p:nvPr/>
        </p:nvCxnSpPr>
        <p:spPr>
          <a:xfrm flipH="1">
            <a:off x="17820000" y="6732000"/>
            <a:ext cx="630000" cy="648000"/>
          </a:xfrm>
          <a:prstGeom prst="line">
            <a:avLst/>
          </a:prstGeom>
          <a:ln w="127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8450000" y="6732000"/>
            <a:ext cx="630000" cy="648000"/>
          </a:xfrm>
          <a:prstGeom prst="line">
            <a:avLst/>
          </a:prstGeom>
          <a:ln w="127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17712000" y="7380000"/>
            <a:ext cx="540000" cy="432000"/>
          </a:xfrm>
          <a:prstGeom prst="rect">
            <a:avLst/>
          </a:prstGeom>
          <a:solidFill>
            <a:srgbClr val="EBA81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8972000" y="7380000"/>
            <a:ext cx="540000" cy="432000"/>
          </a:xfrm>
          <a:prstGeom prst="rect">
            <a:avLst/>
          </a:prstGeom>
          <a:solidFill>
            <a:srgbClr val="EBA81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4760000" y="8100000"/>
            <a:ext cx="5040000" cy="72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4760000" y="8100000"/>
            <a:ext cx="50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BA81A"/>
                </a:solidFill>
              </a:rPr>
              <a:t>予測: クラスA
(or 値: 3.5)</a:t>
            </a:r>
          </a:p>
        </p:txBody>
      </p:sp>
      <p:cxnSp>
        <p:nvCxnSpPr>
          <p:cNvPr id="78" name="Connector 77"/>
          <p:cNvCxnSpPr/>
          <p:nvPr/>
        </p:nvCxnSpPr>
        <p:spPr>
          <a:xfrm flipH="1">
            <a:off x="10620000" y="8820000"/>
            <a:ext cx="6660000" cy="900000"/>
          </a:xfrm>
          <a:prstGeom prst="line">
            <a:avLst/>
          </a:prstGeom>
          <a:ln w="254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13320000" y="5220000"/>
            <a:ext cx="1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888888"/>
                </a:solidFill>
              </a:rPr>
              <a:t>・・・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840000" y="9720000"/>
            <a:ext cx="7560000" cy="10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840000" y="9720000"/>
            <a:ext cx="75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アグリゲーション
分類: 多数決 (Majority Vote)  |  回帰: 平均 (Averaging)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10620000" y="10800000"/>
            <a:ext cx="0" cy="54000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ectangle 82"/>
          <p:cNvSpPr/>
          <p:nvPr/>
        </p:nvSpPr>
        <p:spPr>
          <a:xfrm>
            <a:off x="7920000" y="11340000"/>
            <a:ext cx="540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920000" y="11340000"/>
            <a:ext cx="54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最終予測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0340000" y="1368000"/>
            <a:ext cx="864000" cy="1026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0340000" y="1440000"/>
            <a:ext cx="827999" cy="10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主な特徴:
・高精度
・過学習
しにくい
・外れ値
にロバスト
・特徴量
重要度
算出可能
・並列
処理可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