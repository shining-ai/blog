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バイアス-バリアンス トレードオフ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9720000" cy="79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12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学習曲線 (Learning Curve)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500000"/>
            <a:ext cx="1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</a:rPr>
              <a:t>誤差 (Error)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0" y="9180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</a:rPr>
              <a:t>訓練データ数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20000" y="2340000"/>
            <a:ext cx="0" cy="66600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20000" y="9000000"/>
            <a:ext cx="82800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80000" y="2880000"/>
            <a:ext cx="900000" cy="90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880000" y="3780000"/>
            <a:ext cx="1080000" cy="90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60000" y="4680000"/>
            <a:ext cx="1080000" cy="72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40000" y="5400000"/>
            <a:ext cx="1080000" cy="72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20000" y="6120000"/>
            <a:ext cx="1080000" cy="90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00000" y="7020000"/>
            <a:ext cx="1080000" cy="72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80000" y="7740000"/>
            <a:ext cx="1260000" cy="54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80000" y="2520000"/>
            <a:ext cx="900000" cy="90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80000" y="3420000"/>
            <a:ext cx="1080000" cy="144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60000" y="4860000"/>
            <a:ext cx="1080000" cy="108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0000" y="5940000"/>
            <a:ext cx="1080000" cy="72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0000" y="6660000"/>
            <a:ext cx="1080000" cy="54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00000" y="7200000"/>
            <a:ext cx="1080000" cy="648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80000" y="7848000"/>
            <a:ext cx="1260000" cy="36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980000" y="2340000"/>
            <a:ext cx="540000" cy="1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92000" y="2268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13CA6"/>
                </a:solidFill>
              </a:rPr>
              <a:t>訓練誤差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80000" y="2808000"/>
            <a:ext cx="540000" cy="18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2000" y="2736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0000"/>
                </a:solidFill>
              </a:rPr>
              <a:t>検証誤差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00000" y="3420000"/>
            <a:ext cx="2520000" cy="12600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80000" y="3600000"/>
            <a:ext cx="21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0000"/>
                </a:solidFill>
              </a:rPr>
              <a:t>高バイアス
(過小適合)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3420000"/>
            <a:ext cx="2340000" cy="1260000"/>
          </a:xfrm>
          <a:prstGeom prst="rect">
            <a:avLst/>
          </a:prstGeom>
          <a:solidFill>
            <a:srgbClr val="F0F0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0000" y="3600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13CA6"/>
                </a:solidFill>
              </a:rPr>
              <a:t>高バリアンス
(過学習)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3420000"/>
            <a:ext cx="1800000" cy="1260000"/>
          </a:xfrm>
          <a:prstGeom prst="rect">
            <a:avLst/>
          </a:prstGeom>
          <a:solidFill>
            <a:srgbClr val="F0FFF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0000" y="3600000"/>
            <a:ext cx="1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050"/>
                </a:solidFill>
              </a:rPr>
              <a:t>最適領域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80000" y="1440000"/>
            <a:ext cx="9720000" cy="79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80000" y="1512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モデル複雑度と誤差の関係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880000" y="2520000"/>
            <a:ext cx="0" cy="61200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880000" y="8640000"/>
            <a:ext cx="81000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4400000" y="9000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</a:rPr>
              <a:t>モデル複雑度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60000" y="5220000"/>
            <a:ext cx="9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</a:rPr>
              <a:t>誤差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2240000" y="3600000"/>
            <a:ext cx="1080000" cy="54000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3320000" y="4140000"/>
            <a:ext cx="1080000" cy="54000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400000" y="4680000"/>
            <a:ext cx="1080000" cy="72000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5480000" y="5400000"/>
            <a:ext cx="1080000" cy="108000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560000" y="6480000"/>
            <a:ext cx="1080000" cy="108000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7640000" y="7560000"/>
            <a:ext cx="1800000" cy="90000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240000" y="3060000"/>
            <a:ext cx="1080000" cy="72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320000" y="3780000"/>
            <a:ext cx="1080000" cy="90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4400000" y="4680000"/>
            <a:ext cx="1080000" cy="108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5480000" y="5760000"/>
            <a:ext cx="1080000" cy="126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6560000" y="7020000"/>
            <a:ext cx="1080000" cy="90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7640000" y="7920000"/>
            <a:ext cx="1800000" cy="648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2240000" y="8100000"/>
            <a:ext cx="1080000" cy="36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3320000" y="7560000"/>
            <a:ext cx="1080000" cy="54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4400000" y="6840000"/>
            <a:ext cx="1080000" cy="72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5480000" y="5940000"/>
            <a:ext cx="1080000" cy="90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6560000" y="5040000"/>
            <a:ext cx="1080000" cy="90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7640000" y="3960000"/>
            <a:ext cx="1800000" cy="108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8000000" y="3240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</a:rPr>
              <a:t>総誤差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240000" y="252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0000"/>
                </a:solidFill>
              </a:rPr>
              <a:t>バイアス²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240000" y="8568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13CA6"/>
                </a:solidFill>
              </a:rPr>
              <a:t>バリアンス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940000" y="5148000"/>
            <a:ext cx="360000" cy="3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120000" y="450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050"/>
                </a:solidFill>
              </a:rPr>
              <a:t>最適
複雑度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0000" y="9720000"/>
            <a:ext cx="6480000" cy="187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7999" y="9792000"/>
            <a:ext cx="62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0000"/>
                </a:solidFill>
              </a:rPr>
              <a:t>過小適合 (Underfitting)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7999" y="10332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</a:rPr>
              <a:t>高バイアス
低バリアンス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60000" y="10260000"/>
            <a:ext cx="41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モデルが単純すぎる
訓練・検証両方の誤差が高い
例: 線形モデルで非線形データ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20000" y="9720000"/>
            <a:ext cx="6480000" cy="187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28000" y="9792000"/>
            <a:ext cx="62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B050"/>
                </a:solidFill>
              </a:rPr>
              <a:t>適切なフィット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28000" y="10332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0"/>
                </a:solidFill>
              </a:rPr>
              <a:t>低バイアス
低バリアンス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80000" y="10260000"/>
            <a:ext cx="41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モデル複雑度が適切
汎化性能が最大
例: 交差検証で選択したモデル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940000" y="9720000"/>
            <a:ext cx="6480000" cy="187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047999" y="9792000"/>
            <a:ext cx="626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13CA6"/>
                </a:solidFill>
              </a:rPr>
              <a:t>過学習 (Overfitting)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047999" y="10332000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</a:rPr>
              <a:t>低バイアス
高バリアンス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100000" y="10260000"/>
            <a:ext cx="41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モデルが複雑すぎる
訓練誤差低・検証誤差高
例: 深すぎる決定木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