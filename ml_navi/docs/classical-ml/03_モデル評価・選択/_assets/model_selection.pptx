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152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08000"/>
            <a:ext cx="212904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問題の種類 → モデル選択フローチャート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0000" y="1440000"/>
            <a:ext cx="5040000" cy="792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00000" y="1440000"/>
            <a:ext cx="504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START
データと目的を確認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0620000" y="2232000"/>
            <a:ext cx="0" cy="828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560000" y="3060000"/>
            <a:ext cx="6120000" cy="720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60000" y="3060000"/>
            <a:ext cx="61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ラベル（正解データ）はあるか？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680000" y="3420000"/>
            <a:ext cx="1440000" cy="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3860000" y="30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120000" y="3060000"/>
            <a:ext cx="5940000" cy="720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120000" y="3060000"/>
            <a:ext cx="59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教師あり学習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6120000" y="3420000"/>
            <a:ext cx="1440000" cy="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0000" y="3060000"/>
            <a:ext cx="1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00000" y="3060000"/>
            <a:ext cx="4140000" cy="720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00000" y="3060000"/>
            <a:ext cx="41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</a:rPr>
              <a:t>教師なし学習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8090000" y="3780000"/>
            <a:ext cx="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5120000" y="4500000"/>
            <a:ext cx="5940000" cy="720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120000" y="4500000"/>
            <a:ext cx="59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</a:rPr>
              <a:t>出力は連続値か？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060000" y="4860000"/>
            <a:ext cx="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880000" y="4860000"/>
            <a:ext cx="1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720000" y="5580000"/>
            <a:ext cx="2340000" cy="648000"/>
          </a:xfrm>
          <a:prstGeom prst="rect">
            <a:avLst/>
          </a:prstGeom>
          <a:solidFill>
            <a:srgbClr val="00B05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720000" y="5580000"/>
            <a:ext cx="2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回帰問題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360000" y="6408000"/>
            <a:ext cx="30600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432000" y="6480000"/>
            <a:ext cx="29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線形回帰 (Lasso/Ridge)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360000" y="7128000"/>
            <a:ext cx="30600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8432000" y="7200000"/>
            <a:ext cx="29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多項式回帰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8360000" y="7848000"/>
            <a:ext cx="30600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432000" y="7920000"/>
            <a:ext cx="29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SVR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8360000" y="8568000"/>
            <a:ext cx="30600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432000" y="8640000"/>
            <a:ext cx="29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ランダムフォレスト回帰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360000" y="9288000"/>
            <a:ext cx="3060000" cy="612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8432000" y="9360000"/>
            <a:ext cx="291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XGBoost回帰</a:t>
            </a:r>
          </a:p>
        </p:txBody>
      </p:sp>
      <p:cxnSp>
        <p:nvCxnSpPr>
          <p:cNvPr id="35" name="Connector 34"/>
          <p:cNvCxnSpPr/>
          <p:nvPr/>
        </p:nvCxnSpPr>
        <p:spPr>
          <a:xfrm flipH="1">
            <a:off x="13860000" y="4860000"/>
            <a:ext cx="126000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3680000" y="4860000"/>
            <a:ext cx="126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0000"/>
                </a:solidFill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980000" y="5580000"/>
            <a:ext cx="2520000" cy="648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980000" y="5580000"/>
            <a:ext cx="252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分類問題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2240000" y="6228000"/>
            <a:ext cx="0" cy="612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0080000" y="6840000"/>
            <a:ext cx="4500000" cy="720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0000" y="6840000"/>
            <a:ext cx="45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クラス数は2か？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14580000" y="7200000"/>
            <a:ext cx="1080000" cy="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4400000" y="6912000"/>
            <a:ext cx="144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0000"/>
                </a:solidFill>
              </a:rPr>
              <a:t>NO(多クラス)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5660000" y="6840000"/>
            <a:ext cx="3060000" cy="720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660000" y="6840000"/>
            <a:ext cx="306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多クラス分類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5660000" y="7740000"/>
            <a:ext cx="3060000" cy="54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5732000" y="7776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ソフトマックス回帰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5660000" y="8388000"/>
            <a:ext cx="3060000" cy="54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5732000" y="8424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決定木/RF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5660000" y="9036000"/>
            <a:ext cx="3060000" cy="54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732000" y="9072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SVM(OvR)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5660000" y="9684000"/>
            <a:ext cx="3060000" cy="540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5732000" y="9720000"/>
            <a:ext cx="291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ナイーブベイズ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820000" y="7200000"/>
            <a:ext cx="1260000" cy="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8100000" y="6912000"/>
            <a:ext cx="162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B050"/>
                </a:solidFill>
              </a:rPr>
              <a:t>YES(2クラス)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220000" y="6840000"/>
            <a:ext cx="3420000" cy="720000"/>
          </a:xfrm>
          <a:prstGeom prst="rect">
            <a:avLst/>
          </a:prstGeom>
          <a:solidFill>
            <a:srgbClr val="013CA6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20000" y="6840000"/>
            <a:ext cx="34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2クラス分類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040000" y="7740000"/>
            <a:ext cx="37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112000" y="7776000"/>
            <a:ext cx="36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ロジスティック回帰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40000" y="8388000"/>
            <a:ext cx="37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12000" y="8424000"/>
            <a:ext cx="36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SVM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040000" y="9036000"/>
            <a:ext cx="37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12000" y="9072000"/>
            <a:ext cx="36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k-NN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40000" y="9684000"/>
            <a:ext cx="37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12000" y="9720000"/>
            <a:ext cx="36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決定木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40000" y="10332000"/>
            <a:ext cx="3780000" cy="540000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112000" y="10368000"/>
            <a:ext cx="3636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ニューラルNet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870000" y="3780000"/>
            <a:ext cx="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1260000" y="4500000"/>
            <a:ext cx="5220000" cy="7200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260000" y="4500000"/>
            <a:ext cx="522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構造発見 or 次元削減？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0000" y="5580000"/>
            <a:ext cx="2340000" cy="648000"/>
          </a:xfrm>
          <a:prstGeom prst="rect">
            <a:avLst/>
          </a:prstGeom>
          <a:solidFill>
            <a:srgbClr val="FF000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0000" y="5580000"/>
            <a:ext cx="234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クラスタリング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0000" y="6408000"/>
            <a:ext cx="2520000" cy="612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12000" y="6480000"/>
            <a:ext cx="23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k-Means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0000" y="7128000"/>
            <a:ext cx="2520000" cy="612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2000" y="7200000"/>
            <a:ext cx="23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階層的クラスタリング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0000" y="7848000"/>
            <a:ext cx="2520000" cy="612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12000" y="7920000"/>
            <a:ext cx="23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DBSCAN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40000" y="8568000"/>
            <a:ext cx="2520000" cy="612000"/>
          </a:xfrm>
          <a:prstGeom prst="rect">
            <a:avLst/>
          </a:prstGeom>
          <a:solidFill>
            <a:srgbClr val="FFF0F0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12000" y="8640000"/>
            <a:ext cx="237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GMM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20000" y="5580000"/>
            <a:ext cx="2700000" cy="648000"/>
          </a:xfrm>
          <a:prstGeom prst="rect">
            <a:avLst/>
          </a:prstGeom>
          <a:solidFill>
            <a:srgbClr val="EBA81A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20000" y="5580000"/>
            <a:ext cx="27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次元削減</a:t>
            </a:r>
          </a:p>
        </p:txBody>
      </p:sp>
      <p:sp>
        <p:nvSpPr>
          <p:cNvPr id="83" name="Rectangle 82"/>
          <p:cNvSpPr/>
          <p:nvPr/>
        </p:nvSpPr>
        <p:spPr>
          <a:xfrm>
            <a:off x="3420000" y="6408000"/>
            <a:ext cx="2700000" cy="612000"/>
          </a:xfrm>
          <a:prstGeom prst="rect">
            <a:avLst/>
          </a:prstGeom>
          <a:solidFill>
            <a:srgbClr val="FFFFE0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491999" y="6480000"/>
            <a:ext cx="25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PCA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420000" y="7128000"/>
            <a:ext cx="2700000" cy="612000"/>
          </a:xfrm>
          <a:prstGeom prst="rect">
            <a:avLst/>
          </a:prstGeom>
          <a:solidFill>
            <a:srgbClr val="FFFFE0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3491999" y="7200000"/>
            <a:ext cx="25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t-SNE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3420000" y="7848000"/>
            <a:ext cx="2700000" cy="612000"/>
          </a:xfrm>
          <a:prstGeom prst="rect">
            <a:avLst/>
          </a:prstGeom>
          <a:solidFill>
            <a:srgbClr val="FFFFE0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3491999" y="7920000"/>
            <a:ext cx="25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UMAP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420000" y="8568000"/>
            <a:ext cx="2700000" cy="612000"/>
          </a:xfrm>
          <a:prstGeom prst="rect">
            <a:avLst/>
          </a:prstGeom>
          <a:solidFill>
            <a:srgbClr val="FFFFE0"/>
          </a:solidFill>
          <a:ln w="1270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491999" y="8640000"/>
            <a:ext cx="2556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</a:rPr>
              <a:t>オートエンコーダ</a:t>
            </a:r>
          </a:p>
        </p:txBody>
      </p:sp>
      <p:cxnSp>
        <p:nvCxnSpPr>
          <p:cNvPr id="91" name="Connector 90"/>
          <p:cNvCxnSpPr/>
          <p:nvPr/>
        </p:nvCxnSpPr>
        <p:spPr>
          <a:xfrm>
            <a:off x="1260000" y="4860000"/>
            <a:ext cx="45000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3870000" y="5220000"/>
            <a:ext cx="0" cy="36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H="1">
            <a:off x="4770000" y="4860000"/>
            <a:ext cx="1350000" cy="720000"/>
          </a:xfrm>
          <a:prstGeom prst="line">
            <a:avLst/>
          </a:prstGeom>
          <a:ln w="25400">
            <a:solidFill>
              <a:srgbClr val="013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