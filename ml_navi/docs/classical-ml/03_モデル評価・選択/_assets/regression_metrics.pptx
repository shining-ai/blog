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回帰評価指標 — MAE・MSE・RMSE・R²と残差プロット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368000"/>
            <a:ext cx="11520000" cy="10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評価指標の比較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088000"/>
            <a:ext cx="1116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2124000"/>
            <a:ext cx="111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指標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0000" y="2088000"/>
            <a:ext cx="3132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80000" y="2124000"/>
            <a:ext cx="3132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数式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20000" y="2088000"/>
            <a:ext cx="1116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0000" y="2124000"/>
            <a:ext cx="111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単位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80000" y="2088000"/>
            <a:ext cx="1476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0" y="2124000"/>
            <a:ext cx="14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外れ値感度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0000" y="2088000"/>
            <a:ext cx="3744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0000" y="2124000"/>
            <a:ext cx="374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解釈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2700000"/>
            <a:ext cx="1116000" cy="11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000" y="2808000"/>
            <a:ext cx="1044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MAE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0000" y="2700000"/>
            <a:ext cx="3132000" cy="11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5999" y="2808000"/>
            <a:ext cx="306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Σ|yᵢ-ŷᵢ|/n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0000" y="2700000"/>
            <a:ext cx="1116000" cy="11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6000" y="2808000"/>
            <a:ext cx="1044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目的変数
と同じ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80000" y="2700000"/>
            <a:ext cx="1476000" cy="11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6000" y="2808000"/>
            <a:ext cx="1404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B050"/>
                </a:solidFill>
              </a:rPr>
              <a:t>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00000" y="2700000"/>
            <a:ext cx="3744000" cy="11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6000" y="2808000"/>
            <a:ext cx="3671999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予測誤差の
平均絶対値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" y="3960000"/>
            <a:ext cx="1116000" cy="11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000" y="4068000"/>
            <a:ext cx="1044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MSE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0000" y="3960000"/>
            <a:ext cx="3132000" cy="11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5999" y="4068000"/>
            <a:ext cx="306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Σ(yᵢ-ŷᵢ)²/n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20000" y="3960000"/>
            <a:ext cx="1116000" cy="11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6000" y="4068000"/>
            <a:ext cx="1044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目的変数²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80000" y="3960000"/>
            <a:ext cx="1476000" cy="11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6000" y="4068000"/>
            <a:ext cx="1404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0000"/>
                </a:solidFill>
              </a:rPr>
              <a:t>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00000" y="3960000"/>
            <a:ext cx="3744000" cy="11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6000" y="4068000"/>
            <a:ext cx="3671999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二乗誤差の
平均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0000" y="5220000"/>
            <a:ext cx="1116000" cy="11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6000" y="5328000"/>
            <a:ext cx="1044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RMSE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80000" y="5220000"/>
            <a:ext cx="3132000" cy="11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15999" y="5328000"/>
            <a:ext cx="306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√MSE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20000" y="5220000"/>
            <a:ext cx="1116000" cy="11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6000" y="5328000"/>
            <a:ext cx="1044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目的変数
と同じ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80000" y="5220000"/>
            <a:ext cx="1476000" cy="11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6000" y="5328000"/>
            <a:ext cx="1404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0000"/>
                </a:solidFill>
              </a:rPr>
              <a:t>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00000" y="5220000"/>
            <a:ext cx="3744000" cy="11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6000" y="5328000"/>
            <a:ext cx="3671999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MSEの
ルート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0000" y="6480000"/>
            <a:ext cx="1116000" cy="11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6000" y="6588000"/>
            <a:ext cx="1044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R²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80000" y="6480000"/>
            <a:ext cx="3132000" cy="11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15999" y="6588000"/>
            <a:ext cx="306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1-SS_res/SS_tot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20000" y="6480000"/>
            <a:ext cx="1116000" cy="11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56000" y="6588000"/>
            <a:ext cx="1044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なし
(0〜1)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80000" y="6480000"/>
            <a:ext cx="1476000" cy="11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16000" y="6588000"/>
            <a:ext cx="1404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BA81A"/>
                </a:solidFill>
              </a:rPr>
              <a:t>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00000" y="6480000"/>
            <a:ext cx="3744000" cy="11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36000" y="6588000"/>
            <a:ext cx="3671999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分散の説明率
(1が完全)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0000" y="7740000"/>
            <a:ext cx="1116000" cy="11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6000" y="7848000"/>
            <a:ext cx="1044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Adj.R²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80000" y="7740000"/>
            <a:ext cx="3132000" cy="11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15999" y="7848000"/>
            <a:ext cx="306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1-(1-R²)(n-1)
/(n-p-1)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20000" y="7740000"/>
            <a:ext cx="1116000" cy="11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56000" y="7848000"/>
            <a:ext cx="1044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なし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80000" y="7740000"/>
            <a:ext cx="1476000" cy="11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16000" y="7848000"/>
            <a:ext cx="1404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BA81A"/>
                </a:solidFill>
              </a:rPr>
              <a:t>中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00000" y="7740000"/>
            <a:ext cx="3744000" cy="11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36000" y="7848000"/>
            <a:ext cx="3671999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特徴量数を
考慮したR²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420000" y="1368000"/>
            <a:ext cx="8460000" cy="61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420000" y="1440000"/>
            <a:ext cx="84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残差プロット概念図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3140000" y="2340000"/>
            <a:ext cx="0" cy="46800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3140000" y="7020000"/>
            <a:ext cx="73800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5840000" y="7272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予測値 ŷ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420000" y="4140000"/>
            <a:ext cx="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残差
(y-ŷ)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3140000" y="4680000"/>
            <a:ext cx="7380000" cy="0"/>
          </a:xfrm>
          <a:prstGeom prst="line">
            <a:avLst/>
          </a:prstGeom>
          <a:ln w="190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9440000" y="4392000"/>
            <a:ext cx="12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</a:rPr>
              <a:t>残差=0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87999" y="4248000"/>
            <a:ext cx="180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4327999" y="5148000"/>
            <a:ext cx="180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4867999" y="4068000"/>
            <a:ext cx="180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5407999" y="5328000"/>
            <a:ext cx="180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5947999" y="4428000"/>
            <a:ext cx="180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6487999" y="3708000"/>
            <a:ext cx="180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7028000" y="4968000"/>
            <a:ext cx="180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7568000" y="4248000"/>
            <a:ext cx="180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8108000" y="4896000"/>
            <a:ext cx="180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8648000" y="4176000"/>
            <a:ext cx="180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9188000" y="5040000"/>
            <a:ext cx="180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5840000" y="252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B050"/>
                </a:solidFill>
              </a:rPr>
              <a:t>良好な残差
（ランダム分布）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140000" y="748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0000"/>
                </a:solidFill>
              </a:rPr>
              <a:t>要注意パターン: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140000" y="7848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・ファネル形状 → 分散不均一
・曲線状 → 非線形性あり
・外れ値 → 影響大きなデータ点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2420000" y="7740000"/>
            <a:ext cx="8460000" cy="36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420000" y="7812000"/>
            <a:ext cx="84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MAE vs MSE — 外れ値の影響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600000" y="8460000"/>
            <a:ext cx="504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例: 残差 = [1, 2, 1, 10]
MAE = (1+2+1+10)/4 = 3.5
MSE = (1+4+1+100)/4 = 26.5
RMSE = √26.5 ≈ 5.15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180000" y="8460000"/>
            <a:ext cx="2520000" cy="12600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8180000" y="8460000"/>
            <a:ext cx="25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0000"/>
                </a:solidFill>
              </a:rPr>
              <a:t>外れ値の影響
MAE: ×2.5倍
MSE: ×24倍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8180000" y="9900000"/>
            <a:ext cx="2520000" cy="1260000"/>
          </a:xfrm>
          <a:prstGeom prst="rect">
            <a:avLst/>
          </a:prstGeom>
          <a:solidFill>
            <a:srgbClr val="F0FFF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600000" y="9900000"/>
            <a:ext cx="81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使い分け
MAE: 外れ値に
    ロバストにしたい時
MSE/RMSE: 大誤差を
    重視したい時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