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ハイパーパラメータ探索戦略の比較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68000"/>
            <a:ext cx="6660000" cy="90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999" y="1440000"/>
            <a:ext cx="6443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グリッドサーチ
(Grid Search)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2448000"/>
            <a:ext cx="63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7236000"/>
            <a:ext cx="63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パラメータ1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999" y="2520000"/>
            <a:ext cx="54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パ
ラ
メ
ー
タ
2
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0000" y="2448000"/>
            <a:ext cx="0" cy="4860000"/>
          </a:xfrm>
          <a:prstGeom prst="line">
            <a:avLst/>
          </a:prstGeom>
          <a:ln w="63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20000" y="2448000"/>
            <a:ext cx="0" cy="4860000"/>
          </a:xfrm>
          <a:prstGeom prst="line">
            <a:avLst/>
          </a:prstGeom>
          <a:ln w="63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80000" y="2448000"/>
            <a:ext cx="0" cy="4860000"/>
          </a:xfrm>
          <a:prstGeom prst="line">
            <a:avLst/>
          </a:prstGeom>
          <a:ln w="63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0000" y="2448000"/>
            <a:ext cx="0" cy="4860000"/>
          </a:xfrm>
          <a:prstGeom prst="line">
            <a:avLst/>
          </a:prstGeom>
          <a:ln w="63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0000" y="3420000"/>
            <a:ext cx="6300000" cy="0"/>
          </a:xfrm>
          <a:prstGeom prst="line">
            <a:avLst/>
          </a:prstGeom>
          <a:ln w="63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0000" y="4392000"/>
            <a:ext cx="6300000" cy="0"/>
          </a:xfrm>
          <a:prstGeom prst="line">
            <a:avLst/>
          </a:prstGeom>
          <a:ln w="63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0000" y="5364000"/>
            <a:ext cx="6300000" cy="0"/>
          </a:xfrm>
          <a:prstGeom prst="line">
            <a:avLst/>
          </a:prstGeom>
          <a:ln w="63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0000" y="6336000"/>
            <a:ext cx="6300000" cy="0"/>
          </a:xfrm>
          <a:prstGeom prst="line">
            <a:avLst/>
          </a:prstGeom>
          <a:ln w="63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512000" y="277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12000" y="3563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12000" y="4356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12000" y="5148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2000" y="5940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20000" y="277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20000" y="3563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0000" y="4356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20000" y="5148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20000" y="5940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7999" y="277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7999" y="3563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27999" y="4356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27999" y="5148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27999" y="5940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35999" y="277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35999" y="3563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35999" y="4356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35999" y="5148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35999" y="5940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43999" y="2772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43999" y="3563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43999" y="4356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43999" y="5148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43999" y="5940000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72000" y="5868000"/>
            <a:ext cx="396000" cy="39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80000" y="6300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0000"/>
                </a:solidFill>
              </a:rPr>
              <a:t>最良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99" y="7560000"/>
            <a:ext cx="6443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全組み合わせを網羅的に探索
確実だが計算コストが高い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999" y="9180000"/>
            <a:ext cx="6443999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999" y="9252000"/>
            <a:ext cx="64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計算量: O(n^k)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40000" y="1368000"/>
            <a:ext cx="6660000" cy="90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8000" y="1440000"/>
            <a:ext cx="6443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050"/>
                </a:solidFill>
              </a:rPr>
              <a:t>ランダムサーチ
(Random Search)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20000" y="2448000"/>
            <a:ext cx="63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20000" y="7236000"/>
            <a:ext cx="63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パラメータ1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000" y="2520000"/>
            <a:ext cx="54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パ
ラ
メ
ー
タ
2
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36000" y="37224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656800" y="3405599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46400" y="55440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765600" y="44352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052000" y="6335999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38400" y="59400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362400" y="39600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41600" y="49896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3068000" y="57816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48000" y="3563999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060000" y="60984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34400" y="51480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3370400" y="3167999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44000" y="65736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556000" y="4752000"/>
            <a:ext cx="251999" cy="251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996000" y="5709600"/>
            <a:ext cx="396000" cy="39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104000" y="61416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0000"/>
                </a:solidFill>
              </a:rPr>
              <a:t>最良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48000" y="7560000"/>
            <a:ext cx="6443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ランダムにサンプリングして探索
効率的・重要パラメータに集中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48000" y="9180000"/>
            <a:ext cx="6443999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48000" y="9252000"/>
            <a:ext cx="64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計算量: O(n) (n=試行回数)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760000" y="1368000"/>
            <a:ext cx="6660000" cy="90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867999" y="1440000"/>
            <a:ext cx="6443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ベイズ最適化
(Bayesian Opt.)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940000" y="2448000"/>
            <a:ext cx="63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940000" y="7236000"/>
            <a:ext cx="63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パラメータ1 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047999" y="2520000"/>
            <a:ext cx="54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パ
ラ
メ
ー
タ
2
↑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560000" y="3960000"/>
            <a:ext cx="251999" cy="251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560000" y="3852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576000" y="3960000"/>
            <a:ext cx="251999" cy="251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576000" y="3852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576000" y="5544000"/>
            <a:ext cx="251999" cy="251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576000" y="5436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088000" y="5148000"/>
            <a:ext cx="251999" cy="251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088000" y="504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088000" y="6335999"/>
            <a:ext cx="251999" cy="251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088000" y="6227999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7568000" y="6335999"/>
            <a:ext cx="251999" cy="251999"/>
          </a:xfrm>
          <a:prstGeom prst="rect">
            <a:avLst/>
          </a:prstGeom>
          <a:solidFill>
            <a:srgbClr val="EB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568000" y="6227999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056000" y="5940000"/>
            <a:ext cx="251999" cy="251999"/>
          </a:xfrm>
          <a:prstGeom prst="rect">
            <a:avLst/>
          </a:prstGeom>
          <a:solidFill>
            <a:srgbClr val="EB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056000" y="5832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382400" y="5940000"/>
            <a:ext cx="251999" cy="251999"/>
          </a:xfrm>
          <a:prstGeom prst="rect">
            <a:avLst/>
          </a:prstGeom>
          <a:solidFill>
            <a:srgbClr val="EB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382400" y="5832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390400" y="4356000"/>
            <a:ext cx="251999" cy="251999"/>
          </a:xfrm>
          <a:prstGeom prst="rect">
            <a:avLst/>
          </a:prstGeom>
          <a:solidFill>
            <a:srgbClr val="EB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390400" y="4248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072000" y="4752000"/>
            <a:ext cx="251999" cy="251999"/>
          </a:xfrm>
          <a:prstGeom prst="rect">
            <a:avLst/>
          </a:prstGeom>
          <a:solidFill>
            <a:srgbClr val="EB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072000" y="4644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016000" y="6263999"/>
            <a:ext cx="396000" cy="39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124000" y="6695999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0000"/>
                </a:solidFill>
              </a:rPr>
              <a:t>最良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867999" y="7560000"/>
            <a:ext cx="6443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事前評価を基に次の探索点を選択
効率的な探索（獲得関数）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867999" y="9180000"/>
            <a:ext cx="6443999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867999" y="9252000"/>
            <a:ext cx="64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計算量: O(n³) per step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0000" y="10620000"/>
            <a:ext cx="198504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0000" y="10800000"/>
            <a:ext cx="1949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</a:rPr>
              <a:t>使い分け: パラメータ数が少ない → グリッドサーチ  |  パラメータ数が多い → ランダムサーチ  |  評価コストが高い → ベイズ最適化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