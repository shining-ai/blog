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620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44000"/>
            <a:ext cx="18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eiryo UI"/>
              </a:rPr>
              <a:t>微分と勾配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19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E4FC"/>
                </a:solidFill>
                <a:latin typeface="Meiryo UI"/>
              </a:rPr>
              <a:t>Derivatives &amp; Gradients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620000"/>
            <a:ext cx="21290400" cy="54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1872000"/>
            <a:ext cx="9360000" cy="86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000" y="1944000"/>
            <a:ext cx="914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  <a:latin typeface="Meiryo UI"/>
              </a:rPr>
              <a:t>勾配ベクトル場（等高線 + 勾配方向）</a:t>
            </a:r>
          </a:p>
        </p:txBody>
      </p:sp>
      <p:sp>
        <p:nvSpPr>
          <p:cNvPr id="9" name="Oval 8"/>
          <p:cNvSpPr/>
          <p:nvPr/>
        </p:nvSpPr>
        <p:spPr>
          <a:xfrm>
            <a:off x="4680000" y="6192000"/>
            <a:ext cx="1080000" cy="720000"/>
          </a:xfrm>
          <a:prstGeom prst="ellipse">
            <a:avLst/>
          </a:prstGeom>
          <a:noFill/>
          <a:ln w="2286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30000" y="5922000"/>
            <a:ext cx="1980000" cy="1260000"/>
          </a:xfrm>
          <a:prstGeom prst="ellipse">
            <a:avLst/>
          </a:prstGeom>
          <a:noFill/>
          <a:ln w="22860">
            <a:solidFill>
              <a:srgbClr val="026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90000" y="5562000"/>
            <a:ext cx="3060000" cy="1980000"/>
          </a:xfrm>
          <a:prstGeom prst="ellipse">
            <a:avLst/>
          </a:prstGeom>
          <a:noFill/>
          <a:ln w="22860">
            <a:solidFill>
              <a:srgbClr val="5BB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50000" y="5202000"/>
            <a:ext cx="4140000" cy="2700000"/>
          </a:xfrm>
          <a:prstGeom prst="ellipse">
            <a:avLst/>
          </a:prstGeom>
          <a:noFill/>
          <a:ln w="2286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5220000.0" y="5220000.0"/>
            <a:ext cx="0.0" cy="792000.0"/>
          </a:xfrm>
          <a:prstGeom prst="line">
            <a:avLst/>
          </a:prstGeom>
          <a:ln w="279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598000.0" y="5619600.0"/>
            <a:ext cx="554400.0" cy="554400.0"/>
          </a:xfrm>
          <a:prstGeom prst="line">
            <a:avLst/>
          </a:prstGeom>
          <a:ln w="279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000.0" y="6552000.0"/>
            <a:ext cx="792000.0" cy="0.0"/>
          </a:xfrm>
          <a:prstGeom prst="line">
            <a:avLst/>
          </a:prstGeom>
          <a:ln w="279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98000.0" y="6930000.0"/>
            <a:ext cx="554400.0" cy="554400.0"/>
          </a:xfrm>
          <a:prstGeom prst="line">
            <a:avLst/>
          </a:prstGeom>
          <a:ln w="279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888000.0" y="6552000.0"/>
            <a:ext cx="792000.0" cy="0.0"/>
          </a:xfrm>
          <a:prstGeom prst="line">
            <a:avLst/>
          </a:prstGeom>
          <a:ln w="279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4287600.0" y="5619600.0"/>
            <a:ext cx="554400.0" cy="554400.0"/>
          </a:xfrm>
          <a:prstGeom prst="line">
            <a:avLst/>
          </a:prstGeom>
          <a:ln w="279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80000" y="6300001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  <a:latin typeface="Meiryo UI"/>
              </a:rPr>
              <a:t>∇f(x,y)</a:t>
            </a:r>
          </a:p>
        </p:txBody>
      </p:sp>
      <p:sp>
        <p:nvSpPr>
          <p:cNvPr id="20" name="Oval 19"/>
          <p:cNvSpPr/>
          <p:nvPr/>
        </p:nvSpPr>
        <p:spPr>
          <a:xfrm>
            <a:off x="5094001" y="6426001"/>
            <a:ext cx="251999" cy="251999"/>
          </a:xfrm>
          <a:prstGeom prst="ellipse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8000" y="6264000"/>
            <a:ext cx="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BA81A"/>
                </a:solidFill>
                <a:latin typeface="Meiryo UI"/>
              </a:rPr>
              <a:t>最小値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8000" y="6408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Meiryo UI"/>
              </a:rPr>
              <a:t>x₁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0000" y="22320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Meiryo UI"/>
              </a:rPr>
              <a:t>x₂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4000" y="8532000"/>
            <a:ext cx="90720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000" y="8604000"/>
            <a:ext cx="892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  <a:latin typeface="Meiryo UI"/>
              </a:rPr>
              <a:t>∇f(x) = [∂f/∂x₁, ∂f/∂x₂, ..., ∂f/∂xₙ]ᵀ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000" y="9072000"/>
            <a:ext cx="8928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 UI"/>
              </a:rPr>
              <a:t>• 勾配は関数の最も急な上昇方向を示す
• 勾配降下法では負の勾配方向へ移動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20000" y="1872000"/>
            <a:ext cx="10080000" cy="86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8000" y="1944000"/>
            <a:ext cx="9864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13CA6"/>
                </a:solidFill>
                <a:latin typeface="Meiryo UI"/>
              </a:rPr>
              <a:t>連鎖律（Chain Rule）のブロック図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4000" y="2772000"/>
            <a:ext cx="1980000" cy="576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4000" y="2808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394000.0" y="3060000.0"/>
            <a:ext cx="648000.0" cy="0.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2042000" y="2772000"/>
            <a:ext cx="1980000" cy="576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42000" y="2808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f(x)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022000.0" y="3060000.0"/>
            <a:ext cx="648000.0" cy="0.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4670000" y="2772000"/>
            <a:ext cx="1980000" cy="576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670000" y="2808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g(f(x))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6650000.0" y="3060000.0"/>
            <a:ext cx="648000.0" cy="0.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7298000" y="2772000"/>
            <a:ext cx="1980000" cy="576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298000" y="2808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h(g(f(x)))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278000.0" y="3060000.0"/>
            <a:ext cx="648000.0" cy="0.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9926000" y="2772000"/>
            <a:ext cx="1980000" cy="576000"/>
          </a:xfrm>
          <a:prstGeom prst="rect">
            <a:avLst/>
          </a:prstGeom>
          <a:solidFill>
            <a:srgbClr val="EBA8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926000" y="2808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Meiryo UI"/>
              </a:rPr>
              <a:t>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00" y="3456000"/>
            <a:ext cx="9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50"/>
                </a:solidFill>
                <a:latin typeface="Meiryo UI"/>
              </a:rPr>
              <a:t>順伝播 (Forward Pass) 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4000" y="3996000"/>
            <a:ext cx="1980000" cy="576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4000" y="4032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dx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11394000.0" y="4284000.0"/>
            <a:ext cx="648000.0" cy="0.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2042000" y="3996000"/>
            <a:ext cx="1980000" cy="576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42000" y="4032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df/dx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4022000.0" y="4284000.0"/>
            <a:ext cx="648000.0" cy="0.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4670000" y="3996000"/>
            <a:ext cx="1980000" cy="576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670000" y="4032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dg/df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16650000.0" y="4284000.0"/>
            <a:ext cx="648000.0" cy="0.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7298000" y="3996000"/>
            <a:ext cx="1980000" cy="576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298000" y="4032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dh/dg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19278000.0" y="4284000.0"/>
            <a:ext cx="648000.0" cy="0.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9926000" y="3996000"/>
            <a:ext cx="1980000" cy="576000"/>
          </a:xfrm>
          <a:prstGeom prst="rect">
            <a:avLst/>
          </a:prstGeom>
          <a:solidFill>
            <a:srgbClr val="FF0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926000" y="4032000"/>
            <a:ext cx="1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eiryo UI"/>
              </a:rPr>
              <a:t>dL/dh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00000" y="4680000"/>
            <a:ext cx="97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0000"/>
                </a:solidFill>
                <a:latin typeface="Meiryo UI"/>
              </a:rPr>
              <a:t>← 逆伝播 (Backpropagation)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764000" y="5112000"/>
            <a:ext cx="9792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836000" y="5184000"/>
            <a:ext cx="9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13CA6"/>
                </a:solidFill>
                <a:latin typeface="Meiryo UI"/>
              </a:rPr>
              <a:t>連鎖律の公式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36000" y="5472000"/>
            <a:ext cx="96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1A2E"/>
                </a:solidFill>
                <a:latin typeface="Meiryo UI"/>
              </a:rPr>
              <a:t>∂L/∂x = (∂L/∂h) · (∂h/∂g) · (∂g/∂f) · (∂f/∂x)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36000" y="5832000"/>
            <a:ext cx="9648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Meiryo UI"/>
              </a:rPr>
              <a:t>• ニューラルネットワークの学習の基盤
• 各層の勾配を効率的に計算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0000" y="10656000"/>
            <a:ext cx="5052600" cy="1368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0000" y="10728000"/>
            <a:ext cx="5052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偏微分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0000" y="11052000"/>
            <a:ext cx="5052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E4FC"/>
                </a:solidFill>
                <a:latin typeface="Meiryo UI"/>
              </a:rPr>
              <a:t>各変数に対する微分
∂f/∂xᵢ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700600" y="10656000"/>
            <a:ext cx="5052600" cy="1368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00600" y="10728000"/>
            <a:ext cx="5052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勾配ベクトル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00600" y="11052000"/>
            <a:ext cx="5052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E4FC"/>
                </a:solidFill>
                <a:latin typeface="Meiryo UI"/>
              </a:rPr>
              <a:t>全偏微分をまとめた
ベクトル ∇f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61200" y="10656000"/>
            <a:ext cx="5052600" cy="1368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861200" y="10728000"/>
            <a:ext cx="5052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方向微分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61200" y="11052000"/>
            <a:ext cx="5052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E4FC"/>
                </a:solidFill>
                <a:latin typeface="Meiryo UI"/>
              </a:rPr>
              <a:t>特定方向への
変化率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021800" y="10656000"/>
            <a:ext cx="5052600" cy="1368000"/>
          </a:xfrm>
          <a:prstGeom prst="rect">
            <a:avLst/>
          </a:prstGeom>
          <a:solidFill>
            <a:srgbClr val="013CA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6021800" y="10728000"/>
            <a:ext cx="5052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</a:rPr>
              <a:t>ヤコビアン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021800" y="11052000"/>
            <a:ext cx="50526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DE4FC"/>
                </a:solidFill>
                <a:latin typeface="Meiryo UI"/>
              </a:rPr>
              <a:t>多次元の
微分行列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