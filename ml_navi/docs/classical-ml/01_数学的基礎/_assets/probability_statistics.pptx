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8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確率と統計の基礎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72000"/>
            <a:ext cx="19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E4FC"/>
                </a:solidFill>
                <a:latin typeface="Meiryo UI"/>
              </a:rPr>
              <a:t>Probability &amp;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20000"/>
            <a:ext cx="21290400" cy="54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872000"/>
            <a:ext cx="1962000" cy="720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1908000"/>
            <a:ext cx="190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分布名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0000" y="1872000"/>
            <a:ext cx="1602000" cy="720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6000" y="1908000"/>
            <a:ext cx="15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パラメータ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0000" y="1872000"/>
            <a:ext cx="3942000" cy="720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6000" y="1908000"/>
            <a:ext cx="38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確率密度/質量関数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0000" y="1872000"/>
            <a:ext cx="1242000" cy="720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6000" y="1908000"/>
            <a:ext cx="11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60000" y="1872000"/>
            <a:ext cx="2322000" cy="720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6000" y="1908000"/>
            <a:ext cx="226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分散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700000" y="1872000"/>
            <a:ext cx="1962000" cy="720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36000" y="1908000"/>
            <a:ext cx="190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主な用途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2592000"/>
            <a:ext cx="196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0" y="261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13CA6"/>
                </a:solidFill>
                <a:latin typeface="Meiryo UI"/>
              </a:rPr>
              <a:t>正規分布
N(μ,σ²)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20000" y="2592000"/>
            <a:ext cx="160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56000" y="2610000"/>
            <a:ext cx="15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μ,σ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40000" y="2592000"/>
            <a:ext cx="394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6000" y="2610000"/>
            <a:ext cx="38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1/(σ√2π)·exp(-½((x-μ)/σ)²)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00000" y="2592000"/>
            <a:ext cx="124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6000" y="2610000"/>
            <a:ext cx="11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60000" y="2592000"/>
            <a:ext cx="232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6000" y="2610000"/>
            <a:ext cx="226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σ²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700000" y="2592000"/>
            <a:ext cx="196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36000" y="261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連続データ
誤差モデル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3312000"/>
            <a:ext cx="196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00" y="333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13CA6"/>
                </a:solidFill>
                <a:latin typeface="Meiryo UI"/>
              </a:rPr>
              <a:t>ベルヌーイ
Ber(p)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20000" y="3312000"/>
            <a:ext cx="160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56000" y="3330000"/>
            <a:ext cx="15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000" y="3312000"/>
            <a:ext cx="394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6000" y="3330000"/>
            <a:ext cx="38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pˣ(1-p)^(1-x)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00000" y="3312000"/>
            <a:ext cx="124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6000" y="3330000"/>
            <a:ext cx="11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60000" y="3312000"/>
            <a:ext cx="232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96000" y="3330000"/>
            <a:ext cx="226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p(1-p)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700000" y="3312000"/>
            <a:ext cx="196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736000" y="333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2値分類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0000" y="4032000"/>
            <a:ext cx="196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00" y="405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13CA6"/>
                </a:solidFill>
                <a:latin typeface="Meiryo UI"/>
              </a:rPr>
              <a:t>二項分布
Bin(n,p)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20000" y="4032000"/>
            <a:ext cx="160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56000" y="4050000"/>
            <a:ext cx="15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n,p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40000" y="4032000"/>
            <a:ext cx="394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76000" y="4050000"/>
            <a:ext cx="38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C(n,k)pᵏ(1-p)^(n-k)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00000" y="4032000"/>
            <a:ext cx="124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6000" y="4050000"/>
            <a:ext cx="11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np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60000" y="4032000"/>
            <a:ext cx="232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96000" y="4050000"/>
            <a:ext cx="226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np(1-p)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700000" y="4032000"/>
            <a:ext cx="196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736000" y="405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成功回数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0000" y="4752000"/>
            <a:ext cx="196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00" y="477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13CA6"/>
                </a:solidFill>
                <a:latin typeface="Meiryo UI"/>
              </a:rPr>
              <a:t>ポアソン
Pois(λ)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20000" y="4752000"/>
            <a:ext cx="160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56000" y="4770000"/>
            <a:ext cx="15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40000" y="4752000"/>
            <a:ext cx="394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76000" y="4770000"/>
            <a:ext cx="38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λᵏe^(-λ)/k!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00000" y="4752000"/>
            <a:ext cx="124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36000" y="4770000"/>
            <a:ext cx="11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λ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60000" y="4752000"/>
            <a:ext cx="232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96000" y="4770000"/>
            <a:ext cx="226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λ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700000" y="4752000"/>
            <a:ext cx="196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736000" y="477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イベント発生数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0000" y="5472000"/>
            <a:ext cx="196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6000" y="549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13CA6"/>
                </a:solidFill>
                <a:latin typeface="Meiryo UI"/>
              </a:rPr>
              <a:t>一様分布
U(a,b)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20000" y="5472000"/>
            <a:ext cx="160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56000" y="5490000"/>
            <a:ext cx="15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a,b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40000" y="5472000"/>
            <a:ext cx="394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76000" y="5490000"/>
            <a:ext cx="38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1/(b-a)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00000" y="5472000"/>
            <a:ext cx="124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36000" y="5490000"/>
            <a:ext cx="11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(a+b)/2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60000" y="5472000"/>
            <a:ext cx="232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96000" y="5490000"/>
            <a:ext cx="226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(b-a)²/12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700000" y="5472000"/>
            <a:ext cx="1962000" cy="720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736000" y="549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乱数生成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0000" y="6192000"/>
            <a:ext cx="196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76000" y="621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13CA6"/>
                </a:solidFill>
                <a:latin typeface="Meiryo UI"/>
              </a:rPr>
              <a:t>ベータ
Beta(α,β)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20000" y="6192000"/>
            <a:ext cx="160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556000" y="6210000"/>
            <a:ext cx="15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α,β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40000" y="6192000"/>
            <a:ext cx="394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76000" y="6210000"/>
            <a:ext cx="38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x^(α-1)(1-x)^(β-1)/B(α,β)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00000" y="6192000"/>
            <a:ext cx="124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36000" y="6210000"/>
            <a:ext cx="11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α/(α+β)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60000" y="6192000"/>
            <a:ext cx="232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96000" y="6210000"/>
            <a:ext cx="226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αβ/(α+β)²(α+β+1)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700000" y="6192000"/>
            <a:ext cx="1962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736000" y="6210000"/>
            <a:ext cx="19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事前分布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0000" y="7092000"/>
            <a:ext cx="20210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  <a:latin typeface="Meiryo UI"/>
              </a:rPr>
              <a:t>ベイズの定理  P(A|B) = P(B|A)·P(A) / P(B)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93200" y="7524000"/>
            <a:ext cx="3960000" cy="1368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293200" y="7596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事前分布
P(θ)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93200" y="7956000"/>
            <a:ext cx="396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eiryo UI"/>
              </a:rPr>
              <a:t>モデルパラメータ
θ の事前確率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6253200.0" y="8208000.0"/>
            <a:ext cx="288000.0" cy="0.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6541200" y="7524000"/>
            <a:ext cx="3960000" cy="13680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41200" y="7596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尤度
P(D|θ)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41200" y="7956000"/>
            <a:ext cx="396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eiryo UI"/>
              </a:rPr>
              <a:t>データ D が
得られる確率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0501200.0" y="8208000.0"/>
            <a:ext cx="288000.0" cy="0.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10789200" y="7524000"/>
            <a:ext cx="3960000" cy="1368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789200" y="7596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事後分布
P(θ|D)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789200" y="7956000"/>
            <a:ext cx="396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eiryo UI"/>
              </a:rPr>
              <a:t>データを見た後の
θ の確率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05200" y="900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  <a:latin typeface="Meiryo UI"/>
              </a:rPr>
              <a:t>÷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85200" y="9324000"/>
            <a:ext cx="3960000" cy="900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685200" y="9396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Meiryo UI"/>
              </a:rPr>
              <a:t>P(D)  周辺尤度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85200" y="9684000"/>
            <a:ext cx="39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正規化定数（定数として扱う）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