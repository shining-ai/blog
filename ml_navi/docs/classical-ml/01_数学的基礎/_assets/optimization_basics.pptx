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最適化の基礎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Optimization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872000"/>
            <a:ext cx="9720000" cy="79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944000"/>
            <a:ext cx="95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  <a:latin typeface="Meiryo UI"/>
              </a:rPr>
              <a:t>SGD（確率的勾配降下法）</a:t>
            </a:r>
          </a:p>
        </p:txBody>
      </p:sp>
      <p:sp>
        <p:nvSpPr>
          <p:cNvPr id="9" name="Oval 8"/>
          <p:cNvSpPr/>
          <p:nvPr/>
        </p:nvSpPr>
        <p:spPr>
          <a:xfrm>
            <a:off x="1620000" y="1872000"/>
            <a:ext cx="7559999" cy="5400000"/>
          </a:xfrm>
          <a:prstGeom prst="ellipse">
            <a:avLst/>
          </a:prstGeom>
          <a:noFill/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28000" y="2592000"/>
            <a:ext cx="5544000" cy="3960000"/>
          </a:xfrm>
          <a:prstGeom prst="ellipse">
            <a:avLst/>
          </a:prstGeom>
          <a:noFill/>
          <a:ln w="19050">
            <a:solidFill>
              <a:srgbClr val="5BB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6000" y="3312000"/>
            <a:ext cx="3528000" cy="2520000"/>
          </a:xfrm>
          <a:prstGeom prst="ellipse">
            <a:avLst/>
          </a:prstGeom>
          <a:noFill/>
          <a:ln w="190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4000" y="4032000"/>
            <a:ext cx="1512000" cy="1080000"/>
          </a:xfrm>
          <a:prstGeom prst="ellipse">
            <a:avLst/>
          </a:prstGeom>
          <a:noFill/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420000.0" y="3312000"/>
            <a:ext cx="612000.0" cy="72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888000.0" y="4032000"/>
            <a:ext cx="144000.0" cy="72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88000.0" y="4752000"/>
            <a:ext cx="792000.0" cy="18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500000.0" y="4284000"/>
            <a:ext cx="180000.0" cy="648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00000.0" y="4284000"/>
            <a:ext cx="612000.0" cy="18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12000.0" y="4464000"/>
            <a:ext cx="216000.0" cy="18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28000.0" y="4572000"/>
            <a:ext cx="72000.0" cy="72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312000" y="3204000"/>
            <a:ext cx="216000" cy="216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0000" y="298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0000"/>
                </a:solidFill>
                <a:latin typeface="Meiryo UI"/>
              </a:rPr>
              <a:t>開始</a:t>
            </a:r>
          </a:p>
        </p:txBody>
      </p:sp>
      <p:sp>
        <p:nvSpPr>
          <p:cNvPr id="22" name="Oval 21"/>
          <p:cNvSpPr/>
          <p:nvPr/>
        </p:nvSpPr>
        <p:spPr>
          <a:xfrm>
            <a:off x="5274001" y="4446001"/>
            <a:ext cx="251999" cy="251999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72000" y="4320001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BA81A"/>
                </a:solidFill>
                <a:latin typeface="Meiryo UI"/>
              </a:rPr>
              <a:t>最小値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000" y="7272000"/>
            <a:ext cx="9432000" cy="2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000" y="7344000"/>
            <a:ext cx="9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  <a:latin typeface="Meiryo UI"/>
              </a:rPr>
              <a:t>更新式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000" y="7596000"/>
            <a:ext cx="92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Meiryo UI"/>
              </a:rPr>
              <a:t>θ ← θ - η · ∇L(θ; xᵢ)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000" y="7920000"/>
            <a:ext cx="9288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 UI"/>
              </a:rPr>
              <a:t>• ランダムサンプル1件(またはミニバッチ)で更新
• 振動が大きいが計算が速い
• 学習率 η の選択が重要
• 鞍点から脱出しやすい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80000" y="1872000"/>
            <a:ext cx="9720000" cy="79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88000" y="1944000"/>
            <a:ext cx="95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  <a:latin typeface="Meiryo UI"/>
              </a:rPr>
              <a:t>Adam（適応的モーメント推定）</a:t>
            </a:r>
          </a:p>
        </p:txBody>
      </p:sp>
      <p:sp>
        <p:nvSpPr>
          <p:cNvPr id="30" name="Oval 29"/>
          <p:cNvSpPr/>
          <p:nvPr/>
        </p:nvSpPr>
        <p:spPr>
          <a:xfrm>
            <a:off x="12060000" y="1872000"/>
            <a:ext cx="7559999" cy="5400000"/>
          </a:xfrm>
          <a:prstGeom prst="ellipse">
            <a:avLst/>
          </a:prstGeom>
          <a:noFill/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068000" y="2592000"/>
            <a:ext cx="5544000" cy="3960000"/>
          </a:xfrm>
          <a:prstGeom prst="ellipse">
            <a:avLst/>
          </a:prstGeom>
          <a:noFill/>
          <a:ln w="19050">
            <a:solidFill>
              <a:srgbClr val="5BB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076000" y="3312000"/>
            <a:ext cx="3528000" cy="2520000"/>
          </a:xfrm>
          <a:prstGeom prst="ellipse">
            <a:avLst/>
          </a:prstGeom>
          <a:noFill/>
          <a:ln w="190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084000" y="4032000"/>
            <a:ext cx="1512000" cy="1080000"/>
          </a:xfrm>
          <a:prstGeom prst="ellipse">
            <a:avLst/>
          </a:prstGeom>
          <a:noFill/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3860000.0" y="3312000"/>
            <a:ext cx="540000.0" cy="36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400000.0" y="3672000"/>
            <a:ext cx="540000.0" cy="36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940000.0" y="4032000"/>
            <a:ext cx="468000.0" cy="288001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5408000.0" y="4320001"/>
            <a:ext cx="324000.0" cy="215999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5732000.0" y="4536000"/>
            <a:ext cx="108000.0" cy="36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3752000" y="3204000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680000" y="298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50"/>
                </a:solidFill>
                <a:latin typeface="Meiryo UI"/>
              </a:rPr>
              <a:t>開始</a:t>
            </a:r>
          </a:p>
        </p:txBody>
      </p:sp>
      <p:sp>
        <p:nvSpPr>
          <p:cNvPr id="41" name="Oval 40"/>
          <p:cNvSpPr/>
          <p:nvPr/>
        </p:nvSpPr>
        <p:spPr>
          <a:xfrm>
            <a:off x="15714001" y="4446001"/>
            <a:ext cx="251999" cy="251999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912000" y="4320001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BA81A"/>
                </a:solidFill>
                <a:latin typeface="Meiryo UI"/>
              </a:rPr>
              <a:t>最小値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24000" y="7272000"/>
            <a:ext cx="9432000" cy="2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96000" y="7344000"/>
            <a:ext cx="9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  <a:latin typeface="Meiryo UI"/>
              </a:rPr>
              <a:t>更新式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24000" y="7596000"/>
            <a:ext cx="943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Meiryo UI"/>
              </a:rPr>
              <a:t>mₜ = β₁mₜ₋₁ + (1-β₁)gₜ  /  vₜ = β₂vₜ₋₁ + (1-β₂)gₜ²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96000" y="7920000"/>
            <a:ext cx="9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Meiryo UI"/>
              </a:rPr>
              <a:t>θ ← θ - η · m̂ₜ / (√v̂ₜ + ε)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96000" y="8244000"/>
            <a:ext cx="9288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 UI"/>
              </a:rPr>
              <a:t>• 1次・2次モーメントを適応的に調整
• SGDより滑らかな収束軌跡
• β₁=0.9, β₂=0.999 が標準
• 多くの問題でデフォルト選択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0000" y="9936000"/>
            <a:ext cx="4006080" cy="540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00" y="9972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手法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82080" y="9936000"/>
            <a:ext cx="4006080" cy="540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8080" y="9972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更新頻度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24160" y="9936000"/>
            <a:ext cx="4006080" cy="540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60160" y="9972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収束速度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666240" y="9936000"/>
            <a:ext cx="4006080" cy="540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02240" y="9972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ハイパーパラメータ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708320" y="9936000"/>
            <a:ext cx="4006080" cy="540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744320" y="9972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推奨用途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0000" y="10512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00" y="10548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SGD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82080" y="10512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18080" y="10548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1サンプル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24160" y="10512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60160" y="10548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遅い/振動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666240" y="10512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702240" y="10548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学習率のみ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708320" y="10512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744320" y="10548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大規模・シンプル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0000" y="11088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00" y="11124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Momentum SGD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82080" y="11088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18080" y="11124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1サンプル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24160" y="11088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60160" y="11124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中程度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666240" y="11088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702240" y="11124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η + β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708320" y="11088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744320" y="11124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汎用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0000" y="11664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6000" y="11700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RMSprop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82080" y="11664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18080" y="11700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1サンプル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24160" y="11664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60160" y="11700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速い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666240" y="11664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702240" y="11700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η + ρ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708320" y="11664000"/>
            <a:ext cx="400608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744320" y="11700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RNN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0000" y="12240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6000" y="12276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Adam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82080" y="12240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18080" y="12276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1サンプル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24160" y="12240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60160" y="12276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速い/安定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666240" y="12240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702240" y="12276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η + β₁,β₂ + ε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708320" y="12240000"/>
            <a:ext cx="400608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6744320" y="12276000"/>
            <a:ext cx="39340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標準的選択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