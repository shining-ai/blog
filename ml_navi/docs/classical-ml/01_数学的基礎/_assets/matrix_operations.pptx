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5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205704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行列演算の視覚化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1368000"/>
            <a:ext cx="9720000" cy="522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68000" y="1475999"/>
            <a:ext cx="95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13CA6"/>
                </a:solidFill>
              </a:rPr>
              <a:t>行列積 (Matrix Multiplication)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2340000"/>
            <a:ext cx="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13CA6"/>
                </a:solidFill>
              </a:rPr>
              <a:t>A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" y="2808000"/>
            <a:ext cx="864000" cy="756000"/>
          </a:xfrm>
          <a:prstGeom prst="rect">
            <a:avLst/>
          </a:prstGeom>
          <a:solidFill>
            <a:srgbClr val="013CA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2808000"/>
            <a:ext cx="8640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1620000" y="2808000"/>
            <a:ext cx="864000" cy="756000"/>
          </a:xfrm>
          <a:prstGeom prst="rect">
            <a:avLst/>
          </a:prstGeom>
          <a:solidFill>
            <a:srgbClr val="013CA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0000" y="2808000"/>
            <a:ext cx="8640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0" y="2808000"/>
            <a:ext cx="864000" cy="756000"/>
          </a:xfrm>
          <a:prstGeom prst="rect">
            <a:avLst/>
          </a:prstGeom>
          <a:solidFill>
            <a:srgbClr val="013CA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20000" y="2808000"/>
            <a:ext cx="8640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000" y="3600000"/>
            <a:ext cx="864000" cy="756000"/>
          </a:xfrm>
          <a:prstGeom prst="rect">
            <a:avLst/>
          </a:prstGeom>
          <a:solidFill>
            <a:srgbClr val="013CA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000" y="3600000"/>
            <a:ext cx="8640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20000" y="3600000"/>
            <a:ext cx="864000" cy="756000"/>
          </a:xfrm>
          <a:prstGeom prst="rect">
            <a:avLst/>
          </a:prstGeom>
          <a:solidFill>
            <a:srgbClr val="013CA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20000" y="3600000"/>
            <a:ext cx="8640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20000" y="3600000"/>
            <a:ext cx="864000" cy="756000"/>
          </a:xfrm>
          <a:prstGeom prst="rect">
            <a:avLst/>
          </a:prstGeom>
          <a:solidFill>
            <a:srgbClr val="013CA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20000" y="3600000"/>
            <a:ext cx="8640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" y="4536000"/>
            <a:ext cx="28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888899"/>
                </a:solidFill>
              </a:rPr>
              <a:t>(2×3)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80000" y="3311999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13CA6"/>
                </a:solidFill>
              </a:rPr>
              <a:t>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60000" y="2340000"/>
            <a:ext cx="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13CA6"/>
                </a:solidFill>
              </a:rPr>
              <a:t>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0000" y="2808000"/>
            <a:ext cx="864000" cy="756000"/>
          </a:xfrm>
          <a:prstGeom prst="rect">
            <a:avLst/>
          </a:prstGeom>
          <a:solidFill>
            <a:srgbClr val="025AB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80000" y="2808000"/>
            <a:ext cx="8640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80000" y="2808000"/>
            <a:ext cx="864000" cy="756000"/>
          </a:xfrm>
          <a:prstGeom prst="rect">
            <a:avLst/>
          </a:prstGeom>
          <a:solidFill>
            <a:srgbClr val="025AB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80000" y="2808000"/>
            <a:ext cx="8640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80000" y="3600000"/>
            <a:ext cx="864000" cy="756000"/>
          </a:xfrm>
          <a:prstGeom prst="rect">
            <a:avLst/>
          </a:prstGeom>
          <a:solidFill>
            <a:srgbClr val="025AB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80000" y="3600000"/>
            <a:ext cx="8640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80000" y="3600000"/>
            <a:ext cx="864000" cy="756000"/>
          </a:xfrm>
          <a:prstGeom prst="rect">
            <a:avLst/>
          </a:prstGeom>
          <a:solidFill>
            <a:srgbClr val="025AB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80000" y="3600000"/>
            <a:ext cx="8640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80000" y="4392000"/>
            <a:ext cx="864000" cy="756000"/>
          </a:xfrm>
          <a:prstGeom prst="rect">
            <a:avLst/>
          </a:prstGeom>
          <a:solidFill>
            <a:srgbClr val="025AB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80000" y="4392000"/>
            <a:ext cx="8640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80000" y="4392000"/>
            <a:ext cx="864000" cy="756000"/>
          </a:xfrm>
          <a:prstGeom prst="rect">
            <a:avLst/>
          </a:prstGeom>
          <a:solidFill>
            <a:srgbClr val="025AB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80000" y="4392000"/>
            <a:ext cx="8640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80000" y="5040000"/>
            <a:ext cx="28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888899"/>
                </a:solidFill>
              </a:rPr>
              <a:t>(3×2)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60000" y="3311999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13CA6"/>
                </a:solidFill>
              </a:rPr>
              <a:t>=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40000" y="2340000"/>
            <a:ext cx="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13CA6"/>
                </a:solidFill>
              </a:rPr>
              <a:t>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60000" y="2808000"/>
            <a:ext cx="1116000" cy="864000"/>
          </a:xfrm>
          <a:prstGeom prst="rect">
            <a:avLst/>
          </a:prstGeom>
          <a:solidFill>
            <a:srgbClr val="EBA81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60000" y="2808000"/>
            <a:ext cx="1116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ap+br+ct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12000" y="2808000"/>
            <a:ext cx="1116000" cy="864000"/>
          </a:xfrm>
          <a:prstGeom prst="rect">
            <a:avLst/>
          </a:prstGeom>
          <a:solidFill>
            <a:srgbClr val="EBA81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12000" y="2808000"/>
            <a:ext cx="1116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aq+bs+cu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60000" y="3708000"/>
            <a:ext cx="1116000" cy="864000"/>
          </a:xfrm>
          <a:prstGeom prst="rect">
            <a:avLst/>
          </a:prstGeom>
          <a:solidFill>
            <a:srgbClr val="EBA81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60000" y="3708000"/>
            <a:ext cx="1116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dp+er+ft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712000" y="3708000"/>
            <a:ext cx="1116000" cy="864000"/>
          </a:xfrm>
          <a:prstGeom prst="rect">
            <a:avLst/>
          </a:prstGeom>
          <a:solidFill>
            <a:srgbClr val="EBA81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12000" y="3708000"/>
            <a:ext cx="1116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dq+es+fu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60000" y="4680000"/>
            <a:ext cx="28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888899"/>
                </a:solidFill>
              </a:rPr>
              <a:t>(2×2)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000" y="5400000"/>
            <a:ext cx="9360000" cy="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7999" y="5472000"/>
            <a:ext cx="91800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13CA6"/>
                </a:solidFill>
              </a:rPr>
              <a:t>規則: A(m×k) × B(k×n) = C(m×n)  ← 内側の次元が一致する必要あり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0000" y="6768000"/>
            <a:ext cx="4680000" cy="486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8000" y="6876000"/>
            <a:ext cx="45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13CA6"/>
                </a:solidFill>
              </a:rPr>
              <a:t>転置 (Transpose)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0000" y="7668000"/>
            <a:ext cx="684000" cy="684000"/>
          </a:xfrm>
          <a:prstGeom prst="rect">
            <a:avLst/>
          </a:prstGeom>
          <a:solidFill>
            <a:srgbClr val="013CA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0000" y="7668000"/>
            <a:ext cx="684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260000" y="7668000"/>
            <a:ext cx="684000" cy="684000"/>
          </a:xfrm>
          <a:prstGeom prst="rect">
            <a:avLst/>
          </a:prstGeom>
          <a:solidFill>
            <a:srgbClr val="013CA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260000" y="7668000"/>
            <a:ext cx="684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80000" y="7668000"/>
            <a:ext cx="684000" cy="684000"/>
          </a:xfrm>
          <a:prstGeom prst="rect">
            <a:avLst/>
          </a:prstGeom>
          <a:solidFill>
            <a:srgbClr val="013CA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980000" y="7668000"/>
            <a:ext cx="684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0000" y="8388000"/>
            <a:ext cx="684000" cy="684000"/>
          </a:xfrm>
          <a:prstGeom prst="rect">
            <a:avLst/>
          </a:prstGeom>
          <a:solidFill>
            <a:srgbClr val="013CA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0000" y="8388000"/>
            <a:ext cx="684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260000" y="8388000"/>
            <a:ext cx="684000" cy="684000"/>
          </a:xfrm>
          <a:prstGeom prst="rect">
            <a:avLst/>
          </a:prstGeom>
          <a:solidFill>
            <a:srgbClr val="013CA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260000" y="8388000"/>
            <a:ext cx="684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80000" y="8388000"/>
            <a:ext cx="684000" cy="684000"/>
          </a:xfrm>
          <a:prstGeom prst="rect">
            <a:avLst/>
          </a:prstGeom>
          <a:solidFill>
            <a:srgbClr val="013CA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80000" y="8388000"/>
            <a:ext cx="684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0000" y="9180000"/>
            <a:ext cx="2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88899"/>
                </a:solidFill>
              </a:rPr>
              <a:t>A (2×3)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880000" y="8100000"/>
            <a:ext cx="12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13CA6"/>
                </a:solidFill>
              </a:rPr>
              <a:t>→ Aᵀ →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60000" y="7668000"/>
            <a:ext cx="684000" cy="684000"/>
          </a:xfrm>
          <a:prstGeom prst="rect">
            <a:avLst/>
          </a:prstGeom>
          <a:solidFill>
            <a:srgbClr val="025AB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60000" y="7668000"/>
            <a:ext cx="684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780000" y="7668000"/>
            <a:ext cx="684000" cy="684000"/>
          </a:xfrm>
          <a:prstGeom prst="rect">
            <a:avLst/>
          </a:prstGeom>
          <a:solidFill>
            <a:srgbClr val="025AB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780000" y="7668000"/>
            <a:ext cx="684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060000" y="8388000"/>
            <a:ext cx="684000" cy="684000"/>
          </a:xfrm>
          <a:prstGeom prst="rect">
            <a:avLst/>
          </a:prstGeom>
          <a:solidFill>
            <a:srgbClr val="025AB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060000" y="8388000"/>
            <a:ext cx="684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80000" y="8388000"/>
            <a:ext cx="684000" cy="684000"/>
          </a:xfrm>
          <a:prstGeom prst="rect">
            <a:avLst/>
          </a:prstGeom>
          <a:solidFill>
            <a:srgbClr val="025AB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780000" y="8388000"/>
            <a:ext cx="684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060000" y="9108000"/>
            <a:ext cx="684000" cy="684000"/>
          </a:xfrm>
          <a:prstGeom prst="rect">
            <a:avLst/>
          </a:prstGeom>
          <a:solidFill>
            <a:srgbClr val="025AB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060000" y="9108000"/>
            <a:ext cx="684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780000" y="9108000"/>
            <a:ext cx="684000" cy="684000"/>
          </a:xfrm>
          <a:prstGeom prst="rect">
            <a:avLst/>
          </a:prstGeom>
          <a:solidFill>
            <a:srgbClr val="025AB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780000" y="9108000"/>
            <a:ext cx="684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060000" y="9900000"/>
            <a:ext cx="2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88899"/>
                </a:solidFill>
              </a:rPr>
              <a:t>Aᵀ (3×2)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40000" y="10620000"/>
            <a:ext cx="4140000" cy="6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8000" y="10656000"/>
            <a:ext cx="39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13CA6"/>
                </a:solidFill>
              </a:rPr>
              <a:t>行と列を入れ替える操作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580000" y="6768000"/>
            <a:ext cx="15120000" cy="486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688000" y="6876000"/>
            <a:ext cx="149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13CA6"/>
                </a:solidFill>
              </a:rPr>
              <a:t>固有値・固有ベクトル (Eigenvalue / Eigenvector)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760000" y="7668000"/>
            <a:ext cx="7200000" cy="126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760000" y="7740000"/>
            <a:ext cx="72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13CA6"/>
                </a:solidFill>
              </a:rPr>
              <a:t>A·v = λ·v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3320000" y="7668000"/>
            <a:ext cx="7020000" cy="115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3427999" y="7740000"/>
            <a:ext cx="684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13CA6"/>
                </a:solidFill>
              </a:rPr>
              <a:t>v (固有ベクトル)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3427999" y="8208000"/>
            <a:ext cx="684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変換後も方向が変わらないベクトル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3320000" y="8928000"/>
            <a:ext cx="7020000" cy="115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25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3427999" y="9000000"/>
            <a:ext cx="684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25AB8"/>
                </a:solidFill>
              </a:rPr>
              <a:t>λ (固有値)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3427999" y="9468000"/>
            <a:ext cx="684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固有ベクトルが何倍に伸縮するかのスカラー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3320000" y="10188000"/>
            <a:ext cx="7020000" cy="115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3427999" y="10260000"/>
            <a:ext cx="684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BA81A"/>
                </a:solidFill>
              </a:rPr>
              <a:t>幾何学的意味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3427999" y="10728000"/>
            <a:ext cx="684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行列=空間の伸縮・回転
固有ベクトル=変換の主軸方向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760000" y="9180000"/>
            <a:ext cx="7200000" cy="21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868000" y="9252000"/>
            <a:ext cx="70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13CA6"/>
                </a:solidFill>
              </a:rPr>
              <a:t>応用例</a:t>
            </a:r>
          </a:p>
        </p:txBody>
      </p:sp>
      <p:sp>
        <p:nvSpPr>
          <p:cNvPr id="94" name="Oval 93"/>
          <p:cNvSpPr/>
          <p:nvPr/>
        </p:nvSpPr>
        <p:spPr>
          <a:xfrm>
            <a:off x="5940000" y="9828000"/>
            <a:ext cx="144000" cy="144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92000" y="9720000"/>
            <a:ext cx="64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PCA（主成分分析）</a:t>
            </a:r>
          </a:p>
        </p:txBody>
      </p:sp>
      <p:sp>
        <p:nvSpPr>
          <p:cNvPr id="96" name="Oval 95"/>
          <p:cNvSpPr/>
          <p:nvPr/>
        </p:nvSpPr>
        <p:spPr>
          <a:xfrm>
            <a:off x="5940000" y="10188000"/>
            <a:ext cx="144000" cy="144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92000" y="10080000"/>
            <a:ext cx="64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スペクトルクラスタリング</a:t>
            </a:r>
          </a:p>
        </p:txBody>
      </p:sp>
      <p:sp>
        <p:nvSpPr>
          <p:cNvPr id="98" name="Oval 97"/>
          <p:cNvSpPr/>
          <p:nvPr/>
        </p:nvSpPr>
        <p:spPr>
          <a:xfrm>
            <a:off x="5940000" y="10548000"/>
            <a:ext cx="144000" cy="144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92000" y="10440000"/>
            <a:ext cx="64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Google PageRank</a:t>
            </a:r>
          </a:p>
        </p:txBody>
      </p:sp>
      <p:sp>
        <p:nvSpPr>
          <p:cNvPr id="100" name="Oval 99"/>
          <p:cNvSpPr/>
          <p:nvPr/>
        </p:nvSpPr>
        <p:spPr>
          <a:xfrm>
            <a:off x="5940000" y="10908000"/>
            <a:ext cx="144000" cy="144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92000" y="10800000"/>
            <a:ext cx="64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量子力学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