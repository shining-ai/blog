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180000"/>
            <a:ext cx="205704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2057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GMM（混合ガウスモデル）— EMアルゴリズムのSTEP図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200" y="1440000"/>
            <a:ext cx="43200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200" y="1584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DE4FC"/>
                </a:solidFill>
              </a:rPr>
              <a:t>初期化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200" y="2088000"/>
            <a:ext cx="43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μ, Σ, πを
ランダムに設定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83200.0" y="2430000.0"/>
            <a:ext cx="72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23200" y="2286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13CA6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5200" y="1440000"/>
            <a:ext cx="4320000" cy="198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5200" y="1584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DE4FC"/>
                </a:solidFill>
              </a:rPr>
              <a:t>E-step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5200" y="2088000"/>
            <a:ext cx="43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各点の
所属確率を計算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03200.0" y="2430000.0"/>
            <a:ext cx="72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843200" y="2286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13CA6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95200" y="1440000"/>
            <a:ext cx="4320000" cy="198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95200" y="1584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DE4FC"/>
                </a:solidFill>
              </a:rPr>
              <a:t>M-step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5200" y="2088000"/>
            <a:ext cx="43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確率を使って
パラメータ更新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523200.0" y="2430000.0"/>
            <a:ext cx="72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063200" y="2286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13CA6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315200" y="1440000"/>
            <a:ext cx="4320000" cy="19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15200" y="1584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DE4FC"/>
                </a:solidFill>
              </a:rPr>
              <a:t>収束判定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315200" y="2088000"/>
            <a:ext cx="43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対数尤度の
変化を確認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95200" y="3636000"/>
            <a:ext cx="9900000" cy="72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5200" y="3744000"/>
            <a:ext cx="9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BA81A"/>
                </a:solidFill>
              </a:rPr>
              <a:t>収束するまでE・Mを繰り返す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4500000"/>
            <a:ext cx="9720000" cy="70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4608000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E-step: 所属確率（負担率）の計算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040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</a:rPr>
              <a:t>各データ点 x_i について：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5400000"/>
            <a:ext cx="936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000" y="5436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13CA6"/>
                </a:solidFill>
              </a:rPr>
              <a:t>r(i,k) = π_k · N(x_i | μ_k, Σ_k)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5724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606060"/>
                </a:solidFill>
              </a:rPr>
              <a:t>         ─────────────────────
         Σ_j π_j · N(x_i | μ_j, Σ_j)</a:t>
            </a:r>
          </a:p>
        </p:txBody>
      </p:sp>
      <p:sp>
        <p:nvSpPr>
          <p:cNvPr id="31" name="Oval 30"/>
          <p:cNvSpPr/>
          <p:nvPr/>
        </p:nvSpPr>
        <p:spPr>
          <a:xfrm>
            <a:off x="2160000" y="6660000"/>
            <a:ext cx="2520000" cy="18000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40000" y="7020000"/>
            <a:ext cx="2880000" cy="2160000"/>
          </a:xfrm>
          <a:prstGeom prst="ellipse">
            <a:avLst/>
          </a:prstGeom>
          <a:solidFill>
            <a:srgbClr val="FFE080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60000" y="6552000"/>
            <a:ext cx="2340000" cy="1620000"/>
          </a:xfrm>
          <a:prstGeom prst="ellipse">
            <a:avLst/>
          </a:prstGeom>
          <a:solidFill>
            <a:srgbClr val="C0FFC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12000" y="7452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4000" y="7416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μ₁</a:t>
            </a:r>
          </a:p>
        </p:txBody>
      </p:sp>
      <p:sp>
        <p:nvSpPr>
          <p:cNvPr id="36" name="Oval 35"/>
          <p:cNvSpPr/>
          <p:nvPr/>
        </p:nvSpPr>
        <p:spPr>
          <a:xfrm>
            <a:off x="5652000" y="7992000"/>
            <a:ext cx="216000" cy="216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04000" y="7956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BA81A"/>
                </a:solidFill>
              </a:rPr>
              <a:t>μ₂</a:t>
            </a:r>
          </a:p>
        </p:txBody>
      </p:sp>
      <p:sp>
        <p:nvSpPr>
          <p:cNvPr id="38" name="Oval 37"/>
          <p:cNvSpPr/>
          <p:nvPr/>
        </p:nvSpPr>
        <p:spPr>
          <a:xfrm>
            <a:off x="6912000" y="7272000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4000" y="7236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050"/>
                </a:solidFill>
              </a:rPr>
              <a:t>μ₃</a:t>
            </a:r>
          </a:p>
        </p:txBody>
      </p:sp>
      <p:sp>
        <p:nvSpPr>
          <p:cNvPr id="40" name="Oval 39"/>
          <p:cNvSpPr/>
          <p:nvPr/>
        </p:nvSpPr>
        <p:spPr>
          <a:xfrm>
            <a:off x="3160800" y="712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00800" y="802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00800" y="7660800"/>
            <a:ext cx="158400" cy="158400"/>
          </a:xfrm>
          <a:prstGeom prst="ellipse">
            <a:avLst/>
          </a:prstGeom>
          <a:solidFill>
            <a:srgbClr val="EBA81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00800" y="7552800"/>
            <a:ext cx="158400" cy="158400"/>
          </a:xfrm>
          <a:prstGeom prst="ellipse">
            <a:avLst/>
          </a:prstGeom>
          <a:solidFill>
            <a:srgbClr val="EBA81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7120800"/>
            <a:ext cx="158400" cy="1584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940800" y="7768800"/>
            <a:ext cx="158400" cy="1584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60800" y="8380800"/>
            <a:ext cx="158400" cy="158400"/>
          </a:xfrm>
          <a:prstGeom prst="ellipse">
            <a:avLst/>
          </a:prstGeom>
          <a:solidFill>
            <a:srgbClr val="8080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0000" y="9720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</a:rPr>
              <a:t>→ 各点は複数クラスタへの
   「確率的所属」を持つ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00000" y="4500000"/>
            <a:ext cx="10080000" cy="70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00000" y="460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M-step: パラメータの更新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80000" y="5040000"/>
            <a:ext cx="9720000" cy="122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80000" y="5148000"/>
            <a:ext cx="9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DE4FC"/>
                </a:solidFill>
              </a:rPr>
              <a:t>混合比 π_k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80000" y="5472000"/>
            <a:ext cx="9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</a:rPr>
              <a:t>N_k = Σ_i r(i,k)
π_k = N_k / 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80000" y="6408000"/>
            <a:ext cx="9720000" cy="1224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80000" y="6516000"/>
            <a:ext cx="9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DE4FC"/>
                </a:solidFill>
              </a:rPr>
              <a:t>平均 μ_k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80000" y="6840000"/>
            <a:ext cx="9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</a:rPr>
              <a:t>μ_k = Σ_i r(i,k)·x_i / N_k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80000" y="7776000"/>
            <a:ext cx="9720000" cy="1224000"/>
          </a:xfrm>
          <a:prstGeom prst="rect">
            <a:avLst/>
          </a:prstGeom>
          <a:solidFill>
            <a:srgbClr val="027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80000" y="7884000"/>
            <a:ext cx="9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DE4FC"/>
                </a:solidFill>
              </a:rPr>
              <a:t>共分散 Σ_k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80000" y="8208000"/>
            <a:ext cx="9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</a:rPr>
              <a:t>Σ_k = Σ_i r(i,k)·(x_i-μ_k)(x_i-μ_k)ᵀ / N_k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80000" y="9180000"/>
            <a:ext cx="9720000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80000" y="9252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収束の推移（対数尤度）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1340000" y="9612000"/>
            <a:ext cx="0" cy="126000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340000" y="10872000"/>
            <a:ext cx="9000000" cy="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1340000.0" y="10278989.057536181"/>
            <a:ext cx="1000000.0" cy="593010.9424638189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2340000.0" y="9982483.586304272"/>
            <a:ext cx="1000000.0" cy="296505.47123190947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3340000.0" y="9804580.303565126"/>
            <a:ext cx="1000000.0" cy="177903.28273914568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4340000.0" y="9715628.662195552"/>
            <a:ext cx="1000000.0" cy="88951.64136957377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5340000.0" y="9656327.56794917"/>
            <a:ext cx="1000000.0" cy="59301.094246381894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6340000.0" y="9626677.02082598"/>
            <a:ext cx="1000000.0" cy="29650.547123190016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7340000.0" y="9614816.801976703"/>
            <a:ext cx="1000000.0" cy="11860.218849277124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8340000.0" y="9612593.010942463"/>
            <a:ext cx="1000000.0" cy="2223.7910342402756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9340000.0" y="9612000.0"/>
            <a:ext cx="1000000.0" cy="593.0109424628317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1340000" y="1090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イテレーション→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80000" y="10872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対数尤度が単調増加し必ず収束することが保証されている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