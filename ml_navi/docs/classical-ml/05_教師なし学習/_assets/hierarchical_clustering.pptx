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180000"/>
            <a:ext cx="205704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2057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階層型クラスタリング — デンドログラムの読み方と凝集型STEP図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10080000" cy="93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デンドログラム（樹形図）</a:t>
            </a:r>
          </a:p>
        </p:txBody>
      </p:sp>
      <p:sp>
        <p:nvSpPr>
          <p:cNvPr id="7" name="Oval 6"/>
          <p:cNvSpPr/>
          <p:nvPr/>
        </p:nvSpPr>
        <p:spPr>
          <a:xfrm>
            <a:off x="1620000" y="9720000"/>
            <a:ext cx="360000" cy="36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4000" y="1013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2700000" y="9720000"/>
            <a:ext cx="360000" cy="36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4000" y="1013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4140000" y="9720000"/>
            <a:ext cx="360000" cy="36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4000" y="1013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BA81A"/>
                </a:solidFill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5220000" y="9720000"/>
            <a:ext cx="360000" cy="36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000" y="1013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BA81A"/>
                </a:solidFill>
              </a:rP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6840000" y="9720000"/>
            <a:ext cx="360000" cy="36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4000" y="1013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E</a:t>
            </a:r>
          </a:p>
        </p:txBody>
      </p:sp>
      <p:sp>
        <p:nvSpPr>
          <p:cNvPr id="17" name="Oval 16"/>
          <p:cNvSpPr/>
          <p:nvPr/>
        </p:nvSpPr>
        <p:spPr>
          <a:xfrm>
            <a:off x="7920000" y="9720000"/>
            <a:ext cx="360000" cy="36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4000" y="1013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9180000" y="9720000"/>
            <a:ext cx="360000" cy="36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013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00000" y="9280800.0"/>
            <a:ext cx="0" cy="720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80000" y="9280800.0"/>
            <a:ext cx="0" cy="720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00000" y="9288000.0"/>
            <a:ext cx="108000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20000" y="9194400.0"/>
            <a:ext cx="0" cy="7200.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00000" y="9194400.0"/>
            <a:ext cx="0" cy="7200.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20000" y="9201600.0"/>
            <a:ext cx="1080000" cy="0.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20000" y="9136800.0"/>
            <a:ext cx="0" cy="7200.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100000" y="9136800.0"/>
            <a:ext cx="0" cy="7200.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20000" y="9144000.0"/>
            <a:ext cx="1080000" cy="0.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60000.0" y="8704800.0"/>
            <a:ext cx="0.0" cy="7200.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60000" y="8704800.0"/>
            <a:ext cx="0" cy="7200.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60000.0" y="8712000.0"/>
            <a:ext cx="1800000.0" cy="0.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40000.0" y="8272800.0"/>
            <a:ext cx="0.0" cy="7200.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60000.0" y="8272800.0"/>
            <a:ext cx="0.0" cy="7200.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40000.0" y="8280000.0"/>
            <a:ext cx="2520000.0" cy="0.0"/>
          </a:xfrm>
          <a:prstGeom prst="line">
            <a:avLst/>
          </a:prstGeom>
          <a:ln w="317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00000.0" y="7408800.0"/>
            <a:ext cx="0.0" cy="7200.0"/>
          </a:xfrm>
          <a:prstGeom prst="line">
            <a:avLst/>
          </a:prstGeom>
          <a:ln w="317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60000.0" y="7408800.0"/>
            <a:ext cx="0.0" cy="7200.0"/>
          </a:xfrm>
          <a:prstGeom prst="line">
            <a:avLst/>
          </a:prstGeom>
          <a:ln w="317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00000.0" y="7416000.0"/>
            <a:ext cx="4860000.0" cy="0.0"/>
          </a:xfrm>
          <a:prstGeom prst="line">
            <a:avLst/>
          </a:prstGeom>
          <a:ln w="317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2000" y="7272000.0"/>
            <a:ext cx="0" cy="2448000.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0000" y="9720000"/>
            <a:ext cx="7200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0000" y="9612000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0000" y="9144000"/>
            <a:ext cx="7200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0000" y="9036000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00000" y="8568000"/>
            <a:ext cx="7200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0000" y="8460000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0000" y="7992000"/>
            <a:ext cx="7200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0000" y="7884000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0000" y="7416000"/>
            <a:ext cx="7200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0000" y="7308000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000" y="7092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距離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260000" y="7992000.0"/>
            <a:ext cx="9000000" cy="0.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80000" y="7344000"/>
            <a:ext cx="32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0000"/>
                </a:solidFill>
              </a:rPr>
              <a:t>← カットする高さで
クラスタ数が決まる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160000" y="1440000"/>
            <a:ext cx="972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40000" y="154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20000" y="1620000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各点を独立したクラスタとして初期化
（N点 → Nクラスタ）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6020000.0" y="3060000"/>
            <a:ext cx="0.0" cy="28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160000" y="3348000"/>
            <a:ext cx="9720000" cy="162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40000" y="3456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20000" y="3528000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全クラスタ対の距離を計算
（単連結・完全連結・ウォード法など）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6020000.0" y="4968000"/>
            <a:ext cx="0.0" cy="28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1160000" y="5256000"/>
            <a:ext cx="9720000" cy="162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40000" y="536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320000" y="5436000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最も近い2クラスタをマージ
（N-1クラスタになる）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6020000.0" y="6876000"/>
            <a:ext cx="0.0" cy="28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1160000" y="7164000"/>
            <a:ext cx="9720000" cy="1620000"/>
          </a:xfrm>
          <a:prstGeom prst="rect">
            <a:avLst/>
          </a:prstGeom>
          <a:solidFill>
            <a:srgbClr val="02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340000" y="727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 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320000" y="7344000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距離行列を更新する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6020000.0" y="8784000"/>
            <a:ext cx="0.0" cy="28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11160000" y="9072000"/>
            <a:ext cx="9720000" cy="16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40000" y="918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320000" y="9252000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1クラスタになるまで
STEP 2〜4を繰り返す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160000" y="11160000"/>
            <a:ext cx="9720000" cy="25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60000" y="11232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13CA6"/>
                </a:solidFill>
              </a:rPr>
              <a:t>距離測定法の比較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268000" y="11592000"/>
            <a:ext cx="2340000" cy="43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68000" y="11628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手法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680000" y="11592000"/>
            <a:ext cx="2880000" cy="43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680000" y="11628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基準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560000" y="11592000"/>
            <a:ext cx="4320000" cy="43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560000" y="1162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268000" y="12024000"/>
            <a:ext cx="234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304000" y="12024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単連結法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680000" y="12024000"/>
            <a:ext cx="288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00" y="12024000"/>
            <a:ext cx="28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最近傍距離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560000" y="12024000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596000" y="12024000"/>
            <a:ext cx="42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鎖状クラスタになりやすい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68000" y="12456000"/>
            <a:ext cx="2340000" cy="432000"/>
          </a:xfrm>
          <a:prstGeom prst="rect">
            <a:avLst/>
          </a:prstGeom>
          <a:solidFill>
            <a:srgbClr val="F3FA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304000" y="12456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完全連結法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680000" y="12456000"/>
            <a:ext cx="2880000" cy="432000"/>
          </a:xfrm>
          <a:prstGeom prst="rect">
            <a:avLst/>
          </a:prstGeom>
          <a:solidFill>
            <a:srgbClr val="F3FA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716000" y="12456000"/>
            <a:ext cx="28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最遠傍距離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560000" y="12456000"/>
            <a:ext cx="4320000" cy="432000"/>
          </a:xfrm>
          <a:prstGeom prst="rect">
            <a:avLst/>
          </a:prstGeom>
          <a:solidFill>
            <a:srgbClr val="F3FA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596000" y="12456000"/>
            <a:ext cx="42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コンパクトなクラスタ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268000" y="12888000"/>
            <a:ext cx="234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304000" y="12888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ウォード法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680000" y="12888000"/>
            <a:ext cx="288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716000" y="12888000"/>
            <a:ext cx="28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分散最小化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560000" y="12888000"/>
            <a:ext cx="432000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596000" y="12888000"/>
            <a:ext cx="42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最もよく使われる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268000" y="13320000"/>
            <a:ext cx="2340000" cy="432000"/>
          </a:xfrm>
          <a:prstGeom prst="rect">
            <a:avLst/>
          </a:prstGeom>
          <a:solidFill>
            <a:srgbClr val="F3FA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304000" y="13320000"/>
            <a:ext cx="22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平均連結法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3680000" y="13320000"/>
            <a:ext cx="2880000" cy="432000"/>
          </a:xfrm>
          <a:prstGeom prst="rect">
            <a:avLst/>
          </a:prstGeom>
          <a:solidFill>
            <a:srgbClr val="F3FA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716000" y="13320000"/>
            <a:ext cx="28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平均距離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6560000" y="13320000"/>
            <a:ext cx="4320000" cy="432000"/>
          </a:xfrm>
          <a:prstGeom prst="rect">
            <a:avLst/>
          </a:prstGeom>
          <a:solidFill>
            <a:srgbClr val="F3FA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596000" y="13320000"/>
            <a:ext cx="42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バランスが良い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