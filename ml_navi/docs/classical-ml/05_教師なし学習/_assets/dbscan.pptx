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DBSCAN — コア点・境界点・ノイズ点の概念図（任意形状クラスタ）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6480000" cy="43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パラメータ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1980000"/>
            <a:ext cx="612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088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ε (eps)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52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近傍半径
点を「近い」と判断する距離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600000"/>
            <a:ext cx="612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708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MinPts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14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コア点の条件
ε半径内の最小点数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940000"/>
            <a:ext cx="6480000" cy="52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604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点の分類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6408000"/>
            <a:ext cx="612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6516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コア点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984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ε内にMinPts以上の点がある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7920000"/>
            <a:ext cx="6120000" cy="136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8028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境界点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8496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ε内はMinPts未満だが
コア点の近傍にある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9432000"/>
            <a:ext cx="6120000" cy="1368000"/>
          </a:xfrm>
          <a:prstGeom prst="rect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000" y="954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ノイズ点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10008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どのクラスタにも
属さない孤立点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0000" y="1440000"/>
            <a:ext cx="13320000" cy="10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0000" y="1548000"/>
            <a:ext cx="13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DBSCAN による任意形状クラスタリングの例</a:t>
            </a:r>
          </a:p>
        </p:txBody>
      </p:sp>
      <p:sp>
        <p:nvSpPr>
          <p:cNvPr id="26" name="Oval 25"/>
          <p:cNvSpPr/>
          <p:nvPr/>
        </p:nvSpPr>
        <p:spPr>
          <a:xfrm>
            <a:off x="12096000" y="4788000"/>
            <a:ext cx="216000" cy="216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311793" y="4969543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411172" y="516767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9594" y="5220198"/>
            <a:ext cx="216000" cy="216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10381" y="5410681"/>
            <a:ext cx="216000" cy="216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04000" y="5380361"/>
            <a:ext cx="216000" cy="216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74905" y="5536101"/>
            <a:ext cx="216000" cy="216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45245" y="5690328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52008" y="5537271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30383" y="560289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38000" y="5398361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7856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450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7776419" y="4720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90838" y="4977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559000" y="49082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7856000" y="53525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262000" y="4977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262000" y="5490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965000" y="4908271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668000" y="53525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6747580" y="4720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6233161" y="4977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668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074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747580" y="4207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6233161" y="3951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965000" y="401972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668000" y="357545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7262000" y="3951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7262000" y="3438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559000" y="401972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7856000" y="3575457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7262000" y="44640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776419" y="4207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8290838" y="3950999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870001" y="5796001"/>
            <a:ext cx="251998" cy="251998"/>
          </a:xfrm>
          <a:prstGeom prst="ellipse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20000" y="7524000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8828000" y="3078000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6452000" y="7866000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700000" y="2736000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9620000" y="6840000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512000" y="3996000"/>
            <a:ext cx="1800000" cy="1800000"/>
          </a:xfrm>
          <a:prstGeom prst="ellipse">
            <a:avLst/>
          </a:prstGeom>
          <a:noFill/>
          <a:ln w="25400">
            <a:solidFill>
              <a:srgbClr val="60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84000" y="37800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090FF"/>
                </a:solidFill>
              </a:rPr>
              <a:t>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2000" y="453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コア点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140000" y="5814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A81A"/>
                </a:solidFill>
              </a:rPr>
              <a:t>境界点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72000" y="7524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3030"/>
                </a:solidFill>
              </a:rPr>
              <a:t>ノイズ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60000" y="684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クラスタ1（三日月形）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760000" y="342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050"/>
                </a:solidFill>
              </a:rPr>
              <a:t>クラスタ2（球形）</a:t>
            </a:r>
          </a:p>
        </p:txBody>
      </p:sp>
      <p:sp>
        <p:nvSpPr>
          <p:cNvPr id="86" name="Oval 85"/>
          <p:cNvSpPr/>
          <p:nvPr/>
        </p:nvSpPr>
        <p:spPr>
          <a:xfrm>
            <a:off x="7956000" y="10817999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80000" y="108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コア点</a:t>
            </a:r>
          </a:p>
        </p:txBody>
      </p:sp>
      <p:sp>
        <p:nvSpPr>
          <p:cNvPr id="88" name="Oval 87"/>
          <p:cNvSpPr/>
          <p:nvPr/>
        </p:nvSpPr>
        <p:spPr>
          <a:xfrm>
            <a:off x="10476000" y="10817999"/>
            <a:ext cx="216000" cy="21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00000" y="108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境界点</a:t>
            </a:r>
          </a:p>
        </p:txBody>
      </p:sp>
      <p:sp>
        <p:nvSpPr>
          <p:cNvPr id="90" name="Oval 89"/>
          <p:cNvSpPr/>
          <p:nvPr/>
        </p:nvSpPr>
        <p:spPr>
          <a:xfrm>
            <a:off x="12996000" y="10817999"/>
            <a:ext cx="216000" cy="216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320000" y="108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ノイズ点</a:t>
            </a:r>
          </a:p>
        </p:txBody>
      </p:sp>
      <p:sp>
        <p:nvSpPr>
          <p:cNvPr id="92" name="Oval 91"/>
          <p:cNvSpPr/>
          <p:nvPr/>
        </p:nvSpPr>
        <p:spPr>
          <a:xfrm>
            <a:off x="15516000" y="10817999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840000" y="108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クラスタ1</a:t>
            </a:r>
          </a:p>
        </p:txBody>
      </p:sp>
      <p:sp>
        <p:nvSpPr>
          <p:cNvPr id="94" name="Oval 93"/>
          <p:cNvSpPr/>
          <p:nvPr/>
        </p:nvSpPr>
        <p:spPr>
          <a:xfrm>
            <a:off x="18036000" y="10817999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360000" y="1080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クラスタ2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40000" y="9720000"/>
            <a:ext cx="129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40000" y="9792000"/>
            <a:ext cx="129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k-meansとの大きな違い: 事前にクラスタ数を指定不要！
任意形状・異なる密度のクラスタを検出可能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