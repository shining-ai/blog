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36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44000"/>
            <a:ext cx="14400000" cy="100799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400" b="1">
                <a:solidFill>
                  <a:srgbClr val="FFFFFF"/>
                </a:solidFill>
              </a:rPr>
              <a:t>統計的異常検知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840000" y="288000"/>
            <a:ext cx="5040000" cy="79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>
                <a:solidFill>
                  <a:srgbClr val="BDE4FC"/>
                </a:solidFill>
              </a:rPr>
              <a:t>3σルール + マハラノビス距離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368000"/>
            <a:ext cx="21290400" cy="180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728000"/>
            <a:ext cx="936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013CA6"/>
                </a:solidFill>
              </a:rPr>
              <a:t>正規分布の3σルール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60000" y="1728000"/>
            <a:ext cx="936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013CA6"/>
                </a:solidFill>
              </a:rPr>
              <a:t>マハラノビス距離の概念図</a:t>
            </a:r>
          </a:p>
        </p:txBody>
      </p:sp>
      <p:sp>
        <p:nvSpPr>
          <p:cNvPr id="9" name="Rectangle 8"/>
          <p:cNvSpPr/>
          <p:nvPr/>
        </p:nvSpPr>
        <p:spPr>
          <a:xfrm>
            <a:off x="2610000" y="7199008"/>
            <a:ext cx="540000" cy="992"/>
          </a:xfrm>
          <a:prstGeom prst="rect">
            <a:avLst/>
          </a:prstGeom>
          <a:solidFill>
            <a:srgbClr val="FF000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80000" y="7191068"/>
            <a:ext cx="540000" cy="8932"/>
          </a:xfrm>
          <a:prstGeom prst="rect">
            <a:avLst/>
          </a:prstGeom>
          <a:solidFill>
            <a:srgbClr val="FF000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50000" y="7156331"/>
            <a:ext cx="540000" cy="43669"/>
          </a:xfrm>
          <a:prstGeom prst="rect">
            <a:avLst/>
          </a:prstGeom>
          <a:solidFill>
            <a:srgbClr val="F3FAF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0000" y="7026316"/>
            <a:ext cx="540000" cy="173684"/>
          </a:xfrm>
          <a:prstGeom prst="rect">
            <a:avLst/>
          </a:prstGeom>
          <a:solidFill>
            <a:srgbClr val="F3FAF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90000" y="6664061"/>
            <a:ext cx="540000" cy="535939"/>
          </a:xfrm>
          <a:prstGeom prst="rect">
            <a:avLst/>
          </a:prstGeom>
          <a:solidFill>
            <a:srgbClr val="BDE4F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60000" y="5909775"/>
            <a:ext cx="540000" cy="1290225"/>
          </a:xfrm>
          <a:prstGeom prst="rect">
            <a:avLst/>
          </a:prstGeom>
          <a:solidFill>
            <a:srgbClr val="BDE4F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30000" y="4798196"/>
            <a:ext cx="540000" cy="2401804"/>
          </a:xfrm>
          <a:prstGeom prst="rect">
            <a:avLst/>
          </a:prstGeom>
          <a:solidFill>
            <a:srgbClr val="013CA6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00000" y="3706467"/>
            <a:ext cx="540000" cy="3493533"/>
          </a:xfrm>
          <a:prstGeom prst="rect">
            <a:avLst/>
          </a:prstGeom>
          <a:solidFill>
            <a:srgbClr val="013CA6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70000" y="3240000"/>
            <a:ext cx="540000" cy="3960000"/>
          </a:xfrm>
          <a:prstGeom prst="rect">
            <a:avLst/>
          </a:prstGeom>
          <a:solidFill>
            <a:srgbClr val="013CA6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40000" y="3706467"/>
            <a:ext cx="540000" cy="3493533"/>
          </a:xfrm>
          <a:prstGeom prst="rect">
            <a:avLst/>
          </a:prstGeom>
          <a:solidFill>
            <a:srgbClr val="013CA6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310000" y="4798196"/>
            <a:ext cx="540000" cy="2401804"/>
          </a:xfrm>
          <a:prstGeom prst="rect">
            <a:avLst/>
          </a:prstGeom>
          <a:solidFill>
            <a:srgbClr val="013CA6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80000" y="5909775"/>
            <a:ext cx="540000" cy="1290225"/>
          </a:xfrm>
          <a:prstGeom prst="rect">
            <a:avLst/>
          </a:prstGeom>
          <a:solidFill>
            <a:srgbClr val="BDE4F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850000" y="6664061"/>
            <a:ext cx="540000" cy="535939"/>
          </a:xfrm>
          <a:prstGeom prst="rect">
            <a:avLst/>
          </a:prstGeom>
          <a:solidFill>
            <a:srgbClr val="BDE4F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0000" y="7026316"/>
            <a:ext cx="540000" cy="173684"/>
          </a:xfrm>
          <a:prstGeom prst="rect">
            <a:avLst/>
          </a:prstGeom>
          <a:solidFill>
            <a:srgbClr val="F3FAF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90000" y="7156331"/>
            <a:ext cx="540000" cy="43669"/>
          </a:xfrm>
          <a:prstGeom prst="rect">
            <a:avLst/>
          </a:prstGeom>
          <a:solidFill>
            <a:srgbClr val="F3FAF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660000" y="7191068"/>
            <a:ext cx="540000" cy="8932"/>
          </a:xfrm>
          <a:prstGeom prst="rect">
            <a:avLst/>
          </a:prstGeom>
          <a:solidFill>
            <a:srgbClr val="FF000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30000" y="7199008"/>
            <a:ext cx="540000" cy="992"/>
          </a:xfrm>
          <a:prstGeom prst="rect">
            <a:avLst/>
          </a:prstGeom>
          <a:solidFill>
            <a:srgbClr val="FF000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720000" y="7200000"/>
            <a:ext cx="9360000" cy="0"/>
          </a:xfrm>
          <a:prstGeom prst="line">
            <a:avLst/>
          </a:prstGeom>
          <a:ln w="25400">
            <a:solidFill>
              <a:srgbClr val="1A1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060000" y="7308000"/>
            <a:ext cx="72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>
                <a:solidFill>
                  <a:srgbClr val="1A1A2E"/>
                </a:solidFill>
              </a:rPr>
              <a:t>−3σ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00000" y="7308000"/>
            <a:ext cx="72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>
                <a:solidFill>
                  <a:srgbClr val="1A1A2E"/>
                </a:solidFill>
              </a:rPr>
              <a:t>−2σ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40000" y="7308000"/>
            <a:ext cx="72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>
                <a:solidFill>
                  <a:srgbClr val="1A1A2E"/>
                </a:solidFill>
              </a:rPr>
              <a:t>−1σ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80000" y="7308000"/>
            <a:ext cx="72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1A1A2E"/>
                </a:solidFill>
              </a:rPr>
              <a:t>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20000" y="7308000"/>
            <a:ext cx="72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>
                <a:solidFill>
                  <a:srgbClr val="1A1A2E"/>
                </a:solidFill>
              </a:rPr>
              <a:t>+1σ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000" y="7308000"/>
            <a:ext cx="72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>
                <a:solidFill>
                  <a:srgbClr val="1A1A2E"/>
                </a:solidFill>
              </a:rPr>
              <a:t>+2σ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0000" y="7308000"/>
            <a:ext cx="720000" cy="324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>
                <a:solidFill>
                  <a:srgbClr val="1A1A2E"/>
                </a:solidFill>
              </a:rPr>
              <a:t>+3σ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0000" y="7740000"/>
            <a:ext cx="540000" cy="432000"/>
          </a:xfrm>
          <a:prstGeom prst="rect">
            <a:avLst/>
          </a:prstGeom>
          <a:solidFill>
            <a:srgbClr val="013CA6"/>
          </a:solidFill>
          <a:ln w="12700">
            <a:solidFill>
              <a:srgbClr val="6B7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512000" y="7776000"/>
            <a:ext cx="16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1A1A2E"/>
                </a:solidFill>
              </a:rPr>
              <a:t>μ±1σ : 68.27%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40000" y="7740000"/>
            <a:ext cx="540000" cy="432000"/>
          </a:xfrm>
          <a:prstGeom prst="rect">
            <a:avLst/>
          </a:prstGeom>
          <a:solidFill>
            <a:srgbClr val="BDE4FC"/>
          </a:solidFill>
          <a:ln w="12700">
            <a:solidFill>
              <a:srgbClr val="6B7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52000" y="7776000"/>
            <a:ext cx="16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1A1A2E"/>
                </a:solidFill>
              </a:rPr>
              <a:t>μ±2σ : 95.45%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80000" y="7740000"/>
            <a:ext cx="540000" cy="432000"/>
          </a:xfrm>
          <a:prstGeom prst="rect">
            <a:avLst/>
          </a:prstGeom>
          <a:solidFill>
            <a:srgbClr val="F3FAFE"/>
          </a:solidFill>
          <a:ln w="12700">
            <a:solidFill>
              <a:srgbClr val="6B7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92000" y="7776000"/>
            <a:ext cx="16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1A1A2E"/>
                </a:solidFill>
              </a:rPr>
              <a:t>μ±3σ : 99.73%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20000" y="7740000"/>
            <a:ext cx="540000" cy="432000"/>
          </a:xfrm>
          <a:prstGeom prst="rect">
            <a:avLst/>
          </a:prstGeom>
          <a:solidFill>
            <a:srgbClr val="FF0000"/>
          </a:solidFill>
          <a:ln w="12700">
            <a:solidFill>
              <a:srgbClr val="6B7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32000" y="7776000"/>
            <a:ext cx="162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1A1A2E"/>
                </a:solidFill>
              </a:rPr>
              <a:t>外れ値（異常）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0000" y="2700000"/>
            <a:ext cx="900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FF0000"/>
                </a:solidFill>
              </a:rPr>
              <a:t>|z-score| &gt; 3.0 → 異常と判定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20000" y="3168000"/>
            <a:ext cx="9000000" cy="900000"/>
          </a:xfrm>
          <a:prstGeom prst="roundRect">
            <a:avLst/>
          </a:prstGeom>
          <a:solidFill>
            <a:srgbClr val="E8F4FD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0000" y="3311999"/>
            <a:ext cx="8640000" cy="648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600" b="1">
                <a:solidFill>
                  <a:srgbClr val="013CA6"/>
                </a:solidFill>
              </a:rPr>
              <a:t>z = (x − μ) / σ</a:t>
            </a:r>
          </a:p>
        </p:txBody>
      </p:sp>
      <p:sp>
        <p:nvSpPr>
          <p:cNvPr id="45" name="Oval 44"/>
          <p:cNvSpPr/>
          <p:nvPr/>
        </p:nvSpPr>
        <p:spPr>
          <a:xfrm>
            <a:off x="15660000" y="3960000"/>
            <a:ext cx="3600000" cy="2160000"/>
          </a:xfrm>
          <a:prstGeom prst="ellipse">
            <a:avLst/>
          </a:prstGeom>
          <a:noFill/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6020000" y="4248000"/>
            <a:ext cx="2880000" cy="1584000"/>
          </a:xfrm>
          <a:prstGeom prst="ellipse">
            <a:avLst/>
          </a:prstGeom>
          <a:noFill/>
          <a:ln w="317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6380000" y="4500000"/>
            <a:ext cx="2160000" cy="1080000"/>
          </a:xfrm>
          <a:prstGeom prst="ellipse">
            <a:avLst/>
          </a:prstGeom>
          <a:noFill/>
          <a:ln w="25400">
            <a:solidFill>
              <a:srgbClr val="012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7460000" y="4788000"/>
            <a:ext cx="216000" cy="216000"/>
          </a:xfrm>
          <a:prstGeom prst="ellipse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7712000" y="4752000"/>
            <a:ext cx="144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13CA6"/>
                </a:solidFill>
              </a:rPr>
              <a:t>μ (平均)</a:t>
            </a:r>
          </a:p>
        </p:txBody>
      </p:sp>
      <p:sp>
        <p:nvSpPr>
          <p:cNvPr id="50" name="Oval 49"/>
          <p:cNvSpPr/>
          <p:nvPr/>
        </p:nvSpPr>
        <p:spPr>
          <a:xfrm>
            <a:off x="17100000" y="4320000"/>
            <a:ext cx="216000" cy="216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7388000" y="4248000"/>
            <a:ext cx="216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00B050"/>
                </a:solidFill>
              </a:rPr>
              <a:t>正常点（内側）</a:t>
            </a:r>
          </a:p>
        </p:txBody>
      </p:sp>
      <p:sp>
        <p:nvSpPr>
          <p:cNvPr id="52" name="Oval 51"/>
          <p:cNvSpPr/>
          <p:nvPr/>
        </p:nvSpPr>
        <p:spPr>
          <a:xfrm>
            <a:off x="20520000" y="3240000"/>
            <a:ext cx="251999" cy="25199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1880000" y="6300000"/>
            <a:ext cx="251999" cy="25199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9800000" y="7560000"/>
            <a:ext cx="251999" cy="25199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700000" y="3240000"/>
            <a:ext cx="180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FF0000"/>
                </a:solidFill>
              </a:rPr>
              <a:t>異常点</a:t>
            </a:r>
          </a:p>
        </p:txBody>
      </p:sp>
      <p:cxnSp>
        <p:nvCxnSpPr>
          <p:cNvPr id="56" name="Connector 55"/>
          <p:cNvCxnSpPr/>
          <p:nvPr/>
        </p:nvCxnSpPr>
        <p:spPr>
          <a:xfrm flipV="1">
            <a:off x="17568000" y="3348000"/>
            <a:ext cx="2988000" cy="1548000"/>
          </a:xfrm>
          <a:prstGeom prst="line">
            <a:avLst/>
          </a:prstGeom>
          <a:ln w="25400">
            <a:solidFill>
              <a:srgbClr val="FF000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18720000" y="3888000"/>
            <a:ext cx="180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FF0000"/>
                </a:solidFill>
              </a:rPr>
              <a:t>大きな距離</a:t>
            </a:r>
          </a:p>
        </p:txBody>
      </p:sp>
      <p:cxnSp>
        <p:nvCxnSpPr>
          <p:cNvPr id="58" name="Connector 57"/>
          <p:cNvCxnSpPr/>
          <p:nvPr/>
        </p:nvCxnSpPr>
        <p:spPr>
          <a:xfrm flipH="1" flipV="1">
            <a:off x="17208000" y="4428000"/>
            <a:ext cx="360000" cy="468000"/>
          </a:xfrm>
          <a:prstGeom prst="line">
            <a:avLst/>
          </a:prstGeom>
          <a:ln w="25400">
            <a:solidFill>
              <a:srgbClr val="00B05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15840000" y="4608000"/>
            <a:ext cx="144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00B050"/>
                </a:solidFill>
              </a:rPr>
              <a:t>小さな距離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3320000" y="4500000"/>
            <a:ext cx="180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6B7B8D"/>
                </a:solidFill>
              </a:rPr>
              <a:t>3σ境界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3860000" y="4752000"/>
            <a:ext cx="144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013CA6"/>
                </a:solidFill>
              </a:rPr>
              <a:t>2σ境界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4400000" y="4968000"/>
            <a:ext cx="1440000" cy="3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012A70"/>
                </a:solidFill>
              </a:rPr>
              <a:t>1σ境界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1160000" y="7020000"/>
            <a:ext cx="9720000" cy="1440000"/>
          </a:xfrm>
          <a:prstGeom prst="roundRect">
            <a:avLst/>
          </a:prstGeom>
          <a:solidFill>
            <a:srgbClr val="E8F4FD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1340000" y="7128000"/>
            <a:ext cx="936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013CA6"/>
                </a:solidFill>
              </a:rPr>
              <a:t>マハラノビス距離の公式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340000" y="7560000"/>
            <a:ext cx="9360000" cy="72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>
                <a:solidFill>
                  <a:srgbClr val="012A70"/>
                </a:solidFill>
              </a:rPr>
              <a:t>D_M(x) = √( (x−μ)ᵀ Σ⁻¹ (x−μ) 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0" y="9000000"/>
            <a:ext cx="21290400" cy="144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40000" y="9252000"/>
            <a:ext cx="1080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013CA6"/>
                </a:solidFill>
              </a:rPr>
              <a:t>手法の比較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40000" y="9648000"/>
            <a:ext cx="6480000" cy="648000"/>
          </a:xfrm>
          <a:prstGeom prst="rect">
            <a:avLst/>
          </a:prstGeom>
          <a:solidFill>
            <a:srgbClr val="013CA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8000" y="9773999"/>
            <a:ext cx="630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FFFFFF"/>
                </a:solidFill>
              </a:rPr>
              <a:t>手法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200000" y="9648000"/>
            <a:ext cx="6480000" cy="648000"/>
          </a:xfrm>
          <a:prstGeom prst="rect">
            <a:avLst/>
          </a:prstGeom>
          <a:solidFill>
            <a:srgbClr val="013CA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308000" y="9773999"/>
            <a:ext cx="630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FFFFFF"/>
                </a:solidFill>
              </a:rPr>
              <a:t>ユークリッド距離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3860000" y="9648000"/>
            <a:ext cx="6480000" cy="648000"/>
          </a:xfrm>
          <a:prstGeom prst="rect">
            <a:avLst/>
          </a:prstGeom>
          <a:solidFill>
            <a:srgbClr val="013CA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3968000" y="9773999"/>
            <a:ext cx="630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FFFFFF"/>
                </a:solidFill>
              </a:rPr>
              <a:t>マハラノビス距離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40000" y="10296000"/>
            <a:ext cx="6480000" cy="6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48000" y="10421999"/>
            <a:ext cx="630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A1A2E"/>
                </a:solidFill>
              </a:rPr>
              <a:t>相関の考慮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200000" y="10296000"/>
            <a:ext cx="6480000" cy="6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308000" y="10421999"/>
            <a:ext cx="630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A1A2E"/>
                </a:solidFill>
              </a:rPr>
              <a:t>×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3860000" y="10296000"/>
            <a:ext cx="6480000" cy="6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3968000" y="10421999"/>
            <a:ext cx="630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00B050"/>
                </a:solidFill>
              </a:rPr>
              <a:t>○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40000" y="10944000"/>
            <a:ext cx="6480000" cy="648000"/>
          </a:xfrm>
          <a:prstGeom prst="rect">
            <a:avLst/>
          </a:prstGeom>
          <a:solidFill>
            <a:srgbClr val="E8F4F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48000" y="11069999"/>
            <a:ext cx="630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A1A2E"/>
                </a:solidFill>
              </a:rPr>
              <a:t>スケール依存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200000" y="10944000"/>
            <a:ext cx="6480000" cy="648000"/>
          </a:xfrm>
          <a:prstGeom prst="rect">
            <a:avLst/>
          </a:prstGeom>
          <a:solidFill>
            <a:srgbClr val="E8F4F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308000" y="11069999"/>
            <a:ext cx="630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A1A2E"/>
                </a:solidFill>
              </a:rPr>
              <a:t>あり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3860000" y="10944000"/>
            <a:ext cx="6480000" cy="648000"/>
          </a:xfrm>
          <a:prstGeom prst="rect">
            <a:avLst/>
          </a:prstGeom>
          <a:solidFill>
            <a:srgbClr val="E8F4F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3968000" y="11069999"/>
            <a:ext cx="630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A1A2E"/>
                </a:solidFill>
              </a:rPr>
              <a:t>なし（正規化済み）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40000" y="11592000"/>
            <a:ext cx="6480000" cy="6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48000" y="11717999"/>
            <a:ext cx="630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A1A2E"/>
                </a:solidFill>
              </a:rPr>
              <a:t>計算コスト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200000" y="11592000"/>
            <a:ext cx="6480000" cy="6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308000" y="11717999"/>
            <a:ext cx="630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A1A2E"/>
                </a:solidFill>
              </a:rPr>
              <a:t>低い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3860000" y="11592000"/>
            <a:ext cx="6480000" cy="6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3968000" y="11717999"/>
            <a:ext cx="630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A1A2E"/>
                </a:solidFill>
              </a:rPr>
              <a:t>共分散行列の逆行列計算が必要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40000" y="12240000"/>
            <a:ext cx="6480000" cy="648000"/>
          </a:xfrm>
          <a:prstGeom prst="rect">
            <a:avLst/>
          </a:prstGeom>
          <a:solidFill>
            <a:srgbClr val="E8F4F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48000" y="12365999"/>
            <a:ext cx="630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A1A2E"/>
                </a:solidFill>
              </a:rPr>
              <a:t>高次元データ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200000" y="12240000"/>
            <a:ext cx="6480000" cy="648000"/>
          </a:xfrm>
          <a:prstGeom prst="rect">
            <a:avLst/>
          </a:prstGeom>
          <a:solidFill>
            <a:srgbClr val="E8F4F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308000" y="12365999"/>
            <a:ext cx="630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A1A2E"/>
                </a:solidFill>
              </a:rPr>
              <a:t>苦手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3860000" y="12240000"/>
            <a:ext cx="6480000" cy="648000"/>
          </a:xfrm>
          <a:prstGeom prst="rect">
            <a:avLst/>
          </a:prstGeom>
          <a:solidFill>
            <a:srgbClr val="E8F4F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3968000" y="12365999"/>
            <a:ext cx="6300000" cy="432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A1A2E"/>
                </a:solidFill>
              </a:rPr>
              <a:t>ある程度対応可能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