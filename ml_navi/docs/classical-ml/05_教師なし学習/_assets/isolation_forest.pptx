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440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</a:rPr>
              <a:t>Isolation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0" y="288000"/>
            <a:ext cx="504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BDE4FC"/>
                </a:solidFill>
              </a:rPr>
              <a:t>ランダム分割による異常検知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68000"/>
            <a:ext cx="21290400" cy="1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0000" y="1800000"/>
            <a:ext cx="20160000" cy="108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944000"/>
            <a:ext cx="28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13CA6"/>
                </a:solidFill>
              </a:rPr>
              <a:t>核心的アイデア: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0" y="1944000"/>
            <a:ext cx="1692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A1A2E"/>
                </a:solidFill>
              </a:rPr>
              <a:t>異常点は少ない分割操作で孤立する ⇒ パスの長さが短い = 異常スコアが高い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060000"/>
            <a:ext cx="93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00B050"/>
                </a:solidFill>
              </a:rPr>
              <a:t>正常点 : 多くの分割が必要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528000" y="4031999"/>
            <a:ext cx="216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88000" y="4031999"/>
            <a:ext cx="216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48000" y="5111999"/>
            <a:ext cx="108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28000" y="5111999"/>
            <a:ext cx="108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768000" y="5111999"/>
            <a:ext cx="108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48000" y="5111999"/>
            <a:ext cx="108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728000" y="6191999"/>
            <a:ext cx="72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48000" y="6191999"/>
            <a:ext cx="72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208000" y="6191999"/>
            <a:ext cx="72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28000" y="6191999"/>
            <a:ext cx="72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448000" y="7271999"/>
            <a:ext cx="72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68000" y="7271999"/>
            <a:ext cx="72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40000" y="3780000"/>
            <a:ext cx="1260000" cy="503999"/>
          </a:xfrm>
          <a:prstGeom prst="round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x &lt; 5.2?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000" y="4860000"/>
            <a:ext cx="1260000" cy="503999"/>
          </a:xfrm>
          <a:prstGeom prst="round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x &lt; 3.1?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0000" y="4860000"/>
            <a:ext cx="1260000" cy="503999"/>
          </a:xfrm>
          <a:prstGeom prst="round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x &lt; 7.8?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00000" y="5940000"/>
            <a:ext cx="1260000" cy="503999"/>
          </a:xfrm>
          <a:prstGeom prst="round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y &lt; 2.0?</a:t>
            </a:r>
          </a:p>
        </p:txBody>
      </p:sp>
      <p:sp>
        <p:nvSpPr>
          <p:cNvPr id="27" name="Oval 26"/>
          <p:cNvSpPr/>
          <p:nvPr/>
        </p:nvSpPr>
        <p:spPr>
          <a:xfrm>
            <a:off x="3960000" y="5940000"/>
            <a:ext cx="648000" cy="5039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Leaf</a:t>
            </a:r>
          </a:p>
        </p:txBody>
      </p:sp>
      <p:sp>
        <p:nvSpPr>
          <p:cNvPr id="28" name="Oval 27"/>
          <p:cNvSpPr/>
          <p:nvPr/>
        </p:nvSpPr>
        <p:spPr>
          <a:xfrm>
            <a:off x="6120000" y="5940000"/>
            <a:ext cx="648000" cy="503999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0000" y="5940000"/>
            <a:ext cx="1260000" cy="503999"/>
          </a:xfrm>
          <a:prstGeom prst="round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y &lt; 6.1?</a:t>
            </a:r>
          </a:p>
        </p:txBody>
      </p:sp>
      <p:sp>
        <p:nvSpPr>
          <p:cNvPr id="30" name="Oval 29"/>
          <p:cNvSpPr/>
          <p:nvPr/>
        </p:nvSpPr>
        <p:spPr>
          <a:xfrm>
            <a:off x="1080000" y="7020000"/>
            <a:ext cx="648000" cy="503999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20000" y="7020000"/>
            <a:ext cx="1260000" cy="503999"/>
          </a:xfrm>
          <a:prstGeom prst="round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x &lt; 1.5?</a:t>
            </a:r>
          </a:p>
        </p:txBody>
      </p:sp>
      <p:sp>
        <p:nvSpPr>
          <p:cNvPr id="32" name="Oval 31"/>
          <p:cNvSpPr/>
          <p:nvPr/>
        </p:nvSpPr>
        <p:spPr>
          <a:xfrm>
            <a:off x="7560000" y="7020000"/>
            <a:ext cx="648000" cy="503999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Leaf</a:t>
            </a:r>
          </a:p>
        </p:txBody>
      </p:sp>
      <p:sp>
        <p:nvSpPr>
          <p:cNvPr id="33" name="Oval 32"/>
          <p:cNvSpPr/>
          <p:nvPr/>
        </p:nvSpPr>
        <p:spPr>
          <a:xfrm>
            <a:off x="9000000" y="7020000"/>
            <a:ext cx="648000" cy="503999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Leaf</a:t>
            </a:r>
          </a:p>
        </p:txBody>
      </p:sp>
      <p:sp>
        <p:nvSpPr>
          <p:cNvPr id="34" name="Oval 33"/>
          <p:cNvSpPr/>
          <p:nvPr/>
        </p:nvSpPr>
        <p:spPr>
          <a:xfrm>
            <a:off x="1800000" y="8100000"/>
            <a:ext cx="648000" cy="503999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Leaf</a:t>
            </a:r>
          </a:p>
        </p:txBody>
      </p:sp>
      <p:sp>
        <p:nvSpPr>
          <p:cNvPr id="35" name="Oval 34"/>
          <p:cNvSpPr/>
          <p:nvPr/>
        </p:nvSpPr>
        <p:spPr>
          <a:xfrm>
            <a:off x="3240000" y="8100000"/>
            <a:ext cx="648000" cy="5039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Leaf✓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0000" y="8460000"/>
            <a:ext cx="64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0B050"/>
                </a:solidFill>
              </a:rPr>
              <a:t>パス長 = 7  →  長い（正常）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0000" y="3060000"/>
            <a:ext cx="93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0000"/>
                </a:solidFill>
              </a:rPr>
              <a:t>異常点 : 少ない分割で孤立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10368000" y="4031999"/>
            <a:ext cx="216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2528000" y="4031999"/>
            <a:ext cx="216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3608000" y="5111999"/>
            <a:ext cx="108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688000" y="5111999"/>
            <a:ext cx="1080000" cy="108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1880000" y="3780000"/>
            <a:ext cx="1260000" cy="503999"/>
          </a:xfrm>
          <a:prstGeom prst="round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x &lt; 5.2?</a:t>
            </a:r>
          </a:p>
        </p:txBody>
      </p:sp>
      <p:sp>
        <p:nvSpPr>
          <p:cNvPr id="43" name="Oval 42"/>
          <p:cNvSpPr/>
          <p:nvPr/>
        </p:nvSpPr>
        <p:spPr>
          <a:xfrm>
            <a:off x="9720000" y="4860000"/>
            <a:ext cx="648000" cy="503999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040000" y="4860000"/>
            <a:ext cx="1260000" cy="503999"/>
          </a:xfrm>
          <a:prstGeom prst="round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x &lt; 8.9?</a:t>
            </a:r>
          </a:p>
        </p:txBody>
      </p:sp>
      <p:sp>
        <p:nvSpPr>
          <p:cNvPr id="45" name="Oval 44"/>
          <p:cNvSpPr/>
          <p:nvPr/>
        </p:nvSpPr>
        <p:spPr>
          <a:xfrm>
            <a:off x="12960000" y="5940000"/>
            <a:ext cx="648000" cy="503999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Leaf</a:t>
            </a:r>
          </a:p>
        </p:txBody>
      </p:sp>
      <p:sp>
        <p:nvSpPr>
          <p:cNvPr id="46" name="Oval 45"/>
          <p:cNvSpPr/>
          <p:nvPr/>
        </p:nvSpPr>
        <p:spPr>
          <a:xfrm>
            <a:off x="15120000" y="5940000"/>
            <a:ext cx="648000" cy="5039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Leaf✓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40000" y="6480000"/>
            <a:ext cx="64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0000"/>
                </a:solidFill>
              </a:rPr>
              <a:t>パス長 = 3  →  短い（異常！）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20000" y="3600000"/>
            <a:ext cx="540000" cy="504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20000" y="5940000"/>
            <a:ext cx="54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9180000"/>
            <a:ext cx="21290400" cy="14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0000" y="9432000"/>
            <a:ext cx="72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13CA6"/>
                </a:solidFill>
              </a:rPr>
              <a:t>アルゴリズムのステップ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0000" y="9900000"/>
            <a:ext cx="4968000" cy="180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0000" y="9900000"/>
            <a:ext cx="1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000" y="9936000"/>
            <a:ext cx="1655999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0000" y="10548000"/>
            <a:ext cx="46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13CA6"/>
                </a:solidFill>
              </a:rPr>
              <a:t>ランダムサンプリング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0000" y="10980000"/>
            <a:ext cx="4608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部分標本を繰り返し選択（デフォルト256点）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60000" y="9900000"/>
            <a:ext cx="4968000" cy="180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60000" y="9900000"/>
            <a:ext cx="1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32000" y="9936000"/>
            <a:ext cx="1655999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0000" y="10548000"/>
            <a:ext cx="46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13CA6"/>
                </a:solidFill>
              </a:rPr>
              <a:t>ランダム分割木構築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0000" y="10980000"/>
            <a:ext cx="4608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特徴量と閾値をランダムに選び二分木を作成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980000" y="9900000"/>
            <a:ext cx="4968000" cy="180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980000" y="9900000"/>
            <a:ext cx="1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52000" y="9936000"/>
            <a:ext cx="1655999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60000" y="10548000"/>
            <a:ext cx="46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13CA6"/>
                </a:solidFill>
              </a:rPr>
              <a:t>パス長を記録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60000" y="10980000"/>
            <a:ext cx="4608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各データ点が孤立するまでの分割数を記録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6200000" y="9900000"/>
            <a:ext cx="4968000" cy="180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200000" y="9900000"/>
            <a:ext cx="1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2000" y="9936000"/>
            <a:ext cx="1655999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380000" y="10548000"/>
            <a:ext cx="46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13CA6"/>
                </a:solidFill>
              </a:rPr>
              <a:t>異常スコア算出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380000" y="10980000"/>
            <a:ext cx="4608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平均パス長を正規化 → スコア0.5超が異常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