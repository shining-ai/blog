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PCA（主成分分析）— 主成分方向の視覚化と2D→1D圧縮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1008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2次元データと主成分方向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60000" y="5760000"/>
            <a:ext cx="8640000" cy="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0000" y="2304000.0"/>
            <a:ext cx="0" cy="6912000.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936000" y="561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D0D0"/>
                </a:solidFill>
              </a:rPr>
              <a:t>x₁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000" y="2088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0D0D0"/>
                </a:solidFill>
              </a:rPr>
              <a:t>x₂</a:t>
            </a:r>
          </a:p>
        </p:txBody>
      </p:sp>
      <p:sp>
        <p:nvSpPr>
          <p:cNvPr id="11" name="Oval 10"/>
          <p:cNvSpPr/>
          <p:nvPr/>
        </p:nvSpPr>
        <p:spPr>
          <a:xfrm>
            <a:off x="4240800" y="640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20800" y="622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00800" y="6328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80800" y="604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60800" y="5968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40800" y="586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20800" y="568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00800" y="5572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80800" y="550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60800" y="5392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40800" y="5248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20800" y="514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5032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0800" y="4888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0800" y="478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80800" y="550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40800" y="532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00800" y="5860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0800" y="5752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20800" y="5968800"/>
            <a:ext cx="158400" cy="158400"/>
          </a:xfrm>
          <a:prstGeom prst="ellipse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2560785.9553964734" y="3799299.4739459027"/>
            <a:ext cx="6038428.089207053" cy="3921401.0521081947"/>
          </a:xfrm>
          <a:prstGeom prst="line">
            <a:avLst/>
          </a:prstGeom>
          <a:ln w="3810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671214" y="3259299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3030"/>
                </a:solidFill>
              </a:rPr>
              <a:t>PC1（第1主成分）
分散最大方向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403579.684367541" y="3948471.5732378843"/>
            <a:ext cx="2352840.6312649176" cy="3623056.853524231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75579" y="3588471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PC2（第2主成分）
PC1と直交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320000.0" y="6470197.602126796"/>
            <a:ext cx="166391.5950998189" cy="9802.397873204201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00000" y="6300000.0"/>
            <a:ext cx="174334.44525800925" cy="48146.088146884926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680000.0" y="6302981.50522435"/>
            <a:ext cx="63881.80410571862" cy="105018.49477565009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60000" y="6120000"/>
            <a:ext cx="116222.96350533888" cy="32097.392097922973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40000.0" y="6048000.0"/>
            <a:ext cx="79767.50442209933" cy="10878.477264528163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20000" y="5940000.0"/>
            <a:ext cx="58111.48175266944" cy="16048.696048961952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00000.0" y="5760000"/>
            <a:ext cx="66054.3319108598" cy="73997.18206905108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580000" y="5652000.0"/>
            <a:ext cx="44398.309241430834" cy="79167.40085348394"/>
          </a:xfrm>
          <a:prstGeom prst="line">
            <a:avLst/>
          </a:prstGeom>
          <a:ln w="12700">
            <a:solidFill>
              <a:srgbClr val="99B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980000" y="4860000"/>
            <a:ext cx="12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2D→1D
  圧縮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240000" y="5400000.0"/>
            <a:ext cx="540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600000" y="5256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13CA6"/>
                </a:solidFill>
              </a:rPr>
              <a:t>▶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520000" y="5400000.0"/>
            <a:ext cx="5040000" cy="0.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2583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736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889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31040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3348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501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807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960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4113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266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5116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725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878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5031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52460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501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960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3807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4113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654800" y="5320800"/>
            <a:ext cx="158400" cy="158400"/>
          </a:xfrm>
          <a:prstGeom prst="ellipse">
            <a:avLst/>
          </a:prstGeom>
          <a:solidFill>
            <a:srgbClr val="FF30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520000" y="561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3030"/>
                </a:solidFill>
              </a:rPr>
              <a:t>PC1軸上に射影（1次元）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0000" y="9611999"/>
            <a:ext cx="46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0000" y="968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DE4FC"/>
                </a:solidFill>
              </a:rPr>
              <a:t>STEP1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0000" y="9971999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分散・共分散行列を計算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0000" y="10475999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データの広がりを数値化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92000" y="10277999"/>
            <a:ext cx="2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08000" y="9611999"/>
            <a:ext cx="46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08000" y="968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DE4FC"/>
                </a:solidFill>
              </a:rPr>
              <a:t>STEP2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8000" y="9971999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固有値・固有ベクトルを求める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08000" y="10475999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主成分方向を特定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60000" y="10277999"/>
            <a:ext cx="2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76000" y="9611999"/>
            <a:ext cx="46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476000" y="968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DE4FC"/>
                </a:solidFill>
              </a:rPr>
              <a:t>STEP3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76000" y="9971999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固有値の大きい順に並べる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76000" y="10475999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寄与率の高い成分を選択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228000" y="10277999"/>
            <a:ext cx="2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13CA6"/>
                </a:solidFill>
              </a:rPr>
              <a:t>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44000" y="9611999"/>
            <a:ext cx="468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444000" y="9683999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DE4FC"/>
                </a:solidFill>
              </a:rPr>
              <a:t>STEP4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444000" y="9971999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上位k個のベクトルに射影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444000" y="10475999"/>
            <a:ext cx="46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次元削減を実行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60000" y="1440000"/>
            <a:ext cx="9720000" cy="79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160000" y="1548000"/>
            <a:ext cx="9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累積寄与率グラフ（スクリープロット）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240000" y="2160000"/>
            <a:ext cx="7920000" cy="5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2240000" y="2160000"/>
            <a:ext cx="0" cy="504000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2240000" y="7200000"/>
            <a:ext cx="7920000" cy="0"/>
          </a:xfrm>
          <a:prstGeom prst="line">
            <a:avLst/>
          </a:prstGeom>
          <a:ln w="1905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2168000" y="7200000.0"/>
            <a:ext cx="72000" cy="0.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1340000" y="7092000"/>
            <a:ext cx="82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06060"/>
                </a:solidFill>
              </a:rPr>
              <a:t>0%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2168000" y="5940000.0"/>
            <a:ext cx="72000" cy="0.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1340000" y="5832000"/>
            <a:ext cx="82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06060"/>
                </a:solidFill>
              </a:rPr>
              <a:t>25%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2168000" y="4680000.0"/>
            <a:ext cx="72000" cy="0.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1340000" y="4572000"/>
            <a:ext cx="82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06060"/>
                </a:solidFill>
              </a:rPr>
              <a:t>50%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2168000" y="3420000.0"/>
            <a:ext cx="72000" cy="0.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1340000" y="3312000"/>
            <a:ext cx="82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06060"/>
                </a:solidFill>
              </a:rPr>
              <a:t>75%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2168000" y="2160000.0"/>
            <a:ext cx="72000" cy="0.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1340000" y="2052000"/>
            <a:ext cx="82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06060"/>
                </a:solidFill>
              </a:rPr>
              <a:t>100%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2276000" y="4932000"/>
            <a:ext cx="918000" cy="2268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27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266000" y="5940000"/>
            <a:ext cx="918000" cy="1260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326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4256000" y="6595200"/>
            <a:ext cx="918000" cy="6048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425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5246000" y="6847200"/>
            <a:ext cx="918000" cy="3528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524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6236000" y="6998400"/>
            <a:ext cx="918000" cy="2016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623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7226000" y="7048800"/>
            <a:ext cx="918000" cy="1512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22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216000" y="7074000"/>
            <a:ext cx="918000" cy="12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21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9206000" y="7124400"/>
            <a:ext cx="918000" cy="756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9206000" y="7236000"/>
            <a:ext cx="91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6060"/>
                </a:solidFill>
              </a:rPr>
              <a:t>PC8</a:t>
            </a:r>
          </a:p>
        </p:txBody>
      </p:sp>
      <p:cxnSp>
        <p:nvCxnSpPr>
          <p:cNvPr id="118" name="Connector 117"/>
          <p:cNvCxnSpPr/>
          <p:nvPr/>
        </p:nvCxnSpPr>
        <p:spPr>
          <a:xfrm flipV="1">
            <a:off x="12735000.0" y="3672000.0"/>
            <a:ext cx="990000.0" cy="1260000.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3725000.0" y="3067200.0000000005"/>
            <a:ext cx="990000.0" cy="604799.9999999995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4715000.0" y="2714400.0"/>
            <a:ext cx="990000.0" cy="352800.00000000047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5705000.0" y="2512800.0"/>
            <a:ext cx="990000.0" cy="201600.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6695000.0" y="2361600.0"/>
            <a:ext cx="990000.0" cy="151200.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7685000.0" y="2235600.0"/>
            <a:ext cx="990000.0" cy="126000.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8675000.0" y="2160000.0"/>
            <a:ext cx="990000.0" cy="75600.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12663000" y="48600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3653000" y="36000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643000" y="29952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5633000" y="26424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6623000" y="24408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7613000" y="22896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8603000" y="21636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9593000" y="2088000"/>
            <a:ext cx="144000" cy="1440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12240000" y="3168000.0"/>
            <a:ext cx="7920000" cy="0.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20232000" y="3060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80%閾値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160000" y="7560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  棒グラフ: 個別寄与率   折れ線: 累積寄与率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520000" y="7740000"/>
            <a:ext cx="720000" cy="216000"/>
          </a:xfrm>
          <a:prstGeom prst="rect">
            <a:avLst/>
          </a:prstGeom>
          <a:solidFill>
            <a:srgbClr val="BDE4FC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2312000" y="774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個別寄与率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4400000" y="7848000"/>
            <a:ext cx="720000" cy="0"/>
          </a:xfrm>
          <a:prstGeom prst="line">
            <a:avLst/>
          </a:prstGeom>
          <a:ln w="31750">
            <a:solidFill>
              <a:srgbClr val="FF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14695200" y="7783200"/>
            <a:ext cx="129600" cy="129600"/>
          </a:xfrm>
          <a:prstGeom prst="ellipse">
            <a:avLst/>
          </a:prstGeom>
          <a:solidFill>
            <a:srgbClr val="FF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191999" y="774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累積寄与率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340000" y="81000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・線形次元削減手法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340000" y="83592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・データの分散を最大化する方向を選ぶ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340000" y="86184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・主成分は互いに直交（無相関）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340000" y="8877600"/>
            <a:ext cx="9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・固有値 = 各主成分の寄与率に対応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