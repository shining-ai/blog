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44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UMAP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0" y="288000"/>
            <a:ext cx="576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UMAPとt-SNEの比較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728000"/>
            <a:ext cx="64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13CA6"/>
                </a:solidFill>
              </a:rPr>
              <a:t>グローバル構造 vs ローカル構造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0" y="1728000"/>
            <a:ext cx="79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13CA6"/>
                </a:solidFill>
              </a:rPr>
              <a:t>計算速度の比較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340000"/>
            <a:ext cx="6480000" cy="504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2520000"/>
            <a:ext cx="612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013CA6"/>
                </a:solidFill>
              </a:rPr>
              <a:t>UMAP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000" y="3240000"/>
            <a:ext cx="5760000" cy="10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3348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グローバル構造を保持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743999"/>
            <a:ext cx="540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クラスター間の相対距離も意味を持つ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" y="4500000"/>
            <a:ext cx="5760000" cy="10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0" y="4608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リーマン幾何学ベース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5003999"/>
            <a:ext cx="540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多様体学習の理論的基盤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5760000"/>
            <a:ext cx="5760000" cy="10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000" y="5868000"/>
            <a:ext cx="54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高速処理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6263999"/>
            <a:ext cx="540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大規模データにも対応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60000" y="2340000"/>
            <a:ext cx="3060000" cy="5040000"/>
          </a:xfrm>
          <a:prstGeom prst="roundRect">
            <a:avLst/>
          </a:prstGeom>
          <a:solidFill>
            <a:srgbClr val="F3FAFE"/>
          </a:solidFill>
          <a:ln w="254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8000" y="2520000"/>
            <a:ext cx="28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6B7B8D"/>
                </a:solidFill>
              </a:rPr>
              <a:t>t-SNE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40000" y="3240000"/>
            <a:ext cx="2700000" cy="10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0" y="3348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6B7B8D"/>
                </a:solidFill>
              </a:rPr>
              <a:t>ローカル構造重視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0000" y="3743999"/>
            <a:ext cx="25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近傍点の関係を最優先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40000" y="4500000"/>
            <a:ext cx="2700000" cy="10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0" y="4608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6B7B8D"/>
                </a:solidFill>
              </a:rPr>
              <a:t>確率的近傍埋め込み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0000" y="5003999"/>
            <a:ext cx="25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KL divergence最小化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0000" y="5760000"/>
            <a:ext cx="2700000" cy="10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0000" y="5868000"/>
            <a:ext cx="252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6B7B8D"/>
                </a:solidFill>
              </a:rPr>
              <a:t>計算コスト高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0" y="6263999"/>
            <a:ext cx="2520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大規模データで遅い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4320000"/>
            <a:ext cx="360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000" y="4608000"/>
            <a:ext cx="3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60000" y="2340000"/>
            <a:ext cx="2880000" cy="93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68000" y="2556000"/>
            <a:ext cx="27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データ規模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040000" y="2340000"/>
            <a:ext cx="2160000" cy="936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48000" y="2556000"/>
            <a:ext cx="19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UMAP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200000" y="2340000"/>
            <a:ext cx="2340000" cy="936000"/>
          </a:xfrm>
          <a:prstGeom prst="rect">
            <a:avLst/>
          </a:prstGeom>
          <a:solidFill>
            <a:srgbClr val="6B7B8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308000" y="2556000"/>
            <a:ext cx="21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t-SNE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60000" y="3276000"/>
            <a:ext cx="2880000" cy="93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32000" y="3474000"/>
            <a:ext cx="273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1,000点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040000" y="3276000"/>
            <a:ext cx="2160000" cy="936000"/>
          </a:xfrm>
          <a:prstGeom prst="rect">
            <a:avLst/>
          </a:prstGeom>
          <a:solidFill>
            <a:srgbClr val="BDE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12000" y="3474000"/>
            <a:ext cx="201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012A70"/>
                </a:solidFill>
              </a:rPr>
              <a:t>&lt; 1秒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200000" y="3276000"/>
            <a:ext cx="2340000" cy="936000"/>
          </a:xfrm>
          <a:prstGeom prst="rect">
            <a:avLst/>
          </a:prstGeom>
          <a:solidFill>
            <a:srgbClr val="F3F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272000" y="3474000"/>
            <a:ext cx="219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6B7B8D"/>
                </a:solidFill>
              </a:rPr>
              <a:t>&lt; 1秒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60000" y="4212000"/>
            <a:ext cx="2880000" cy="93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232000" y="4410000"/>
            <a:ext cx="273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10,000点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040000" y="4212000"/>
            <a:ext cx="2160000" cy="936000"/>
          </a:xfrm>
          <a:prstGeom prst="rect">
            <a:avLst/>
          </a:prstGeom>
          <a:solidFill>
            <a:srgbClr val="BDE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112000" y="4410000"/>
            <a:ext cx="201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012A70"/>
                </a:solidFill>
              </a:rPr>
              <a:t>~ 3秒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00000" y="4212000"/>
            <a:ext cx="2340000" cy="936000"/>
          </a:xfrm>
          <a:prstGeom prst="rect">
            <a:avLst/>
          </a:prstGeom>
          <a:solidFill>
            <a:srgbClr val="F3F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272000" y="4410000"/>
            <a:ext cx="219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6B7B8D"/>
                </a:solidFill>
              </a:rPr>
              <a:t>~ 30秒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160000" y="5148000"/>
            <a:ext cx="2880000" cy="93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32000" y="5346000"/>
            <a:ext cx="273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100,000点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040000" y="5148000"/>
            <a:ext cx="2160000" cy="936000"/>
          </a:xfrm>
          <a:prstGeom prst="rect">
            <a:avLst/>
          </a:prstGeom>
          <a:solidFill>
            <a:srgbClr val="BDE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112000" y="5346000"/>
            <a:ext cx="201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012A70"/>
                </a:solidFill>
              </a:rPr>
              <a:t>~ 20秒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200000" y="5148000"/>
            <a:ext cx="2340000" cy="936000"/>
          </a:xfrm>
          <a:prstGeom prst="rect">
            <a:avLst/>
          </a:prstGeom>
          <a:solidFill>
            <a:srgbClr val="F3F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272000" y="5346000"/>
            <a:ext cx="219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6B7B8D"/>
                </a:solidFill>
              </a:rPr>
              <a:t>~ 数時間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160000" y="6084000"/>
            <a:ext cx="2880000" cy="93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32000" y="6282000"/>
            <a:ext cx="273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1A1A2E"/>
                </a:solidFill>
              </a:rPr>
              <a:t>1,000,000点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040000" y="6084000"/>
            <a:ext cx="2160000" cy="936000"/>
          </a:xfrm>
          <a:prstGeom prst="rect">
            <a:avLst/>
          </a:prstGeom>
          <a:solidFill>
            <a:srgbClr val="BDE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112000" y="6282000"/>
            <a:ext cx="201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1">
                <a:solidFill>
                  <a:srgbClr val="012A70"/>
                </a:solidFill>
              </a:rPr>
              <a:t>~ 数分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00000" y="6084000"/>
            <a:ext cx="2340000" cy="936000"/>
          </a:xfrm>
          <a:prstGeom prst="rect">
            <a:avLst/>
          </a:prstGeom>
          <a:solidFill>
            <a:srgbClr val="F3FAF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272000" y="6282000"/>
            <a:ext cx="2196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>
                <a:solidFill>
                  <a:srgbClr val="6B7B8D"/>
                </a:solidFill>
              </a:rPr>
              <a:t>実用困難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60000" y="7020000"/>
            <a:ext cx="90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13CA6"/>
                </a:solidFill>
              </a:rPr>
              <a:t>相対的な処理速度（10,000点の場合）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160000" y="7560000"/>
            <a:ext cx="36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160000" y="7452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3CA6"/>
                </a:solidFill>
              </a:rPr>
              <a:t>UMAP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867999" y="7668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2A70"/>
                </a:solidFill>
              </a:rPr>
              <a:t>~ 3秒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60000" y="8460000"/>
            <a:ext cx="9720000" cy="64800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160000" y="8352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6B7B8D"/>
                </a:solidFill>
              </a:rPr>
              <a:t>t-SNE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988000" y="8568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6B7B8D"/>
                </a:solidFill>
              </a:rPr>
              <a:t>~ 30秒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9540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0000" y="9792000"/>
            <a:ext cx="19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13CA6"/>
                </a:solidFill>
              </a:rPr>
              <a:t>UMAPの主な特長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0000" y="10368000"/>
            <a:ext cx="4968000" cy="126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0000" y="10476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高速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0000" y="10908000"/>
            <a:ext cx="46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大規模データを数分で処理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760000" y="10368000"/>
            <a:ext cx="4968000" cy="126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0000" y="10476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グローバル構造保持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0000" y="10908000"/>
            <a:ext cx="46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クラスター間の位置関係が意味を持つ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980000" y="10368000"/>
            <a:ext cx="4968000" cy="126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160000" y="10476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柔軟なパラメータ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160000" y="10908000"/>
            <a:ext cx="46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n_neighbors・min_distで調整可能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6200000" y="10368000"/>
            <a:ext cx="4968000" cy="126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380000" y="10476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多様な距離指標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380000" y="10908000"/>
            <a:ext cx="46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ユークリッド・コサイン・相関など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