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180000"/>
            <a:ext cx="205704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2057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t-SNE — 高次元→2次元変換の概念図（MNISTクラスタ可視化例）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17200" y="1440000"/>
            <a:ext cx="4320000" cy="21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7200" y="154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7200" y="190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高次元での
類似度を計算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200" y="2592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ガウス分布で
近傍確率 P を算出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3200" y="2376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9200" y="1440000"/>
            <a:ext cx="4320000" cy="216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9200" y="154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9200" y="190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低次元での
類似度を定義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9200" y="2592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t分布で
近傍確率 Q を算出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45200" y="2376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41200" y="1440000"/>
            <a:ext cx="4320000" cy="216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1200" y="154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1200" y="190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KLダイバージェンス
を最小化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1200" y="2592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 と Q の差を
勾配降下で縮小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57200" y="2376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53200" y="1440000"/>
            <a:ext cx="4320000" cy="21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153200" y="154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DE4FC"/>
                </a:solidFill>
              </a:rPr>
              <a:t>STEP4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53200" y="190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2次元座標に
配置完了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53200" y="2592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クラスタが
視覚的に分離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888000"/>
            <a:ext cx="205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996000"/>
            <a:ext cx="20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t分布を使う理由: 裾が重い（heavy-tail）→ 高次元の「距離の呪い」を補正。遠い点はより遠く、近い点は密集して配置される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5040000"/>
            <a:ext cx="7200000" cy="68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14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高次元空間（784次元: MNIST）</a:t>
            </a:r>
          </a:p>
        </p:txBody>
      </p:sp>
      <p:sp>
        <p:nvSpPr>
          <p:cNvPr id="28" name="Oval 27"/>
          <p:cNvSpPr/>
          <p:nvPr/>
        </p:nvSpPr>
        <p:spPr>
          <a:xfrm>
            <a:off x="3180118" y="7239669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13079" y="8903010"/>
            <a:ext cx="144000" cy="144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5251" y="10517921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36979" y="8461350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60942" y="8968524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15334" y="7122825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26354" y="9106546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56598" y="830166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82777" y="10296583"/>
            <a:ext cx="144000" cy="1440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60461" y="8923763"/>
            <a:ext cx="144000" cy="144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02749" y="10113665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67401" y="9055602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24884" y="8954256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92416" y="9262121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977215" y="8435199"/>
            <a:ext cx="144000" cy="144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94634" y="10577266"/>
            <a:ext cx="144000" cy="144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58826" y="10019719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60550" y="7885077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958692" y="9739203"/>
            <a:ext cx="144000" cy="1440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17153" y="6904228"/>
            <a:ext cx="144000" cy="1440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55340" y="9858848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51681" y="8409737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01437" y="9063472"/>
            <a:ext cx="144000" cy="144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62217" y="8100771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70671" y="8558808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09192" y="8636105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53774" y="9618445"/>
            <a:ext cx="144000" cy="144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53203" y="10138715"/>
            <a:ext cx="144000" cy="1440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159804" y="10420014"/>
            <a:ext cx="144000" cy="144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61718" y="858252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627034" y="8720754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419894" y="714675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53405" y="10548646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954130" y="8528490"/>
            <a:ext cx="144000" cy="1440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948310" y="7179521"/>
            <a:ext cx="144000" cy="1440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02481" y="7790779"/>
            <a:ext cx="144000" cy="1440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519794" y="9537363"/>
            <a:ext cx="144000" cy="1440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74965" y="7239979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10544" y="9432792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992213" y="9133013"/>
            <a:ext cx="144000" cy="1440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968931" y="7217323"/>
            <a:ext cx="144000" cy="1440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409039" y="9034594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028088" y="8814922"/>
            <a:ext cx="144000" cy="144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849030" y="9783870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081646" y="9957468"/>
            <a:ext cx="144000" cy="1440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525590" y="8311589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74876" y="8317913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87432" y="7489857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102039" y="9183141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49176" y="7241465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30701" y="9239344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954635" y="9240778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745424" y="10715621"/>
            <a:ext cx="144000" cy="144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83384" y="7118679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553237" y="8601075"/>
            <a:ext cx="144000" cy="144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119736" y="7210588"/>
            <a:ext cx="144000" cy="144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279370" y="8655647"/>
            <a:ext cx="144000" cy="144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50325" y="7474529"/>
            <a:ext cx="144000" cy="1440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371233" y="9569091"/>
            <a:ext cx="144000" cy="144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369040" y="7875748"/>
            <a:ext cx="144000" cy="144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0000" y="10980000"/>
            <a:ext cx="68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クラスが混在した点群
（人間には判別困難）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20000" y="7920000"/>
            <a:ext cx="1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t-SNE
変換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88000" y="8460000.0"/>
            <a:ext cx="612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720000" y="8316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20000" y="5040000"/>
            <a:ext cx="11160000" cy="6840000"/>
          </a:xfrm>
          <a:prstGeom prst="rect">
            <a:avLst/>
          </a:prstGeom>
          <a:solidFill>
            <a:srgbClr val="F0F5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20000" y="5148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2次元 t-SNE 可視化（MNISTの各数字クラスタ）</a:t>
            </a:r>
          </a:p>
        </p:txBody>
      </p:sp>
      <p:sp>
        <p:nvSpPr>
          <p:cNvPr id="94" name="Oval 93"/>
          <p:cNvSpPr/>
          <p:nvPr/>
        </p:nvSpPr>
        <p:spPr>
          <a:xfrm>
            <a:off x="11517097" y="6501666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73907" y="6543445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901467" y="6545795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494513" y="6920042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662519" y="7139557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609217" y="6693097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743073" y="6516023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2054959" y="6651919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99961" y="6918366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245259" y="6899530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998764" y="6621530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2103407" y="6785610"/>
            <a:ext cx="158400" cy="1584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160000" y="612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07" name="Oval 106"/>
          <p:cNvSpPr/>
          <p:nvPr/>
        </p:nvSpPr>
        <p:spPr>
          <a:xfrm>
            <a:off x="13717231" y="6014050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3315633" y="5841561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2889030" y="5784853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3949535" y="6070443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3379854" y="6386609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3534749" y="6452679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3266927" y="5795272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3875225" y="5747742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3735986" y="6123240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3942319" y="6424338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3593923" y="5640822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2905969" y="6018101"/>
            <a:ext cx="158400" cy="1584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960000" y="540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A81A"/>
                </a:solidFill>
              </a:rPr>
              <a:t>1</a:t>
            </a:r>
          </a:p>
        </p:txBody>
      </p:sp>
      <p:sp>
        <p:nvSpPr>
          <p:cNvPr id="120" name="Oval 119"/>
          <p:cNvSpPr/>
          <p:nvPr/>
        </p:nvSpPr>
        <p:spPr>
          <a:xfrm>
            <a:off x="16646041" y="5678923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6220254" y="5683121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6095392" y="5613698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6116874" y="6061019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5977658" y="6288954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5820632" y="5791480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038983" y="5957915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6585698" y="5914491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6511398" y="6405580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5902202" y="6355235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6408441" y="6254399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6417477" y="5961571"/>
            <a:ext cx="158400" cy="158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40000" y="540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33" name="Oval 132"/>
          <p:cNvSpPr/>
          <p:nvPr/>
        </p:nvSpPr>
        <p:spPr>
          <a:xfrm>
            <a:off x="18025002" y="6812925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108866" y="6842286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077953" y="6868149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8526642" y="7354570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8782602" y="7419852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8047391" y="7399309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8121629" y="6751345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8231532" y="7194838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7972292" y="6875703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8351829" y="7399325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8352163" y="7046553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8321455" y="6768862"/>
            <a:ext cx="158400" cy="1584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8000000" y="648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3030"/>
                </a:solidFill>
              </a:rPr>
              <a:t>3</a:t>
            </a:r>
          </a:p>
        </p:txBody>
      </p:sp>
      <p:sp>
        <p:nvSpPr>
          <p:cNvPr id="146" name="Oval 145"/>
          <p:cNvSpPr/>
          <p:nvPr/>
        </p:nvSpPr>
        <p:spPr>
          <a:xfrm>
            <a:off x="18510733" y="10006303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8340192" y="9553174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8040292" y="9477866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8267480" y="9773306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7896309" y="9964134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8339183" y="9397674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8434815" y="9791392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7830499" y="9464870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8372426" y="9278030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8033642" y="10041528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7837510" y="9643522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8540582" y="9964448"/>
            <a:ext cx="158400" cy="1584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7640000" y="900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030C8"/>
                </a:solidFill>
              </a:rPr>
              <a:t>4</a:t>
            </a:r>
          </a:p>
        </p:txBody>
      </p:sp>
      <p:sp>
        <p:nvSpPr>
          <p:cNvPr id="159" name="Oval 158"/>
          <p:cNvSpPr/>
          <p:nvPr/>
        </p:nvSpPr>
        <p:spPr>
          <a:xfrm>
            <a:off x="16972060" y="10749522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7125017" y="10510707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7072905" y="10642464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6831674" y="10816707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6425675" y="10874801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6773418" y="11141820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6840924" y="10669007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6531011" y="11055583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6493814" y="10865140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6870684" y="11122255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6329540" y="10863369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6306192" y="10841815"/>
            <a:ext cx="158400" cy="1584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6200000" y="1008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7000"/>
                </a:solidFill>
              </a:rPr>
              <a:t>5</a:t>
            </a:r>
          </a:p>
        </p:txBody>
      </p:sp>
      <p:sp>
        <p:nvSpPr>
          <p:cNvPr id="172" name="Oval 171"/>
          <p:cNvSpPr/>
          <p:nvPr/>
        </p:nvSpPr>
        <p:spPr>
          <a:xfrm>
            <a:off x="13950539" y="11290765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176377" y="10848589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4170145" y="10947344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3672693" y="10745855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3815088" y="10649917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3576178" y="11229667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4048148" y="10793399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4088461" y="11032517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3462521" y="11295570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4038839" y="11053174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814313" y="11184310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3923030" y="11309795"/>
            <a:ext cx="158400" cy="1584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3320000" y="104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4080"/>
                </a:solidFill>
              </a:rPr>
              <a:t>6</a:t>
            </a:r>
          </a:p>
        </p:txBody>
      </p:sp>
      <p:sp>
        <p:nvSpPr>
          <p:cNvPr id="185" name="Oval 184"/>
          <p:cNvSpPr/>
          <p:nvPr/>
        </p:nvSpPr>
        <p:spPr>
          <a:xfrm>
            <a:off x="12271251" y="9741846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1463068" y="9659651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1772902" y="10070361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478828" y="9928892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1839565" y="10050245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464977" y="10076841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1759587" y="10222557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511966" y="10254487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1871123" y="9717627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1938489" y="9679797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581917" y="9954618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2359040" y="10175190"/>
            <a:ext cx="158400" cy="1584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1520000" y="936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8D4"/>
                </a:solidFill>
              </a:rPr>
              <a:t>7</a:t>
            </a:r>
          </a:p>
        </p:txBody>
      </p:sp>
      <p:sp>
        <p:nvSpPr>
          <p:cNvPr id="198" name="Oval 197"/>
          <p:cNvSpPr/>
          <p:nvPr/>
        </p:nvSpPr>
        <p:spPr>
          <a:xfrm>
            <a:off x="14412417" y="8953342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4153941" y="8344945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4256265" y="8623581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921744" y="8459414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4853598" y="8938323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4478308" y="8900291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4921207" y="8540370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4143841" y="8193380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4219539" y="8526130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77447" y="8413701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4494454" y="8418889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4753225" y="8620949"/>
            <a:ext cx="158400" cy="1584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4040000" y="792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D6E63"/>
                </a:solidFill>
              </a:rPr>
              <a:t>8</a:t>
            </a:r>
          </a:p>
        </p:txBody>
      </p:sp>
      <p:sp>
        <p:nvSpPr>
          <p:cNvPr id="211" name="Oval 210"/>
          <p:cNvSpPr/>
          <p:nvPr/>
        </p:nvSpPr>
        <p:spPr>
          <a:xfrm>
            <a:off x="15976452" y="9396150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6030379" y="9206444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580063" y="9356955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452088" y="8880027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770581" y="9047482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6216760" y="8985759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875008" y="9449744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851935" y="9544626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527341" y="8997268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698331" y="9164306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6005277" y="9020080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6004520" y="9455172"/>
            <a:ext cx="158400" cy="1584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5480000" y="86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6060"/>
                </a:solidFill>
              </a:rPr>
              <a:t>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9900000" y="1108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→ 同じ数字の画像が自然にクラスタ形成！</a:t>
            </a:r>
          </a:p>
        </p:txBody>
      </p:sp>
      <p:sp>
        <p:nvSpPr>
          <p:cNvPr id="225" name="Oval 224"/>
          <p:cNvSpPr/>
          <p:nvPr/>
        </p:nvSpPr>
        <p:spPr>
          <a:xfrm>
            <a:off x="9918000" y="102780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0188000" y="1026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0</a:t>
            </a:r>
          </a:p>
        </p:txBody>
      </p:sp>
      <p:sp>
        <p:nvSpPr>
          <p:cNvPr id="227" name="Oval 226"/>
          <p:cNvSpPr/>
          <p:nvPr/>
        </p:nvSpPr>
        <p:spPr>
          <a:xfrm>
            <a:off x="12006000" y="10278000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2276000" y="1026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1</a:t>
            </a:r>
          </a:p>
        </p:txBody>
      </p:sp>
      <p:sp>
        <p:nvSpPr>
          <p:cNvPr id="229" name="Oval 228"/>
          <p:cNvSpPr/>
          <p:nvPr/>
        </p:nvSpPr>
        <p:spPr>
          <a:xfrm>
            <a:off x="14094000" y="10278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4364000" y="1026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2</a:t>
            </a:r>
          </a:p>
        </p:txBody>
      </p:sp>
      <p:sp>
        <p:nvSpPr>
          <p:cNvPr id="231" name="Oval 230"/>
          <p:cNvSpPr/>
          <p:nvPr/>
        </p:nvSpPr>
        <p:spPr>
          <a:xfrm>
            <a:off x="16182000" y="10278000"/>
            <a:ext cx="180000" cy="180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6452000" y="1026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3</a:t>
            </a:r>
          </a:p>
        </p:txBody>
      </p:sp>
      <p:sp>
        <p:nvSpPr>
          <p:cNvPr id="233" name="Oval 232"/>
          <p:cNvSpPr/>
          <p:nvPr/>
        </p:nvSpPr>
        <p:spPr>
          <a:xfrm>
            <a:off x="18270000" y="10278000"/>
            <a:ext cx="180000" cy="180000"/>
          </a:xfrm>
          <a:prstGeom prst="ellipse">
            <a:avLst/>
          </a:prstGeom>
          <a:solidFill>
            <a:srgbClr val="803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8540000" y="1026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4</a:t>
            </a:r>
          </a:p>
        </p:txBody>
      </p:sp>
      <p:sp>
        <p:nvSpPr>
          <p:cNvPr id="235" name="Oval 234"/>
          <p:cNvSpPr/>
          <p:nvPr/>
        </p:nvSpPr>
        <p:spPr>
          <a:xfrm>
            <a:off x="9918000" y="10638000"/>
            <a:ext cx="180000" cy="180000"/>
          </a:xfrm>
          <a:prstGeom prst="ellipse">
            <a:avLst/>
          </a:prstGeom>
          <a:solidFill>
            <a:srgbClr val="FF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188000" y="1062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5</a:t>
            </a:r>
          </a:p>
        </p:txBody>
      </p:sp>
      <p:sp>
        <p:nvSpPr>
          <p:cNvPr id="237" name="Oval 236"/>
          <p:cNvSpPr/>
          <p:nvPr/>
        </p:nvSpPr>
        <p:spPr>
          <a:xfrm>
            <a:off x="12006000" y="10638000"/>
            <a:ext cx="180000" cy="180000"/>
          </a:xfrm>
          <a:prstGeom prst="ellipse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2276000" y="1062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6</a:t>
            </a:r>
          </a:p>
        </p:txBody>
      </p:sp>
      <p:sp>
        <p:nvSpPr>
          <p:cNvPr id="239" name="Oval 238"/>
          <p:cNvSpPr/>
          <p:nvPr/>
        </p:nvSpPr>
        <p:spPr>
          <a:xfrm>
            <a:off x="14094000" y="10638000"/>
            <a:ext cx="180000" cy="180000"/>
          </a:xfrm>
          <a:prstGeom prst="ellipse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364000" y="1062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7</a:t>
            </a:r>
          </a:p>
        </p:txBody>
      </p:sp>
      <p:sp>
        <p:nvSpPr>
          <p:cNvPr id="241" name="Oval 240"/>
          <p:cNvSpPr/>
          <p:nvPr/>
        </p:nvSpPr>
        <p:spPr>
          <a:xfrm>
            <a:off x="16182000" y="10638000"/>
            <a:ext cx="180000" cy="180000"/>
          </a:xfrm>
          <a:prstGeom prst="ellipse">
            <a:avLst/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6452000" y="1062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8</a:t>
            </a:r>
          </a:p>
        </p:txBody>
      </p:sp>
      <p:sp>
        <p:nvSpPr>
          <p:cNvPr id="243" name="Oval 242"/>
          <p:cNvSpPr/>
          <p:nvPr/>
        </p:nvSpPr>
        <p:spPr>
          <a:xfrm>
            <a:off x="18270000" y="10638000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8540000" y="1062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</a:rPr>
              <a:t>数字 9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900000" y="9360000"/>
            <a:ext cx="504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900000" y="9432000"/>
            <a:ext cx="5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Perplexity パラメータ
（5〜50推奨）: 近傍点数の目安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5300000" y="9360000"/>
            <a:ext cx="5040000" cy="72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5300000" y="9432000"/>
            <a:ext cx="5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計算量: O(N²)
大規模データにはBH-t-SNE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