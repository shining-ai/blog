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0000" y="180000"/>
            <a:ext cx="205704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51999"/>
            <a:ext cx="205704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k-means クラスタリング — アルゴリズムのステップ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620000"/>
            <a:ext cx="4320000" cy="25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728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DE4FC"/>
                </a:solidFill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160000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初期化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772000"/>
            <a:ext cx="43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k個のセントロイドを
ランダムに配置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48000" y="2880000.0"/>
            <a:ext cx="57600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832000" y="1620000"/>
            <a:ext cx="4320000" cy="252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32000" y="1728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DE4FC"/>
                </a:solidFill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2000" y="2160000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割り当て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2000" y="2772000"/>
            <a:ext cx="43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各点を最近傍の
セントロイドに割り当て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260000" y="2880000.0"/>
            <a:ext cx="57600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944000" y="1620000"/>
            <a:ext cx="4320000" cy="252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44000" y="1728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DE4FC"/>
                </a:solidFill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44000" y="2160000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更新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44000" y="2772000"/>
            <a:ext cx="43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各クラスタの重心を
新セントロイドに更新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372000" y="2880000.0"/>
            <a:ext cx="57600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6056000" y="1620000"/>
            <a:ext cx="4320000" cy="25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56000" y="1728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DE4FC"/>
                </a:solidFill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56000" y="2160000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収束判定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56000" y="2772000"/>
            <a:ext cx="43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セントロイドが
変化しなければ終了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92000" y="4428000"/>
            <a:ext cx="5112000" cy="54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8000" y="4536000"/>
            <a:ext cx="2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BA81A"/>
                </a:solidFill>
              </a:rPr>
              <a:t>収束するまで繰り返す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4860000"/>
            <a:ext cx="4680000" cy="54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000" y="4932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① 初期化</a:t>
            </a:r>
          </a:p>
        </p:txBody>
      </p:sp>
      <p:sp>
        <p:nvSpPr>
          <p:cNvPr id="28" name="Oval 27"/>
          <p:cNvSpPr/>
          <p:nvPr/>
        </p:nvSpPr>
        <p:spPr>
          <a:xfrm>
            <a:off x="1977840" y="6179142"/>
            <a:ext cx="180000" cy="1800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146320" y="6070500"/>
            <a:ext cx="180000" cy="1800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809360" y="6287785"/>
            <a:ext cx="180000" cy="1800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14800" y="6179142"/>
            <a:ext cx="180000" cy="1800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977840" y="6396428"/>
            <a:ext cx="180000" cy="1800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146320" y="6287785"/>
            <a:ext cx="180000" cy="1800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999600" y="6939642"/>
            <a:ext cx="180000" cy="1800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168080" y="6831000"/>
            <a:ext cx="180000" cy="1800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31120" y="7048285"/>
            <a:ext cx="180000" cy="1800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336560" y="6939642"/>
            <a:ext cx="180000" cy="1800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999600" y="7156928"/>
            <a:ext cx="180000" cy="1800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68080" y="7048285"/>
            <a:ext cx="180000" cy="1800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88720" y="7700142"/>
            <a:ext cx="180000" cy="1800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57200" y="7591500"/>
            <a:ext cx="180000" cy="1800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820240" y="7808785"/>
            <a:ext cx="180000" cy="1800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325680" y="7700142"/>
            <a:ext cx="180000" cy="1800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88720" y="7917428"/>
            <a:ext cx="180000" cy="1800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157200" y="7808785"/>
            <a:ext cx="180000" cy="1800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15761" y="6777000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BA81A"/>
                </a:solidFill>
              </a:rPr>
              <a:t>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89681" y="7211571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BA81A"/>
                </a:solidFill>
              </a:rPr>
              <a:t>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78801" y="7428857"/>
            <a:ext cx="251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BA81A"/>
                </a:solidFill>
              </a:rPr>
              <a:t>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88000" y="4860000"/>
            <a:ext cx="4680000" cy="54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88000" y="4932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② 割り当て後</a:t>
            </a:r>
          </a:p>
        </p:txBody>
      </p:sp>
      <p:sp>
        <p:nvSpPr>
          <p:cNvPr id="51" name="Oval 50"/>
          <p:cNvSpPr/>
          <p:nvPr/>
        </p:nvSpPr>
        <p:spPr>
          <a:xfrm>
            <a:off x="7125840" y="6179142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294320" y="6070500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7360" y="6287785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62800" y="6179142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25840" y="6396428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4320" y="6287785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147600" y="6939642"/>
            <a:ext cx="180000" cy="180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316080" y="6831000"/>
            <a:ext cx="180000" cy="180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979120" y="7048285"/>
            <a:ext cx="180000" cy="180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484560" y="6939642"/>
            <a:ext cx="180000" cy="180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147600" y="7156928"/>
            <a:ext cx="180000" cy="180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316080" y="7048285"/>
            <a:ext cx="180000" cy="180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36720" y="7700142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05200" y="75915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968240" y="7808785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73680" y="7700142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136720" y="7917428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305200" y="7808785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11678" y="6161464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★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77840" y="6921964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BA81A"/>
                </a:solidFill>
              </a:rPr>
              <a:t>★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66960" y="7682464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050"/>
                </a:solidFill>
              </a:rPr>
              <a:t>★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836000" y="4860000"/>
            <a:ext cx="4680000" cy="54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836000" y="4932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③ 更新後</a:t>
            </a:r>
          </a:p>
        </p:txBody>
      </p:sp>
      <p:sp>
        <p:nvSpPr>
          <p:cNvPr id="74" name="Oval 73"/>
          <p:cNvSpPr/>
          <p:nvPr/>
        </p:nvSpPr>
        <p:spPr>
          <a:xfrm>
            <a:off x="12273840" y="6179142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2442320" y="6070500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2105360" y="6287785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2610800" y="6179142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2273840" y="6396428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2442320" y="6287785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4295600" y="6939642"/>
            <a:ext cx="180000" cy="180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4464080" y="6831000"/>
            <a:ext cx="180000" cy="180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4127120" y="7048285"/>
            <a:ext cx="180000" cy="180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4632560" y="6939642"/>
            <a:ext cx="180000" cy="180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4295600" y="7156928"/>
            <a:ext cx="180000" cy="180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4464080" y="7048285"/>
            <a:ext cx="180000" cy="180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3284720" y="7700142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3453200" y="75915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3116240" y="7808785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3621680" y="7700142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3284720" y="7917428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3453200" y="7808785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2359678" y="6161464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★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325840" y="6921964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BA81A"/>
                </a:solidFill>
              </a:rPr>
              <a:t>★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3314960" y="7682464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050"/>
                </a:solidFill>
              </a:rPr>
              <a:t>★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5984000" y="4860000"/>
            <a:ext cx="4680000" cy="54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5984000" y="4932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④ 収束</a:t>
            </a:r>
          </a:p>
        </p:txBody>
      </p:sp>
      <p:sp>
        <p:nvSpPr>
          <p:cNvPr id="97" name="Oval 96"/>
          <p:cNvSpPr/>
          <p:nvPr/>
        </p:nvSpPr>
        <p:spPr>
          <a:xfrm>
            <a:off x="17421840" y="6179142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7590320" y="6070500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7253360" y="6287785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7758800" y="6179142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17421840" y="6396428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7590320" y="6287785"/>
            <a:ext cx="180000" cy="180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9443600" y="6939642"/>
            <a:ext cx="180000" cy="180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9612080" y="6831000"/>
            <a:ext cx="180000" cy="180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9275120" y="7048285"/>
            <a:ext cx="180000" cy="180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9780560" y="6939642"/>
            <a:ext cx="180000" cy="180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9443600" y="7156928"/>
            <a:ext cx="180000" cy="180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9612080" y="7048285"/>
            <a:ext cx="180000" cy="180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8432720" y="7700142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601200" y="7591500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8264240" y="7808785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8769680" y="7700142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8432720" y="7917428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8601200" y="7808785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7507678" y="6161464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★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9473840" y="6921964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BA81A"/>
                </a:solidFill>
              </a:rPr>
              <a:t>★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8462960" y="7682464"/>
            <a:ext cx="2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050"/>
                </a:solidFill>
              </a:rPr>
              <a:t>★</a:t>
            </a:r>
          </a:p>
        </p:txBody>
      </p:sp>
      <p:sp>
        <p:nvSpPr>
          <p:cNvPr id="118" name="Oval 117"/>
          <p:cNvSpPr/>
          <p:nvPr/>
        </p:nvSpPr>
        <p:spPr>
          <a:xfrm>
            <a:off x="3600000" y="10440000"/>
            <a:ext cx="216000" cy="216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888000" y="10440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クラスタ1</a:t>
            </a:r>
          </a:p>
        </p:txBody>
      </p:sp>
      <p:sp>
        <p:nvSpPr>
          <p:cNvPr id="120" name="Oval 119"/>
          <p:cNvSpPr/>
          <p:nvPr/>
        </p:nvSpPr>
        <p:spPr>
          <a:xfrm>
            <a:off x="6840000" y="10440000"/>
            <a:ext cx="216000" cy="216000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128000" y="10440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クラスタ2</a:t>
            </a:r>
          </a:p>
        </p:txBody>
      </p:sp>
      <p:sp>
        <p:nvSpPr>
          <p:cNvPr id="122" name="Oval 121"/>
          <p:cNvSpPr/>
          <p:nvPr/>
        </p:nvSpPr>
        <p:spPr>
          <a:xfrm>
            <a:off x="10080000" y="10440000"/>
            <a:ext cx="216000" cy="216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368000" y="10440000"/>
            <a:ext cx="14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06060"/>
                </a:solidFill>
              </a:rPr>
              <a:t>クラスタ3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200000" y="10440000"/>
            <a:ext cx="90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06060"/>
                </a:solidFill>
              </a:rPr>
              <a:t>★ = セントロイド  ✕ = 初期セントロイド（ランダム）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