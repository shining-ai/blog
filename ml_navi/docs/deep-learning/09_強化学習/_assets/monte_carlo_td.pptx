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290400" cy="1197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290400" cy="1368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108000"/>
            <a:ext cx="20570400" cy="1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MC法 vs TD(0)法：更新タイミングの比較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0000" y="1332000"/>
            <a:ext cx="205704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BDE4FC"/>
                </a:solidFill>
              </a:rPr>
              <a:t>Monte Carlo vs Temporal Difference Learning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720000" y="1800000"/>
            <a:ext cx="9745200" cy="720000"/>
          </a:xfrm>
          <a:prstGeom prst="rect">
            <a:avLst/>
          </a:prstGeom>
          <a:solidFill>
            <a:srgbClr val="013CA6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FFFFFF"/>
                </a:solidFill>
              </a:rPr>
              <a:t>Monte Carlo (MC)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592000"/>
            <a:ext cx="97452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606060"/>
                </a:solidFill>
              </a:rPr>
              <a:t>エピソード終了後に更新</a:t>
            </a:r>
          </a:p>
        </p:txBody>
      </p:sp>
      <p:sp>
        <p:nvSpPr>
          <p:cNvPr id="7" name="Rectangle 6"/>
          <p:cNvSpPr/>
          <p:nvPr/>
        </p:nvSpPr>
        <p:spPr>
          <a:xfrm>
            <a:off x="720000" y="2988000"/>
            <a:ext cx="2923560" cy="612000"/>
          </a:xfrm>
          <a:prstGeom prst="rect">
            <a:avLst/>
          </a:prstGeom>
          <a:solidFill>
            <a:srgbClr val="013CA6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s₀</a:t>
            </a:r>
          </a:p>
        </p:txBody>
      </p:sp>
      <p:sp>
        <p:nvSpPr>
          <p:cNvPr id="8" name="Rectangle 7"/>
          <p:cNvSpPr/>
          <p:nvPr/>
        </p:nvSpPr>
        <p:spPr>
          <a:xfrm>
            <a:off x="3643560" y="2988000"/>
            <a:ext cx="2436300" cy="612000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0">
                <a:solidFill>
                  <a:srgbClr val="013CA6"/>
                </a:solidFill>
              </a:rPr>
              <a:t>a₀</a:t>
            </a:r>
          </a:p>
        </p:txBody>
      </p:sp>
      <p:sp>
        <p:nvSpPr>
          <p:cNvPr id="9" name="Rectangle 8"/>
          <p:cNvSpPr/>
          <p:nvPr/>
        </p:nvSpPr>
        <p:spPr>
          <a:xfrm>
            <a:off x="6079860" y="2988000"/>
            <a:ext cx="4092984" cy="612000"/>
          </a:xfrm>
          <a:prstGeom prst="rect">
            <a:avLst/>
          </a:prstGeom>
          <a:solidFill>
            <a:srgbClr val="F3FAFE"/>
          </a:solidFill>
          <a:ln w="19050">
            <a:solidFill>
              <a:srgbClr val="F3F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013CA6"/>
                </a:solidFill>
              </a:rPr>
              <a:t>r₀</a:t>
            </a:r>
          </a:p>
        </p:txBody>
      </p:sp>
      <p:sp>
        <p:nvSpPr>
          <p:cNvPr id="10" name="Rectangle 9"/>
          <p:cNvSpPr/>
          <p:nvPr/>
        </p:nvSpPr>
        <p:spPr>
          <a:xfrm>
            <a:off x="720000" y="3636000"/>
            <a:ext cx="2923560" cy="612000"/>
          </a:xfrm>
          <a:prstGeom prst="rect">
            <a:avLst/>
          </a:prstGeom>
          <a:solidFill>
            <a:srgbClr val="013CA6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s₁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43560" y="3636000"/>
            <a:ext cx="2436300" cy="612000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0">
                <a:solidFill>
                  <a:srgbClr val="013CA6"/>
                </a:solidFill>
              </a:rPr>
              <a:t>a₁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79860" y="3636000"/>
            <a:ext cx="4092984" cy="612000"/>
          </a:xfrm>
          <a:prstGeom prst="rect">
            <a:avLst/>
          </a:prstGeom>
          <a:solidFill>
            <a:srgbClr val="F3FAFE"/>
          </a:solidFill>
          <a:ln w="19050">
            <a:solidFill>
              <a:srgbClr val="F3F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013CA6"/>
                </a:solidFill>
              </a:rPr>
              <a:t>r₁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20000" y="4284000"/>
            <a:ext cx="2923560" cy="612000"/>
          </a:xfrm>
          <a:prstGeom prst="rect">
            <a:avLst/>
          </a:prstGeom>
          <a:solidFill>
            <a:srgbClr val="013CA6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s₂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43560" y="4284000"/>
            <a:ext cx="2436300" cy="612000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0">
                <a:solidFill>
                  <a:srgbClr val="013CA6"/>
                </a:solidFill>
              </a:rPr>
              <a:t>a₂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79860" y="4284000"/>
            <a:ext cx="4092984" cy="612000"/>
          </a:xfrm>
          <a:prstGeom prst="rect">
            <a:avLst/>
          </a:prstGeom>
          <a:solidFill>
            <a:srgbClr val="F3FAFE"/>
          </a:solidFill>
          <a:ln w="19050">
            <a:solidFill>
              <a:srgbClr val="F3F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013CA6"/>
                </a:solidFill>
              </a:rPr>
              <a:t>r₂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20000" y="4932000"/>
            <a:ext cx="2923560" cy="612000"/>
          </a:xfrm>
          <a:prstGeom prst="rect">
            <a:avLst/>
          </a:prstGeom>
          <a:solidFill>
            <a:srgbClr val="013CA6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sT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43560" y="4932000"/>
            <a:ext cx="2436300" cy="612000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0">
                <a:solidFill>
                  <a:srgbClr val="013CA6"/>
                </a:solidFill>
              </a:rPr>
              <a:t>―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079860" y="4932000"/>
            <a:ext cx="4092984" cy="612000"/>
          </a:xfrm>
          <a:prstGeom prst="rect">
            <a:avLst/>
          </a:prstGeom>
          <a:solidFill>
            <a:srgbClr val="F3FAFE"/>
          </a:solidFill>
          <a:ln w="19050">
            <a:solidFill>
              <a:srgbClr val="F3F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013CA6"/>
                </a:solidFill>
              </a:rPr>
              <a:t>rT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20000" y="5580000"/>
            <a:ext cx="2923560" cy="612000"/>
          </a:xfrm>
          <a:prstGeom prst="rect">
            <a:avLst/>
          </a:prstGeom>
          <a:solidFill>
            <a:srgbClr val="013CA6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GOAL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43560" y="5580000"/>
            <a:ext cx="2436300" cy="612000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0">
                <a:solidFill>
                  <a:srgbClr val="013CA6"/>
                </a:solidFill>
              </a:rPr>
              <a:t>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079860" y="5580000"/>
            <a:ext cx="4092984" cy="612000"/>
          </a:xfrm>
          <a:prstGeom prst="rect">
            <a:avLst/>
          </a:prstGeom>
          <a:solidFill>
            <a:srgbClr val="EBA81A"/>
          </a:solidFill>
          <a:ln w="19050">
            <a:solidFill>
              <a:srgbClr val="EBA8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update!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0000" y="6228000"/>
            <a:ext cx="97452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0000"/>
                </a:solidFill>
              </a:rPr>
              <a:t>← エピソード全体のリターン Gₜ を使って遡り更新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20000" y="6660000"/>
            <a:ext cx="9745200" cy="1007999"/>
          </a:xfrm>
          <a:prstGeom prst="rect">
            <a:avLst/>
          </a:prstGeom>
          <a:solidFill>
            <a:srgbClr val="013CA6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V(sₜ) ← V(sₜ) + α[Gₜ - V(sₜ)]
Gₜ = rₜ + γrₜ₊₁ + γ²rₜ₊₂ + ...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20000" y="7740000"/>
            <a:ext cx="4872600" cy="432000"/>
          </a:xfrm>
          <a:prstGeom prst="rect">
            <a:avLst/>
          </a:prstGeom>
          <a:solidFill>
            <a:srgbClr val="00B050"/>
          </a:solidFill>
          <a:ln w="19050"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利点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20000" y="8172000"/>
            <a:ext cx="4872600" cy="1080000"/>
          </a:xfrm>
          <a:prstGeom prst="rect">
            <a:avLst/>
          </a:prstGeom>
          <a:solidFill>
            <a:srgbClr val="F3FAFE"/>
          </a:solidFill>
          <a:ln w="12700"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000000"/>
                </a:solidFill>
              </a:rPr>
              <a:t>分散が低い
バイアスなし
完全リターン使用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592600" y="7740000"/>
            <a:ext cx="4872600" cy="432000"/>
          </a:xfrm>
          <a:prstGeom prst="rect">
            <a:avLst/>
          </a:prstGeom>
          <a:solidFill>
            <a:srgbClr val="FF0000"/>
          </a:solidFill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欠点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592600" y="8172000"/>
            <a:ext cx="4872600" cy="1080000"/>
          </a:xfrm>
          <a:prstGeom prst="rect">
            <a:avLst/>
          </a:prstGeom>
          <a:solidFill>
            <a:srgbClr val="F3FAFE"/>
          </a:solidFill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000000"/>
                </a:solidFill>
              </a:rPr>
              <a:t>エピソード完了が必要
連続タスク不可
計算遅延が大きい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645200" y="1800000"/>
            <a:ext cx="9745200" cy="720000"/>
          </a:xfrm>
          <a:prstGeom prst="rect">
            <a:avLst/>
          </a:prstGeom>
          <a:solidFill>
            <a:srgbClr val="013CA6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FFFFFF"/>
                </a:solidFill>
              </a:rPr>
              <a:t>TD(0)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645200" y="2592000"/>
            <a:ext cx="97452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606060"/>
                </a:solidFill>
              </a:rPr>
              <a:t>各ステップ後に即座に更新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645200" y="2988000"/>
            <a:ext cx="2923560" cy="612000"/>
          </a:xfrm>
          <a:prstGeom prst="rect">
            <a:avLst/>
          </a:prstGeom>
          <a:solidFill>
            <a:srgbClr val="013CA6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s₀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3568760" y="2988000"/>
            <a:ext cx="2436300" cy="612000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0">
                <a:solidFill>
                  <a:srgbClr val="013CA6"/>
                </a:solidFill>
              </a:rPr>
              <a:t>a₀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6005060" y="2988000"/>
            <a:ext cx="4092984" cy="612000"/>
          </a:xfrm>
          <a:prstGeom prst="rect">
            <a:avLst/>
          </a:prstGeom>
          <a:solidFill>
            <a:srgbClr val="EBA81A"/>
          </a:solidFill>
          <a:ln w="19050">
            <a:solidFill>
              <a:srgbClr val="EBA8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→update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0645200" y="3636000"/>
            <a:ext cx="2923560" cy="612000"/>
          </a:xfrm>
          <a:prstGeom prst="rect">
            <a:avLst/>
          </a:prstGeom>
          <a:solidFill>
            <a:srgbClr val="013CA6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s₁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3568760" y="3636000"/>
            <a:ext cx="2436300" cy="612000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0">
                <a:solidFill>
                  <a:srgbClr val="013CA6"/>
                </a:solidFill>
              </a:rPr>
              <a:t>a₁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6005060" y="3636000"/>
            <a:ext cx="4092984" cy="612000"/>
          </a:xfrm>
          <a:prstGeom prst="rect">
            <a:avLst/>
          </a:prstGeom>
          <a:solidFill>
            <a:srgbClr val="EBA81A"/>
          </a:solidFill>
          <a:ln w="19050">
            <a:solidFill>
              <a:srgbClr val="EBA8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→update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0645200" y="4284000"/>
            <a:ext cx="2923560" cy="612000"/>
          </a:xfrm>
          <a:prstGeom prst="rect">
            <a:avLst/>
          </a:prstGeom>
          <a:solidFill>
            <a:srgbClr val="013CA6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s₂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3568760" y="4284000"/>
            <a:ext cx="2436300" cy="612000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0">
                <a:solidFill>
                  <a:srgbClr val="013CA6"/>
                </a:solidFill>
              </a:rPr>
              <a:t>a₂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6005060" y="4284000"/>
            <a:ext cx="4092984" cy="612000"/>
          </a:xfrm>
          <a:prstGeom prst="rect">
            <a:avLst/>
          </a:prstGeom>
          <a:solidFill>
            <a:srgbClr val="EBA81A"/>
          </a:solidFill>
          <a:ln w="19050">
            <a:solidFill>
              <a:srgbClr val="EBA8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→update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0645200" y="4932000"/>
            <a:ext cx="2923560" cy="612000"/>
          </a:xfrm>
          <a:prstGeom prst="rect">
            <a:avLst/>
          </a:prstGeom>
          <a:solidFill>
            <a:srgbClr val="013CA6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s₃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3568760" y="4932000"/>
            <a:ext cx="2436300" cy="612000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0">
                <a:solidFill>
                  <a:srgbClr val="013CA6"/>
                </a:solidFill>
              </a:rPr>
              <a:t>...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6005060" y="4932000"/>
            <a:ext cx="4092984" cy="612000"/>
          </a:xfrm>
          <a:prstGeom prst="rect">
            <a:avLst/>
          </a:prstGeom>
          <a:solidFill>
            <a:srgbClr val="F3FAFE"/>
          </a:solidFill>
          <a:ln w="19050">
            <a:solidFill>
              <a:srgbClr val="F3F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013CA6"/>
                </a:solidFill>
              </a:rPr>
              <a:t>...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0645200" y="6012000"/>
            <a:ext cx="9745200" cy="1007999"/>
          </a:xfrm>
          <a:prstGeom prst="rect">
            <a:avLst/>
          </a:prstGeom>
          <a:solidFill>
            <a:srgbClr val="013CA6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V(sₜ) ← V(sₜ) + α[rₜ + γV(sₜ₊₁) - V(sₜ)]
TDターゲット: rₜ + γV(sₜ₊₁)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0645200" y="7092000"/>
            <a:ext cx="4872600" cy="432000"/>
          </a:xfrm>
          <a:prstGeom prst="rect">
            <a:avLst/>
          </a:prstGeom>
          <a:solidFill>
            <a:srgbClr val="00B050"/>
          </a:solidFill>
          <a:ln w="19050"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利点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0645200" y="7524000"/>
            <a:ext cx="4872600" cy="1080000"/>
          </a:xfrm>
          <a:prstGeom prst="rect">
            <a:avLst/>
          </a:prstGeom>
          <a:solidFill>
            <a:srgbClr val="F3FAFE"/>
          </a:solidFill>
          <a:ln w="12700"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000000"/>
                </a:solidFill>
              </a:rPr>
              <a:t>逐次更新可能
連続タスク対応
サンプル効率が高い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5517800" y="7092000"/>
            <a:ext cx="4872600" cy="432000"/>
          </a:xfrm>
          <a:prstGeom prst="rect">
            <a:avLst/>
          </a:prstGeom>
          <a:solidFill>
            <a:srgbClr val="FF0000"/>
          </a:solidFill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欠点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5517800" y="7524000"/>
            <a:ext cx="4872600" cy="1080000"/>
          </a:xfrm>
          <a:prstGeom prst="rect">
            <a:avLst/>
          </a:prstGeom>
          <a:solidFill>
            <a:srgbClr val="F3FAFE"/>
          </a:solidFill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000000"/>
                </a:solidFill>
              </a:rPr>
              <a:t>バイアスあり
ブートストラップ依存
近似誤差が伝播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0627200" y="1620000"/>
            <a:ext cx="36000" cy="9453600"/>
          </a:xfrm>
          <a:prstGeom prst="rect">
            <a:avLst/>
          </a:prstGeom>
          <a:solidFill>
            <a:srgbClr val="BDE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720000" y="10965601"/>
            <a:ext cx="19850400" cy="720000"/>
          </a:xfrm>
          <a:prstGeom prst="rect">
            <a:avLst/>
          </a:prstGeom>
          <a:solidFill>
            <a:srgbClr val="013CA6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FFFFFF"/>
                </a:solidFill>
              </a:rPr>
              <a:t>TD(n) / TD(λ) はMCとTDの中間：n=1がTD(0)、n=∞がMC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13CA6"/>
      </a:dk2>
      <a:lt2>
        <a:srgbClr val="F3FAFE"/>
      </a:lt2>
      <a:accent1>
        <a:srgbClr val="013CA6"/>
      </a:accent1>
      <a:accent2>
        <a:srgbClr val="BDE4FC"/>
      </a:accent2>
      <a:accent3>
        <a:srgbClr val="F3FAFE"/>
      </a:accent3>
      <a:accent4>
        <a:srgbClr val="EBA81A"/>
      </a:accent4>
      <a:accent5>
        <a:srgbClr val="00B050"/>
      </a:accent5>
      <a:accent6>
        <a:srgbClr val="FF000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