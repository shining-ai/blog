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512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44000"/>
            <a:ext cx="202104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最適化アルゴリズム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584000"/>
            <a:ext cx="20210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888888"/>
                </a:solidFill>
              </a:rPr>
              <a:t>SGD・Momentum・Adam の損失曲面における最適化軌跡の比較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2232000"/>
            <a:ext cx="6300000" cy="540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2232000"/>
            <a:ext cx="63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SGD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2844000"/>
            <a:ext cx="6300000" cy="43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5000" y="3168000"/>
            <a:ext cx="5670000" cy="3672000"/>
          </a:xfrm>
          <a:prstGeom prst="ellipse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2000" y="3535200"/>
            <a:ext cx="4536000" cy="2937599"/>
          </a:xfrm>
          <a:prstGeom prst="ellipse">
            <a:avLst/>
          </a:prstGeom>
          <a:solidFill>
            <a:srgbClr val="4499D8"/>
          </a:solidFill>
          <a:ln>
            <a:solidFill>
              <a:srgbClr val="44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89000" y="3902400"/>
            <a:ext cx="3402000" cy="2203200"/>
          </a:xfrm>
          <a:prstGeom prst="ellipse">
            <a:avLst/>
          </a:prstGeom>
          <a:solidFill>
            <a:srgbClr val="88C8F0"/>
          </a:solidFill>
          <a:ln>
            <a:solidFill>
              <a:srgbClr val="88C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56000" y="4269600"/>
            <a:ext cx="2268000" cy="1468799"/>
          </a:xfrm>
          <a:prstGeom prst="ellipse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0000" y="4824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4" name="Oval 13"/>
          <p:cNvSpPr/>
          <p:nvPr/>
        </p:nvSpPr>
        <p:spPr>
          <a:xfrm>
            <a:off x="5193000" y="3420000"/>
            <a:ext cx="144000" cy="144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933000" y="5148000"/>
            <a:ext cx="144000" cy="144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78000" y="4284000"/>
            <a:ext cx="144000" cy="144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744000" y="5018400"/>
            <a:ext cx="144000" cy="144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18000" y="4932000"/>
            <a:ext cx="144000" cy="144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0000" y="7344000"/>
            <a:ext cx="6300000" cy="162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000" y="7416000"/>
            <a:ext cx="6084000" cy="147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02020"/>
                </a:solidFill>
              </a:rPr>
              <a:t>勾配方向にそのまま更新
η·∇L(θ)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60000" y="2232000"/>
            <a:ext cx="6300000" cy="540000"/>
          </a:xfrm>
          <a:prstGeom prst="rect">
            <a:avLst/>
          </a:prstGeom>
          <a:solidFill>
            <a:srgbClr val="EBA8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0000" y="2232000"/>
            <a:ext cx="63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Momentum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60000" y="2844000"/>
            <a:ext cx="6300000" cy="43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875000" y="3168000"/>
            <a:ext cx="5670000" cy="3672000"/>
          </a:xfrm>
          <a:prstGeom prst="ellipse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42000" y="3535200"/>
            <a:ext cx="4536000" cy="2937599"/>
          </a:xfrm>
          <a:prstGeom prst="ellipse">
            <a:avLst/>
          </a:prstGeom>
          <a:solidFill>
            <a:srgbClr val="4499D8"/>
          </a:solidFill>
          <a:ln>
            <a:solidFill>
              <a:srgbClr val="44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09000" y="3902400"/>
            <a:ext cx="3402000" cy="2203200"/>
          </a:xfrm>
          <a:prstGeom prst="ellipse">
            <a:avLst/>
          </a:prstGeom>
          <a:solidFill>
            <a:srgbClr val="88C8F0"/>
          </a:solidFill>
          <a:ln>
            <a:solidFill>
              <a:srgbClr val="88C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76000" y="4269600"/>
            <a:ext cx="2268000" cy="1468799"/>
          </a:xfrm>
          <a:prstGeom prst="ellipse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30000" y="4824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29" name="Oval 28"/>
          <p:cNvSpPr/>
          <p:nvPr/>
        </p:nvSpPr>
        <p:spPr>
          <a:xfrm>
            <a:off x="8748000" y="3549600"/>
            <a:ext cx="144000" cy="144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378000" y="4284000"/>
            <a:ext cx="144000" cy="144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134000" y="4716000"/>
            <a:ext cx="144000" cy="144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512000" y="4932000"/>
            <a:ext cx="144000" cy="144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38000" y="4932000"/>
            <a:ext cx="144000" cy="144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560000" y="7344000"/>
            <a:ext cx="6300000" cy="162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68000" y="7416000"/>
            <a:ext cx="6084000" cy="147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02020"/>
                </a:solidFill>
              </a:rPr>
              <a:t>過去の勾配を慣性として蓄積
v = β·v + η·∇L(θ)
θ = θ - v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580000" y="2232000"/>
            <a:ext cx="6300000" cy="540000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580000" y="2232000"/>
            <a:ext cx="63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Adam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580000" y="2844000"/>
            <a:ext cx="6300000" cy="43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4895000" y="3168000"/>
            <a:ext cx="5670000" cy="3672000"/>
          </a:xfrm>
          <a:prstGeom prst="ellipse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5462000" y="3535200"/>
            <a:ext cx="4536000" cy="2937599"/>
          </a:xfrm>
          <a:prstGeom prst="ellipse">
            <a:avLst/>
          </a:prstGeom>
          <a:solidFill>
            <a:srgbClr val="4499D8"/>
          </a:solidFill>
          <a:ln>
            <a:solidFill>
              <a:srgbClr val="44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6029000" y="3902400"/>
            <a:ext cx="3402000" cy="2203200"/>
          </a:xfrm>
          <a:prstGeom prst="ellipse">
            <a:avLst/>
          </a:prstGeom>
          <a:solidFill>
            <a:srgbClr val="88C8F0"/>
          </a:solidFill>
          <a:ln>
            <a:solidFill>
              <a:srgbClr val="88C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6596000" y="4269600"/>
            <a:ext cx="2268000" cy="1468799"/>
          </a:xfrm>
          <a:prstGeom prst="ellipse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7550000" y="4824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44" name="Oval 43"/>
          <p:cNvSpPr/>
          <p:nvPr/>
        </p:nvSpPr>
        <p:spPr>
          <a:xfrm>
            <a:off x="15453000" y="6228000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6083000" y="5580000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6902000" y="5148000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7532000" y="4975200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7658000" y="4932000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580000" y="7344000"/>
            <a:ext cx="6300000" cy="162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4688000" y="7416000"/>
            <a:ext cx="6084000" cy="147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02020"/>
                </a:solidFill>
              </a:rPr>
              <a:t>適応的学習率 (m/√v)
m = β₁m+(1-β₁)g
v = β₂v+(1-β₂)g²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0000" y="10965601"/>
            <a:ext cx="20210400" cy="79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0000" y="11073601"/>
            <a:ext cx="198504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13CA6"/>
                </a:solidFill>
              </a:rPr>
              <a:t>Adam は一般的に収束が速く安定しているが、汎化性能では SGD with Momentum が有利な場合もある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