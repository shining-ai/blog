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36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44000"/>
            <a:ext cx="16200000" cy="1007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</a:rPr>
              <a:t>多層パーセプトロン（MLP）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20000" y="288000"/>
            <a:ext cx="3960000" cy="79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BDE4FC"/>
                </a:solidFill>
              </a:rPr>
              <a:t>構造図と順伝播計算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68000"/>
            <a:ext cx="21290400" cy="18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908000" y="3480000.0"/>
            <a:ext cx="3852000" cy="3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908000" y="3780000.0"/>
            <a:ext cx="3852000" cy="12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908000" y="3780000.0"/>
            <a:ext cx="3852000" cy="27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908000" y="3780000.0"/>
            <a:ext cx="3852000" cy="42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908000" y="3780000.0"/>
            <a:ext cx="3852000" cy="57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908000" y="3480000.0"/>
            <a:ext cx="3852000" cy="21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908000" y="4980000.0"/>
            <a:ext cx="3852000" cy="6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908000" y="5580000.0"/>
            <a:ext cx="3852000" cy="9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908000" y="5580000.0"/>
            <a:ext cx="3852000" cy="24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908000" y="5580000.0"/>
            <a:ext cx="3852000" cy="39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908000" y="3480000.0"/>
            <a:ext cx="3852000" cy="39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08000" y="4980000.0"/>
            <a:ext cx="3852000" cy="24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08000" y="6480000.0"/>
            <a:ext cx="3852000" cy="9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908000" y="7380000.0"/>
            <a:ext cx="3852000" cy="6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908000" y="7380000.0"/>
            <a:ext cx="3852000" cy="21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908000" y="3480000.0"/>
            <a:ext cx="3852000" cy="57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908000" y="4980000.0"/>
            <a:ext cx="3852000" cy="42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908000" y="6480000.0"/>
            <a:ext cx="3852000" cy="27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908000" y="7980000.0"/>
            <a:ext cx="3852000" cy="12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908000" y="9180000.0"/>
            <a:ext cx="3852000" cy="3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228000" y="3480000.0"/>
            <a:ext cx="3852000" cy="3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228000" y="3480000.0"/>
            <a:ext cx="3852000" cy="21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228000" y="3480000.0"/>
            <a:ext cx="3852000" cy="39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28000" y="3480000.0"/>
            <a:ext cx="3852000" cy="57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228000" y="3780000.0"/>
            <a:ext cx="3852000" cy="12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228000" y="4980000.0"/>
            <a:ext cx="3852000" cy="6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228000" y="4980000.0"/>
            <a:ext cx="3852000" cy="24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228000" y="4980000.0"/>
            <a:ext cx="3852000" cy="42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228000" y="3780000.0"/>
            <a:ext cx="3852000" cy="27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228000" y="5580000.0"/>
            <a:ext cx="3852000" cy="9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228000" y="6480000.0"/>
            <a:ext cx="3852000" cy="9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228000" y="6480000.0"/>
            <a:ext cx="3852000" cy="27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228000" y="3780000.0"/>
            <a:ext cx="3852000" cy="42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228000" y="5580000.0"/>
            <a:ext cx="3852000" cy="24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6228000" y="7380000.0"/>
            <a:ext cx="3852000" cy="6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228000" y="7980000.0"/>
            <a:ext cx="3852000" cy="12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6228000" y="3780000.0"/>
            <a:ext cx="3852000" cy="57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6228000" y="5580000.0"/>
            <a:ext cx="3852000" cy="39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6228000" y="7380000.0"/>
            <a:ext cx="3852000" cy="21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228000" y="9180000.0"/>
            <a:ext cx="3852000" cy="3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548000" y="3780000.0"/>
            <a:ext cx="3852000" cy="45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548000" y="3780000.0"/>
            <a:ext cx="3852000" cy="27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548000" y="3780000.0"/>
            <a:ext cx="3852000" cy="495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0548000" y="4230000.0"/>
            <a:ext cx="3852000" cy="135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548000" y="5580000.0"/>
            <a:ext cx="3852000" cy="9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548000" y="5580000.0"/>
            <a:ext cx="3852000" cy="315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548000" y="4230000.0"/>
            <a:ext cx="3852000" cy="315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0548000" y="6480000.0"/>
            <a:ext cx="3852000" cy="9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0548000" y="7380000.0"/>
            <a:ext cx="3852000" cy="135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0548000" y="4230000.0"/>
            <a:ext cx="3852000" cy="495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0548000" y="6480000.0"/>
            <a:ext cx="3852000" cy="270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0548000" y="8730000.0"/>
            <a:ext cx="3852000" cy="450000.0"/>
          </a:xfrm>
          <a:prstGeom prst="line">
            <a:avLst/>
          </a:prstGeom>
          <a:ln w="12700">
            <a:solidFill>
              <a:srgbClr val="CCDD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1440000" y="3546000"/>
            <a:ext cx="468000" cy="468000"/>
          </a:xfrm>
          <a:prstGeom prst="ellipse">
            <a:avLst/>
          </a:prstGeom>
          <a:solidFill>
            <a:srgbClr val="BDE4FC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332000" y="3600000"/>
            <a:ext cx="684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12A70"/>
                </a:solidFill>
              </a:rPr>
              <a:t>x1</a:t>
            </a:r>
          </a:p>
        </p:txBody>
      </p:sp>
      <p:sp>
        <p:nvSpPr>
          <p:cNvPr id="61" name="Oval 60"/>
          <p:cNvSpPr/>
          <p:nvPr/>
        </p:nvSpPr>
        <p:spPr>
          <a:xfrm>
            <a:off x="1440000" y="5346000"/>
            <a:ext cx="468000" cy="468000"/>
          </a:xfrm>
          <a:prstGeom prst="ellipse">
            <a:avLst/>
          </a:prstGeom>
          <a:solidFill>
            <a:srgbClr val="BDE4FC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332000" y="5400000"/>
            <a:ext cx="684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12A70"/>
                </a:solidFill>
              </a:rPr>
              <a:t>x2</a:t>
            </a:r>
          </a:p>
        </p:txBody>
      </p:sp>
      <p:sp>
        <p:nvSpPr>
          <p:cNvPr id="63" name="Oval 62"/>
          <p:cNvSpPr/>
          <p:nvPr/>
        </p:nvSpPr>
        <p:spPr>
          <a:xfrm>
            <a:off x="1440000" y="7146000"/>
            <a:ext cx="468000" cy="468000"/>
          </a:xfrm>
          <a:prstGeom prst="ellipse">
            <a:avLst/>
          </a:prstGeom>
          <a:solidFill>
            <a:srgbClr val="BDE4FC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332000" y="7200000"/>
            <a:ext cx="684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12A70"/>
                </a:solidFill>
              </a:rPr>
              <a:t>x3</a:t>
            </a:r>
          </a:p>
        </p:txBody>
      </p:sp>
      <p:sp>
        <p:nvSpPr>
          <p:cNvPr id="65" name="Oval 64"/>
          <p:cNvSpPr/>
          <p:nvPr/>
        </p:nvSpPr>
        <p:spPr>
          <a:xfrm>
            <a:off x="1440000" y="8946000"/>
            <a:ext cx="468000" cy="468000"/>
          </a:xfrm>
          <a:prstGeom prst="ellipse">
            <a:avLst/>
          </a:prstGeom>
          <a:solidFill>
            <a:srgbClr val="BDE4FC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332000" y="9000000"/>
            <a:ext cx="684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12A70"/>
                </a:solidFill>
              </a:rPr>
              <a:t>x4</a:t>
            </a:r>
          </a:p>
        </p:txBody>
      </p:sp>
      <p:sp>
        <p:nvSpPr>
          <p:cNvPr id="67" name="Oval 66"/>
          <p:cNvSpPr/>
          <p:nvPr/>
        </p:nvSpPr>
        <p:spPr>
          <a:xfrm>
            <a:off x="5760000" y="3246000"/>
            <a:ext cx="468000" cy="468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652000" y="3300000"/>
            <a:ext cx="684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h1</a:t>
            </a:r>
          </a:p>
        </p:txBody>
      </p:sp>
      <p:sp>
        <p:nvSpPr>
          <p:cNvPr id="69" name="Oval 68"/>
          <p:cNvSpPr/>
          <p:nvPr/>
        </p:nvSpPr>
        <p:spPr>
          <a:xfrm>
            <a:off x="5760000" y="4746000"/>
            <a:ext cx="468000" cy="468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52000" y="4800000"/>
            <a:ext cx="684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h2</a:t>
            </a:r>
          </a:p>
        </p:txBody>
      </p:sp>
      <p:sp>
        <p:nvSpPr>
          <p:cNvPr id="71" name="Oval 70"/>
          <p:cNvSpPr/>
          <p:nvPr/>
        </p:nvSpPr>
        <p:spPr>
          <a:xfrm>
            <a:off x="5760000" y="6246000"/>
            <a:ext cx="468000" cy="468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652000" y="6300000"/>
            <a:ext cx="684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h3</a:t>
            </a:r>
          </a:p>
        </p:txBody>
      </p:sp>
      <p:sp>
        <p:nvSpPr>
          <p:cNvPr id="73" name="Oval 72"/>
          <p:cNvSpPr/>
          <p:nvPr/>
        </p:nvSpPr>
        <p:spPr>
          <a:xfrm>
            <a:off x="5760000" y="7746000"/>
            <a:ext cx="468000" cy="468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652000" y="7800000"/>
            <a:ext cx="684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h4</a:t>
            </a:r>
          </a:p>
        </p:txBody>
      </p:sp>
      <p:sp>
        <p:nvSpPr>
          <p:cNvPr id="75" name="Oval 74"/>
          <p:cNvSpPr/>
          <p:nvPr/>
        </p:nvSpPr>
        <p:spPr>
          <a:xfrm>
            <a:off x="5760000" y="9246000"/>
            <a:ext cx="468000" cy="468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652000" y="9300000"/>
            <a:ext cx="684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h5</a:t>
            </a:r>
          </a:p>
        </p:txBody>
      </p:sp>
      <p:sp>
        <p:nvSpPr>
          <p:cNvPr id="77" name="Oval 76"/>
          <p:cNvSpPr/>
          <p:nvPr/>
        </p:nvSpPr>
        <p:spPr>
          <a:xfrm>
            <a:off x="10080000" y="3546000"/>
            <a:ext cx="468000" cy="468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972000" y="3600000"/>
            <a:ext cx="684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h1</a:t>
            </a:r>
          </a:p>
        </p:txBody>
      </p:sp>
      <p:sp>
        <p:nvSpPr>
          <p:cNvPr id="79" name="Oval 78"/>
          <p:cNvSpPr/>
          <p:nvPr/>
        </p:nvSpPr>
        <p:spPr>
          <a:xfrm>
            <a:off x="10080000" y="5346000"/>
            <a:ext cx="468000" cy="468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972000" y="5400000"/>
            <a:ext cx="684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h2</a:t>
            </a:r>
          </a:p>
        </p:txBody>
      </p:sp>
      <p:sp>
        <p:nvSpPr>
          <p:cNvPr id="81" name="Oval 80"/>
          <p:cNvSpPr/>
          <p:nvPr/>
        </p:nvSpPr>
        <p:spPr>
          <a:xfrm>
            <a:off x="10080000" y="7146000"/>
            <a:ext cx="468000" cy="468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972000" y="7200000"/>
            <a:ext cx="684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h3</a:t>
            </a:r>
          </a:p>
        </p:txBody>
      </p:sp>
      <p:sp>
        <p:nvSpPr>
          <p:cNvPr id="83" name="Oval 82"/>
          <p:cNvSpPr/>
          <p:nvPr/>
        </p:nvSpPr>
        <p:spPr>
          <a:xfrm>
            <a:off x="10080000" y="8946000"/>
            <a:ext cx="468000" cy="468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972000" y="9000000"/>
            <a:ext cx="684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h4</a:t>
            </a:r>
          </a:p>
        </p:txBody>
      </p:sp>
      <p:sp>
        <p:nvSpPr>
          <p:cNvPr id="85" name="Oval 84"/>
          <p:cNvSpPr/>
          <p:nvPr/>
        </p:nvSpPr>
        <p:spPr>
          <a:xfrm>
            <a:off x="14400000" y="3996000"/>
            <a:ext cx="468000" cy="468000"/>
          </a:xfrm>
          <a:prstGeom prst="ellipse">
            <a:avLst/>
          </a:prstGeom>
          <a:solidFill>
            <a:srgbClr val="FF0000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4292000" y="4050000"/>
            <a:ext cx="684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y1</a:t>
            </a:r>
          </a:p>
        </p:txBody>
      </p:sp>
      <p:sp>
        <p:nvSpPr>
          <p:cNvPr id="87" name="Oval 86"/>
          <p:cNvSpPr/>
          <p:nvPr/>
        </p:nvSpPr>
        <p:spPr>
          <a:xfrm>
            <a:off x="14400000" y="6246000"/>
            <a:ext cx="468000" cy="468000"/>
          </a:xfrm>
          <a:prstGeom prst="ellipse">
            <a:avLst/>
          </a:prstGeom>
          <a:solidFill>
            <a:srgbClr val="FF0000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4292000" y="6300000"/>
            <a:ext cx="684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y2</a:t>
            </a:r>
          </a:p>
        </p:txBody>
      </p:sp>
      <p:sp>
        <p:nvSpPr>
          <p:cNvPr id="89" name="Oval 88"/>
          <p:cNvSpPr/>
          <p:nvPr/>
        </p:nvSpPr>
        <p:spPr>
          <a:xfrm>
            <a:off x="14400000" y="8496000"/>
            <a:ext cx="468000" cy="468000"/>
          </a:xfrm>
          <a:prstGeom prst="ellipse">
            <a:avLst/>
          </a:prstGeom>
          <a:solidFill>
            <a:srgbClr val="FF0000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4292000" y="8550000"/>
            <a:ext cx="684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y3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0000" y="11160000"/>
            <a:ext cx="144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12A70"/>
                </a:solidFill>
              </a:rPr>
              <a:t>入力層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00000" y="11592000"/>
            <a:ext cx="144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6B7B8D"/>
                </a:solidFill>
              </a:rPr>
              <a:t>(4ノード)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220000" y="11160000"/>
            <a:ext cx="144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隠れ層1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220000" y="11592000"/>
            <a:ext cx="144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6B7B8D"/>
                </a:solidFill>
              </a:rPr>
              <a:t>(5ノード)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540000" y="11160000"/>
            <a:ext cx="144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隠れ層2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540000" y="11592000"/>
            <a:ext cx="144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6B7B8D"/>
                </a:solidFill>
              </a:rPr>
              <a:t>(4ノード)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3860000" y="11160000"/>
            <a:ext cx="144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0000"/>
                </a:solidFill>
              </a:rPr>
              <a:t>出力層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3860000" y="11592000"/>
            <a:ext cx="144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6B7B8D"/>
                </a:solidFill>
              </a:rPr>
              <a:t>(3ノード)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6560000" y="1800000"/>
            <a:ext cx="432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013CA6"/>
                </a:solidFill>
              </a:rPr>
              <a:t>順伝播の計算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6560000" y="2520000"/>
            <a:ext cx="4500000" cy="180000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6560000" y="2520000"/>
            <a:ext cx="450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6668000" y="2556000"/>
            <a:ext cx="4320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FFFFFF"/>
                </a:solidFill>
              </a:rPr>
              <a:t>Layer1 → Layer2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6740000" y="3132000"/>
            <a:ext cx="4140000" cy="10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1">
                <a:solidFill>
                  <a:srgbClr val="012A70"/>
                </a:solidFill>
              </a:rPr>
              <a:t>z¹ = W¹x + b¹
a¹ = f(z¹)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6560000" y="4500000"/>
            <a:ext cx="4500000" cy="180000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6560000" y="4500000"/>
            <a:ext cx="450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6668000" y="4536000"/>
            <a:ext cx="4320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FFFFFF"/>
                </a:solidFill>
              </a:rPr>
              <a:t>Layer2 → Layer3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6740000" y="5112000"/>
            <a:ext cx="4140000" cy="10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1">
                <a:solidFill>
                  <a:srgbClr val="012A70"/>
                </a:solidFill>
              </a:rPr>
              <a:t>z² = W²a¹ + b²
a² = f(z²)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6560000" y="6480000"/>
            <a:ext cx="4500000" cy="180000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6560000" y="6480000"/>
            <a:ext cx="450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6668000" y="6516000"/>
            <a:ext cx="4320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FFFFFF"/>
                </a:solidFill>
              </a:rPr>
              <a:t>Layer3 → Output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6740000" y="7092000"/>
            <a:ext cx="4140000" cy="10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1">
                <a:solidFill>
                  <a:srgbClr val="012A70"/>
                </a:solidFill>
              </a:rPr>
              <a:t>z³ = W³a² + b³
ŷ = softmax(z³)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0" y="10260000"/>
            <a:ext cx="21290400" cy="144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540000" y="10548000"/>
            <a:ext cx="4968000" cy="126000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20000" y="10656000"/>
            <a:ext cx="4608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013CA6"/>
                </a:solidFill>
              </a:rPr>
              <a:t>重み行列 W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20000" y="11088000"/>
            <a:ext cx="4608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2E"/>
                </a:solidFill>
              </a:rPr>
              <a:t>層間の接続強度。学習で最適化される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5760000" y="10548000"/>
            <a:ext cx="4968000" cy="126000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940000" y="10656000"/>
            <a:ext cx="4608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013CA6"/>
                </a:solidFill>
              </a:rPr>
              <a:t>バイアス b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940000" y="11088000"/>
            <a:ext cx="4608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2E"/>
                </a:solidFill>
              </a:rPr>
              <a:t>出力のオフセット。過学習抑制にも関与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0980000" y="10548000"/>
            <a:ext cx="4968000" cy="126000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1160000" y="10656000"/>
            <a:ext cx="4608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013CA6"/>
                </a:solidFill>
              </a:rPr>
              <a:t>活性化関数 f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160000" y="11088000"/>
            <a:ext cx="4608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2E"/>
                </a:solidFill>
              </a:rPr>
              <a:t>非線形変換。ReLU・Sigmoidなど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6200000" y="10548000"/>
            <a:ext cx="4968000" cy="126000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6380000" y="10656000"/>
            <a:ext cx="4608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013CA6"/>
                </a:solidFill>
              </a:rPr>
              <a:t>出力関数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6380000" y="11088000"/>
            <a:ext cx="4608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2E"/>
                </a:solidFill>
              </a:rPr>
              <a:t>回帰:Linear、分類:Softmax/Sigmoid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