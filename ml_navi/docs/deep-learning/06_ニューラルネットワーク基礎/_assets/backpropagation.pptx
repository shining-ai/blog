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36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44000"/>
            <a:ext cx="16200000" cy="1007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</a:rPr>
              <a:t>バックプロパゲーション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20000" y="288000"/>
            <a:ext cx="3960000" cy="79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BDE4FC"/>
                </a:solidFill>
              </a:rPr>
              <a:t>計算グラフと連鎖律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68000"/>
            <a:ext cx="21290400" cy="18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728000"/>
            <a:ext cx="108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013CA6"/>
                </a:solidFill>
              </a:rPr>
              <a:t>学習の全体フロー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2340000"/>
            <a:ext cx="4860000" cy="1620000"/>
          </a:xfrm>
          <a:prstGeom prst="round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000" y="2448000"/>
            <a:ext cx="46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2772000"/>
            <a:ext cx="46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順伝播
(Forward)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3240000"/>
            <a:ext cx="468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FFFFFF"/>
                </a:solidFill>
              </a:rPr>
              <a:t>入力から予測値
を計算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00000" y="3168000"/>
            <a:ext cx="360000" cy="0"/>
          </a:xfrm>
          <a:prstGeom prst="line">
            <a:avLst/>
          </a:prstGeom>
          <a:ln w="3810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760000" y="2340000"/>
            <a:ext cx="4860000" cy="1620000"/>
          </a:xfrm>
          <a:prstGeom prst="round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68000" y="2448000"/>
            <a:ext cx="46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68000" y="2772000"/>
            <a:ext cx="46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損失計算
(Loss)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68000" y="3240000"/>
            <a:ext cx="468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FFFFFF"/>
                </a:solidFill>
              </a:rPr>
              <a:t>予測と正解の
誤差を計算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620000" y="3168000"/>
            <a:ext cx="360000" cy="0"/>
          </a:xfrm>
          <a:prstGeom prst="line">
            <a:avLst/>
          </a:prstGeom>
          <a:ln w="3810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980000" y="2340000"/>
            <a:ext cx="4860000" cy="162000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88000" y="2448000"/>
            <a:ext cx="46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88000" y="2772000"/>
            <a:ext cx="46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逆伝播
(Backward)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88000" y="3240000"/>
            <a:ext cx="468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FFFFFF"/>
                </a:solidFill>
              </a:rPr>
              <a:t>勾配を出力層
から伝播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5840000" y="3168000"/>
            <a:ext cx="360000" cy="0"/>
          </a:xfrm>
          <a:prstGeom prst="line">
            <a:avLst/>
          </a:prstGeom>
          <a:ln w="3810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6200000" y="2340000"/>
            <a:ext cx="4860000" cy="16200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308000" y="2448000"/>
            <a:ext cx="468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308000" y="2772000"/>
            <a:ext cx="468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重み更新
(Update)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308000" y="3240000"/>
            <a:ext cx="468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FFFFFF"/>
                </a:solidFill>
              </a:rPr>
              <a:t>勾配降下法で
重みを更新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4140000"/>
            <a:ext cx="21290400" cy="144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0" y="4392000"/>
            <a:ext cx="108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013CA6"/>
                </a:solidFill>
              </a:rPr>
              <a:t>計算グラフと連鎖律（Chain Rule）のSTEP図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0000" y="5112000"/>
            <a:ext cx="1080000" cy="108000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6B7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8000" y="5292000"/>
            <a:ext cx="1224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>
                <a:solidFill>
                  <a:srgbClr val="012A70"/>
                </a:solidFill>
              </a:rPr>
              <a:t>x
(入力)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0000" y="6372000"/>
            <a:ext cx="1080000" cy="1080000"/>
          </a:xfrm>
          <a:prstGeom prst="roundRect">
            <a:avLst/>
          </a:prstGeom>
          <a:solidFill>
            <a:srgbClr val="BDE4FC"/>
          </a:solidFill>
          <a:ln w="19050">
            <a:solidFill>
              <a:srgbClr val="6B7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000" y="6552000"/>
            <a:ext cx="1224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>
                <a:solidFill>
                  <a:srgbClr val="013CA6"/>
                </a:solidFill>
              </a:rPr>
              <a:t>w
(重み)</a:t>
            </a:r>
          </a:p>
        </p:txBody>
      </p:sp>
      <p:sp>
        <p:nvSpPr>
          <p:cNvPr id="33" name="Oval 32"/>
          <p:cNvSpPr/>
          <p:nvPr/>
        </p:nvSpPr>
        <p:spPr>
          <a:xfrm>
            <a:off x="4680000" y="5652000"/>
            <a:ext cx="1080000" cy="1080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08000" y="5832000"/>
            <a:ext cx="1224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×
(積)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0000" y="7632000"/>
            <a:ext cx="1080000" cy="108000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6B7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8000" y="7812000"/>
            <a:ext cx="1224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>
                <a:solidFill>
                  <a:srgbClr val="012A70"/>
                </a:solidFill>
              </a:rPr>
              <a:t>b
(バイアス)</a:t>
            </a:r>
          </a:p>
        </p:txBody>
      </p:sp>
      <p:sp>
        <p:nvSpPr>
          <p:cNvPr id="37" name="Oval 36"/>
          <p:cNvSpPr/>
          <p:nvPr/>
        </p:nvSpPr>
        <p:spPr>
          <a:xfrm>
            <a:off x="8640000" y="5652000"/>
            <a:ext cx="1080000" cy="1080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68000" y="5832000"/>
            <a:ext cx="1224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+
(和)</a:t>
            </a:r>
          </a:p>
        </p:txBody>
      </p:sp>
      <p:sp>
        <p:nvSpPr>
          <p:cNvPr id="39" name="Oval 38"/>
          <p:cNvSpPr/>
          <p:nvPr/>
        </p:nvSpPr>
        <p:spPr>
          <a:xfrm>
            <a:off x="12600000" y="5652000"/>
            <a:ext cx="1080000" cy="1080000"/>
          </a:xfrm>
          <a:prstGeom prst="ellipse">
            <a:avLst/>
          </a:prstGeom>
          <a:solidFill>
            <a:srgbClr val="012A70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528000" y="5832000"/>
            <a:ext cx="1224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f
(活性化)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6560000" y="5652000"/>
            <a:ext cx="1080000" cy="1080000"/>
          </a:xfrm>
          <a:prstGeom prst="roundRect">
            <a:avLst/>
          </a:prstGeom>
          <a:solidFill>
            <a:srgbClr val="FF0000"/>
          </a:solidFill>
          <a:ln w="19050">
            <a:solidFill>
              <a:srgbClr val="6B7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6488000" y="5832000"/>
            <a:ext cx="1224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L
(損失)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800000" y="5652000.0"/>
            <a:ext cx="2880000" cy="540000.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800000" y="6192000.0"/>
            <a:ext cx="2880000" cy="720000.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800000" y="6192000.0"/>
            <a:ext cx="6840000" cy="1980000.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760000" y="6192000.0"/>
            <a:ext cx="2880000" cy="0.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720000" y="6192000.0"/>
            <a:ext cx="2880000" cy="0.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3680000" y="6192000.0"/>
            <a:ext cx="2880000" cy="0.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40000" y="6732000"/>
            <a:ext cx="21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13CA6"/>
                </a:solidFill>
              </a:rPr>
              <a:t>順伝播 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6560000" y="7092000"/>
            <a:ext cx="3060000" cy="1440000"/>
          </a:xfrm>
          <a:prstGeom prst="roundRect">
            <a:avLst/>
          </a:prstGeom>
          <a:solidFill>
            <a:srgbClr val="FFF0F0"/>
          </a:solidFill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6668000" y="7200000"/>
            <a:ext cx="2880000" cy="115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F0000"/>
                </a:solidFill>
              </a:rPr>
              <a:t>∂L/∂L
= 1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2600000" y="7092000"/>
            <a:ext cx="3060000" cy="1440000"/>
          </a:xfrm>
          <a:prstGeom prst="roundRect">
            <a:avLst/>
          </a:prstGeom>
          <a:solidFill>
            <a:srgbClr val="FFF0F0"/>
          </a:solidFill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708000" y="7200000"/>
            <a:ext cx="2880000" cy="115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F0000"/>
                </a:solidFill>
              </a:rPr>
              <a:t>∂L/∂f
= f'·...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640000" y="7092000"/>
            <a:ext cx="3060000" cy="1440000"/>
          </a:xfrm>
          <a:prstGeom prst="roundRect">
            <a:avLst/>
          </a:prstGeom>
          <a:solidFill>
            <a:srgbClr val="FFF0F0"/>
          </a:solidFill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48000" y="7200000"/>
            <a:ext cx="2880000" cy="115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F0000"/>
                </a:solidFill>
              </a:rPr>
              <a:t>∂L/∂+
= ∂L/∂f
·f'(u)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680000" y="7092000"/>
            <a:ext cx="3060000" cy="1440000"/>
          </a:xfrm>
          <a:prstGeom prst="roundRect">
            <a:avLst/>
          </a:prstGeom>
          <a:solidFill>
            <a:srgbClr val="FFF0F0"/>
          </a:solidFill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88000" y="7200000"/>
            <a:ext cx="2880000" cy="115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F0000"/>
                </a:solidFill>
              </a:rPr>
              <a:t>∂L/∂×
= ∂L/∂+
·1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20000" y="7092000"/>
            <a:ext cx="3060000" cy="1440000"/>
          </a:xfrm>
          <a:prstGeom prst="roundRect">
            <a:avLst/>
          </a:prstGeom>
          <a:solidFill>
            <a:srgbClr val="FFF0F0"/>
          </a:solidFill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8000" y="7200000"/>
            <a:ext cx="2880000" cy="1152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F0000"/>
                </a:solidFill>
              </a:rPr>
              <a:t>∂L/∂w
= ∂L/∂×
·x</a:t>
            </a:r>
          </a:p>
        </p:txBody>
      </p:sp>
      <p:cxnSp>
        <p:nvCxnSpPr>
          <p:cNvPr id="60" name="Connector 59"/>
          <p:cNvCxnSpPr/>
          <p:nvPr/>
        </p:nvCxnSpPr>
        <p:spPr>
          <a:xfrm flipH="1">
            <a:off x="15660000" y="7812000"/>
            <a:ext cx="900000" cy="0"/>
          </a:xfrm>
          <a:prstGeom prst="line">
            <a:avLst/>
          </a:prstGeom>
          <a:ln w="31750">
            <a:solidFill>
              <a:srgbClr val="FF000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11700000" y="7812000"/>
            <a:ext cx="900000" cy="0"/>
          </a:xfrm>
          <a:prstGeom prst="line">
            <a:avLst/>
          </a:prstGeom>
          <a:ln w="31750">
            <a:solidFill>
              <a:srgbClr val="FF000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7740000" y="7812000"/>
            <a:ext cx="900000" cy="0"/>
          </a:xfrm>
          <a:prstGeom prst="line">
            <a:avLst/>
          </a:prstGeom>
          <a:ln w="31750">
            <a:solidFill>
              <a:srgbClr val="FF000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3780000" y="7812000"/>
            <a:ext cx="900000" cy="0"/>
          </a:xfrm>
          <a:prstGeom prst="line">
            <a:avLst/>
          </a:prstGeom>
          <a:ln w="31750">
            <a:solidFill>
              <a:srgbClr val="FF000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40000" y="6660000"/>
            <a:ext cx="21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FF0000"/>
                </a:solidFill>
              </a:rPr>
              <a:t>← 逆伝播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40000" y="8712000"/>
            <a:ext cx="10800000" cy="1080000"/>
          </a:xfrm>
          <a:prstGeom prst="roundRect">
            <a:avLst/>
          </a:prstGeom>
          <a:solidFill>
            <a:srgbClr val="E8F4FD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20000" y="8820000"/>
            <a:ext cx="1044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13CA6"/>
                </a:solidFill>
              </a:rPr>
              <a:t>連鎖律（Chain Rule）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0000" y="9180000"/>
            <a:ext cx="1044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012A70"/>
                </a:solidFill>
              </a:rPr>
              <a:t>∂L/∂w = ∂L/∂f · ∂f/∂u · ∂u/∂w = δ · f'(u) · x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1880000" y="8712000"/>
            <a:ext cx="9000000" cy="1080000"/>
          </a:xfrm>
          <a:prstGeom prst="roundRect">
            <a:avLst/>
          </a:prstGeom>
          <a:solidFill>
            <a:srgbClr val="E8F4FD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2060000" y="8820000"/>
            <a:ext cx="864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0B050"/>
                </a:solidFill>
              </a:rPr>
              <a:t>重みの更新則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060000" y="9180000"/>
            <a:ext cx="864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012A70"/>
                </a:solidFill>
              </a:rPr>
              <a:t>w ← w − η · ∂L/∂w    (η: 学習率)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