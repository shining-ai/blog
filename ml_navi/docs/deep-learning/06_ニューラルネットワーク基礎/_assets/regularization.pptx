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512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202104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正則化テクニック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800000"/>
            <a:ext cx="10711008" cy="963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908000"/>
            <a:ext cx="1035100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13CA6"/>
                </a:solidFill>
              </a:rPr>
              <a:t>Dropout（ドロップアウト）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40000"/>
            <a:ext cx="1035100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02020"/>
                </a:solidFill>
              </a:rPr>
              <a:t>訓練時にランダムにニューロンを無効化し過学習を防ぐ</a:t>
            </a:r>
          </a:p>
        </p:txBody>
      </p:sp>
      <p:sp>
        <p:nvSpPr>
          <p:cNvPr id="8" name="Oval 7"/>
          <p:cNvSpPr/>
          <p:nvPr/>
        </p:nvSpPr>
        <p:spPr>
          <a:xfrm>
            <a:off x="882000" y="403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2000" y="53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2000" y="673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83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入力層</a:t>
            </a:r>
          </a:p>
        </p:txBody>
      </p:sp>
      <p:sp>
        <p:nvSpPr>
          <p:cNvPr id="12" name="Oval 11"/>
          <p:cNvSpPr/>
          <p:nvPr/>
        </p:nvSpPr>
        <p:spPr>
          <a:xfrm>
            <a:off x="3042000" y="35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42000" y="4482000"/>
            <a:ext cx="396000" cy="396000"/>
          </a:xfrm>
          <a:prstGeom prst="ellipse">
            <a:avLst/>
          </a:prstGeom>
          <a:solidFill>
            <a:srgbClr val="CCCCCC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2000" y="448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5" name="Oval 14"/>
          <p:cNvSpPr/>
          <p:nvPr/>
        </p:nvSpPr>
        <p:spPr>
          <a:xfrm>
            <a:off x="3042000" y="53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42000" y="6282000"/>
            <a:ext cx="396000" cy="396000"/>
          </a:xfrm>
          <a:prstGeom prst="ellipse">
            <a:avLst/>
          </a:prstGeom>
          <a:solidFill>
            <a:srgbClr val="CCCCCC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2000" y="628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8" name="Oval 17"/>
          <p:cNvSpPr/>
          <p:nvPr/>
        </p:nvSpPr>
        <p:spPr>
          <a:xfrm>
            <a:off x="3042000" y="71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0000" y="83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隠れ層1</a:t>
            </a:r>
          </a:p>
        </p:txBody>
      </p:sp>
      <p:sp>
        <p:nvSpPr>
          <p:cNvPr id="20" name="Oval 19"/>
          <p:cNvSpPr/>
          <p:nvPr/>
        </p:nvSpPr>
        <p:spPr>
          <a:xfrm>
            <a:off x="5382000" y="3582000"/>
            <a:ext cx="396000" cy="396000"/>
          </a:xfrm>
          <a:prstGeom prst="ellipse">
            <a:avLst/>
          </a:prstGeom>
          <a:solidFill>
            <a:srgbClr val="CCCCCC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2000" y="358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2" name="Oval 21"/>
          <p:cNvSpPr/>
          <p:nvPr/>
        </p:nvSpPr>
        <p:spPr>
          <a:xfrm>
            <a:off x="5382000" y="44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82000" y="5382000"/>
            <a:ext cx="396000" cy="396000"/>
          </a:xfrm>
          <a:prstGeom prst="ellipse">
            <a:avLst/>
          </a:prstGeom>
          <a:solidFill>
            <a:srgbClr val="CCCCCC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82000" y="538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5" name="Oval 24"/>
          <p:cNvSpPr/>
          <p:nvPr/>
        </p:nvSpPr>
        <p:spPr>
          <a:xfrm>
            <a:off x="5382000" y="62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382000" y="7182000"/>
            <a:ext cx="396000" cy="396000"/>
          </a:xfrm>
          <a:prstGeom prst="ellipse">
            <a:avLst/>
          </a:prstGeom>
          <a:solidFill>
            <a:srgbClr val="CCCCCC"/>
          </a:solidFill>
          <a:ln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2000" y="718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0000" y="83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隠れ層2</a:t>
            </a:r>
          </a:p>
        </p:txBody>
      </p:sp>
      <p:sp>
        <p:nvSpPr>
          <p:cNvPr id="29" name="Oval 28"/>
          <p:cNvSpPr/>
          <p:nvPr/>
        </p:nvSpPr>
        <p:spPr>
          <a:xfrm>
            <a:off x="7722000" y="44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22000" y="6282000"/>
            <a:ext cx="396000" cy="396000"/>
          </a:xfrm>
          <a:prstGeom prst="ellipse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0000" y="8388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出力層</a:t>
            </a:r>
          </a:p>
        </p:txBody>
      </p:sp>
      <p:sp>
        <p:nvSpPr>
          <p:cNvPr id="32" name="Oval 31"/>
          <p:cNvSpPr/>
          <p:nvPr/>
        </p:nvSpPr>
        <p:spPr>
          <a:xfrm>
            <a:off x="720000" y="9000000"/>
            <a:ext cx="251999" cy="251999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0000" y="8964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有効ニューロン</a:t>
            </a:r>
          </a:p>
        </p:txBody>
      </p:sp>
      <p:sp>
        <p:nvSpPr>
          <p:cNvPr id="34" name="Oval 33"/>
          <p:cNvSpPr/>
          <p:nvPr/>
        </p:nvSpPr>
        <p:spPr>
          <a:xfrm>
            <a:off x="3600000" y="9000000"/>
            <a:ext cx="251999" cy="251999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0000" y="8964000"/>
            <a:ext cx="28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</a:rPr>
              <a:t>無効化ニューロン (✕)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000" y="9396000"/>
            <a:ext cx="1035100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p = 0.5 (50% をランダムにドロップ) ／ テスト時は全ノードを使用しスケール調整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251008" y="1800000"/>
            <a:ext cx="9859392" cy="9633600"/>
          </a:xfrm>
          <a:prstGeom prst="rect">
            <a:avLst/>
          </a:prstGeom>
          <a:solidFill>
            <a:srgbClr val="F3FAFE"/>
          </a:solidFill>
          <a:ln w="254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1008" y="1908000"/>
            <a:ext cx="949939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13CA6"/>
                </a:solidFill>
              </a:rPr>
              <a:t>Batch Normalization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1008" y="2340000"/>
            <a:ext cx="949939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02020"/>
                </a:solidFill>
              </a:rPr>
              <a:t>ミニバッチ単位で活性化値を正規化し学習を安定化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683008" y="2880000"/>
            <a:ext cx="8959392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791008" y="295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ミニバッチ入力
{x₁, x₂, ..., xₘ}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82704" y="403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83008" y="4320000"/>
            <a:ext cx="8959392" cy="115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791008" y="439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平均計算
μ = (1/m)Σxᵢ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82704" y="547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683008" y="5760000"/>
            <a:ext cx="8959392" cy="115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791008" y="583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分散計算
σ² = (1/m)Σ(xᵢ-μ)²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982704" y="691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683008" y="7200000"/>
            <a:ext cx="8959392" cy="115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791008" y="727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正規化
x̂ᵢ = (xᵢ-μ)/√(σ²+ε)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982704" y="835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683008" y="8640000"/>
            <a:ext cx="8959392" cy="115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791008" y="871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</a:rPr>
              <a:t>スケール・シフト
yᵢ = γx̂ᵢ + 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982704" y="9792000"/>
            <a:ext cx="3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13CA6"/>
                </a:solidFill>
              </a:rPr>
              <a:t>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83008" y="10080000"/>
            <a:ext cx="8959392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791008" y="10152000"/>
            <a:ext cx="8743392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出力 (学習パラメータ γ,β)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