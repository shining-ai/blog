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4400000" cy="100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</a:rPr>
              <a:t>損失関数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0" y="288000"/>
            <a:ext cx="5760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BDE4FC"/>
                </a:solidFill>
              </a:rPr>
              <a:t>問題種別→選択ガイド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68000"/>
            <a:ext cx="21290400" cy="1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72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13CA6"/>
                </a:solidFill>
              </a:rPr>
              <a:t>問題種別 → 損失関数 選択表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2340000"/>
            <a:ext cx="3420000" cy="648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000" y="2412000"/>
            <a:ext cx="3276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問題の種類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0" y="2340000"/>
            <a:ext cx="3420000" cy="648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2000" y="2412000"/>
            <a:ext cx="3276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損失関数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20000" y="2340000"/>
            <a:ext cx="4860000" cy="648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92000" y="2412000"/>
            <a:ext cx="4716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0000" y="2340000"/>
            <a:ext cx="5940000" cy="648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52000" y="2412000"/>
            <a:ext cx="5796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特徴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20000" y="2340000"/>
            <a:ext cx="3420000" cy="648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92000" y="2412000"/>
            <a:ext cx="3276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使用例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000" y="2988000"/>
            <a:ext cx="3420000" cy="126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2000" y="3312000"/>
            <a:ext cx="3276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回帰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0" y="2988000"/>
            <a:ext cx="3420000" cy="126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2000" y="3168000"/>
            <a:ext cx="3276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13CA6"/>
                </a:solidFill>
              </a:rPr>
              <a:t>MSE
(平均二乗誤差)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20000" y="2988000"/>
            <a:ext cx="4860000" cy="126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8000" y="3132000"/>
            <a:ext cx="4644000" cy="9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12A70"/>
                </a:solidFill>
              </a:rPr>
              <a:t>L = (1/n)Σ(yᵢ−ŷᵢ)²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0000" y="2988000"/>
            <a:ext cx="5940000" cy="126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88000" y="3132000"/>
            <a:ext cx="5724000" cy="9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外れ値に敏感
微分可能でSGD向き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20000" y="2988000"/>
            <a:ext cx="3420000" cy="126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892000" y="3204000"/>
            <a:ext cx="3276000" cy="82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B8D"/>
                </a:solidFill>
              </a:rPr>
              <a:t>価格予測
需要予測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0000" y="4248000"/>
            <a:ext cx="3420000" cy="126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2000" y="4572000"/>
            <a:ext cx="3276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回帰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0" y="4248000"/>
            <a:ext cx="3420000" cy="126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2000" y="4428000"/>
            <a:ext cx="3276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13CA6"/>
                </a:solidFill>
              </a:rPr>
              <a:t>MAE
(平均絶対誤差)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20000" y="4248000"/>
            <a:ext cx="4860000" cy="126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8000" y="4392000"/>
            <a:ext cx="4644000" cy="9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12A70"/>
                </a:solidFill>
              </a:rPr>
              <a:t>L = (1/n)Σ|yᵢ−ŷᵢ|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0000" y="4248000"/>
            <a:ext cx="5940000" cy="126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988000" y="4392000"/>
            <a:ext cx="5724000" cy="9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外れ値に頑健
中点で微分不可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820000" y="4248000"/>
            <a:ext cx="3420000" cy="126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892000" y="4464000"/>
            <a:ext cx="3276000" cy="82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B8D"/>
                </a:solidFill>
              </a:rPr>
              <a:t>異常値を含む
データの回帰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0000" y="5508000"/>
            <a:ext cx="3420000" cy="126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2000" y="5832000"/>
            <a:ext cx="3276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回帰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0" y="5508000"/>
            <a:ext cx="3420000" cy="126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72000" y="5688000"/>
            <a:ext cx="3276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13CA6"/>
                </a:solidFill>
              </a:rPr>
              <a:t>Huber Loss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20000" y="5508000"/>
            <a:ext cx="4860000" cy="126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28000" y="5652000"/>
            <a:ext cx="4644000" cy="9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12A70"/>
                </a:solidFill>
              </a:rPr>
              <a:t>δ²·(√(1+(x/δ)²)−1)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880000" y="5508000"/>
            <a:ext cx="5940000" cy="126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988000" y="5652000"/>
            <a:ext cx="5724000" cy="9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MSE+MAEのハイブリッド
外れ値に適度な頑健性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820000" y="5508000"/>
            <a:ext cx="3420000" cy="126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892000" y="5724000"/>
            <a:ext cx="3276000" cy="82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B8D"/>
                </a:solidFill>
              </a:rPr>
              <a:t>ロバスト回帰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0000" y="6768000"/>
            <a:ext cx="3420000" cy="1260000"/>
          </a:xfrm>
          <a:prstGeom prst="rect">
            <a:avLst/>
          </a:prstGeom>
          <a:solidFill>
            <a:srgbClr val="EBA81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2000" y="7092000"/>
            <a:ext cx="3276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二値分類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000" y="6768000"/>
            <a:ext cx="3420000" cy="1260000"/>
          </a:xfrm>
          <a:prstGeom prst="rect">
            <a:avLst/>
          </a:prstGeom>
          <a:solidFill>
            <a:srgbClr val="FDF0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72000" y="6948000"/>
            <a:ext cx="3276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BA81A"/>
                </a:solidFill>
              </a:rPr>
              <a:t>Binary CE
(バイナリ交差エントロピー)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20000" y="6768000"/>
            <a:ext cx="4860000" cy="126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28000" y="6912000"/>
            <a:ext cx="4644000" cy="9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12A70"/>
                </a:solidFill>
              </a:rPr>
              <a:t>L = −[y·log(ŷ)
   +(1−y)·log(1−ŷ)]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880000" y="6768000"/>
            <a:ext cx="5940000" cy="1260000"/>
          </a:xfrm>
          <a:prstGeom prst="rect">
            <a:avLst/>
          </a:prstGeom>
          <a:solidFill>
            <a:srgbClr val="FDF0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988000" y="6912000"/>
            <a:ext cx="5724000" cy="9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確率出力に適合
Sigmoidと組み合わせ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820000" y="6768000"/>
            <a:ext cx="3420000" cy="126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892000" y="6984000"/>
            <a:ext cx="3276000" cy="82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B8D"/>
                </a:solidFill>
              </a:rPr>
              <a:t>スパム分類
疾患検出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0000" y="8028000"/>
            <a:ext cx="3420000" cy="126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2000" y="8352000"/>
            <a:ext cx="3276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多クラス分類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00000" y="8028000"/>
            <a:ext cx="3420000" cy="1260000"/>
          </a:xfrm>
          <a:prstGeom prst="rect">
            <a:avLst/>
          </a:prstGeom>
          <a:solidFill>
            <a:srgbClr val="E8FD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72000" y="8208000"/>
            <a:ext cx="3276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B050"/>
                </a:solidFill>
              </a:rPr>
              <a:t>Categorical CE
(カテゴリカル交差エントロピー)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0000" y="8028000"/>
            <a:ext cx="4860000" cy="126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28000" y="8172000"/>
            <a:ext cx="4644000" cy="9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12A70"/>
                </a:solidFill>
              </a:rPr>
              <a:t>L = −Σ yᵢ·log(ŷᵢ)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880000" y="8028000"/>
            <a:ext cx="5940000" cy="1260000"/>
          </a:xfrm>
          <a:prstGeom prst="rect">
            <a:avLst/>
          </a:prstGeom>
          <a:solidFill>
            <a:srgbClr val="E8FD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988000" y="8172000"/>
            <a:ext cx="5724000" cy="9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Softmaxと組み合わせ
ワンホット正解が必要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820000" y="8028000"/>
            <a:ext cx="3420000" cy="126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7892000" y="8244000"/>
            <a:ext cx="3276000" cy="82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B8D"/>
                </a:solidFill>
              </a:rPr>
              <a:t>画像分類
文書分類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0000" y="9288000"/>
            <a:ext cx="3420000" cy="126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2000" y="9612000"/>
            <a:ext cx="3276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多クラス分類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00000" y="9288000"/>
            <a:ext cx="3420000" cy="1260000"/>
          </a:xfrm>
          <a:prstGeom prst="rect">
            <a:avLst/>
          </a:prstGeom>
          <a:solidFill>
            <a:srgbClr val="E8FD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72000" y="9468000"/>
            <a:ext cx="3276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B050"/>
                </a:solidFill>
              </a:rPr>
              <a:t>Sparse 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20000" y="9288000"/>
            <a:ext cx="4860000" cy="126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28000" y="9432000"/>
            <a:ext cx="4644000" cy="9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12A70"/>
                </a:solidFill>
              </a:rPr>
              <a:t>L = −log(ŷ[正解クラス])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880000" y="9288000"/>
            <a:ext cx="5940000" cy="1260000"/>
          </a:xfrm>
          <a:prstGeom prst="rect">
            <a:avLst/>
          </a:prstGeom>
          <a:solidFill>
            <a:srgbClr val="E8FDE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988000" y="9432000"/>
            <a:ext cx="5724000" cy="97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Categorical CEと同じ
正解はクラスIDで渡す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7820000" y="9288000"/>
            <a:ext cx="3420000" cy="126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7892000" y="9504000"/>
            <a:ext cx="3276000" cy="82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B7B8D"/>
                </a:solidFill>
              </a:rPr>
              <a:t>大規模分類
NLP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10152000"/>
            <a:ext cx="21290400" cy="14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0000" y="10440000"/>
            <a:ext cx="72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13CA6"/>
                </a:solidFill>
              </a:rPr>
              <a:t>選択フローチャート</a:t>
            </a:r>
          </a:p>
        </p:txBody>
      </p:sp>
      <p:sp>
        <p:nvSpPr>
          <p:cNvPr id="80" name="Diamond 79"/>
          <p:cNvSpPr/>
          <p:nvPr/>
        </p:nvSpPr>
        <p:spPr>
          <a:xfrm>
            <a:off x="720000" y="10980000"/>
            <a:ext cx="2880000" cy="900000"/>
          </a:xfrm>
          <a:prstGeom prst="diamond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8000" y="11160000"/>
            <a:ext cx="27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連続値を予測?</a:t>
            </a:r>
          </a:p>
        </p:txBody>
      </p:sp>
      <p:sp>
        <p:nvSpPr>
          <p:cNvPr id="82" name="Diamond 81"/>
          <p:cNvSpPr/>
          <p:nvPr/>
        </p:nvSpPr>
        <p:spPr>
          <a:xfrm>
            <a:off x="4320000" y="10980000"/>
            <a:ext cx="2880000" cy="900000"/>
          </a:xfrm>
          <a:prstGeom prst="diamond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28000" y="11160000"/>
            <a:ext cx="27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2クラスの
分類?</a:t>
            </a:r>
          </a:p>
        </p:txBody>
      </p:sp>
      <p:sp>
        <p:nvSpPr>
          <p:cNvPr id="84" name="Diamond 83"/>
          <p:cNvSpPr/>
          <p:nvPr/>
        </p:nvSpPr>
        <p:spPr>
          <a:xfrm>
            <a:off x="7920000" y="10980000"/>
            <a:ext cx="2880000" cy="900000"/>
          </a:xfrm>
          <a:prstGeom prst="diamond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28000" y="11160000"/>
            <a:ext cx="270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3クラス以上
の分類?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0000" y="11448000"/>
            <a:ext cx="205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A1A2E"/>
                </a:solidFill>
              </a:rPr>
              <a:t>回帰: MSE/MAE/Huber  →  二値分類: Binary CE  →  多クラス分類: Categorical CE / Sparse 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