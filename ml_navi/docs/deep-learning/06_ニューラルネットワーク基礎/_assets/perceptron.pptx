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44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パーセプトロン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0" y="288000"/>
            <a:ext cx="576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構造図 + XOR問題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93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13CA6"/>
                </a:solidFill>
              </a:rPr>
              <a:t>単純パーセプトロンの構造</a:t>
            </a:r>
          </a:p>
        </p:txBody>
      </p:sp>
      <p:sp>
        <p:nvSpPr>
          <p:cNvPr id="8" name="Oval 7"/>
          <p:cNvSpPr/>
          <p:nvPr/>
        </p:nvSpPr>
        <p:spPr>
          <a:xfrm>
            <a:off x="1080000" y="3060000"/>
            <a:ext cx="720000" cy="7200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168000"/>
            <a:ext cx="108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x₁</a:t>
            </a:r>
          </a:p>
        </p:txBody>
      </p:sp>
      <p:sp>
        <p:nvSpPr>
          <p:cNvPr id="10" name="Oval 9"/>
          <p:cNvSpPr/>
          <p:nvPr/>
        </p:nvSpPr>
        <p:spPr>
          <a:xfrm>
            <a:off x="1080000" y="4140000"/>
            <a:ext cx="720000" cy="7200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4248000"/>
            <a:ext cx="108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x₂</a:t>
            </a:r>
          </a:p>
        </p:txBody>
      </p:sp>
      <p:sp>
        <p:nvSpPr>
          <p:cNvPr id="12" name="Oval 11"/>
          <p:cNvSpPr/>
          <p:nvPr/>
        </p:nvSpPr>
        <p:spPr>
          <a:xfrm>
            <a:off x="1080000" y="5220000"/>
            <a:ext cx="720000" cy="7200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5328000"/>
            <a:ext cx="108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x₃</a:t>
            </a:r>
          </a:p>
        </p:txBody>
      </p:sp>
      <p:sp>
        <p:nvSpPr>
          <p:cNvPr id="14" name="Oval 13"/>
          <p:cNvSpPr/>
          <p:nvPr/>
        </p:nvSpPr>
        <p:spPr>
          <a:xfrm>
            <a:off x="1080000" y="6300000"/>
            <a:ext cx="720000" cy="7200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6408000"/>
            <a:ext cx="108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x₄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00000" y="3420000"/>
            <a:ext cx="4680000" cy="180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72000" y="4140000"/>
            <a:ext cx="936000" cy="360000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2000" y="4176000"/>
            <a:ext cx="93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00000" y="4500000"/>
            <a:ext cx="4680000" cy="72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72000" y="4680000"/>
            <a:ext cx="936000" cy="360000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2000" y="4716000"/>
            <a:ext cx="93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w₂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800000" y="5220000"/>
            <a:ext cx="4680000" cy="36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72000" y="5220000"/>
            <a:ext cx="936000" cy="360000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2000" y="5256000"/>
            <a:ext cx="93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w₃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800000" y="5220000"/>
            <a:ext cx="4680000" cy="1440000"/>
          </a:xfrm>
          <a:prstGeom prst="line">
            <a:avLst/>
          </a:prstGeom>
          <a:ln w="1905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72000" y="5760000"/>
            <a:ext cx="936000" cy="360000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2000" y="5796000"/>
            <a:ext cx="936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2520000"/>
            <a:ext cx="1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2A70"/>
                </a:solidFill>
              </a:rPr>
              <a:t>バイアス 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40000" y="2951999"/>
            <a:ext cx="1080000" cy="1728001"/>
          </a:xfrm>
          <a:prstGeom prst="line">
            <a:avLst/>
          </a:prstGeom>
          <a:ln w="19050">
            <a:solidFill>
              <a:srgbClr val="012A7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400000" y="4140000"/>
            <a:ext cx="2160000" cy="10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20000" y="4500000"/>
            <a:ext cx="25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80000" y="4392000"/>
            <a:ext cx="1980000" cy="900000"/>
          </a:xfrm>
          <a:prstGeom prst="roundRect">
            <a:avLst/>
          </a:prstGeom>
          <a:solidFill>
            <a:srgbClr val="01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2000" y="4500000"/>
            <a:ext cx="180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活性化
関数 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60000" y="4680000"/>
            <a:ext cx="720000" cy="72000"/>
          </a:xfrm>
          <a:prstGeom prst="line">
            <a:avLst/>
          </a:prstGeom>
          <a:ln w="3810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620000" y="4320000"/>
            <a:ext cx="900000" cy="90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20000" y="4500000"/>
            <a:ext cx="9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260000" y="4752000"/>
            <a:ext cx="360000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592000" y="4500000"/>
            <a:ext cx="14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A1A2E"/>
                </a:solidFill>
              </a:rPr>
              <a:t>出力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0000" y="7200000"/>
            <a:ext cx="9360000" cy="162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000" y="7308000"/>
            <a:ext cx="90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計算式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7740000"/>
            <a:ext cx="90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012A70"/>
                </a:solidFill>
              </a:rPr>
              <a:t>u = w₁x₁ + w₂x₂ + w₃x₃ + w₄x₄ + b
y = f(u) = step(u) : 0 or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40000" y="1800000"/>
            <a:ext cx="86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0000"/>
                </a:solidFill>
              </a:rPr>
              <a:t>XOR問題 : 線形分離不可能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960000" y="2520000"/>
            <a:ext cx="5040000" cy="504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2960000" y="7560000"/>
            <a:ext cx="5040000" cy="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960000" y="2520000"/>
            <a:ext cx="0" cy="504000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420000" y="7344000"/>
            <a:ext cx="5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20000" y="2592000"/>
            <a:ext cx="5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480000" y="7740000"/>
            <a:ext cx="5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032000" y="7740000"/>
            <a:ext cx="5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00000" y="8100000"/>
            <a:ext cx="10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2E"/>
                </a:solidFill>
              </a:rPr>
              <a:t>x₁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60000" y="4536000"/>
            <a:ext cx="5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2E"/>
                </a:solidFill>
              </a:rPr>
              <a:t>x₂</a:t>
            </a:r>
          </a:p>
        </p:txBody>
      </p:sp>
      <p:sp>
        <p:nvSpPr>
          <p:cNvPr id="52" name="Oval 51"/>
          <p:cNvSpPr/>
          <p:nvPr/>
        </p:nvSpPr>
        <p:spPr>
          <a:xfrm>
            <a:off x="12852000" y="7092000"/>
            <a:ext cx="576000" cy="576000"/>
          </a:xfrm>
          <a:prstGeom prst="ellipse">
            <a:avLst/>
          </a:prstGeom>
          <a:solidFill>
            <a:srgbClr val="013C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500000" y="7200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(0,0)→0</a:t>
            </a:r>
          </a:p>
        </p:txBody>
      </p:sp>
      <p:sp>
        <p:nvSpPr>
          <p:cNvPr id="54" name="Oval 53"/>
          <p:cNvSpPr/>
          <p:nvPr/>
        </p:nvSpPr>
        <p:spPr>
          <a:xfrm>
            <a:off x="12852000" y="2592000"/>
            <a:ext cx="576000" cy="57600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500000" y="2700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0000"/>
                </a:solidFill>
              </a:rPr>
              <a:t>(0,1)→1</a:t>
            </a:r>
          </a:p>
        </p:txBody>
      </p:sp>
      <p:sp>
        <p:nvSpPr>
          <p:cNvPr id="56" name="Oval 55"/>
          <p:cNvSpPr/>
          <p:nvPr/>
        </p:nvSpPr>
        <p:spPr>
          <a:xfrm>
            <a:off x="17352000" y="7092000"/>
            <a:ext cx="576000" cy="57600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000000" y="7200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0000"/>
                </a:solidFill>
              </a:rPr>
              <a:t>(1,0)→1</a:t>
            </a:r>
          </a:p>
        </p:txBody>
      </p:sp>
      <p:sp>
        <p:nvSpPr>
          <p:cNvPr id="58" name="Oval 57"/>
          <p:cNvSpPr/>
          <p:nvPr/>
        </p:nvSpPr>
        <p:spPr>
          <a:xfrm>
            <a:off x="17352000" y="2592000"/>
            <a:ext cx="576000" cy="576000"/>
          </a:xfrm>
          <a:prstGeom prst="ellipse">
            <a:avLst/>
          </a:prstGeom>
          <a:solidFill>
            <a:srgbClr val="013C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000000" y="2700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(1,1)→0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00000" y="7848000"/>
            <a:ext cx="57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0000"/>
                </a:solidFill>
              </a:rPr>
              <a:t>どんな直線でも分離できない!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720000" y="2340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XOR真理値表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720000" y="2808000"/>
            <a:ext cx="864000" cy="61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792000" y="2916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620000" y="2808000"/>
            <a:ext cx="864000" cy="61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692000" y="2916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20000" y="2808000"/>
            <a:ext cx="864000" cy="61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92000" y="2916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720000" y="3456000"/>
            <a:ext cx="864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792000" y="3564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620000" y="3456000"/>
            <a:ext cx="864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692000" y="3564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20000" y="3456000"/>
            <a:ext cx="864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92000" y="3564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720000" y="4104000"/>
            <a:ext cx="864000" cy="61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792000" y="4212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620000" y="4104000"/>
            <a:ext cx="864000" cy="61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692000" y="4212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20000" y="4104000"/>
            <a:ext cx="864000" cy="612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92000" y="4212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720000" y="4752000"/>
            <a:ext cx="864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792000" y="4860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620000" y="4752000"/>
            <a:ext cx="864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692000" y="4860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520000" y="4752000"/>
            <a:ext cx="864000" cy="612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92000" y="4860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720000" y="5400000"/>
            <a:ext cx="864000" cy="61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792000" y="5508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620000" y="5400000"/>
            <a:ext cx="864000" cy="61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9692000" y="5508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520000" y="5400000"/>
            <a:ext cx="864000" cy="612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92000" y="5508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2240000" y="8640000"/>
            <a:ext cx="8640000" cy="162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420000" y="8748000"/>
            <a:ext cx="82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13CA6"/>
                </a:solidFill>
              </a:rPr>
              <a:t>解決策 : 多層パーセプトロン（MLP）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420000" y="9180000"/>
            <a:ext cx="828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2E"/>
                </a:solidFill>
              </a:rPr>
              <a:t>隠れ層を追加することで非線形な決定境界を学習できる
単純パーセプトロンの限界を多層化で克服！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10440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0000" y="10692000"/>
            <a:ext cx="2016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2E"/>
                </a:solidFill>
              </a:rPr>
              <a:t>【学習則】ミンスキーとパパートが1969年に「パーセプトロン」でXOR問題の限界を証明。
これが多層ニューラルネットワークの研究へのモチベーションとなった。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