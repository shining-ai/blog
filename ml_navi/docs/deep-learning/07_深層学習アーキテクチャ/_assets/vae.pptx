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620000"/>
          </a:xfrm>
          <a:prstGeom prst="rect">
            <a:avLst/>
          </a:prstGeom>
          <a:solidFill>
            <a:srgbClr val="013CA6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44000"/>
            <a:ext cx="20570400" cy="13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VAE（変分オートエンコーダ）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793600"/>
            <a:ext cx="21290400" cy="180000"/>
          </a:xfrm>
          <a:prstGeom prst="rect">
            <a:avLst/>
          </a:prstGeom>
          <a:solidFill>
            <a:srgbClr val="BDE4FC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0000" y="2340000"/>
            <a:ext cx="1980000" cy="180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A1A2E"/>
                </a:solidFill>
              </a:rPr>
              <a:t>入力 x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0000" y="2340000"/>
            <a:ext cx="1980000" cy="18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エンコーダ
q(z|x)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0000" y="2340000"/>
            <a:ext cx="1440000" cy="18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μ（平均）
σ（標準偏差）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40000" y="2340000"/>
            <a:ext cx="1980000" cy="180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再パラメータ化
z = μ + σ·ε
ε ~ N(0,1)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580000" y="2340000"/>
            <a:ext cx="1980000" cy="180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デコーダ
p(x|z)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460000" y="2340000"/>
            <a:ext cx="1980000" cy="180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A1A2E"/>
                </a:solidFill>
              </a:rPr>
              <a:t>再構成 x̂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0" y="3240000.0"/>
            <a:ext cx="720000" cy="0.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220000" y="3240000.0"/>
            <a:ext cx="1080000" cy="0.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0000" y="3240000.0"/>
            <a:ext cx="2700000" cy="0.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420000" y="3240000.0"/>
            <a:ext cx="2160000" cy="0.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6560000" y="3240000.0"/>
            <a:ext cx="900000" cy="0.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0440000" y="4500000"/>
            <a:ext cx="198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2000" y="4572000"/>
            <a:ext cx="1872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13CA6"/>
                </a:solidFill>
              </a:rPr>
              <a:t>ε ~ N(0,I)
（ランダムノイズ）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11430000" y="4140000"/>
            <a:ext cx="0" cy="36000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60000" y="5507999"/>
            <a:ext cx="20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13CA6"/>
                </a:solidFill>
              </a:rPr>
              <a:t>■ ELBO（損失関数）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0000" y="5867999"/>
            <a:ext cx="5220000" cy="19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</a:rPr>
              <a:t>再構成損失
-E[log p(x|z)]
入力を正確に
再構成できるか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0000" y="6317999"/>
            <a:ext cx="5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13CA6"/>
                </a:solidFill>
              </a:rPr>
              <a:t>+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80000" y="5867999"/>
            <a:ext cx="5220000" cy="19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</a:rPr>
              <a:t>KL ダイバージェンス
KL[q(z|x)||p(z)]
潜在空間を事前分布
N(0,I)に近づける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00000" y="6317999"/>
            <a:ext cx="5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13CA6"/>
                </a:solidFill>
              </a:rPr>
              <a:t>=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220000" y="5867999"/>
            <a:ext cx="3240000" cy="198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</a:rPr>
              <a:t>ELBO
（最大化 ≡
損失最小化）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0000" y="8207999"/>
            <a:ext cx="20520000" cy="90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0000" y="8315999"/>
            <a:ext cx="20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再パラメータ化トリック: z をサンプリング操作から切り離し、ε を外部ノイズとして扱うことで
z = μ + σ·ε に変換し、勾配をエンコーダまで逆伝播可能にする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