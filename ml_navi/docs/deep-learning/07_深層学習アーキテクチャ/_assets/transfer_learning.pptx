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転移学習とファインチューニング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2021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</a:rPr>
              <a:t>事前学習済みモデルの重みを活用し、少ないデータ・計算コストで新タスクを解く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2088000"/>
            <a:ext cx="10015200" cy="9525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2088000"/>
            <a:ext cx="10015200" cy="64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2160000"/>
            <a:ext cx="979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特徴抽出（Feature Extraction）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2880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00" y="2916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3024" y="3060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024" y="3060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852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00" y="3888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3024" y="4032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024" y="4032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824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00" y="4860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24" y="5004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024" y="5004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5796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000" y="5832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024" y="5976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024" y="5976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6768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00" y="6804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Global Avg Pool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3024" y="6948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024" y="6948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7740000"/>
            <a:ext cx="92952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000" y="7776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新規 FC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3024" y="7920000"/>
            <a:ext cx="325332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024" y="7920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学習対象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8712000"/>
            <a:ext cx="92952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" y="8748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出力層 (新タスク)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3024" y="8892000"/>
            <a:ext cx="325332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024" y="8892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学習対象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000" y="9864000"/>
            <a:ext cx="97992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00" y="9936000"/>
            <a:ext cx="95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13CA6"/>
                </a:solidFill>
              </a:rPr>
              <a:t>少データでも有効 / 学習コスト低 / 過学習しにくい
用途: データが非常に少ない場合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15200" y="2088000"/>
            <a:ext cx="10015200" cy="9525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15200" y="2088000"/>
            <a:ext cx="10015200" cy="648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23200" y="2160000"/>
            <a:ext cx="979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ファインチューニング（Fine-Tuning）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75200" y="2880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83200" y="2916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038224" y="3060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074224" y="3060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75200" y="3852000"/>
            <a:ext cx="9295200" cy="900000"/>
          </a:xfrm>
          <a:prstGeom prst="rect">
            <a:avLst/>
          </a:prstGeom>
          <a:solidFill>
            <a:srgbClr val="8888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83200" y="3888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Conv Block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038224" y="4032000"/>
            <a:ext cx="3253320" cy="540000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074224" y="4032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凍結 (Frozen)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75200" y="4824000"/>
            <a:ext cx="92952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83200" y="4860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020"/>
                </a:solidFill>
              </a:rPr>
              <a:t>Conv Block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38224" y="5004000"/>
            <a:ext cx="325332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074224" y="5004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学習対象 (低lr)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75200" y="5796000"/>
            <a:ext cx="92952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83200" y="5832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020"/>
                </a:solidFill>
              </a:rPr>
              <a:t>Conv Block 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038224" y="5976000"/>
            <a:ext cx="325332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074224" y="5976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学習対象 (低lr)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75200" y="6768000"/>
            <a:ext cx="92952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83200" y="6804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Global Avg Pool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038224" y="6948000"/>
            <a:ext cx="325332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074224" y="6948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学習対象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275200" y="7740000"/>
            <a:ext cx="92952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383200" y="7776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新規 FC Layer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038224" y="7920000"/>
            <a:ext cx="325332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074224" y="7920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学習対象 (高lr)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75200" y="8712000"/>
            <a:ext cx="92952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83200" y="8748000"/>
            <a:ext cx="511236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出力層 (新タスク)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038224" y="8892000"/>
            <a:ext cx="325332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074224" y="8892000"/>
            <a:ext cx="31813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学習対象 (高lr)</a:t>
            </a:r>
          </a:p>
        </p:txBody>
      </p:sp>
      <p:sp>
        <p:nvSpPr>
          <p:cNvPr id="70" name="Oval 69"/>
          <p:cNvSpPr/>
          <p:nvPr/>
        </p:nvSpPr>
        <p:spPr>
          <a:xfrm>
            <a:off x="11275200" y="9864000"/>
            <a:ext cx="251999" cy="251999"/>
          </a:xfrm>
          <a:prstGeom prst="ellipse">
            <a:avLst/>
          </a:prstGeom>
          <a:solidFill>
            <a:srgbClr val="8888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599200" y="9864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2020"/>
                </a:solidFill>
              </a:rPr>
              <a:t>凍結層</a:t>
            </a:r>
          </a:p>
        </p:txBody>
      </p:sp>
      <p:sp>
        <p:nvSpPr>
          <p:cNvPr id="72" name="Oval 71"/>
          <p:cNvSpPr/>
          <p:nvPr/>
        </p:nvSpPr>
        <p:spPr>
          <a:xfrm>
            <a:off x="13599000" y="9864000"/>
            <a:ext cx="251999" cy="251999"/>
          </a:xfrm>
          <a:prstGeom prst="ellipse">
            <a:avLst/>
          </a:prstGeom>
          <a:solidFill>
            <a:srgbClr val="BDE4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923000" y="9864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2020"/>
                </a:solidFill>
              </a:rPr>
              <a:t>低学習率で更新</a:t>
            </a:r>
          </a:p>
        </p:txBody>
      </p:sp>
      <p:sp>
        <p:nvSpPr>
          <p:cNvPr id="74" name="Oval 73"/>
          <p:cNvSpPr/>
          <p:nvPr/>
        </p:nvSpPr>
        <p:spPr>
          <a:xfrm>
            <a:off x="15922800" y="9864000"/>
            <a:ext cx="251999" cy="251999"/>
          </a:xfrm>
          <a:prstGeom prst="ellipse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46800" y="9864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2020"/>
                </a:solidFill>
              </a:rPr>
              <a:t>通常学習率</a:t>
            </a:r>
          </a:p>
        </p:txBody>
      </p:sp>
      <p:sp>
        <p:nvSpPr>
          <p:cNvPr id="76" name="Oval 75"/>
          <p:cNvSpPr/>
          <p:nvPr/>
        </p:nvSpPr>
        <p:spPr>
          <a:xfrm>
            <a:off x="18246600" y="9864000"/>
            <a:ext cx="251999" cy="251999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570600" y="9864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2020"/>
                </a:solidFill>
              </a:rPr>
              <a:t>高学習率 (新規)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023200" y="10296000"/>
            <a:ext cx="97992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31200" y="10368000"/>
            <a:ext cx="95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高精度が期待できる / 中〜大データ向け / 学習率に注意
用途: ターゲットデータが十分ある場合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