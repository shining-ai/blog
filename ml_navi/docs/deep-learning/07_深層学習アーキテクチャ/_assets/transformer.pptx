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05704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Transformer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93600"/>
            <a:ext cx="21290400" cy="180000"/>
          </a:xfrm>
          <a:prstGeom prst="rect">
            <a:avLst/>
          </a:prstGeom>
          <a:solidFill>
            <a:srgbClr val="BDE4F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872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13CA6"/>
                </a:solidFill>
              </a:rPr>
              <a:t>Multi-Head Self-Attention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2340000"/>
            <a:ext cx="9360000" cy="1007999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A1A2E"/>
                </a:solidFill>
              </a:rPr>
              <a:t>Input Embeddings + Positional Encoding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20000.0" y="3347999"/>
            <a:ext cx="0.0" cy="144001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0000" y="3492000"/>
            <a:ext cx="9360000" cy="1007999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A1A2E"/>
                </a:solidFill>
              </a:rPr>
              <a:t>Linear Projection → Q, K, V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20000.0" y="4499999"/>
            <a:ext cx="0.0" cy="144001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0000" y="4644000"/>
            <a:ext cx="936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Scaled Dot-Product Attention × h heads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20000.0" y="5651999"/>
            <a:ext cx="0.0" cy="144001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0000" y="5796000"/>
            <a:ext cx="936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Concat &amp; Linear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20000.0" y="6803999"/>
            <a:ext cx="0.0" cy="144001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40000" y="6948000"/>
            <a:ext cx="9360000" cy="1007999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Add &amp; Norm (残差接続)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20000.0" y="7955999"/>
            <a:ext cx="0.0" cy="144001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0000" y="8100000"/>
            <a:ext cx="93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Feed Forward Network (FFN)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20000.0" y="9107999"/>
            <a:ext cx="0.0" cy="144001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0000" y="9252000"/>
            <a:ext cx="9360000" cy="1007999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Add &amp; Norm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0" y="187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13CA6"/>
                </a:solidFill>
              </a:rPr>
              <a:t>Encoder / Decoder 全体構造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00000" y="2340000"/>
            <a:ext cx="432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Encoder Stack (N×)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00000" y="2988000"/>
            <a:ext cx="4320000" cy="108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2E"/>
                </a:solidFill>
              </a:rPr>
              <a:t>Input Embedding
+ Positional Enc.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960000.0" y="4068000"/>
            <a:ext cx="0.0" cy="18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0800000" y="4248000"/>
            <a:ext cx="432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Multi-Head
Self-Attention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960000.0" y="5328000"/>
            <a:ext cx="0.0" cy="18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800000" y="5508000"/>
            <a:ext cx="4320000" cy="10800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Add &amp; Norm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960000.0" y="6588000"/>
            <a:ext cx="0.0" cy="18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0800000" y="6768000"/>
            <a:ext cx="432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Feed Forward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960000.0" y="7848000"/>
            <a:ext cx="0.0" cy="18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0800000" y="8028000"/>
            <a:ext cx="4320000" cy="10800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Add &amp; Norm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200000" y="2340000"/>
            <a:ext cx="450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Decoder Stack (N×)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200000" y="2988000"/>
            <a:ext cx="4500000" cy="972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</a:rPr>
              <a:t>Output Embedding
+ Positional Enc.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8450000.0" y="3960000"/>
            <a:ext cx="0.0" cy="144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6200000" y="4104000"/>
            <a:ext cx="4500000" cy="972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Masked Multi-Head
Self-Attention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8450000.0" y="5076000"/>
            <a:ext cx="0.0" cy="144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6200000" y="5220000"/>
            <a:ext cx="4500000" cy="9720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Add &amp; Norm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450000.0" y="6192000"/>
            <a:ext cx="0.0" cy="144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6200000" y="6336000"/>
            <a:ext cx="4500000" cy="972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Cross-Attention
(Enc→Dec)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8450000.0" y="7308000"/>
            <a:ext cx="0.0" cy="144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6200000" y="7452000"/>
            <a:ext cx="4500000" cy="9720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Add &amp; Norm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8450000.0" y="8424000"/>
            <a:ext cx="0.0" cy="144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6200000" y="8568000"/>
            <a:ext cx="4500000" cy="972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Feed Forward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8450000.0" y="9540000"/>
            <a:ext cx="0.0" cy="144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6200000" y="9684000"/>
            <a:ext cx="4500000" cy="9720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Add &amp; Norm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8450000.0" y="10656000"/>
            <a:ext cx="0.0" cy="144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6200000" y="10800000"/>
            <a:ext cx="4500000" cy="972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Linear + Softmax
→ Output Probs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5120000" y="6048000"/>
            <a:ext cx="1080000" cy="774000"/>
          </a:xfrm>
          <a:prstGeom prst="line">
            <a:avLst/>
          </a:prstGeom>
          <a:ln w="38100">
            <a:solidFill>
              <a:srgbClr val="EBA81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5192000" y="6282000"/>
            <a:ext cx="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BA81A"/>
                </a:solidFill>
              </a:rPr>
              <a:t>K, 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