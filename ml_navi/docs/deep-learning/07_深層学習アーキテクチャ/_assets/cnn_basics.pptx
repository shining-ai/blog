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202104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畳み込み層とプーリング層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728000"/>
            <a:ext cx="10105200" cy="9813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836000"/>
            <a:ext cx="974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13CA6"/>
                </a:solidFill>
              </a:rPr>
              <a:t>畳み込み演算（Convolution）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268000"/>
            <a:ext cx="9745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020"/>
                </a:solidFill>
              </a:rPr>
              <a:t>フィルタ（カーネル）をスライドさせ特徴マップを生成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80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280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0" y="280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280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0" y="280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0000" y="280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0" y="280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000" y="280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0" y="280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0" y="280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352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40000" y="352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0000" y="352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6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0" y="352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0" y="352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424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40000" y="424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4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60000" y="424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6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0" y="424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0" y="424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0000" y="496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000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40000" y="496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40000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0000" y="496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60000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000" y="496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0000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00000" y="496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00000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000" y="568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0000" y="568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40000" y="568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40000" y="568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60000" y="568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60000" y="568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80000" y="568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80000" y="568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00000" y="5688000"/>
            <a:ext cx="72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0000" y="568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0000" y="252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88888"/>
                </a:solidFill>
              </a:rPr>
              <a:t>入力 (5×5)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0000" y="2808000"/>
            <a:ext cx="720000" cy="72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0000" y="280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40000" y="2808000"/>
            <a:ext cx="720000" cy="72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40000" y="280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60000" y="2808000"/>
            <a:ext cx="720000" cy="72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60000" y="280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0000" y="3528000"/>
            <a:ext cx="720000" cy="72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40000" y="3528000"/>
            <a:ext cx="720000" cy="72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4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60000" y="3528000"/>
            <a:ext cx="720000" cy="72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6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0000" y="4248000"/>
            <a:ext cx="720000" cy="72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440000" y="4248000"/>
            <a:ext cx="720000" cy="72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4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60000" y="4248000"/>
            <a:ext cx="720000" cy="72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6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60000" y="3528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6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80000" y="3528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8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00000" y="3528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00000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60000" y="4248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6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80000" y="4248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8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0000" y="4248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00000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0000" y="4968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60000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80000" y="4968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80000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00000" y="4968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00000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60000" y="3240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88888"/>
                </a:solidFill>
              </a:rPr>
              <a:t>フィルタ (3×3)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00000" y="424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13CA6"/>
                </a:solidFill>
              </a:rPr>
              <a:t>→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03999" y="3528000"/>
            <a:ext cx="72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03999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423999" y="3528000"/>
            <a:ext cx="72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423999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3999" y="3528000"/>
            <a:ext cx="72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3999" y="352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03999" y="4248000"/>
            <a:ext cx="72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03999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23999" y="4248000"/>
            <a:ext cx="72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23999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3999" y="4248000"/>
            <a:ext cx="72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143999" y="424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03999" y="4968000"/>
            <a:ext cx="72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703999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423999" y="4968000"/>
            <a:ext cx="72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23999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143999" y="4968000"/>
            <a:ext cx="72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143999" y="4968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03999" y="3240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88888"/>
                </a:solidFill>
              </a:rPr>
              <a:t>特徴マップ (3×3)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0000" y="10173600"/>
            <a:ext cx="9745200" cy="115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20000" y="10281600"/>
            <a:ext cx="9385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出力(i,j) = Σₘ Σₙ Input(i+m, j+n) × Filter(m,n)
ストライド s / パディング p で出力サイズを制御
出力サイズ = (N - F + 2P)/S + 1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825200" y="1728000"/>
            <a:ext cx="10105200" cy="9813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005200" y="1836000"/>
            <a:ext cx="974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13CA6"/>
                </a:solidFill>
              </a:rPr>
              <a:t>プーリング層（Pooling Layer）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005200" y="2268000"/>
            <a:ext cx="9745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020"/>
                </a:solidFill>
              </a:rPr>
              <a:t>空間サイズを縮小し、位置不変性を高める（Max Pooling が主流）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725200" y="2880000"/>
            <a:ext cx="720000" cy="720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725200" y="288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2445200" y="2880000"/>
            <a:ext cx="720000" cy="720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2445200" y="288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3165200" y="2880000"/>
            <a:ext cx="720000" cy="720000"/>
          </a:xfrm>
          <a:prstGeom prst="rect">
            <a:avLst/>
          </a:prstGeom>
          <a:solidFill>
            <a:srgbClr val="90D0F8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3165200" y="288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3885200" y="2880000"/>
            <a:ext cx="720000" cy="720000"/>
          </a:xfrm>
          <a:prstGeom prst="rect">
            <a:avLst/>
          </a:prstGeom>
          <a:solidFill>
            <a:srgbClr val="90D0F8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3885200" y="288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725200" y="3600000"/>
            <a:ext cx="720000" cy="720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725200" y="360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2445200" y="3600000"/>
            <a:ext cx="720000" cy="720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445200" y="360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3165200" y="3600000"/>
            <a:ext cx="720000" cy="720000"/>
          </a:xfrm>
          <a:prstGeom prst="rect">
            <a:avLst/>
          </a:prstGeom>
          <a:solidFill>
            <a:srgbClr val="90D0F8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3165200" y="360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3885200" y="3600000"/>
            <a:ext cx="720000" cy="720000"/>
          </a:xfrm>
          <a:prstGeom prst="rect">
            <a:avLst/>
          </a:prstGeom>
          <a:solidFill>
            <a:srgbClr val="90D0F8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3885200" y="360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725200" y="4320000"/>
            <a:ext cx="720000" cy="720000"/>
          </a:xfrm>
          <a:prstGeom prst="rect">
            <a:avLst/>
          </a:prstGeom>
          <a:solidFill>
            <a:srgbClr val="60B8F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725200" y="432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2445200" y="4320000"/>
            <a:ext cx="720000" cy="720000"/>
          </a:xfrm>
          <a:prstGeom prst="rect">
            <a:avLst/>
          </a:prstGeom>
          <a:solidFill>
            <a:srgbClr val="60B8F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2445200" y="432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3165200" y="4320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3165200" y="432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3885200" y="4320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3885200" y="432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725200" y="5040000"/>
            <a:ext cx="720000" cy="720000"/>
          </a:xfrm>
          <a:prstGeom prst="rect">
            <a:avLst/>
          </a:prstGeom>
          <a:solidFill>
            <a:srgbClr val="60B8F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725200" y="504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2445200" y="5040000"/>
            <a:ext cx="720000" cy="720000"/>
          </a:xfrm>
          <a:prstGeom prst="rect">
            <a:avLst/>
          </a:prstGeom>
          <a:solidFill>
            <a:srgbClr val="60B8F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2445200" y="504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3165200" y="5040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165200" y="504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3885200" y="5040000"/>
            <a:ext cx="7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3885200" y="504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470600" y="3625400"/>
            <a:ext cx="669200" cy="669200"/>
          </a:xfrm>
          <a:prstGeom prst="rect">
            <a:avLst/>
          </a:prstGeom>
          <a:noFill/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3910600" y="2905400"/>
            <a:ext cx="669200" cy="669200"/>
          </a:xfrm>
          <a:prstGeom prst="rect">
            <a:avLst/>
          </a:prstGeom>
          <a:noFill/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3910600" y="5065400"/>
            <a:ext cx="669200" cy="669200"/>
          </a:xfrm>
          <a:prstGeom prst="rect">
            <a:avLst/>
          </a:prstGeom>
          <a:noFill/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3190600" y="4345400"/>
            <a:ext cx="669200" cy="669200"/>
          </a:xfrm>
          <a:prstGeom prst="rect">
            <a:avLst/>
          </a:prstGeom>
          <a:noFill/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725200" y="2592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88888"/>
                </a:solidFill>
              </a:rPr>
              <a:t>入力 (4×4)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4785200" y="360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13CA6"/>
                </a:solidFill>
              </a:rPr>
              <a:t>→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5289199" y="3600000"/>
            <a:ext cx="1080000" cy="1080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5289199" y="3600000"/>
            <a:ext cx="1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6369199" y="3600000"/>
            <a:ext cx="1080000" cy="1080000"/>
          </a:xfrm>
          <a:prstGeom prst="rect">
            <a:avLst/>
          </a:prstGeom>
          <a:solidFill>
            <a:srgbClr val="90D0F8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6369199" y="3600000"/>
            <a:ext cx="1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5289199" y="4680000"/>
            <a:ext cx="1080000" cy="1080000"/>
          </a:xfrm>
          <a:prstGeom prst="rect">
            <a:avLst/>
          </a:prstGeom>
          <a:solidFill>
            <a:srgbClr val="60B8F0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5289199" y="4680000"/>
            <a:ext cx="1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6369199" y="4680000"/>
            <a:ext cx="1080000" cy="108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6369199" y="4680000"/>
            <a:ext cx="1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5289199" y="3312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88888"/>
                </a:solidFill>
              </a:rPr>
              <a:t>出力 (2×2)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1185200" y="6192000"/>
            <a:ext cx="3056400" cy="136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1257200" y="6264000"/>
            <a:ext cx="2912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Max Pooling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257200" y="6624000"/>
            <a:ext cx="2912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各領域の最大値
→ 最も強い特徴を保持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4313600" y="6192000"/>
            <a:ext cx="3056400" cy="136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4385600" y="6264000"/>
            <a:ext cx="2912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02020"/>
                </a:solidFill>
              </a:rPr>
              <a:t>Average Pooling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385600" y="6624000"/>
            <a:ext cx="2912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各領域の平均値
→ 全体的な特徴を保持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7442000" y="6192000"/>
            <a:ext cx="30564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7514000" y="6264000"/>
            <a:ext cx="2912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02020"/>
                </a:solidFill>
              </a:rPr>
              <a:t>Global Avg Pool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7514000" y="6624000"/>
            <a:ext cx="2912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全マップを1値に
→ FC層の代替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005200" y="10677600"/>
            <a:ext cx="97452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185200" y="10749600"/>
            <a:ext cx="9385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13CA6"/>
                </a:solidFill>
              </a:rPr>
              <a:t>CNN = 畳み込み層（特徴抽出）+ プーリング層（次元削減）+ 全結合層（分類）の組み合わせ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