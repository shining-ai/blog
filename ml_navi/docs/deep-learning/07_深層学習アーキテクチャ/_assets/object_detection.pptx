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物体検出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728000"/>
            <a:ext cx="5097600" cy="981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1836000"/>
            <a:ext cx="4881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13CA6"/>
                </a:solidFill>
              </a:rPr>
              <a:t>Bounding 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268000"/>
            <a:ext cx="4737600" cy="39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376000"/>
            <a:ext cx="4737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3CA6"/>
                </a:solidFill>
              </a:rPr>
              <a:t>入力画像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3760" y="3060000"/>
            <a:ext cx="2131920" cy="25740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3760" y="2808001"/>
            <a:ext cx="900000" cy="251999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9760" y="2826000"/>
            <a:ext cx="8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8800" y="2664000"/>
            <a:ext cx="2274048" cy="2178000"/>
          </a:xfrm>
          <a:prstGeom prst="rect">
            <a:avLst/>
          </a:prstGeom>
          <a:noFill/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8800" y="2412001"/>
            <a:ext cx="900000" cy="251999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800" y="2430000"/>
            <a:ext cx="82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6480000"/>
            <a:ext cx="48816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02020"/>
                </a:solidFill>
              </a:rPr>
              <a:t>形式: (x_center, y_center, w, h)
    または (x1, y1, x2, y2)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7272000"/>
            <a:ext cx="4881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02020"/>
                </a:solidFill>
              </a:rPr>
              <a:t>各BBoxにクラスラベルと
確信度スコアを付与
(例: 犬 0.95, 猫 0.88)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7600" y="1728000"/>
            <a:ext cx="5097600" cy="981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5600" y="1836000"/>
            <a:ext cx="4881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13CA6"/>
                </a:solidFill>
              </a:rPr>
              <a:t>IoU（Intersection over Union）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7600" y="2448000"/>
            <a:ext cx="2520000" cy="2520000"/>
          </a:xfrm>
          <a:prstGeom prst="rect">
            <a:avLst/>
          </a:prstGeom>
          <a:solidFill>
            <a:srgbClr val="CCE8FF"/>
          </a:solidFill>
          <a:ln w="381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17600" y="3168000"/>
            <a:ext cx="2520000" cy="2520000"/>
          </a:xfrm>
          <a:prstGeom prst="rect">
            <a:avLst/>
          </a:prstGeom>
          <a:solidFill>
            <a:srgbClr val="FFE8CC"/>
          </a:solidFill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17600" y="3168000"/>
            <a:ext cx="1800000" cy="1800000"/>
          </a:xfrm>
          <a:prstGeom prst="rect">
            <a:avLst/>
          </a:prstGeom>
          <a:solidFill>
            <a:srgbClr val="99CC99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5600" y="3455999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13CA6"/>
                </a:solidFill>
              </a:rPr>
              <a:t>GT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600" y="442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BA81A"/>
                </a:solidFill>
              </a:rPr>
              <a:t>Pred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7600" y="3888000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050"/>
                </a:solidFill>
              </a:rPr>
              <a:t>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7600" y="5508000"/>
            <a:ext cx="4737600" cy="115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5600" y="5616000"/>
            <a:ext cx="45216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IoU = |A ∩ B| / |A ∪ B|
IoU &gt; 0.5 → 正しい検出
IoU &gt; 0.75 → 厳密な評価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7600" y="6876000"/>
            <a:ext cx="47376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02020"/>
                </a:solidFill>
              </a:rPr>
              <a:t>mAP (mean Average Precision) = 全クラスの AP の平均値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15200" y="1728000"/>
            <a:ext cx="5097600" cy="981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23200" y="1836000"/>
            <a:ext cx="4881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13CA6"/>
                </a:solidFill>
              </a:rPr>
              <a:t>NMS（Non-Maximum Suppression）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95200" y="2376000"/>
            <a:ext cx="4737600" cy="936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03200" y="2520000"/>
            <a:ext cx="4521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① スコアで降順ソート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6000" y="3312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95200" y="3528000"/>
            <a:ext cx="4737600" cy="936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03200" y="3672000"/>
            <a:ext cx="4521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② 最高スコアBBoxを選択・保持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56000" y="4464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95200" y="4680000"/>
            <a:ext cx="4737600" cy="936000"/>
          </a:xfrm>
          <a:prstGeom prst="rect">
            <a:avLst/>
          </a:prstGeom>
          <a:solidFill>
            <a:srgbClr val="BDE4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03200" y="4824000"/>
            <a:ext cx="4521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02020"/>
                </a:solidFill>
              </a:rPr>
              <a:t>③ 残りとIoU計算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6000" y="5616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95200" y="5832000"/>
            <a:ext cx="4737600" cy="936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03200" y="5976000"/>
            <a:ext cx="4521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④ IoU &gt; 閾値 (0.5) を削除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56000" y="6768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095200" y="6984000"/>
            <a:ext cx="4737600" cy="936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03200" y="7128000"/>
            <a:ext cx="4521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⑤ 候補が残れば ② に戻る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56000" y="7920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095200" y="8136000"/>
            <a:ext cx="4737600" cy="936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03200" y="8280000"/>
            <a:ext cx="4521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⑥ 保持BBoxが最終検出結果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192800" y="1728000"/>
            <a:ext cx="5097600" cy="981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00800" y="1836000"/>
            <a:ext cx="4881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13CA6"/>
                </a:solidFill>
              </a:rPr>
              <a:t>YOLO vs Faster R-CNN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300800" y="2268000"/>
            <a:ext cx="1690560" cy="1134000"/>
          </a:xfrm>
          <a:prstGeom prst="rect">
            <a:avLst/>
          </a:prstGeom>
          <a:solidFill>
            <a:srgbClr val="013CA6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336800" y="2340000"/>
            <a:ext cx="160056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8009360" y="2268000"/>
            <a:ext cx="1544112" cy="1134000"/>
          </a:xfrm>
          <a:prstGeom prst="rect">
            <a:avLst/>
          </a:prstGeom>
          <a:solidFill>
            <a:srgbClr val="013CA6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045360" y="2340000"/>
            <a:ext cx="145411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YOLO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571472" y="2268000"/>
            <a:ext cx="1592928" cy="1134000"/>
          </a:xfrm>
          <a:prstGeom prst="rect">
            <a:avLst/>
          </a:prstGeom>
          <a:solidFill>
            <a:srgbClr val="013CA6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607472" y="2340000"/>
            <a:ext cx="1502928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Faster R-CNN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300800" y="3420000"/>
            <a:ext cx="1690560" cy="1134000"/>
          </a:xfrm>
          <a:prstGeom prst="rect">
            <a:avLst/>
          </a:prstGeom>
          <a:solidFill>
            <a:srgbClr val="BDE4FC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336800" y="3492000"/>
            <a:ext cx="160056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方式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009360" y="3420000"/>
            <a:ext cx="1544112" cy="1134000"/>
          </a:xfrm>
          <a:prstGeom prst="rect">
            <a:avLst/>
          </a:prstGeom>
          <a:solidFill>
            <a:srgbClr val="E8F8E8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045360" y="3492000"/>
            <a:ext cx="145411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1-stage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571472" y="3420000"/>
            <a:ext cx="1592928" cy="11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607472" y="3492000"/>
            <a:ext cx="1502928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2-stage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300800" y="4572000"/>
            <a:ext cx="1690560" cy="1134000"/>
          </a:xfrm>
          <a:prstGeom prst="rect">
            <a:avLst/>
          </a:prstGeom>
          <a:solidFill>
            <a:srgbClr val="BDE4FC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36800" y="4644000"/>
            <a:ext cx="160056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速度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009360" y="4572000"/>
            <a:ext cx="1544112" cy="1134000"/>
          </a:xfrm>
          <a:prstGeom prst="rect">
            <a:avLst/>
          </a:prstGeom>
          <a:solidFill>
            <a:srgbClr val="E8F8E8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045360" y="4644000"/>
            <a:ext cx="145411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非常に速い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571472" y="4572000"/>
            <a:ext cx="1592928" cy="11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607472" y="4644000"/>
            <a:ext cx="1502928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中程度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300800" y="5724000"/>
            <a:ext cx="1690560" cy="1134000"/>
          </a:xfrm>
          <a:prstGeom prst="rect">
            <a:avLst/>
          </a:prstGeom>
          <a:solidFill>
            <a:srgbClr val="BDE4FC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336800" y="5796000"/>
            <a:ext cx="160056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精度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009360" y="5724000"/>
            <a:ext cx="1544112" cy="1134000"/>
          </a:xfrm>
          <a:prstGeom prst="rect">
            <a:avLst/>
          </a:prstGeom>
          <a:solidFill>
            <a:srgbClr val="E8F8E8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045360" y="5796000"/>
            <a:ext cx="145411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中〜高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571472" y="5724000"/>
            <a:ext cx="1592928" cy="11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07472" y="5796000"/>
            <a:ext cx="1502928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高い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300800" y="6876000"/>
            <a:ext cx="1690560" cy="1134000"/>
          </a:xfrm>
          <a:prstGeom prst="rect">
            <a:avLst/>
          </a:prstGeom>
          <a:solidFill>
            <a:srgbClr val="BDE4FC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6336800" y="6948000"/>
            <a:ext cx="160056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推論速度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009360" y="6876000"/>
            <a:ext cx="1544112" cy="1134000"/>
          </a:xfrm>
          <a:prstGeom prst="rect">
            <a:avLst/>
          </a:prstGeom>
          <a:solidFill>
            <a:srgbClr val="E8F8E8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045360" y="6948000"/>
            <a:ext cx="145411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~45 FPS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571472" y="6876000"/>
            <a:ext cx="1592928" cy="11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607472" y="6948000"/>
            <a:ext cx="1502928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~5 FPS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300800" y="8028000"/>
            <a:ext cx="1690560" cy="1134000"/>
          </a:xfrm>
          <a:prstGeom prst="rect">
            <a:avLst/>
          </a:prstGeom>
          <a:solidFill>
            <a:srgbClr val="BDE4FC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336800" y="8100000"/>
            <a:ext cx="160056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アーキテクチャ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009360" y="8028000"/>
            <a:ext cx="1544112" cy="1134000"/>
          </a:xfrm>
          <a:prstGeom prst="rect">
            <a:avLst/>
          </a:prstGeom>
          <a:solidFill>
            <a:srgbClr val="E8F8E8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045360" y="8100000"/>
            <a:ext cx="145411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グリッド分割
予測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571472" y="8028000"/>
            <a:ext cx="1592928" cy="11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9607472" y="8100000"/>
            <a:ext cx="1502928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RPN+ROI
Pooling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300800" y="9180000"/>
            <a:ext cx="1690560" cy="1134000"/>
          </a:xfrm>
          <a:prstGeom prst="rect">
            <a:avLst/>
          </a:prstGeom>
          <a:solidFill>
            <a:srgbClr val="BDE4FC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336800" y="9252000"/>
            <a:ext cx="160056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用途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009360" y="9180000"/>
            <a:ext cx="1544112" cy="1134000"/>
          </a:xfrm>
          <a:prstGeom prst="rect">
            <a:avLst/>
          </a:prstGeom>
          <a:solidFill>
            <a:srgbClr val="E8F8E8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8045360" y="9252000"/>
            <a:ext cx="145411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リアルタイム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571472" y="9180000"/>
            <a:ext cx="1592928" cy="11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607472" y="9252000"/>
            <a:ext cx="1502928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02020"/>
                </a:solidFill>
              </a:rPr>
              <a:t>高精度検出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