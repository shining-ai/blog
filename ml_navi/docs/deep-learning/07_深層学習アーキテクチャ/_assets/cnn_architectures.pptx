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51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202104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CNNアーキテクチャの進化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620000"/>
            <a:ext cx="202104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88888"/>
                </a:solidFill>
              </a:rPr>
              <a:t>LeNet → AlexNet → VGG → ResNet の深化と精度向上の歴史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2160000"/>
            <a:ext cx="20210400" cy="9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14300" y="2015999"/>
            <a:ext cx="360000" cy="360000"/>
          </a:xfrm>
          <a:prstGeom prst="ellipse">
            <a:avLst/>
          </a:prstGeom>
          <a:solidFill>
            <a:srgbClr val="8888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2376000"/>
            <a:ext cx="4908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8888"/>
                </a:solidFill>
              </a:rPr>
              <a:t>1998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2736000"/>
            <a:ext cx="4908600" cy="8697600"/>
          </a:xfrm>
          <a:prstGeom prst="rect">
            <a:avLst/>
          </a:prstGeom>
          <a:solidFill>
            <a:srgbClr val="F3FAFE"/>
          </a:solidFill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2736000"/>
            <a:ext cx="4908600" cy="720000"/>
          </a:xfrm>
          <a:prstGeom prst="rect">
            <a:avLst/>
          </a:prstGeom>
          <a:solidFill>
            <a:srgbClr val="8888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2772000"/>
            <a:ext cx="4764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LeNet-5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" y="3528000"/>
            <a:ext cx="46926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3564000"/>
            <a:ext cx="220887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層の深さ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6870" y="3564000"/>
            <a:ext cx="2454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888888"/>
                </a:solidFill>
              </a:rPr>
              <a:t>5層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" y="4176000"/>
            <a:ext cx="46926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4212000"/>
            <a:ext cx="220887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Top-5精度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6870" y="4212000"/>
            <a:ext cx="2454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888888"/>
                </a:solidFill>
              </a:rPr>
              <a:t>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" y="4824000"/>
            <a:ext cx="46926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4860000"/>
            <a:ext cx="220887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活性化関数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6870" y="4860000"/>
            <a:ext cx="2454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888888"/>
                </a:solidFill>
              </a:rPr>
              <a:t>Tanh/Sigmoid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00" y="5580000"/>
            <a:ext cx="4692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020"/>
                </a:solidFill>
              </a:rPr>
              <a:t>MNIST手書き文字認識の先駆け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8694000"/>
            <a:ext cx="4548600" cy="126000"/>
          </a:xfrm>
          <a:prstGeom prst="rect">
            <a:avLst/>
          </a:prstGeom>
          <a:solidFill>
            <a:srgbClr val="88888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000" y="7596000"/>
            <a:ext cx="4548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88888"/>
                </a:solidFill>
              </a:rPr>
              <a:t>5 層</a:t>
            </a:r>
          </a:p>
        </p:txBody>
      </p:sp>
      <p:sp>
        <p:nvSpPr>
          <p:cNvPr id="24" name="Oval 23"/>
          <p:cNvSpPr/>
          <p:nvPr/>
        </p:nvSpPr>
        <p:spPr>
          <a:xfrm>
            <a:off x="7866900" y="2015999"/>
            <a:ext cx="360000" cy="360000"/>
          </a:xfrm>
          <a:prstGeom prst="ellipse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92600" y="2376000"/>
            <a:ext cx="4908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13CA6"/>
                </a:solidFill>
              </a:rPr>
              <a:t>2012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92600" y="2736000"/>
            <a:ext cx="4908600" cy="86976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92600" y="2736000"/>
            <a:ext cx="4908600" cy="72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4600" y="2772000"/>
            <a:ext cx="4764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AlexNet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00600" y="3528000"/>
            <a:ext cx="46926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72600" y="3564000"/>
            <a:ext cx="220887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層の深さ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470" y="3564000"/>
            <a:ext cx="2454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13CA6"/>
                </a:solidFill>
              </a:rPr>
              <a:t>8層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00600" y="4176000"/>
            <a:ext cx="46926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72600" y="4212000"/>
            <a:ext cx="220887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Top-5精度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470" y="4212000"/>
            <a:ext cx="2454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13CA6"/>
                </a:solidFill>
              </a:rPr>
              <a:t>84.7%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00600" y="4824000"/>
            <a:ext cx="46926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72600" y="4860000"/>
            <a:ext cx="220887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活性化関数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470" y="4860000"/>
            <a:ext cx="2454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13CA6"/>
                </a:solidFill>
              </a:rPr>
              <a:t>ReLU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00600" y="5580000"/>
            <a:ext cx="4692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020"/>
                </a:solidFill>
              </a:rPr>
              <a:t>ImageNet 2012 優勝
GPU並列学習・Dropout導入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72600" y="8618400"/>
            <a:ext cx="4548600" cy="2016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72600" y="7596000"/>
            <a:ext cx="4548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88888"/>
                </a:solidFill>
              </a:rPr>
              <a:t>8 層</a:t>
            </a:r>
          </a:p>
        </p:txBody>
      </p:sp>
      <p:sp>
        <p:nvSpPr>
          <p:cNvPr id="41" name="Oval 40"/>
          <p:cNvSpPr/>
          <p:nvPr/>
        </p:nvSpPr>
        <p:spPr>
          <a:xfrm>
            <a:off x="12919500" y="2015999"/>
            <a:ext cx="360000" cy="360000"/>
          </a:xfrm>
          <a:prstGeom prst="ellipse">
            <a:avLst/>
          </a:prstGeom>
          <a:solidFill>
            <a:srgbClr val="BDE4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45200" y="2376000"/>
            <a:ext cx="4908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DE4FC"/>
                </a:solidFill>
              </a:rPr>
              <a:t>2014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45200" y="2736000"/>
            <a:ext cx="4908600" cy="86976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45200" y="2736000"/>
            <a:ext cx="4908600" cy="720000"/>
          </a:xfrm>
          <a:prstGeom prst="rect">
            <a:avLst/>
          </a:prstGeom>
          <a:solidFill>
            <a:srgbClr val="BDE4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17200" y="2772000"/>
            <a:ext cx="4764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02020"/>
                </a:solidFill>
              </a:rPr>
              <a:t>VGG-16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53200" y="3528000"/>
            <a:ext cx="46926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25200" y="3564000"/>
            <a:ext cx="220887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層の深さ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962070" y="3564000"/>
            <a:ext cx="2454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13CA6"/>
                </a:solidFill>
              </a:rPr>
              <a:t>16層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753200" y="4176000"/>
            <a:ext cx="46926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25200" y="4212000"/>
            <a:ext cx="220887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Top-5精度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962070" y="4212000"/>
            <a:ext cx="2454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13CA6"/>
                </a:solidFill>
              </a:rPr>
              <a:t>92.7%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53200" y="4824000"/>
            <a:ext cx="46926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25200" y="4860000"/>
            <a:ext cx="220887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活性化関数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962070" y="4860000"/>
            <a:ext cx="2454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13CA6"/>
                </a:solidFill>
              </a:rPr>
              <a:t>ReLU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53200" y="5580000"/>
            <a:ext cx="4692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020"/>
                </a:solidFill>
              </a:rPr>
              <a:t>3×3フィルタのみ統一
シンプルで深い構造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825200" y="8416800"/>
            <a:ext cx="4548600" cy="403200"/>
          </a:xfrm>
          <a:prstGeom prst="rect">
            <a:avLst/>
          </a:prstGeom>
          <a:solidFill>
            <a:srgbClr val="BDE4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25200" y="7596000"/>
            <a:ext cx="4548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88888"/>
                </a:solidFill>
              </a:rPr>
              <a:t>16 層</a:t>
            </a:r>
          </a:p>
        </p:txBody>
      </p:sp>
      <p:sp>
        <p:nvSpPr>
          <p:cNvPr id="58" name="Oval 57"/>
          <p:cNvSpPr/>
          <p:nvPr/>
        </p:nvSpPr>
        <p:spPr>
          <a:xfrm>
            <a:off x="17972100" y="2015999"/>
            <a:ext cx="360000" cy="360000"/>
          </a:xfrm>
          <a:prstGeom prst="ellipse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697800" y="2376000"/>
            <a:ext cx="4908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050"/>
                </a:solidFill>
              </a:rPr>
              <a:t>2015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697800" y="2736000"/>
            <a:ext cx="4908600" cy="8697600"/>
          </a:xfrm>
          <a:prstGeom prst="rect">
            <a:avLst/>
          </a:prstGeom>
          <a:solidFill>
            <a:srgbClr val="F3FAFE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5697800" y="2736000"/>
            <a:ext cx="4908600" cy="720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5769800" y="2772000"/>
            <a:ext cx="47646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ResNet-50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805800" y="3528000"/>
            <a:ext cx="46926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877800" y="3564000"/>
            <a:ext cx="220887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層の深さ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014670" y="3564000"/>
            <a:ext cx="2454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0B050"/>
                </a:solidFill>
              </a:rPr>
              <a:t>50層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805800" y="4176000"/>
            <a:ext cx="46926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877800" y="4212000"/>
            <a:ext cx="220887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Top-5精度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014670" y="4212000"/>
            <a:ext cx="2454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0B050"/>
                </a:solidFill>
              </a:rPr>
              <a:t>96.4%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5805800" y="4824000"/>
            <a:ext cx="46926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5877800" y="4860000"/>
            <a:ext cx="220887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活性化関数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014670" y="4860000"/>
            <a:ext cx="2454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0B050"/>
                </a:solidFill>
              </a:rPr>
              <a:t>ReLU+BN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805800" y="5580000"/>
            <a:ext cx="4692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020"/>
                </a:solidFill>
              </a:rPr>
              <a:t>残差接続で超深層化
ImageNet 2015 優勝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877800" y="7560000"/>
            <a:ext cx="4548600" cy="1260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877800" y="7596000"/>
            <a:ext cx="45486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88888"/>
                </a:solidFill>
              </a:rPr>
              <a:t>50 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