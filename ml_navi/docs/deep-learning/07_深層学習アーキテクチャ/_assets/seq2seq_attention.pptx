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44000"/>
            <a:ext cx="205704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Seq2Seq と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93600"/>
            <a:ext cx="21290400" cy="180000"/>
          </a:xfrm>
          <a:prstGeom prst="rect">
            <a:avLst/>
          </a:prstGeom>
          <a:solidFill>
            <a:srgbClr val="BDE4FC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980000"/>
            <a:ext cx="20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■ Seq2Seq アーキテクチャ（エンコーダ → コンテキストベクトル → デコーダ）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2448000"/>
            <a:ext cx="1080000" cy="27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エン
コー
ダ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0" y="3348000"/>
            <a:ext cx="1728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LSTM
h₁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0000" y="4428000"/>
            <a:ext cx="1368000" cy="54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A1A2E"/>
                </a:solidFill>
              </a:rPr>
              <a:t>x₁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664000.0" y="4248000"/>
            <a:ext cx="0.0" cy="18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28000" y="3780000"/>
            <a:ext cx="252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780000" y="3348000"/>
            <a:ext cx="1728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LSTM
h₂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0" y="4428000"/>
            <a:ext cx="1368000" cy="54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A1A2E"/>
                </a:solidFill>
              </a:rPr>
              <a:t>x₂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644000.0" y="4248000"/>
            <a:ext cx="0.0" cy="18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08000" y="3780000"/>
            <a:ext cx="252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760000" y="3348000"/>
            <a:ext cx="1728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LSTM
h₃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0000" y="4428000"/>
            <a:ext cx="1368000" cy="54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A1A2E"/>
                </a:solidFill>
              </a:rPr>
              <a:t>x₃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624000.0" y="4248000"/>
            <a:ext cx="0.0" cy="18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88000" y="3780000"/>
            <a:ext cx="252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740000" y="3348000"/>
            <a:ext cx="1728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LSTM
h₄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0" y="4428000"/>
            <a:ext cx="1368000" cy="54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A1A2E"/>
                </a:solidFill>
              </a:rPr>
              <a:t>x₄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604000.0" y="4248000"/>
            <a:ext cx="0.0" cy="18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720000" y="3168000"/>
            <a:ext cx="1980000" cy="126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Context
Vector
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68000" y="3780000"/>
            <a:ext cx="252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1952000" y="2448000"/>
            <a:ext cx="1080000" cy="27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
コー
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140000" y="3348000"/>
            <a:ext cx="1728000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LSTM
s1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320000" y="2448000"/>
            <a:ext cx="1368000" cy="54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A1A2E"/>
                </a:solidFill>
              </a:rPr>
              <a:t>y₁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4004000.0" y="2988000"/>
            <a:ext cx="0.0" cy="36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4868000" y="3780000"/>
            <a:ext cx="252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5120000" y="3348000"/>
            <a:ext cx="1728000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LSTM
s2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300000" y="2448000"/>
            <a:ext cx="1368000" cy="54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A1A2E"/>
                </a:solidFill>
              </a:rPr>
              <a:t>y₂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5984000.0" y="2988000"/>
            <a:ext cx="0.0" cy="36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6848000" y="3780000"/>
            <a:ext cx="252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7100000" y="3348000"/>
            <a:ext cx="1728000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LSTM
s3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280000" y="2448000"/>
            <a:ext cx="1368000" cy="54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A1A2E"/>
                </a:solidFill>
              </a:rPr>
              <a:t>y₃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7964000.0" y="2988000"/>
            <a:ext cx="0.0" cy="36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828000" y="3780000"/>
            <a:ext cx="252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9080000" y="3348000"/>
            <a:ext cx="1728000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LSTM
s4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60000" y="2448000"/>
            <a:ext cx="1368000" cy="54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A1A2E"/>
                </a:solidFill>
              </a:rPr>
              <a:t>y₄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19944000.0" y="2988000"/>
            <a:ext cx="0.0" cy="36000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700000" y="3708000"/>
            <a:ext cx="1440000" cy="0"/>
          </a:xfrm>
          <a:prstGeom prst="line">
            <a:avLst/>
          </a:prstGeom>
          <a:ln w="31750">
            <a:solidFill>
              <a:srgbClr val="013CA6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0000" y="5148000"/>
            <a:ext cx="20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■ Attention メカニズム（各デコーダステップで全エンコーダ隠れ状態に重みを計算）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000" y="7380000"/>
            <a:ext cx="1980000" cy="3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0000" y="7812000"/>
            <a:ext cx="1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h1: α=0.1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60000" y="7020000"/>
            <a:ext cx="1980000" cy="720000"/>
          </a:xfrm>
          <a:prstGeom prst="rect">
            <a:avLst/>
          </a:prstGeom>
          <a:solidFill>
            <a:srgbClr val="80C4F0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60000" y="7812000"/>
            <a:ext cx="1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h2: α=0.2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00000" y="5580000"/>
            <a:ext cx="1980000" cy="216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0000" y="7812000"/>
            <a:ext cx="1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h3: α=0.6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40000" y="7380000"/>
            <a:ext cx="1980000" cy="3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40000" y="7812000"/>
            <a:ext cx="1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h4: α=0.1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00000" y="5580000"/>
            <a:ext cx="468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①スコア計算
e(i,j) = score(s(i), h(j))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20000" y="5580000"/>
            <a:ext cx="468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②Softmax正規化
α(i,j) = softmax(e(i,j))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00000" y="7092000"/>
            <a:ext cx="4680000" cy="12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③コンテキスト計算
c(i) = Σ α(i,j)·h(j)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020000" y="7092000"/>
            <a:ext cx="4680000" cy="126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FFFFFF"/>
                </a:solidFill>
              </a:rPr>
              <a:t>④デコーダ更新
s(i+1) = f(s(i), y(i), c(i))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0000" y="8820000"/>
            <a:ext cx="990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8000" y="8892000"/>
            <a:ext cx="97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2E"/>
                </a:solidFill>
              </a:rPr>
              <a:t>Attention の効果: 長距離依存性の解決 / 翻訳精度の大幅向上 / 重みの可視化による解釈性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