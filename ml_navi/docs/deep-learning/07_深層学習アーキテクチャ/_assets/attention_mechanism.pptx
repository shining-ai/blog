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057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Scaled Dot-Product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93600"/>
            <a:ext cx="21290400" cy="180000"/>
          </a:xfrm>
          <a:prstGeom prst="rect">
            <a:avLst/>
          </a:prstGeom>
          <a:solidFill>
            <a:srgbClr val="BDE4F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98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■ 計算ステップ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448000"/>
            <a:ext cx="9360000" cy="136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0">
                <a:solidFill>
                  <a:srgbClr val="1A1A2E"/>
                </a:solidFill>
              </a:rPr>
              <a:t>Step 1  入力行列から Q, K, V を生成
（線形変換: Q=XWq, K=XWk, V=XWv）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20000.0" y="3816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0000" y="3996000"/>
            <a:ext cx="93600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0">
                <a:solidFill>
                  <a:srgbClr val="FFFFFF"/>
                </a:solidFill>
              </a:rPr>
              <a:t>Step 2  スコア計算
Scores = Q · Kᵀ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20000.0" y="5364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0000" y="5544000"/>
            <a:ext cx="93600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0">
                <a:solidFill>
                  <a:srgbClr val="FFFFFF"/>
                </a:solidFill>
              </a:rPr>
              <a:t>Step 3  スケーリング
Scaled = Scores / √dk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20000.0" y="6912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0000" y="7092000"/>
            <a:ext cx="9360000" cy="136800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0">
                <a:solidFill>
                  <a:srgbClr val="FFFFFF"/>
                </a:solidFill>
              </a:rPr>
              <a:t>Step 4  Softmax 正規化
Weights = softmax(Scaled)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20000.0" y="8460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0000" y="8640000"/>
            <a:ext cx="9360000" cy="136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0">
                <a:solidFill>
                  <a:srgbClr val="FFFFFF"/>
                </a:solidFill>
              </a:rPr>
              <a:t>Step 5  重み付き和
Output = Weights · 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10296000"/>
            <a:ext cx="93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" y="10404000"/>
            <a:ext cx="91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Attention(Q,K,V) = softmax(QKᵀ / √dk) ·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0" y="1980000"/>
            <a:ext cx="9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■ Q / K / V の役割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00000" y="2448000"/>
            <a:ext cx="2700000" cy="12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Q
（Query）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0" y="378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何を知りたいか
（問い合わせ）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11999" y="2448000"/>
            <a:ext cx="27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K
（Key）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11999" y="378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何を持っているか
（インデックス）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423998" y="2448000"/>
            <a:ext cx="2700000" cy="12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V
（Value）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423998" y="3780000"/>
            <a:ext cx="27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2E"/>
                </a:solidFill>
              </a:rPr>
              <a:t>実際の内容
（取り出す値）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0" y="4788000"/>
            <a:ext cx="9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■ Multi-Head Attention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00000" y="5220000"/>
            <a:ext cx="270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Head 1
（位置関係）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11999" y="5220000"/>
            <a:ext cx="270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Head 2
（統語構造）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423998" y="5220000"/>
            <a:ext cx="270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Head h
（意味情報）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80000" y="5436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13CA6"/>
                </a:solidFill>
              </a:rPr>
              <a:t>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0000" y="6516000"/>
            <a:ext cx="990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</a:rPr>
              <a:t>Concat → Linear → Multi-Head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00" y="7523999"/>
            <a:ext cx="9900000" cy="12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08000" y="7631999"/>
            <a:ext cx="97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計算量: O(n²·d)  ※ n=系列長, d=次元数
n が大きいと二次的に増加 → 長文処理のボトルネック
Sparse / Linear Attention で改善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00000" y="9035999"/>
            <a:ext cx="9900000" cy="90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FFFFFF"/>
                </a:solidFill>
              </a:rPr>
              <a:t>Masked Attention（デコーダ用）:
未来トークンをマスクし自己回帰性を保証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