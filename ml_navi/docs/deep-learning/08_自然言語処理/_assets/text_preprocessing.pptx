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368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108000"/>
            <a:ext cx="205704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テキスト前処理パイプライン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332000"/>
            <a:ext cx="2057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BDE4FC"/>
                </a:solidFill>
              </a:rPr>
              <a:t>Text Preprocessing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1200" y="3600000"/>
            <a:ext cx="3060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原文
(Raw Text)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1200" y="4607999"/>
            <a:ext cx="3060000" cy="1872001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「今日は
良い天気だ。」</a:t>
            </a:r>
          </a:p>
        </p:txBody>
      </p:sp>
      <p:sp>
        <p:nvSpPr>
          <p:cNvPr id="7" name="Can 6"/>
          <p:cNvSpPr/>
          <p:nvPr/>
        </p:nvSpPr>
        <p:spPr>
          <a:xfrm>
            <a:off x="4543200" y="4860000"/>
            <a:ext cx="64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63200" y="3600000"/>
            <a:ext cx="3060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トークン化
(Tokenization)</a:t>
            </a:r>
          </a:p>
        </p:txBody>
      </p:sp>
      <p:sp>
        <p:nvSpPr>
          <p:cNvPr id="9" name="Rectangle 8"/>
          <p:cNvSpPr/>
          <p:nvPr/>
        </p:nvSpPr>
        <p:spPr>
          <a:xfrm>
            <a:off x="5263200" y="4607999"/>
            <a:ext cx="3060000" cy="1872001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今日 / は / 良い
/ 天気 / だ / 。</a:t>
            </a:r>
          </a:p>
        </p:txBody>
      </p:sp>
      <p:sp>
        <p:nvSpPr>
          <p:cNvPr id="10" name="Can 9"/>
          <p:cNvSpPr/>
          <p:nvPr/>
        </p:nvSpPr>
        <p:spPr>
          <a:xfrm>
            <a:off x="8395200" y="4860000"/>
            <a:ext cx="64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15200" y="3600000"/>
            <a:ext cx="3060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正規化
(Normalization)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15200" y="4607999"/>
            <a:ext cx="3060000" cy="1872001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今日 / は / よい
/ 天気 / だ</a:t>
            </a:r>
          </a:p>
        </p:txBody>
      </p:sp>
      <p:sp>
        <p:nvSpPr>
          <p:cNvPr id="13" name="Can 12"/>
          <p:cNvSpPr/>
          <p:nvPr/>
        </p:nvSpPr>
        <p:spPr>
          <a:xfrm>
            <a:off x="12247200" y="4860000"/>
            <a:ext cx="64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967200" y="3600000"/>
            <a:ext cx="3060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ストップワード
除去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967200" y="4607999"/>
            <a:ext cx="3060000" cy="1872001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今日 / よい
/ 天気</a:t>
            </a:r>
          </a:p>
        </p:txBody>
      </p:sp>
      <p:sp>
        <p:nvSpPr>
          <p:cNvPr id="16" name="Can 15"/>
          <p:cNvSpPr/>
          <p:nvPr/>
        </p:nvSpPr>
        <p:spPr>
          <a:xfrm>
            <a:off x="16099200" y="4860000"/>
            <a:ext cx="648000" cy="360000"/>
          </a:xfrm>
          <a:prstGeom prst="can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6819200" y="3600000"/>
            <a:ext cx="3060000" cy="1007999"/>
          </a:xfrm>
          <a:prstGeom prst="rect">
            <a:avLst/>
          </a:prstGeom>
          <a:solidFill>
            <a:srgbClr val="013CA6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数値化
(Vectorize)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6819200" y="4607999"/>
            <a:ext cx="3060000" cy="1872001"/>
          </a:xfrm>
          <a:prstGeom prst="rect">
            <a:avLst/>
          </a:prstGeom>
          <a:solidFill>
            <a:srgbClr val="F3FAFE"/>
          </a:solidFill>
          <a:ln w="1270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0">
                <a:solidFill>
                  <a:srgbClr val="000000"/>
                </a:solidFill>
              </a:rPr>
              <a:t>[42, 187, 563]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17200" y="2880000"/>
            <a:ext cx="648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69200" y="2880000"/>
            <a:ext cx="648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21200" y="2880000"/>
            <a:ext cx="648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4173200" y="2880000"/>
            <a:ext cx="648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025200" y="2880000"/>
            <a:ext cx="648000" cy="648000"/>
          </a:xfrm>
          <a:prstGeom prst="rect">
            <a:avLst/>
          </a:prstGeom>
          <a:solidFill>
            <a:srgbClr val="EBA81A"/>
          </a:solidFill>
          <a:ln w="19050">
            <a:solidFill>
              <a:srgbClr val="EBA8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000" y="11073600"/>
            <a:ext cx="19850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06060"/>
                </a:solidFill>
              </a:rPr>
              <a:t>各ステップを経るごとにノイズが除去され、機械学習モデルが扱いやすい形式に変換される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