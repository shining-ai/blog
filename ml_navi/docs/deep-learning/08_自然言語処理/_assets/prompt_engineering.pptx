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プロンプトエンジニアリング手法比較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Zero-shot / Few-shot / Chain-of-Thought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64968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Zero-shot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700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プロンプト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132000"/>
            <a:ext cx="6496800" cy="1188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Q: 「この映画は
素晴らしかった」
の感情は？</a:t>
            </a:r>
          </a:p>
        </p:txBody>
      </p:sp>
      <p:sp>
        <p:nvSpPr>
          <p:cNvPr id="8" name="Folded Corner 7"/>
          <p:cNvSpPr/>
          <p:nvPr/>
        </p:nvSpPr>
        <p:spPr>
          <a:xfrm>
            <a:off x="3824400" y="4356000"/>
            <a:ext cx="288000" cy="216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000" y="4608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LLM処理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040000"/>
            <a:ext cx="6496800" cy="1188000"/>
          </a:xfrm>
          <a:prstGeom prst="rect">
            <a:avLst/>
          </a:prstGeom>
          <a:solidFill>
            <a:srgbClr val="013CA6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（例なし）
直接推論</a:t>
            </a:r>
          </a:p>
        </p:txBody>
      </p:sp>
      <p:sp>
        <p:nvSpPr>
          <p:cNvPr id="11" name="Folded Corner 10"/>
          <p:cNvSpPr/>
          <p:nvPr/>
        </p:nvSpPr>
        <p:spPr>
          <a:xfrm>
            <a:off x="3824400" y="6264000"/>
            <a:ext cx="288000" cy="216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0000" y="6516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回答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6948000"/>
            <a:ext cx="6496800" cy="1188000"/>
          </a:xfrm>
          <a:prstGeom prst="rect">
            <a:avLst/>
          </a:prstGeom>
          <a:solidFill>
            <a:srgbClr val="EBA81A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A: ポジティブ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9000000"/>
            <a:ext cx="6496800" cy="936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例示なしで直接タスクを指示
汎用タスクに有効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96800" y="1800000"/>
            <a:ext cx="64968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Few-shot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96800" y="2700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プロンプト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6800" y="3132000"/>
            <a:ext cx="6496800" cy="1188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Ex1: 「最悪」→ネガ
Ex2: 「最高」→ポジ
Q: 「素晴らしい」→?</a:t>
            </a:r>
          </a:p>
        </p:txBody>
      </p:sp>
      <p:sp>
        <p:nvSpPr>
          <p:cNvPr id="18" name="Folded Corner 17"/>
          <p:cNvSpPr/>
          <p:nvPr/>
        </p:nvSpPr>
        <p:spPr>
          <a:xfrm>
            <a:off x="10501200" y="4356000"/>
            <a:ext cx="288000" cy="216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96800" y="4608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LLM処理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6800" y="5040000"/>
            <a:ext cx="6496800" cy="1188000"/>
          </a:xfrm>
          <a:prstGeom prst="rect">
            <a:avLst/>
          </a:prstGeom>
          <a:solidFill>
            <a:srgbClr val="013CA6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例からパターン
を学習して推論</a:t>
            </a:r>
          </a:p>
        </p:txBody>
      </p:sp>
      <p:sp>
        <p:nvSpPr>
          <p:cNvPr id="21" name="Folded Corner 20"/>
          <p:cNvSpPr/>
          <p:nvPr/>
        </p:nvSpPr>
        <p:spPr>
          <a:xfrm>
            <a:off x="10501200" y="6264000"/>
            <a:ext cx="288000" cy="216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96800" y="6516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回答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6800" y="6948000"/>
            <a:ext cx="6496800" cy="1188000"/>
          </a:xfrm>
          <a:prstGeom prst="rect">
            <a:avLst/>
          </a:prstGeom>
          <a:solidFill>
            <a:srgbClr val="EBA81A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A: ポジティブ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6800" y="9000000"/>
            <a:ext cx="6496800" cy="936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数例を提示してタスクを誘導
精度が向上しやすい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073600" y="1800000"/>
            <a:ext cx="64968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Chain-of-Thought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73600" y="2700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プロンプト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073600" y="3132000"/>
            <a:ext cx="6496800" cy="1188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00000"/>
                </a:solidFill>
              </a:rPr>
              <a:t>Q: 15×4=?
「ステップごとに
考えてください」</a:t>
            </a:r>
          </a:p>
        </p:txBody>
      </p:sp>
      <p:sp>
        <p:nvSpPr>
          <p:cNvPr id="28" name="Folded Corner 27"/>
          <p:cNvSpPr/>
          <p:nvPr/>
        </p:nvSpPr>
        <p:spPr>
          <a:xfrm>
            <a:off x="17178000" y="4356000"/>
            <a:ext cx="288000" cy="216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073600" y="4608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LLM処理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73600" y="5040000"/>
            <a:ext cx="6496800" cy="1188000"/>
          </a:xfrm>
          <a:prstGeom prst="rect">
            <a:avLst/>
          </a:prstGeom>
          <a:solidFill>
            <a:srgbClr val="013CA6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10×4=40
5×4=20
40+20=60</a:t>
            </a:r>
          </a:p>
        </p:txBody>
      </p:sp>
      <p:sp>
        <p:nvSpPr>
          <p:cNvPr id="31" name="Folded Corner 30"/>
          <p:cNvSpPr/>
          <p:nvPr/>
        </p:nvSpPr>
        <p:spPr>
          <a:xfrm>
            <a:off x="17178000" y="6264000"/>
            <a:ext cx="288000" cy="216000"/>
          </a:xfrm>
          <a:prstGeom prst="foldedCorner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073600" y="6516000"/>
            <a:ext cx="6496800" cy="43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回答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073600" y="6948000"/>
            <a:ext cx="6496800" cy="1188000"/>
          </a:xfrm>
          <a:prstGeom prst="rect">
            <a:avLst/>
          </a:prstGeom>
          <a:solidFill>
            <a:srgbClr val="EBA81A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A: 60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073600" y="9000000"/>
            <a:ext cx="6496800" cy="936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中間推論ステップを生成させる
複雑な推論タスクに有効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88800" y="1800000"/>
            <a:ext cx="21600" cy="94536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965600" y="1800000"/>
            <a:ext cx="21600" cy="94536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