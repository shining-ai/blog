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BERTのWordPieceトークン化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332000"/>
            <a:ext cx="2057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E4FC"/>
                </a:solidFill>
              </a:rPr>
              <a:t>Subword Tokenization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872000"/>
            <a:ext cx="19850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例："unhappiness" のWordPiece分割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5200" y="2448000"/>
            <a:ext cx="5040000" cy="90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"unhappiness"</a:t>
            </a:r>
          </a:p>
        </p:txBody>
      </p:sp>
      <p:sp>
        <p:nvSpPr>
          <p:cNvPr id="7" name="Folded Corner 6"/>
          <p:cNvSpPr/>
          <p:nvPr/>
        </p:nvSpPr>
        <p:spPr>
          <a:xfrm>
            <a:off x="10501200" y="3384000"/>
            <a:ext cx="288000" cy="503999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5200" y="3348000"/>
            <a:ext cx="36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6060"/>
                </a:solidFill>
              </a:rPr>
              <a:t>WordPieceアルゴリズム（サブワード分割）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965200" y="3960000"/>
            <a:ext cx="2520000" cy="1080000"/>
          </a:xfrm>
          <a:prstGeom prst="rect">
            <a:avLst/>
          </a:prstGeom>
          <a:solidFill>
            <a:srgbClr val="013CA6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5200" y="504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</a:rPr>
              <a:t>語頭トークン</a:t>
            </a:r>
          </a:p>
        </p:txBody>
      </p:sp>
      <p:sp>
        <p:nvSpPr>
          <p:cNvPr id="11" name="Can 10"/>
          <p:cNvSpPr/>
          <p:nvPr/>
        </p:nvSpPr>
        <p:spPr>
          <a:xfrm>
            <a:off x="8521200" y="4320000"/>
            <a:ext cx="288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45200" y="3960000"/>
            <a:ext cx="3240000" cy="1080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013CA6"/>
                </a:solidFill>
              </a:rPr>
              <a:t>##happi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5200" y="5040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</a:rPr>
              <a:t>継続トークン（## = 前の語に連結）</a:t>
            </a:r>
          </a:p>
        </p:txBody>
      </p:sp>
      <p:sp>
        <p:nvSpPr>
          <p:cNvPr id="14" name="Can 13"/>
          <p:cNvSpPr/>
          <p:nvPr/>
        </p:nvSpPr>
        <p:spPr>
          <a:xfrm>
            <a:off x="12121200" y="4320000"/>
            <a:ext cx="288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445200" y="3960000"/>
            <a:ext cx="2880000" cy="1080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013CA6"/>
                </a:solidFill>
              </a:rPr>
              <a:t>##ness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45200" y="5040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</a:rPr>
              <a:t>継続トークン（## = 前の語に連結）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5616000"/>
            <a:ext cx="19850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他のWordPiece分割例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5940000"/>
            <a:ext cx="3771576" cy="90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"playing"</a:t>
            </a:r>
          </a:p>
        </p:txBody>
      </p:sp>
      <p:sp>
        <p:nvSpPr>
          <p:cNvPr id="19" name="Can 18"/>
          <p:cNvSpPr/>
          <p:nvPr/>
        </p:nvSpPr>
        <p:spPr>
          <a:xfrm>
            <a:off x="4527576" y="6191999"/>
            <a:ext cx="540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03576" y="5940000"/>
            <a:ext cx="5756616" cy="90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["play", "##ing"]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45200" y="5940000"/>
            <a:ext cx="3771576" cy="90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"unbelievable"</a:t>
            </a:r>
          </a:p>
        </p:txBody>
      </p:sp>
      <p:sp>
        <p:nvSpPr>
          <p:cNvPr id="22" name="Can 21"/>
          <p:cNvSpPr/>
          <p:nvPr/>
        </p:nvSpPr>
        <p:spPr>
          <a:xfrm>
            <a:off x="14452776" y="6191999"/>
            <a:ext cx="540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028776" y="5940000"/>
            <a:ext cx="5756616" cy="90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["un", "##believ", "##able"]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6947999"/>
            <a:ext cx="3771576" cy="90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"tokenization"</a:t>
            </a:r>
          </a:p>
        </p:txBody>
      </p:sp>
      <p:sp>
        <p:nvSpPr>
          <p:cNvPr id="25" name="Can 24"/>
          <p:cNvSpPr/>
          <p:nvPr/>
        </p:nvSpPr>
        <p:spPr>
          <a:xfrm>
            <a:off x="4527576" y="7199998"/>
            <a:ext cx="540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03576" y="6947999"/>
            <a:ext cx="5756616" cy="90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["token", "##ization"]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45200" y="6947999"/>
            <a:ext cx="3771576" cy="90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"GPU"</a:t>
            </a:r>
          </a:p>
        </p:txBody>
      </p:sp>
      <p:sp>
        <p:nvSpPr>
          <p:cNvPr id="28" name="Can 27"/>
          <p:cNvSpPr/>
          <p:nvPr/>
        </p:nvSpPr>
        <p:spPr>
          <a:xfrm>
            <a:off x="14452776" y="7199998"/>
            <a:ext cx="540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028776" y="6947999"/>
            <a:ext cx="5756616" cy="90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["G", "##P", "##U"]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000" y="8460000"/>
            <a:ext cx="6496800" cy="576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未知語の扱い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" y="9036000"/>
            <a:ext cx="6496800" cy="1080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未知語でもサブワードに
分解できるため
OOVが発生しにくい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96800" y="8460000"/>
            <a:ext cx="6496800" cy="576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語彙サイズ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96800" y="9036000"/>
            <a:ext cx="6496800" cy="1080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BERTは語彙30,000語
（CharよりもWord
よりもコンパクト）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073600" y="8460000"/>
            <a:ext cx="6496800" cy="576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## 記号の意味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073600" y="9036000"/>
            <a:ext cx="6496800" cy="1080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## は前のトークンに
文字列が直接続く
（スペースなし）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