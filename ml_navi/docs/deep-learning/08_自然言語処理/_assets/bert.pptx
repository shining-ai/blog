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BERT：双方向Transformerとマスク言語モデル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BERT - Bidirectional Encoder Representations from Transformers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1985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13CA6"/>
                </a:solidFill>
              </a:rPr>
              <a:t>入力トークン列（[MASK]で一部を隠す）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160000"/>
            <a:ext cx="2409300" cy="720000"/>
          </a:xfrm>
          <a:prstGeom prst="rect">
            <a:avLst/>
          </a:prstGeom>
          <a:solidFill>
            <a:srgbClr val="013CA6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[CLS]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1300" y="2160000"/>
            <a:ext cx="2409300" cy="720000"/>
          </a:xfrm>
          <a:prstGeom prst="rect">
            <a:avLst/>
          </a:prstGeom>
          <a:solidFill>
            <a:srgbClr val="BDE4FC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私</a:t>
            </a:r>
          </a:p>
        </p:txBody>
      </p:sp>
      <p:sp>
        <p:nvSpPr>
          <p:cNvPr id="8" name="Rectangle 7"/>
          <p:cNvSpPr/>
          <p:nvPr/>
        </p:nvSpPr>
        <p:spPr>
          <a:xfrm>
            <a:off x="5682600" y="2160000"/>
            <a:ext cx="2409300" cy="720000"/>
          </a:xfrm>
          <a:prstGeom prst="rect">
            <a:avLst/>
          </a:prstGeom>
          <a:solidFill>
            <a:srgbClr val="BDE4FC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は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3900" y="2160000"/>
            <a:ext cx="2409300" cy="720000"/>
          </a:xfrm>
          <a:prstGeom prst="rect">
            <a:avLst/>
          </a:prstGeom>
          <a:solidFill>
            <a:srgbClr val="FF0000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[MASK]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45200" y="2160000"/>
            <a:ext cx="2409300" cy="720000"/>
          </a:xfrm>
          <a:prstGeom prst="rect">
            <a:avLst/>
          </a:prstGeom>
          <a:solidFill>
            <a:srgbClr val="BDE4FC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26500" y="2160000"/>
            <a:ext cx="2409300" cy="720000"/>
          </a:xfrm>
          <a:prstGeom prst="rect">
            <a:avLst/>
          </a:prstGeom>
          <a:solidFill>
            <a:srgbClr val="BDE4FC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好き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07800" y="2160000"/>
            <a:ext cx="2409300" cy="720000"/>
          </a:xfrm>
          <a:prstGeom prst="rect">
            <a:avLst/>
          </a:prstGeom>
          <a:solidFill>
            <a:srgbClr val="BDE4FC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です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89100" y="2160000"/>
            <a:ext cx="2409300" cy="720000"/>
          </a:xfrm>
          <a:prstGeom prst="rect">
            <a:avLst/>
          </a:prstGeom>
          <a:solidFill>
            <a:srgbClr val="013CA6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[SEP]</a:t>
            </a:r>
          </a:p>
        </p:txBody>
      </p:sp>
      <p:sp>
        <p:nvSpPr>
          <p:cNvPr id="14" name="Folded Corner 13"/>
          <p:cNvSpPr/>
          <p:nvPr/>
        </p:nvSpPr>
        <p:spPr>
          <a:xfrm>
            <a:off x="1816650" y="288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olded Corner 14"/>
          <p:cNvSpPr/>
          <p:nvPr/>
        </p:nvSpPr>
        <p:spPr>
          <a:xfrm>
            <a:off x="4297950" y="288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olded Corner 15"/>
          <p:cNvSpPr/>
          <p:nvPr/>
        </p:nvSpPr>
        <p:spPr>
          <a:xfrm>
            <a:off x="6779250" y="288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olded Corner 16"/>
          <p:cNvSpPr/>
          <p:nvPr/>
        </p:nvSpPr>
        <p:spPr>
          <a:xfrm>
            <a:off x="9260550" y="288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olded Corner 17"/>
          <p:cNvSpPr/>
          <p:nvPr/>
        </p:nvSpPr>
        <p:spPr>
          <a:xfrm>
            <a:off x="11741850" y="288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olded Corner 18"/>
          <p:cNvSpPr/>
          <p:nvPr/>
        </p:nvSpPr>
        <p:spPr>
          <a:xfrm>
            <a:off x="14223150" y="288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olded Corner 19"/>
          <p:cNvSpPr/>
          <p:nvPr/>
        </p:nvSpPr>
        <p:spPr>
          <a:xfrm>
            <a:off x="16704450" y="288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olded Corner 20"/>
          <p:cNvSpPr/>
          <p:nvPr/>
        </p:nvSpPr>
        <p:spPr>
          <a:xfrm>
            <a:off x="19185750" y="288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0000" y="3420000"/>
            <a:ext cx="19850400" cy="27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00" y="3528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Transformerエンコーダ × 12層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0650" y="4320000"/>
            <a:ext cx="7443900" cy="5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41950" y="4752000"/>
            <a:ext cx="4962600" cy="5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3250" y="5184000"/>
            <a:ext cx="2481300" cy="5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04550" y="4752000"/>
            <a:ext cx="2481300" cy="5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04550" y="5184000"/>
            <a:ext cx="4962600" cy="5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04550" y="4320000"/>
            <a:ext cx="7443900" cy="5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04550" y="4752000"/>
            <a:ext cx="9925200" cy="5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000" y="4068000"/>
            <a:ext cx="19490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← 双方向Self-Attention：左右両方の文脈を同時に参照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0000" y="4680000"/>
            <a:ext cx="6508800" cy="54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Multi-Head Self-Attention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96800" y="4680000"/>
            <a:ext cx="6508800" cy="54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Feed-Forward Network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313600" y="4680000"/>
            <a:ext cx="6508800" cy="54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Layer Normalization</a:t>
            </a:r>
          </a:p>
        </p:txBody>
      </p:sp>
      <p:sp>
        <p:nvSpPr>
          <p:cNvPr id="35" name="Folded Corner 34"/>
          <p:cNvSpPr/>
          <p:nvPr/>
        </p:nvSpPr>
        <p:spPr>
          <a:xfrm>
            <a:off x="1816650" y="612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olded Corner 35"/>
          <p:cNvSpPr/>
          <p:nvPr/>
        </p:nvSpPr>
        <p:spPr>
          <a:xfrm>
            <a:off x="4297950" y="612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olded Corner 36"/>
          <p:cNvSpPr/>
          <p:nvPr/>
        </p:nvSpPr>
        <p:spPr>
          <a:xfrm>
            <a:off x="6779250" y="612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olded Corner 37"/>
          <p:cNvSpPr/>
          <p:nvPr/>
        </p:nvSpPr>
        <p:spPr>
          <a:xfrm>
            <a:off x="9260550" y="612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olded Corner 38"/>
          <p:cNvSpPr/>
          <p:nvPr/>
        </p:nvSpPr>
        <p:spPr>
          <a:xfrm>
            <a:off x="11741850" y="612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olded Corner 39"/>
          <p:cNvSpPr/>
          <p:nvPr/>
        </p:nvSpPr>
        <p:spPr>
          <a:xfrm>
            <a:off x="14223150" y="612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olded Corner 40"/>
          <p:cNvSpPr/>
          <p:nvPr/>
        </p:nvSpPr>
        <p:spPr>
          <a:xfrm>
            <a:off x="16704450" y="612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olded Corner 41"/>
          <p:cNvSpPr/>
          <p:nvPr/>
        </p:nvSpPr>
        <p:spPr>
          <a:xfrm>
            <a:off x="19185750" y="6120000"/>
            <a:ext cx="288000" cy="432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0000" y="6264000"/>
            <a:ext cx="19850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3CA6"/>
                </a:solidFill>
              </a:rPr>
              <a:t>出力：各トークンのコンテキスト埋め込み（[MASK]位置で語彙を予測）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0000" y="6552000"/>
            <a:ext cx="2409300" cy="720000"/>
          </a:xfrm>
          <a:prstGeom prst="rect">
            <a:avLst/>
          </a:prstGeom>
          <a:solidFill>
            <a:srgbClr val="BDE4FC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h_0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1300" y="6552000"/>
            <a:ext cx="2409300" cy="720000"/>
          </a:xfrm>
          <a:prstGeom prst="rect">
            <a:avLst/>
          </a:prstGeom>
          <a:solidFill>
            <a:srgbClr val="BDE4FC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h_1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82600" y="6552000"/>
            <a:ext cx="2409300" cy="720000"/>
          </a:xfrm>
          <a:prstGeom prst="rect">
            <a:avLst/>
          </a:prstGeom>
          <a:solidFill>
            <a:srgbClr val="BDE4FC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h_2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63900" y="6552000"/>
            <a:ext cx="2409300" cy="720000"/>
          </a:xfrm>
          <a:prstGeom prst="rect">
            <a:avLst/>
          </a:prstGeom>
          <a:solidFill>
            <a:srgbClr val="EBA81A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「猫」を予測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45200" y="6552000"/>
            <a:ext cx="2409300" cy="720000"/>
          </a:xfrm>
          <a:prstGeom prst="rect">
            <a:avLst/>
          </a:prstGeom>
          <a:solidFill>
            <a:srgbClr val="BDE4FC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h_4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126500" y="6552000"/>
            <a:ext cx="2409300" cy="720000"/>
          </a:xfrm>
          <a:prstGeom prst="rect">
            <a:avLst/>
          </a:prstGeom>
          <a:solidFill>
            <a:srgbClr val="BDE4FC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h_5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607800" y="6552000"/>
            <a:ext cx="2409300" cy="720000"/>
          </a:xfrm>
          <a:prstGeom prst="rect">
            <a:avLst/>
          </a:prstGeom>
          <a:solidFill>
            <a:srgbClr val="BDE4FC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h_6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089100" y="6552000"/>
            <a:ext cx="2409300" cy="720000"/>
          </a:xfrm>
          <a:prstGeom prst="rect">
            <a:avLst/>
          </a:prstGeom>
          <a:solidFill>
            <a:srgbClr val="BDE4FC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h_7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0000" y="7452000"/>
            <a:ext cx="6496800" cy="576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事前学習タスク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0000" y="8028000"/>
            <a:ext cx="6496800" cy="864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①Masked LM（15%をマスク）
②Next Sentence Prediction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96800" y="7452000"/>
            <a:ext cx="6496800" cy="576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双方向の利点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96800" y="8028000"/>
            <a:ext cx="6496800" cy="864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左文脈＋右文脈を同時考慮
→ 意味理解が深い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073600" y="7452000"/>
            <a:ext cx="6496800" cy="576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fine-tuning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73600" y="8028000"/>
            <a:ext cx="6496800" cy="864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下流タスクに応じて
出力層を付け替え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