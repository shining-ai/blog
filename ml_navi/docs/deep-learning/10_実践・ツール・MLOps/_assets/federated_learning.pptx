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フェデレーテッドラーニング：分散学習フロー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8485200" y="1800000"/>
            <a:ext cx="4320000" cy="14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グローバルモデル
(Central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5400000"/>
            <a:ext cx="342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 A
病院A
(患者データ)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430000" y="3276000"/>
            <a:ext cx="8215200.0" cy="2088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30000" y="3276000"/>
            <a:ext cx="8215200.0" cy="208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860000" y="5400000"/>
            <a:ext cx="342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 B
病院B
(患者データ)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570000" y="3276000"/>
            <a:ext cx="4075200.0" cy="2088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70000" y="3276000"/>
            <a:ext cx="4075200.0" cy="208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000000" y="5400000"/>
            <a:ext cx="342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 C
スマホ
(ユーザーデータ)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45200.0" y="3276000"/>
            <a:ext cx="64800.0" cy="2088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0645200.0" y="3276000"/>
            <a:ext cx="64800.0" cy="208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140000" y="5400000"/>
            <a:ext cx="342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 D
工場
(センサーデータ)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45200.0" y="3276000"/>
            <a:ext cx="4204800.0" cy="2088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0645200.0" y="3276000"/>
            <a:ext cx="4204800.0" cy="208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280000" y="5400000"/>
            <a:ext cx="342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 E
銀行
(取引データ)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45200.0" y="3276000"/>
            <a:ext cx="8344800.0" cy="2088000"/>
          </a:xfrm>
          <a:prstGeom prst="line">
            <a:avLst/>
          </a:prstGeom>
          <a:ln w="2540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645200.0" y="3276000"/>
            <a:ext cx="8344800.0" cy="208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0000" y="34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DE4FC"/>
                </a:solidFill>
              </a:rPr>
              <a:t>① グローバルモデル配布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0" y="34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CA6"/>
                </a:solidFill>
              </a:rPr>
              <a:t>③ 勾配/更新量を集約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774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 各クライアントのローカル学習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9200" y="8460000"/>
            <a:ext cx="342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ローカルデータで
ミニバッチ学習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7200.0" y="9270000.0"/>
            <a:ext cx="432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47200" y="8460000"/>
            <a:ext cx="342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loss.backward()
勾配計算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85200.0" y="9270000.0"/>
            <a:ext cx="432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35200" y="8460000"/>
            <a:ext cx="342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ローカル更新量
ΔW の計算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373200.0" y="9270000.0"/>
            <a:ext cx="432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2823200" y="8460000"/>
            <a:ext cx="3420000" cy="16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プライバシー保護
(差分プライバシー
/暗号化)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261200.0" y="9270000.0"/>
            <a:ext cx="432000.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711200" y="8460000"/>
            <a:ext cx="3420000" cy="16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サーバーへ
送信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1026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集約アルゴリズム比較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000" y="10908000"/>
            <a:ext cx="36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アルゴリズム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" y="10908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00000" y="1090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集約方式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0000" y="10908000"/>
            <a:ext cx="792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420000" y="10908000"/>
            <a:ext cx="75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420000" y="10908000"/>
            <a:ext cx="756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000" y="11556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FedAvg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" y="11556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00000" y="11556000"/>
            <a:ext cx="792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重み付き平均 (データ量比例)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00000" y="11556000"/>
            <a:ext cx="792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420000" y="11556000"/>
            <a:ext cx="756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シンプル・実装容易・標準的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420000" y="11556000"/>
            <a:ext cx="756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0000" y="12204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FedProx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000" y="12204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00000" y="12204000"/>
            <a:ext cx="792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近接項追加で安定化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00000" y="12204000"/>
            <a:ext cx="792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420000" y="12204000"/>
            <a:ext cx="756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非IIDデータに強い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420000" y="12204000"/>
            <a:ext cx="756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0000" y="12852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FedNova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000" y="12852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00000" y="12852000"/>
            <a:ext cx="792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正規化平均勾配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0000" y="12852000"/>
            <a:ext cx="792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420000" y="12852000"/>
            <a:ext cx="756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局所ステップ数の差を補正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420000" y="12852000"/>
            <a:ext cx="756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0000" y="13500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SCAFFOLD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000" y="13500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00000" y="13500000"/>
            <a:ext cx="792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制御変数で分散補正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00000" y="13500000"/>
            <a:ext cx="792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420000" y="13500000"/>
            <a:ext cx="756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収束が速い・通信コスト大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420000" y="13500000"/>
            <a:ext cx="756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