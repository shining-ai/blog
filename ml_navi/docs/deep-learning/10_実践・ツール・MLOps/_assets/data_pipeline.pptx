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0"/>
            <a:ext cx="205704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DVC：データパイプライン管理</a:t>
            </a:r>
          </a:p>
        </p:txBody>
      </p:sp>
      <p:sp>
        <p:nvSpPr>
          <p:cNvPr id="5" name="Rectangle 4"/>
          <p:cNvSpPr/>
          <p:nvPr/>
        </p:nvSpPr>
        <p:spPr>
          <a:xfrm>
            <a:off x="1231200" y="1800000"/>
            <a:ext cx="3420000" cy="1007999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データ取得
data/raw/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03200" y="2807999"/>
            <a:ext cx="3276000" cy="1332001"/>
          </a:xfrm>
          <a:prstGeom prst="rect">
            <a:avLst/>
          </a:prstGeom>
          <a:solidFill>
            <a:srgbClr val="F3FAFE"/>
          </a:solidFill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11144"/>
                </a:solidFill>
              </a:rPr>
              <a:t>dvc add data/
dvc push
S3/GCS連携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669200.0" y="2970000.0"/>
            <a:ext cx="396000.0" cy="0.0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5083200" y="1800000"/>
            <a:ext cx="3420000" cy="1007999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前処理
preprocess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55200" y="2807999"/>
            <a:ext cx="3276000" cy="1332001"/>
          </a:xfrm>
          <a:prstGeom prst="rect">
            <a:avLst/>
          </a:prstGeom>
          <a:solidFill>
            <a:srgbClr val="F3FAFE"/>
          </a:solidFill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11144"/>
                </a:solidFill>
              </a:rPr>
              <a:t>python src/
preprocess.py
欠損値・正規化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521200.0" y="2970000.0"/>
            <a:ext cx="396000.0" cy="0.0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8935200" y="1800000"/>
            <a:ext cx="3420000" cy="1007999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特徴量エンジニアリング
featurize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7200" y="2807999"/>
            <a:ext cx="3276000" cy="1332001"/>
          </a:xfrm>
          <a:prstGeom prst="rect">
            <a:avLst/>
          </a:prstGeom>
          <a:solidFill>
            <a:srgbClr val="F3FAFE"/>
          </a:solidFill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11144"/>
                </a:solidFill>
              </a:rPr>
              <a:t>python src/
featurize.py
ワンホット・スケール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2373200.0" y="2970000.0"/>
            <a:ext cx="396000.0" cy="0.0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12787200" y="1800000"/>
            <a:ext cx="3420000" cy="1007999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学習
train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59200" y="2807999"/>
            <a:ext cx="3276000" cy="1332001"/>
          </a:xfrm>
          <a:prstGeom prst="rect">
            <a:avLst/>
          </a:prstGeom>
          <a:solidFill>
            <a:srgbClr val="F3FAFE"/>
          </a:solidFill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11144"/>
                </a:solidFill>
              </a:rPr>
              <a:t>python src/
train.py
モデル学習・保存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6225200.0" y="2970000.0"/>
            <a:ext cx="396000.0" cy="0.0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16639200" y="1800000"/>
            <a:ext cx="3420000" cy="1007999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評価
evaluate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711200" y="2807999"/>
            <a:ext cx="3276000" cy="1332001"/>
          </a:xfrm>
          <a:prstGeom prst="rect">
            <a:avLst/>
          </a:prstGeom>
          <a:solidFill>
            <a:srgbClr val="F3FAFE"/>
          </a:solidFill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11144"/>
                </a:solidFill>
              </a:rPr>
              <a:t>python src/
evaluate.py
metrics.json出力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0000" y="4860000"/>
            <a:ext cx="9720000" cy="54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dvc.yaml 設定例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0000" y="5508000"/>
            <a:ext cx="9720000" cy="5940000"/>
          </a:xfrm>
          <a:prstGeom prst="rect">
            <a:avLst/>
          </a:prstGeom>
          <a:solidFill>
            <a:srgbClr val="F3FAFE"/>
          </a:solidFill>
          <a:ln>
            <a:solidFill>
              <a:srgbClr val="BDE4FC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1144"/>
                </a:solidFill>
              </a:rPr>
              <a:t>stages:
  preprocess:
    cmd: python src/preprocess.py
    deps:
      - data/raw/train.csv
      - src/preprocess.py
    outs:
      - data/processed/train.csv
  train:
    cmd: python src/train.py
    deps:
      - data/processed/train.csv
      - src/train.py
    params:
      - params.yaml:
        - train.lr
        - train.epochs
    outs:
      - models/model.pkl
    metrics:
      - metrics.json: {cache: false}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160000" y="4860000"/>
            <a:ext cx="9360000" cy="54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主な DVCコマンド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160000" y="5508000"/>
            <a:ext cx="4680000" cy="612000"/>
          </a:xfrm>
          <a:prstGeom prst="rect">
            <a:avLst/>
          </a:prstGeom>
          <a:solidFill>
            <a:srgbClr val="BDE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13CA6"/>
                </a:solidFill>
              </a:rPr>
              <a:t>dvc init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5876000" y="5508000"/>
            <a:ext cx="4608000" cy="61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000000"/>
                </a:solidFill>
              </a:rPr>
              <a:t>DVCリポジトリ初期化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160000" y="5508000"/>
            <a:ext cx="9360000" cy="612000"/>
          </a:xfrm>
          <a:prstGeom prst="rect">
            <a:avLst/>
          </a:prstGeom>
          <a:noFill/>
          <a:ln w="9525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1160000" y="6192000"/>
            <a:ext cx="4680000" cy="612000"/>
          </a:xfrm>
          <a:prstGeom prst="rect">
            <a:avLst/>
          </a:prstGeom>
          <a:solidFill>
            <a:srgbClr val="BDE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13CA6"/>
                </a:solidFill>
              </a:rPr>
              <a:t>dvc add data/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5876000" y="6192000"/>
            <a:ext cx="4608000" cy="61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000000"/>
                </a:solidFill>
              </a:rPr>
              <a:t>データファイルをDVC管理下に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1160000" y="6192000"/>
            <a:ext cx="9360000" cy="612000"/>
          </a:xfrm>
          <a:prstGeom prst="rect">
            <a:avLst/>
          </a:prstGeom>
          <a:noFill/>
          <a:ln w="9525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1160000" y="6876000"/>
            <a:ext cx="4680000" cy="612000"/>
          </a:xfrm>
          <a:prstGeom prst="rect">
            <a:avLst/>
          </a:prstGeom>
          <a:solidFill>
            <a:srgbClr val="BDE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13CA6"/>
                </a:solidFill>
              </a:rPr>
              <a:t>dvc push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5876000" y="6876000"/>
            <a:ext cx="4608000" cy="61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000000"/>
                </a:solidFill>
              </a:rPr>
              <a:t>リモートストレージに同期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160000" y="6876000"/>
            <a:ext cx="9360000" cy="612000"/>
          </a:xfrm>
          <a:prstGeom prst="rect">
            <a:avLst/>
          </a:prstGeom>
          <a:noFill/>
          <a:ln w="9525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1160000" y="7560000"/>
            <a:ext cx="4680000" cy="612000"/>
          </a:xfrm>
          <a:prstGeom prst="rect">
            <a:avLst/>
          </a:prstGeom>
          <a:solidFill>
            <a:srgbClr val="BDE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13CA6"/>
                </a:solidFill>
              </a:rPr>
              <a:t>dvc pull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5876000" y="7560000"/>
            <a:ext cx="4608000" cy="61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000000"/>
                </a:solidFill>
              </a:rPr>
              <a:t>リモートからデータ取得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160000" y="7560000"/>
            <a:ext cx="9360000" cy="612000"/>
          </a:xfrm>
          <a:prstGeom prst="rect">
            <a:avLst/>
          </a:prstGeom>
          <a:noFill/>
          <a:ln w="9525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1160000" y="8244000"/>
            <a:ext cx="4680000" cy="612000"/>
          </a:xfrm>
          <a:prstGeom prst="rect">
            <a:avLst/>
          </a:prstGeom>
          <a:solidFill>
            <a:srgbClr val="BDE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13CA6"/>
                </a:solidFill>
              </a:rPr>
              <a:t>dvc repro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5876000" y="8244000"/>
            <a:ext cx="4608000" cy="61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000000"/>
                </a:solidFill>
              </a:rPr>
              <a:t>パイプライン実行（差分のみ）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1160000" y="8244000"/>
            <a:ext cx="9360000" cy="612000"/>
          </a:xfrm>
          <a:prstGeom prst="rect">
            <a:avLst/>
          </a:prstGeom>
          <a:noFill/>
          <a:ln w="9525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1160000" y="8928000"/>
            <a:ext cx="4680000" cy="612000"/>
          </a:xfrm>
          <a:prstGeom prst="rect">
            <a:avLst/>
          </a:prstGeom>
          <a:solidFill>
            <a:srgbClr val="BDE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13CA6"/>
                </a:solidFill>
              </a:rPr>
              <a:t>dvc dag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5876000" y="8928000"/>
            <a:ext cx="4608000" cy="61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000000"/>
                </a:solidFill>
              </a:rPr>
              <a:t>DAG（有向非巡回グラフ）表示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160000" y="8928000"/>
            <a:ext cx="9360000" cy="612000"/>
          </a:xfrm>
          <a:prstGeom prst="rect">
            <a:avLst/>
          </a:prstGeom>
          <a:noFill/>
          <a:ln w="9525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1160000" y="9612000"/>
            <a:ext cx="4680000" cy="612000"/>
          </a:xfrm>
          <a:prstGeom prst="rect">
            <a:avLst/>
          </a:prstGeom>
          <a:solidFill>
            <a:srgbClr val="BDE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13CA6"/>
                </a:solidFill>
              </a:rPr>
              <a:t>dvc metrics show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5876000" y="9612000"/>
            <a:ext cx="4608000" cy="61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000000"/>
                </a:solidFill>
              </a:rPr>
              <a:t>評価メトリクス表示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1160000" y="9612000"/>
            <a:ext cx="9360000" cy="612000"/>
          </a:xfrm>
          <a:prstGeom prst="rect">
            <a:avLst/>
          </a:prstGeom>
          <a:noFill/>
          <a:ln w="9525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1160000" y="10296000"/>
            <a:ext cx="4680000" cy="612000"/>
          </a:xfrm>
          <a:prstGeom prst="rect">
            <a:avLst/>
          </a:prstGeom>
          <a:solidFill>
            <a:srgbClr val="BDE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13CA6"/>
                </a:solidFill>
              </a:rPr>
              <a:t>dvc params diff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5876000" y="10296000"/>
            <a:ext cx="4608000" cy="61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000000"/>
                </a:solidFill>
              </a:rPr>
              <a:t>パラメータ差分比較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1160000" y="10296000"/>
            <a:ext cx="9360000" cy="612000"/>
          </a:xfrm>
          <a:prstGeom prst="rect">
            <a:avLst/>
          </a:prstGeom>
          <a:noFill/>
          <a:ln w="9525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