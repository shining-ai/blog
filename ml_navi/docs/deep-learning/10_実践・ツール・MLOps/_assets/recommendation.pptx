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協調フィルタリング：ユーザー-アイテム行列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User \ 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2</a:t>
            </a:r>
          </a:p>
        </p:txBody>
      </p:sp>
      <p:sp>
        <p:nvSpPr>
          <p:cNvPr id="8" name="Rectangle 7"/>
          <p:cNvSpPr/>
          <p:nvPr/>
        </p:nvSpPr>
        <p:spPr>
          <a:xfrm>
            <a:off x="828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3</a:t>
            </a:r>
          </a:p>
        </p:txBody>
      </p:sp>
      <p:sp>
        <p:nvSpPr>
          <p:cNvPr id="9" name="Rectangle 8"/>
          <p:cNvSpPr/>
          <p:nvPr/>
        </p:nvSpPr>
        <p:spPr>
          <a:xfrm>
            <a:off x="1080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2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40000" y="1728000"/>
            <a:ext cx="2520000" cy="1007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Item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2735999"/>
            <a:ext cx="252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User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0000" y="2735999"/>
            <a:ext cx="2520000" cy="1007999"/>
          </a:xfrm>
          <a:prstGeom prst="rect">
            <a:avLst/>
          </a:prstGeom>
          <a:solidFill>
            <a:srgbClr val="001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5 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000" y="2735999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0000" y="2735999"/>
            <a:ext cx="2520000" cy="1007999"/>
          </a:xfrm>
          <a:prstGeom prst="rect">
            <a:avLst/>
          </a:prstGeom>
          <a:solidFill>
            <a:srgbClr val="1D4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4 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8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00000" y="2735999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320000" y="2735999"/>
            <a:ext cx="2520000" cy="1007999"/>
          </a:xfrm>
          <a:prstGeom prst="rect">
            <a:avLst/>
          </a:prstGeom>
          <a:solidFill>
            <a:srgbClr val="95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1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32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840000" y="2735999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40000" y="2735999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3743998"/>
            <a:ext cx="252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User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0" y="3743998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000" y="3743998"/>
            <a:ext cx="2520000" cy="1007999"/>
          </a:xfrm>
          <a:prstGeom prst="rect">
            <a:avLst/>
          </a:prstGeom>
          <a:solidFill>
            <a:srgbClr val="45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3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0000" y="3743998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00000" y="3743998"/>
            <a:ext cx="2520000" cy="1007999"/>
          </a:xfrm>
          <a:prstGeom prst="rect">
            <a:avLst/>
          </a:prstGeom>
          <a:solidFill>
            <a:srgbClr val="001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5 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0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3320000" y="3743998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32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5840000" y="3743998"/>
            <a:ext cx="2520000" cy="1007999"/>
          </a:xfrm>
          <a:prstGeom prst="rect">
            <a:avLst/>
          </a:prstGeom>
          <a:solidFill>
            <a:srgbClr val="6D9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2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840000" y="3743998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0000" y="4751997"/>
            <a:ext cx="252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User 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0" y="4751997"/>
            <a:ext cx="2520000" cy="1007999"/>
          </a:xfrm>
          <a:prstGeom prst="rect">
            <a:avLst/>
          </a:prstGeom>
          <a:solidFill>
            <a:srgbClr val="1D4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4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760000" y="4751997"/>
            <a:ext cx="2520000" cy="1007999"/>
          </a:xfrm>
          <a:prstGeom prst="rect">
            <a:avLst/>
          </a:prstGeom>
          <a:solidFill>
            <a:srgbClr val="001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5 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80000" y="4751997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800000" y="4751997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0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320000" y="4751997"/>
            <a:ext cx="2520000" cy="1007999"/>
          </a:xfrm>
          <a:prstGeom prst="rect">
            <a:avLst/>
          </a:prstGeom>
          <a:solidFill>
            <a:srgbClr val="6D9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2 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32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5840000" y="4751997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840000" y="4751997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20000" y="5759996"/>
            <a:ext cx="252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User 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40000" y="5759996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4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000" y="5759996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80000" y="5759996"/>
            <a:ext cx="2520000" cy="1007999"/>
          </a:xfrm>
          <a:prstGeom prst="rect">
            <a:avLst/>
          </a:prstGeom>
          <a:solidFill>
            <a:srgbClr val="45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3 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8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00000" y="5759996"/>
            <a:ext cx="2520000" cy="1007999"/>
          </a:xfrm>
          <a:prstGeom prst="rect">
            <a:avLst/>
          </a:prstGeom>
          <a:solidFill>
            <a:srgbClr val="1D4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4 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80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320000" y="5759996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32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840000" y="5759996"/>
            <a:ext cx="2520000" cy="1007999"/>
          </a:xfrm>
          <a:prstGeom prst="rect">
            <a:avLst/>
          </a:prstGeom>
          <a:solidFill>
            <a:srgbClr val="001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5 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840000" y="5759996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0000" y="6767995"/>
            <a:ext cx="2520000" cy="1007999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13CA6"/>
                </a:solidFill>
              </a:rPr>
              <a:t>User 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40000" y="6767995"/>
            <a:ext cx="2520000" cy="1007999"/>
          </a:xfrm>
          <a:prstGeom prst="rect">
            <a:avLst/>
          </a:prstGeom>
          <a:solidFill>
            <a:srgbClr val="95B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1 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4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60000" y="6767995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76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80000" y="6767995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00000" y="6767995"/>
            <a:ext cx="2520000" cy="1007999"/>
          </a:xfrm>
          <a:prstGeom prst="rect">
            <a:avLst/>
          </a:prstGeom>
          <a:solidFill>
            <a:srgbClr val="456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3 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80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320000" y="6767995"/>
            <a:ext cx="2520000" cy="1007999"/>
          </a:xfrm>
          <a:prstGeom prst="rect">
            <a:avLst/>
          </a:prstGeom>
          <a:solidFill>
            <a:srgbClr val="1D4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13CA6"/>
                </a:solidFill>
              </a:rPr>
              <a:t>4 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32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840000" y="6767995"/>
            <a:ext cx="2520000" cy="1007999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CC7700"/>
                </a:solidFill>
              </a:rPr>
              <a:t>?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840000" y="6767995"/>
            <a:ext cx="2520000" cy="1007999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920000" y="1980000"/>
            <a:ext cx="3960000" cy="5039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凡例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920000" y="2520000"/>
            <a:ext cx="3960000" cy="576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数字 ★  既知の評価 (1-5)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920000" y="3168000"/>
            <a:ext cx="3960000" cy="576000"/>
          </a:xfrm>
          <a:prstGeom prst="rect">
            <a:avLst/>
          </a:prstGeom>
          <a:solidFill>
            <a:srgbClr val="FF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C7700"/>
                </a:solidFill>
              </a:rPr>
              <a:t>?  未知（予測対象）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20000" y="7560000"/>
            <a:ext cx="19800000" cy="57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協調フィルタリングの種類と原理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00000" y="8280000"/>
            <a:ext cx="360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手法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0000" y="8280000"/>
            <a:ext cx="360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00000" y="8280000"/>
            <a:ext cx="576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原理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00000" y="8280000"/>
            <a:ext cx="576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60000" y="8280000"/>
            <a:ext cx="504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メリット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60000" y="8280000"/>
            <a:ext cx="50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5300000" y="8280000"/>
            <a:ext cx="468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デメリット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5300000" y="8280000"/>
            <a:ext cx="468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00000" y="9360000"/>
            <a:ext cx="360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ユーザーベース
協調フィルタ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0000" y="9360000"/>
            <a:ext cx="360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500000" y="9360000"/>
            <a:ext cx="576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似たユーザーの評価を参照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00000" y="9360000"/>
            <a:ext cx="576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260000" y="9360000"/>
            <a:ext cx="504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直感的・解釈しやすい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60000" y="9360000"/>
            <a:ext cx="50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5300000" y="9360000"/>
            <a:ext cx="468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スケーラビリティ問題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5300000" y="9360000"/>
            <a:ext cx="468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00000" y="10440000"/>
            <a:ext cx="360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アイテムベース
協調フィルタ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0000" y="10440000"/>
            <a:ext cx="360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500000" y="10440000"/>
            <a:ext cx="576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似たアイテムへの評価を参照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00000" y="10440000"/>
            <a:ext cx="576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260000" y="10440000"/>
            <a:ext cx="504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計算の事前化が可能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60000" y="10440000"/>
            <a:ext cx="50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5300000" y="10440000"/>
            <a:ext cx="46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ロングテール弱い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300000" y="10440000"/>
            <a:ext cx="468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0000" y="11520000"/>
            <a:ext cx="360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行列分解 (MF)
SVD/ALS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0000" y="11520000"/>
            <a:ext cx="360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00000" y="11520000"/>
            <a:ext cx="576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評価行列を低ランク分解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00000" y="11520000"/>
            <a:ext cx="576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260000" y="11520000"/>
            <a:ext cx="504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精度高・スケーラブル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260000" y="11520000"/>
            <a:ext cx="50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5300000" y="11520000"/>
            <a:ext cx="4680000" cy="1080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コールドスタート問題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300000" y="11520000"/>
            <a:ext cx="468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00000" y="12600000"/>
            <a:ext cx="3600000" cy="108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13CA6"/>
                </a:solidFill>
              </a:rPr>
              <a:t>ニューラル CF
NCF/AutoRec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00000" y="12600000"/>
            <a:ext cx="360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500000" y="12600000"/>
            <a:ext cx="576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DLで非線形ユーザー特徴抽出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500000" y="12600000"/>
            <a:ext cx="576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260000" y="12600000"/>
            <a:ext cx="504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高精度・柔軟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260000" y="12600000"/>
            <a:ext cx="504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5300000" y="12600000"/>
            <a:ext cx="4680000" cy="10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</a:rPr>
              <a:t>解釈性低・計算コスト大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5300000" y="12600000"/>
            <a:ext cx="4680000" cy="1080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