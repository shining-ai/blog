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時系列分解：原系列 = トレンド + 季節性 + 残差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728000"/>
            <a:ext cx="396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原系列 (Observed)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1999" y="2358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全体の変動パターン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0" y="1728000"/>
            <a:ext cx="36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92000" y="2870100"/>
            <a:ext cx="126000" cy="4058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136000" y="2478972"/>
            <a:ext cx="126000" cy="797027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80000" y="2481209"/>
            <a:ext cx="126000" cy="79479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24000" y="2729209"/>
            <a:ext cx="126000" cy="54679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68000" y="3051008"/>
            <a:ext cx="126000" cy="224991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12000" y="3053245"/>
            <a:ext cx="126000" cy="222754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856000" y="2662118"/>
            <a:ext cx="126000" cy="613881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000000" y="2344791"/>
            <a:ext cx="126000" cy="931208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2347027"/>
            <a:ext cx="126000" cy="928972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288000" y="2595027"/>
            <a:ext cx="126000" cy="680972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32000" y="2916827"/>
            <a:ext cx="126000" cy="359172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76000" y="2919063"/>
            <a:ext cx="126000" cy="356936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720000" y="2527936"/>
            <a:ext cx="126000" cy="748063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864000" y="2210609"/>
            <a:ext cx="126000" cy="106539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008000" y="2139045"/>
            <a:ext cx="126000" cy="1136954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52000" y="2460845"/>
            <a:ext cx="126000" cy="815154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96000" y="2782645"/>
            <a:ext cx="126000" cy="493354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40000" y="2711081"/>
            <a:ext cx="126000" cy="564918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84000" y="2393754"/>
            <a:ext cx="126000" cy="882245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28000" y="2076427"/>
            <a:ext cx="126000" cy="1199572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72000" y="2004863"/>
            <a:ext cx="126000" cy="1271136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016000" y="2326663"/>
            <a:ext cx="126000" cy="949336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160000" y="2648463"/>
            <a:ext cx="126000" cy="627536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1304000" y="2576899"/>
            <a:ext cx="126000" cy="6991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0000" y="3780000"/>
            <a:ext cx="3960000" cy="162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トレンド (Trend)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1999" y="4410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長期的な増減傾向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0000" y="3780000"/>
            <a:ext cx="36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2000" y="4885200"/>
            <a:ext cx="126000" cy="442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6000" y="4860600"/>
            <a:ext cx="126000" cy="4674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0000" y="4836000"/>
            <a:ext cx="126000" cy="49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24000" y="4811400"/>
            <a:ext cx="126000" cy="5165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568000" y="4786800"/>
            <a:ext cx="126000" cy="5412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712000" y="4762200"/>
            <a:ext cx="126000" cy="565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56000" y="4737600"/>
            <a:ext cx="126000" cy="5904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000000" y="4713000"/>
            <a:ext cx="126000" cy="615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144000" y="4688400"/>
            <a:ext cx="126000" cy="6396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288000" y="4663800"/>
            <a:ext cx="126000" cy="6642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32000" y="4639200"/>
            <a:ext cx="126000" cy="688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76000" y="4614600"/>
            <a:ext cx="126000" cy="7134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720000" y="4590000"/>
            <a:ext cx="126000" cy="73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64000" y="4565400"/>
            <a:ext cx="126000" cy="762599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008000" y="4540800"/>
            <a:ext cx="126000" cy="7872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152000" y="4516200"/>
            <a:ext cx="126000" cy="811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296000" y="4491600"/>
            <a:ext cx="126000" cy="8364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440000" y="4467000"/>
            <a:ext cx="126000" cy="861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584000" y="4442400"/>
            <a:ext cx="126000" cy="8856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728000" y="4417800"/>
            <a:ext cx="126000" cy="9102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872000" y="4393200"/>
            <a:ext cx="126000" cy="9348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016000" y="4368600"/>
            <a:ext cx="126000" cy="9594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160000" y="4344000"/>
            <a:ext cx="126000" cy="984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04000" y="4319400"/>
            <a:ext cx="126000" cy="10086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20000" y="5832000"/>
            <a:ext cx="3960000" cy="162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季節性 (Seasonal)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51999" y="6462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周期的な変動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20000" y="5832000"/>
            <a:ext cx="36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992000" y="6642000"/>
            <a:ext cx="126000" cy="73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36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280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24000" y="6642000"/>
            <a:ext cx="126000" cy="73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568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712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856000" y="6642000"/>
            <a:ext cx="126000" cy="73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00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144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288000" y="6642000"/>
            <a:ext cx="126000" cy="73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32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576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20000" y="6642000"/>
            <a:ext cx="126000" cy="73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64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08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152000" y="6641999"/>
            <a:ext cx="126000" cy="73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96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440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584000" y="6642000"/>
            <a:ext cx="126000" cy="737999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728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872000" y="6322436"/>
            <a:ext cx="126000" cy="1057563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16000" y="6642000"/>
            <a:ext cx="126000" cy="738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160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304000" y="6961563"/>
            <a:ext cx="126000" cy="418436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20000" y="7884000"/>
            <a:ext cx="3960000" cy="162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残差 (Residual)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1999" y="8514000"/>
            <a:ext cx="28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333333"/>
                </a:solidFill>
              </a:rPr>
              <a:t>説明できないランダム成分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920000" y="7884000"/>
            <a:ext cx="3600000" cy="162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992000" y="8753040"/>
            <a:ext cx="126000" cy="67896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36000" y="8668122"/>
            <a:ext cx="126000" cy="76387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80000" y="8701284"/>
            <a:ext cx="126000" cy="73071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424000" y="8660646"/>
            <a:ext cx="126000" cy="771353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568000" y="8693808"/>
            <a:ext cx="126000" cy="738191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712000" y="8726970"/>
            <a:ext cx="126000" cy="705029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856000" y="8686332"/>
            <a:ext cx="126000" cy="74566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000000" y="8719494"/>
            <a:ext cx="126000" cy="71250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9144000" y="8708376"/>
            <a:ext cx="126000" cy="723623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9288000" y="8667738"/>
            <a:ext cx="126000" cy="764261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9432000" y="8700900"/>
            <a:ext cx="126000" cy="731099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9576000" y="8734062"/>
            <a:ext cx="126000" cy="697937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9720000" y="8693424"/>
            <a:ext cx="126000" cy="738575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864000" y="8726587"/>
            <a:ext cx="126000" cy="70541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008000" y="8685949"/>
            <a:ext cx="126000" cy="74605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152000" y="8674831"/>
            <a:ext cx="126000" cy="75716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296000" y="8707993"/>
            <a:ext cx="126000" cy="72400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10440000" y="8667355"/>
            <a:ext cx="126000" cy="76464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0584000" y="8700517"/>
            <a:ext cx="126000" cy="73148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728000" y="8733679"/>
            <a:ext cx="126000" cy="69832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872000" y="8693041"/>
            <a:ext cx="126000" cy="738958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1016000" y="8726203"/>
            <a:ext cx="126000" cy="70579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1160000" y="8715085"/>
            <a:ext cx="126000" cy="71691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1304000" y="8674447"/>
            <a:ext cx="126000" cy="757552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20000" y="8820000"/>
            <a:ext cx="3600000" cy="9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分解式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680000" y="8820000"/>
            <a:ext cx="15840000" cy="900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13CA6"/>
                </a:solidFill>
              </a:rPr>
              <a:t>y(t)  =  Trend(t)  +  Seasonal(t)  +  Residual(t)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20000" y="10080000"/>
            <a:ext cx="19800000" cy="54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分解手法比較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80000" y="10728000"/>
            <a:ext cx="36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手法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80000" y="10728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680000" y="10728000"/>
            <a:ext cx="900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特徴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4680000" y="10728000"/>
            <a:ext cx="90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3680000" y="10728000"/>
            <a:ext cx="6480000" cy="64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Pythonライブラリ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3680000" y="10728000"/>
            <a:ext cx="648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080000" y="11376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STL分解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80000" y="11376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680000" y="11376000"/>
            <a:ext cx="900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ロバスト・季節性変化に対応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680000" y="11376000"/>
            <a:ext cx="90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3680000" y="11376000"/>
            <a:ext cx="648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statsmodels.tsa.stl.STL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3680000" y="11376000"/>
            <a:ext cx="648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80000" y="12024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Classical分解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080000" y="12024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680000" y="12024000"/>
            <a:ext cx="9000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加法/乗法モデル・シンプル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680000" y="12024000"/>
            <a:ext cx="90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3680000" y="12024000"/>
            <a:ext cx="6480000" cy="64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statsmodels seasonal_decompose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3680000" y="12024000"/>
            <a:ext cx="648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80000" y="12672000"/>
            <a:ext cx="3600000" cy="648000"/>
          </a:xfrm>
          <a:prstGeom prst="rect">
            <a:avLst/>
          </a:prstGeom>
          <a:solidFill>
            <a:srgbClr val="BDE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3CA6"/>
                </a:solidFill>
              </a:rPr>
              <a:t>Prophet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1080000" y="12672000"/>
            <a:ext cx="36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680000" y="12672000"/>
            <a:ext cx="900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休日・外れ値・欠損に強い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4680000" y="12672000"/>
            <a:ext cx="900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3680000" y="12672000"/>
            <a:ext cx="6480000" cy="648000"/>
          </a:xfrm>
          <a:prstGeom prst="rect">
            <a:avLst/>
          </a:prstGeom>
          <a:solidFill>
            <a:srgbClr val="F3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00000"/>
                </a:solidFill>
              </a:rPr>
              <a:t>prophet.Prophet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3680000" y="12672000"/>
            <a:ext cx="6480000" cy="648000"/>
          </a:xfrm>
          <a:prstGeom prst="rect">
            <a:avLst/>
          </a:prstGeom>
          <a:noFill/>
          <a:ln w="9525"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