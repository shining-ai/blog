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0"/>
            <a:ext cx="205704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モデルモニタリング：データドリフト検出フロー</a:t>
            </a:r>
          </a:p>
        </p:txBody>
      </p:sp>
      <p:sp>
        <p:nvSpPr>
          <p:cNvPr id="5" name="Rectangle 4"/>
          <p:cNvSpPr/>
          <p:nvPr/>
        </p:nvSpPr>
        <p:spPr>
          <a:xfrm>
            <a:off x="1231200" y="1980000"/>
            <a:ext cx="3420000" cy="9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</a:rPr>
              <a:t>本番データ
(Production)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03200" y="2880000"/>
            <a:ext cx="3276000" cy="1440000"/>
          </a:xfrm>
          <a:prstGeom prst="rect">
            <a:avLst/>
          </a:prstGeom>
          <a:solidFill>
            <a:srgbClr val="F3FAFE"/>
          </a:solidFill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11144"/>
                </a:solidFill>
              </a:rPr>
              <a:t>推論リクエスト
特徴量ログ収集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669200.0" y="3150000.0"/>
            <a:ext cx="396000.0" cy="0.0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083200" y="1980000"/>
            <a:ext cx="3420000" cy="9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</a:rPr>
              <a:t>統計検定
(Statistical Test)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55200" y="2880000"/>
            <a:ext cx="3276000" cy="1440000"/>
          </a:xfrm>
          <a:prstGeom prst="rect">
            <a:avLst/>
          </a:prstGeom>
          <a:solidFill>
            <a:srgbClr val="F3FAFE"/>
          </a:solidFill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11144"/>
                </a:solidFill>
              </a:rPr>
              <a:t>KS検定
Chi-square検定
PSI計算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521200.0" y="3150000.0"/>
            <a:ext cx="396000.0" cy="0.0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8935200" y="1980000"/>
            <a:ext cx="3420000" cy="9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</a:rPr>
              <a:t>ドリフト判定
(Drift Detection)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7200" y="2880000"/>
            <a:ext cx="3276000" cy="1440000"/>
          </a:xfrm>
          <a:prstGeom prst="rect">
            <a:avLst/>
          </a:prstGeom>
          <a:solidFill>
            <a:srgbClr val="F3FAFE"/>
          </a:solidFill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11144"/>
                </a:solidFill>
              </a:rPr>
              <a:t>閾値比較
p-value &lt; 0.05
PSI &gt; 0.2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2373200.0" y="3150000.0"/>
            <a:ext cx="396000.0" cy="0.0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12787200" y="1980000"/>
            <a:ext cx="3420000" cy="900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</a:rPr>
              <a:t>アラート
(Alert)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59200" y="2880000"/>
            <a:ext cx="3276000" cy="1440000"/>
          </a:xfrm>
          <a:prstGeom prst="rect">
            <a:avLst/>
          </a:prstGeom>
          <a:solidFill>
            <a:srgbClr val="F3FAFE"/>
          </a:solidFill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11144"/>
                </a:solidFill>
              </a:rPr>
              <a:t>Slack通知
メール送信
PagerDuty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225200.0" y="3150000.0"/>
            <a:ext cx="396000.0" cy="0.0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16639200" y="1980000"/>
            <a:ext cx="3420000" cy="90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</a:rPr>
              <a:t>再学習
(Retrain)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711200" y="2880000"/>
            <a:ext cx="3276000" cy="1440000"/>
          </a:xfrm>
          <a:prstGeom prst="rect">
            <a:avLst/>
          </a:prstGeom>
          <a:solidFill>
            <a:srgbClr val="F3FAFE"/>
          </a:solidFill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11144"/>
                </a:solidFill>
              </a:rPr>
              <a:t>新データで
モデル再学習
→再デプロイ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0000" y="5220000"/>
            <a:ext cx="19800000" cy="54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ドリフト種別と検出方法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80000" y="5868000"/>
            <a:ext cx="3960000" cy="1152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</a:rPr>
              <a:t>種別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80000" y="5868000"/>
            <a:ext cx="3960000" cy="1152000"/>
          </a:xfrm>
          <a:prstGeom prst="rect">
            <a:avLst/>
          </a:prstGeom>
          <a:noFill/>
          <a:ln w="9525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40000" y="5868000"/>
            <a:ext cx="5400000" cy="1152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</a:rPr>
              <a:t>説明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40000" y="5868000"/>
            <a:ext cx="5400000" cy="1152000"/>
          </a:xfrm>
          <a:prstGeom prst="rect">
            <a:avLst/>
          </a:prstGeom>
          <a:noFill/>
          <a:ln w="9525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440000" y="5868000"/>
            <a:ext cx="4680000" cy="1152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</a:rPr>
              <a:t>検出指標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440000" y="5868000"/>
            <a:ext cx="4680000" cy="1152000"/>
          </a:xfrm>
          <a:prstGeom prst="rect">
            <a:avLst/>
          </a:prstGeom>
          <a:noFill/>
          <a:ln w="9525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5120000" y="5868000"/>
            <a:ext cx="5040000" cy="1152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</a:rPr>
              <a:t>対策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5120000" y="5868000"/>
            <a:ext cx="5040000" cy="1152000"/>
          </a:xfrm>
          <a:prstGeom prst="rect">
            <a:avLst/>
          </a:prstGeom>
          <a:noFill/>
          <a:ln w="9525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80000" y="7020000"/>
            <a:ext cx="3960000" cy="1152000"/>
          </a:xfrm>
          <a:prstGeom prst="rect">
            <a:avLst/>
          </a:prstGeom>
          <a:solidFill>
            <a:srgbClr val="BDE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13CA6"/>
                </a:solidFill>
              </a:rPr>
              <a:t>Data Drift
(共変量シフト)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80000" y="7020000"/>
            <a:ext cx="3960000" cy="1152000"/>
          </a:xfrm>
          <a:prstGeom prst="rect">
            <a:avLst/>
          </a:prstGeom>
          <a:noFill/>
          <a:ln w="9525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40000" y="7020000"/>
            <a:ext cx="5400000" cy="1152000"/>
          </a:xfrm>
          <a:prstGeom prst="rect">
            <a:avLst/>
          </a:prstGeom>
          <a:solidFill>
            <a:srgbClr val="F3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00000"/>
                </a:solidFill>
              </a:rPr>
              <a:t>入力特徴量の分布が変化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40000" y="7020000"/>
            <a:ext cx="5400000" cy="1152000"/>
          </a:xfrm>
          <a:prstGeom prst="rect">
            <a:avLst/>
          </a:prstGeom>
          <a:noFill/>
          <a:ln w="9525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440000" y="7020000"/>
            <a:ext cx="4680000" cy="1152000"/>
          </a:xfrm>
          <a:prstGeom prst="rect">
            <a:avLst/>
          </a:prstGeom>
          <a:solidFill>
            <a:srgbClr val="F3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00000"/>
                </a:solidFill>
              </a:rPr>
              <a:t>KS検定・PSI・JS距離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440000" y="7020000"/>
            <a:ext cx="4680000" cy="1152000"/>
          </a:xfrm>
          <a:prstGeom prst="rect">
            <a:avLst/>
          </a:prstGeom>
          <a:noFill/>
          <a:ln w="9525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5120000" y="7020000"/>
            <a:ext cx="5040000" cy="1152000"/>
          </a:xfrm>
          <a:prstGeom prst="rect">
            <a:avLst/>
          </a:prstGeom>
          <a:solidFill>
            <a:srgbClr val="F3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00000"/>
                </a:solidFill>
              </a:rPr>
              <a:t>特徴量の再エンジニアリング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5120000" y="7020000"/>
            <a:ext cx="5040000" cy="1152000"/>
          </a:xfrm>
          <a:prstGeom prst="rect">
            <a:avLst/>
          </a:prstGeom>
          <a:noFill/>
          <a:ln w="9525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80000" y="8172000"/>
            <a:ext cx="3960000" cy="1152000"/>
          </a:xfrm>
          <a:prstGeom prst="rect">
            <a:avLst/>
          </a:prstGeom>
          <a:solidFill>
            <a:srgbClr val="BDE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13CA6"/>
                </a:solidFill>
              </a:rPr>
              <a:t>Label Drift
(ラベルシフト)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80000" y="8172000"/>
            <a:ext cx="3960000" cy="1152000"/>
          </a:xfrm>
          <a:prstGeom prst="rect">
            <a:avLst/>
          </a:prstGeom>
          <a:noFill/>
          <a:ln w="9525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040000" y="8172000"/>
            <a:ext cx="5400000" cy="115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00000"/>
                </a:solidFill>
              </a:rPr>
              <a:t>正解ラベルの分布が変化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40000" y="8172000"/>
            <a:ext cx="5400000" cy="1152000"/>
          </a:xfrm>
          <a:prstGeom prst="rect">
            <a:avLst/>
          </a:prstGeom>
          <a:noFill/>
          <a:ln w="9525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440000" y="8172000"/>
            <a:ext cx="4680000" cy="115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00000"/>
                </a:solidFill>
              </a:rPr>
              <a:t>Chi-square検定・TVD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440000" y="8172000"/>
            <a:ext cx="4680000" cy="1152000"/>
          </a:xfrm>
          <a:prstGeom prst="rect">
            <a:avLst/>
          </a:prstGeom>
          <a:noFill/>
          <a:ln w="9525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5120000" y="8172000"/>
            <a:ext cx="5040000" cy="115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00000"/>
                </a:solidFill>
              </a:rPr>
              <a:t>モデル再学習・BBSE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5120000" y="8172000"/>
            <a:ext cx="5040000" cy="1152000"/>
          </a:xfrm>
          <a:prstGeom prst="rect">
            <a:avLst/>
          </a:prstGeom>
          <a:noFill/>
          <a:ln w="9525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080000" y="9324000"/>
            <a:ext cx="3960000" cy="1152000"/>
          </a:xfrm>
          <a:prstGeom prst="rect">
            <a:avLst/>
          </a:prstGeom>
          <a:solidFill>
            <a:srgbClr val="BDE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13CA6"/>
                </a:solidFill>
              </a:rPr>
              <a:t>Concept Drift
(コンセプトドリフト)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80000" y="9324000"/>
            <a:ext cx="3960000" cy="1152000"/>
          </a:xfrm>
          <a:prstGeom prst="rect">
            <a:avLst/>
          </a:prstGeom>
          <a:noFill/>
          <a:ln w="9525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040000" y="9324000"/>
            <a:ext cx="5400000" cy="1152000"/>
          </a:xfrm>
          <a:prstGeom prst="rect">
            <a:avLst/>
          </a:prstGeom>
          <a:solidFill>
            <a:srgbClr val="F3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00000"/>
                </a:solidFill>
              </a:rPr>
              <a:t>入出力の関係自体が変化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040000" y="9324000"/>
            <a:ext cx="5400000" cy="1152000"/>
          </a:xfrm>
          <a:prstGeom prst="rect">
            <a:avLst/>
          </a:prstGeom>
          <a:noFill/>
          <a:ln w="9525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40000" y="9324000"/>
            <a:ext cx="4680000" cy="1152000"/>
          </a:xfrm>
          <a:prstGeom prst="rect">
            <a:avLst/>
          </a:prstGeom>
          <a:solidFill>
            <a:srgbClr val="F3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00000"/>
                </a:solidFill>
              </a:rPr>
              <a:t>性能メトリクス監視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440000" y="9324000"/>
            <a:ext cx="4680000" cy="1152000"/>
          </a:xfrm>
          <a:prstGeom prst="rect">
            <a:avLst/>
          </a:prstGeom>
          <a:noFill/>
          <a:ln w="9525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5120000" y="9324000"/>
            <a:ext cx="5040000" cy="1152000"/>
          </a:xfrm>
          <a:prstGeom prst="rect">
            <a:avLst/>
          </a:prstGeom>
          <a:solidFill>
            <a:srgbClr val="F3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00000"/>
                </a:solidFill>
              </a:rPr>
              <a:t>継続的再学習・オンライン学習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5120000" y="9324000"/>
            <a:ext cx="5040000" cy="1152000"/>
          </a:xfrm>
          <a:prstGeom prst="rect">
            <a:avLst/>
          </a:prstGeom>
          <a:noFill/>
          <a:ln w="9525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080000" y="10476000"/>
            <a:ext cx="3960000" cy="1152000"/>
          </a:xfrm>
          <a:prstGeom prst="rect">
            <a:avLst/>
          </a:prstGeom>
          <a:solidFill>
            <a:srgbClr val="BDE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13CA6"/>
                </a:solidFill>
              </a:rPr>
              <a:t>Prediction Drift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80000" y="10476000"/>
            <a:ext cx="3960000" cy="1152000"/>
          </a:xfrm>
          <a:prstGeom prst="rect">
            <a:avLst/>
          </a:prstGeom>
          <a:noFill/>
          <a:ln w="9525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040000" y="10476000"/>
            <a:ext cx="5400000" cy="115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00000"/>
                </a:solidFill>
              </a:rPr>
              <a:t>予測分布の変化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040000" y="10476000"/>
            <a:ext cx="5400000" cy="1152000"/>
          </a:xfrm>
          <a:prstGeom prst="rect">
            <a:avLst/>
          </a:prstGeom>
          <a:noFill/>
          <a:ln w="9525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0440000" y="10476000"/>
            <a:ext cx="4680000" cy="115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00000"/>
                </a:solidFill>
              </a:rPr>
              <a:t>PSI・分布比較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440000" y="10476000"/>
            <a:ext cx="4680000" cy="1152000"/>
          </a:xfrm>
          <a:prstGeom prst="rect">
            <a:avLst/>
          </a:prstGeom>
          <a:noFill/>
          <a:ln w="9525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5120000" y="10476000"/>
            <a:ext cx="5040000" cy="115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00000"/>
                </a:solidFill>
              </a:rPr>
              <a:t>モデル再評価・A/Bテスト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5120000" y="10476000"/>
            <a:ext cx="5040000" cy="1152000"/>
          </a:xfrm>
          <a:prstGeom prst="rect">
            <a:avLst/>
          </a:prstGeom>
          <a:noFill/>
          <a:ln w="9525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