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XAI：SHAP値 + Grad-CAM による説明可能AI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620000"/>
            <a:ext cx="97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SHAP値：特徴量重要度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412000"/>
            <a:ext cx="2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00000"/>
                </a:solidFill>
              </a:rPr>
              <a:t>income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0000" y="2466000"/>
            <a:ext cx="6120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52000" y="2412000"/>
            <a:ext cx="82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0"/>
                </a:solidFill>
              </a:rPr>
              <a:t>+0.85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3096000"/>
            <a:ext cx="2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00000"/>
                </a:solidFill>
              </a:rPr>
              <a:t>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0000" y="3150000"/>
            <a:ext cx="4464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96000" y="3096000"/>
            <a:ext cx="82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0"/>
                </a:solidFill>
              </a:rPr>
              <a:t>+0.62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780000"/>
            <a:ext cx="2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00000"/>
                </a:solidFill>
              </a:rPr>
              <a:t>credit_score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0000" y="3834000"/>
            <a:ext cx="3672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4000" y="3780000"/>
            <a:ext cx="82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0"/>
                </a:solidFill>
              </a:rPr>
              <a:t>+0.51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4464000"/>
            <a:ext cx="2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00000"/>
                </a:solidFill>
              </a:rPr>
              <a:t>num_products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0000" y="4518000"/>
            <a:ext cx="2736000" cy="4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8000" y="4464000"/>
            <a:ext cx="82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13CA6"/>
                </a:solidFill>
              </a:rPr>
              <a:t>+0.38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5148000"/>
            <a:ext cx="2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00000"/>
                </a:solidFill>
              </a:rPr>
              <a:t>balance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0000" y="5202000"/>
            <a:ext cx="2087999" cy="4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0000" y="5148000"/>
            <a:ext cx="82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13CA6"/>
                </a:solidFill>
              </a:rPr>
              <a:t>+0.29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5832000"/>
            <a:ext cx="2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00000"/>
                </a:solidFill>
              </a:rPr>
              <a:t>tenure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64000" y="5886000"/>
            <a:ext cx="1296000" cy="46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4000" y="5832000"/>
            <a:ext cx="82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-0.18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6516000"/>
            <a:ext cx="2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00000"/>
                </a:solidFill>
              </a:rPr>
              <a:t>is_active_member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28000" y="6570000"/>
            <a:ext cx="2232000" cy="46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8000" y="6516000"/>
            <a:ext cx="82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-0.31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" y="7200000"/>
            <a:ext cx="2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00000"/>
                </a:solidFill>
              </a:rPr>
              <a:t>estimated_salary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0000" y="7254000"/>
            <a:ext cx="3240000" cy="46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0000" y="7200000"/>
            <a:ext cx="82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-0.45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0000" y="2340000"/>
            <a:ext cx="18000" cy="5652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0" y="792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824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正の値: 予測を押し上げる特徴 (青)   負の値: 予測を押し下げる特徴 (赤)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60000" y="1620000"/>
            <a:ext cx="97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Grad-CAM：画像の注目領域ヒートマップ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340000" y="2412000"/>
            <a:ext cx="3960000" cy="39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40000" y="2412000"/>
            <a:ext cx="39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入力画像
(例: 猫の写真)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5372000" y="4392000.0"/>
            <a:ext cx="468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5840000" y="241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335000" y="241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830000" y="241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325000" y="241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820000" y="241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315000" y="241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810000" y="241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305000" y="241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840000" y="2907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335000" y="2907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830000" y="2907000"/>
            <a:ext cx="495000" cy="495000"/>
          </a:xfrm>
          <a:prstGeom prst="rect">
            <a:avLst/>
          </a:prstGeom>
          <a:solidFill>
            <a:srgbClr val="2E2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325000" y="2907000"/>
            <a:ext cx="495000" cy="495000"/>
          </a:xfrm>
          <a:prstGeom prst="rect">
            <a:avLst/>
          </a:prstGeom>
          <a:solidFill>
            <a:srgbClr val="62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7820000" y="2907000"/>
            <a:ext cx="495000" cy="495000"/>
          </a:xfrm>
          <a:prstGeom prst="rect">
            <a:avLst/>
          </a:prstGeom>
          <a:solidFill>
            <a:srgbClr val="757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315000" y="2907000"/>
            <a:ext cx="495000" cy="495000"/>
          </a:xfrm>
          <a:prstGeom prst="rect">
            <a:avLst/>
          </a:prstGeom>
          <a:solidFill>
            <a:srgbClr val="62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8810000" y="2907000"/>
            <a:ext cx="495000" cy="495000"/>
          </a:xfrm>
          <a:prstGeom prst="rect">
            <a:avLst/>
          </a:prstGeom>
          <a:solidFill>
            <a:srgbClr val="2E2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05000" y="2907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840000" y="340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335000" y="3402000"/>
            <a:ext cx="495000" cy="495000"/>
          </a:xfrm>
          <a:prstGeom prst="rect">
            <a:avLst/>
          </a:prstGeom>
          <a:solidFill>
            <a:srgbClr val="2E2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830000" y="3402000"/>
            <a:ext cx="495000" cy="495000"/>
          </a:xfrm>
          <a:prstGeom prst="rect">
            <a:avLst/>
          </a:prstGeom>
          <a:solidFill>
            <a:srgbClr val="89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25000" y="3402000"/>
            <a:ext cx="495000" cy="495000"/>
          </a:xfrm>
          <a:prstGeom prst="rect">
            <a:avLst/>
          </a:prstGeom>
          <a:solidFill>
            <a:srgbClr val="CFC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820000" y="3402000"/>
            <a:ext cx="495000" cy="4950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315000" y="3402000"/>
            <a:ext cx="495000" cy="495000"/>
          </a:xfrm>
          <a:prstGeom prst="rect">
            <a:avLst/>
          </a:prstGeom>
          <a:solidFill>
            <a:srgbClr val="CFC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8810000" y="3402000"/>
            <a:ext cx="495000" cy="495000"/>
          </a:xfrm>
          <a:prstGeom prst="rect">
            <a:avLst/>
          </a:prstGeom>
          <a:solidFill>
            <a:srgbClr val="89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9305000" y="3402000"/>
            <a:ext cx="495000" cy="495000"/>
          </a:xfrm>
          <a:prstGeom prst="rect">
            <a:avLst/>
          </a:prstGeom>
          <a:solidFill>
            <a:srgbClr val="2E2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840000" y="3897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335000" y="3897000"/>
            <a:ext cx="495000" cy="495000"/>
          </a:xfrm>
          <a:prstGeom prst="rect">
            <a:avLst/>
          </a:prstGeom>
          <a:solidFill>
            <a:srgbClr val="62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830000" y="3897000"/>
            <a:ext cx="495000" cy="495000"/>
          </a:xfrm>
          <a:prstGeom prst="rect">
            <a:avLst/>
          </a:prstGeom>
          <a:solidFill>
            <a:srgbClr val="CFC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325000" y="3897000"/>
            <a:ext cx="495000" cy="49500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7820000" y="3897000"/>
            <a:ext cx="495000" cy="495000"/>
          </a:xfrm>
          <a:prstGeom prst="rect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8315000" y="3897000"/>
            <a:ext cx="495000" cy="49500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810000" y="3897000"/>
            <a:ext cx="495000" cy="495000"/>
          </a:xfrm>
          <a:prstGeom prst="rect">
            <a:avLst/>
          </a:prstGeom>
          <a:solidFill>
            <a:srgbClr val="CFC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305000" y="3897000"/>
            <a:ext cx="495000" cy="495000"/>
          </a:xfrm>
          <a:prstGeom prst="rect">
            <a:avLst/>
          </a:prstGeom>
          <a:solidFill>
            <a:srgbClr val="62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840000" y="439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335000" y="4392000"/>
            <a:ext cx="495000" cy="495000"/>
          </a:xfrm>
          <a:prstGeom prst="rect">
            <a:avLst/>
          </a:prstGeom>
          <a:solidFill>
            <a:srgbClr val="757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830000" y="4392000"/>
            <a:ext cx="495000" cy="4950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325000" y="4392000"/>
            <a:ext cx="495000" cy="495000"/>
          </a:xfrm>
          <a:prstGeom prst="rect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820000" y="4392000"/>
            <a:ext cx="495000" cy="495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315000" y="4392000"/>
            <a:ext cx="495000" cy="495000"/>
          </a:xfrm>
          <a:prstGeom prst="rect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810000" y="4392000"/>
            <a:ext cx="495000" cy="4950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9305000" y="4392000"/>
            <a:ext cx="495000" cy="495000"/>
          </a:xfrm>
          <a:prstGeom prst="rect">
            <a:avLst/>
          </a:prstGeom>
          <a:solidFill>
            <a:srgbClr val="757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5840000" y="4887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6335000" y="4887000"/>
            <a:ext cx="495000" cy="495000"/>
          </a:xfrm>
          <a:prstGeom prst="rect">
            <a:avLst/>
          </a:prstGeom>
          <a:solidFill>
            <a:srgbClr val="62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6830000" y="4887000"/>
            <a:ext cx="495000" cy="495000"/>
          </a:xfrm>
          <a:prstGeom prst="rect">
            <a:avLst/>
          </a:prstGeom>
          <a:solidFill>
            <a:srgbClr val="CFC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325000" y="4887000"/>
            <a:ext cx="495000" cy="49500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7820000" y="4887000"/>
            <a:ext cx="495000" cy="495000"/>
          </a:xfrm>
          <a:prstGeom prst="rect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315000" y="4887000"/>
            <a:ext cx="495000" cy="49500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810000" y="4887000"/>
            <a:ext cx="495000" cy="495000"/>
          </a:xfrm>
          <a:prstGeom prst="rect">
            <a:avLst/>
          </a:prstGeom>
          <a:solidFill>
            <a:srgbClr val="CFC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9305000" y="4887000"/>
            <a:ext cx="495000" cy="495000"/>
          </a:xfrm>
          <a:prstGeom prst="rect">
            <a:avLst/>
          </a:prstGeom>
          <a:solidFill>
            <a:srgbClr val="62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40000" y="5382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335000" y="5382000"/>
            <a:ext cx="495000" cy="495000"/>
          </a:xfrm>
          <a:prstGeom prst="rect">
            <a:avLst/>
          </a:prstGeom>
          <a:solidFill>
            <a:srgbClr val="2E2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830000" y="5382000"/>
            <a:ext cx="495000" cy="495000"/>
          </a:xfrm>
          <a:prstGeom prst="rect">
            <a:avLst/>
          </a:prstGeom>
          <a:solidFill>
            <a:srgbClr val="89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7325000" y="5382000"/>
            <a:ext cx="495000" cy="495000"/>
          </a:xfrm>
          <a:prstGeom prst="rect">
            <a:avLst/>
          </a:prstGeom>
          <a:solidFill>
            <a:srgbClr val="CFC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7820000" y="5382000"/>
            <a:ext cx="495000" cy="4950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8315000" y="5382000"/>
            <a:ext cx="495000" cy="495000"/>
          </a:xfrm>
          <a:prstGeom prst="rect">
            <a:avLst/>
          </a:prstGeom>
          <a:solidFill>
            <a:srgbClr val="CFC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8810000" y="5382000"/>
            <a:ext cx="495000" cy="495000"/>
          </a:xfrm>
          <a:prstGeom prst="rect">
            <a:avLst/>
          </a:prstGeom>
          <a:solidFill>
            <a:srgbClr val="89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9305000" y="5382000"/>
            <a:ext cx="495000" cy="495000"/>
          </a:xfrm>
          <a:prstGeom prst="rect">
            <a:avLst/>
          </a:prstGeom>
          <a:solidFill>
            <a:srgbClr val="2E2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5840000" y="5877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335000" y="5877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830000" y="5877000"/>
            <a:ext cx="495000" cy="495000"/>
          </a:xfrm>
          <a:prstGeom prst="rect">
            <a:avLst/>
          </a:prstGeom>
          <a:solidFill>
            <a:srgbClr val="2E2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7325000" y="5877000"/>
            <a:ext cx="495000" cy="495000"/>
          </a:xfrm>
          <a:prstGeom prst="rect">
            <a:avLst/>
          </a:prstGeom>
          <a:solidFill>
            <a:srgbClr val="62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7820000" y="5877000"/>
            <a:ext cx="495000" cy="495000"/>
          </a:xfrm>
          <a:prstGeom prst="rect">
            <a:avLst/>
          </a:prstGeom>
          <a:solidFill>
            <a:srgbClr val="757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8315000" y="5877000"/>
            <a:ext cx="495000" cy="495000"/>
          </a:xfrm>
          <a:prstGeom prst="rect">
            <a:avLst/>
          </a:prstGeom>
          <a:solidFill>
            <a:srgbClr val="62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8810000" y="5877000"/>
            <a:ext cx="495000" cy="495000"/>
          </a:xfrm>
          <a:prstGeom prst="rect">
            <a:avLst/>
          </a:prstGeom>
          <a:solidFill>
            <a:srgbClr val="2E2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9305000" y="5877000"/>
            <a:ext cx="495000" cy="495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40000" y="2412000"/>
            <a:ext cx="3960000" cy="3960000"/>
          </a:xfrm>
          <a:prstGeom prst="rect">
            <a:avLst/>
          </a:prstGeom>
          <a:noFill/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840000" y="6444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Grad-CAM
ヒートマップ
(赤=高注目)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980000" y="6174000"/>
            <a:ext cx="251999" cy="19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9980000" y="5976000"/>
            <a:ext cx="251999" cy="198000"/>
          </a:xfrm>
          <a:prstGeom prst="rect">
            <a:avLst/>
          </a:prstGeom>
          <a:solidFill>
            <a:srgbClr val="171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980000" y="5778000"/>
            <a:ext cx="251999" cy="198000"/>
          </a:xfrm>
          <a:prstGeom prst="rect">
            <a:avLst/>
          </a:prstGeom>
          <a:solidFill>
            <a:srgbClr val="2F2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980000" y="5580000"/>
            <a:ext cx="251999" cy="198000"/>
          </a:xfrm>
          <a:prstGeom prst="rect">
            <a:avLst/>
          </a:prstGeom>
          <a:solidFill>
            <a:srgbClr val="464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980000" y="5382000"/>
            <a:ext cx="251999" cy="198000"/>
          </a:xfrm>
          <a:prstGeom prst="rect">
            <a:avLst/>
          </a:prstGeom>
          <a:solidFill>
            <a:srgbClr val="5E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9980000" y="5184000"/>
            <a:ext cx="251999" cy="198000"/>
          </a:xfrm>
          <a:prstGeom prst="rect">
            <a:avLst/>
          </a:prstGeom>
          <a:solidFill>
            <a:srgbClr val="757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9980000" y="4986000"/>
            <a:ext cx="251999" cy="198000"/>
          </a:xfrm>
          <a:prstGeom prst="rect">
            <a:avLst/>
          </a:prstGeom>
          <a:solidFill>
            <a:srgbClr val="8D8D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9980000" y="4788000"/>
            <a:ext cx="251999" cy="198000"/>
          </a:xfrm>
          <a:prstGeom prst="rect">
            <a:avLst/>
          </a:prstGeom>
          <a:solidFill>
            <a:srgbClr val="A4A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980000" y="4590000"/>
            <a:ext cx="251999" cy="198000"/>
          </a:xfrm>
          <a:prstGeom prst="rect">
            <a:avLst/>
          </a:prstGeom>
          <a:solidFill>
            <a:srgbClr val="BCB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9980000" y="4392000"/>
            <a:ext cx="251999" cy="198000"/>
          </a:xfrm>
          <a:prstGeom prst="rect">
            <a:avLst/>
          </a:prstGeom>
          <a:solidFill>
            <a:srgbClr val="D3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9980000" y="4194000"/>
            <a:ext cx="251999" cy="1980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9980000" y="3996000"/>
            <a:ext cx="251999" cy="198000"/>
          </a:xfrm>
          <a:prstGeom prst="rect">
            <a:avLst/>
          </a:prstGeom>
          <a:solidFill>
            <a:srgbClr val="FFD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9980000" y="3798000"/>
            <a:ext cx="251999" cy="1980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9980000" y="3600000"/>
            <a:ext cx="251999" cy="198000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980000" y="3402000"/>
            <a:ext cx="251999" cy="198000"/>
          </a:xfrm>
          <a:prstGeom prst="rect">
            <a:avLst/>
          </a:prstGeom>
          <a:solidFill>
            <a:srgbClr val="FF8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9980000" y="3204000"/>
            <a:ext cx="251999" cy="198000"/>
          </a:xfrm>
          <a:prstGeom prst="rect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9980000" y="3006000"/>
            <a:ext cx="251999" cy="198000"/>
          </a:xfrm>
          <a:prstGeom prst="rect">
            <a:avLst/>
          </a:prstGeom>
          <a:solidFill>
            <a:srgbClr val="FF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9980000" y="2808000"/>
            <a:ext cx="251999" cy="198000"/>
          </a:xfrm>
          <a:prstGeom prst="rect">
            <a:avLst/>
          </a:prstGeom>
          <a:solidFill>
            <a:srgbClr val="FF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9980000" y="2610000"/>
            <a:ext cx="251999" cy="198000"/>
          </a:xfrm>
          <a:prstGeom prst="rect">
            <a:avLst/>
          </a:prstGeom>
          <a:solidFill>
            <a:srgbClr val="FF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9980000" y="2412000"/>
            <a:ext cx="251999" cy="198000"/>
          </a:xfrm>
          <a:prstGeom prst="rect">
            <a:avLst/>
          </a:prstGeom>
          <a:solidFill>
            <a:srgbClr val="FF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0268000" y="2412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高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268000" y="6048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CC"/>
                </a:solidFill>
              </a:rPr>
              <a:t>低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160000" y="7020000"/>
            <a:ext cx="97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Grad-CAM の計算手順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160000" y="7632000"/>
            <a:ext cx="9720000" cy="61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① 対象クラスの予測スコアを選択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160000" y="8280000"/>
            <a:ext cx="9720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② 最終畳み込み層の特徴マップで微分を計算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160000" y="8928000"/>
            <a:ext cx="9720000" cy="61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③ 勾配をGlobal Average Poolingして重みαを取得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160000" y="9576000"/>
            <a:ext cx="9720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④ 特徴マップ×重みαの線形結合 → CAM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160000" y="10224000"/>
            <a:ext cx="9720000" cy="61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⑤ ReLUで正値のみ保持 → 元画像サイズにリサイズ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