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21290400" cy="11973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290400" cy="1197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290400" cy="126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0000" y="216000"/>
            <a:ext cx="20520000" cy="864000"/>
          </a:xfrm>
          <a:prstGeom prst="rect">
            <a:avLst/>
          </a:prstGeom>
          <a:noFill/>
        </p:spPr>
        <p:txBody>
          <a:bodyPr wrap="square">
            <a:spAutoFit/>
          </a:bodyPr>
          <a:lstStyle/>
          <a:p>
            <a:pPr algn="ctr"/>
            <a:r>
              <a:rPr sz="3000" b="1">
                <a:solidFill>
                  <a:srgbClr val="FFFFFF"/>
                </a:solidFill>
              </a:rPr>
              <a:t>MVCC（多版同時実行制御）</a:t>
            </a:r>
          </a:p>
        </p:txBody>
      </p:sp>
      <p:sp>
        <p:nvSpPr>
          <p:cNvPr id="5" name="Rectangle 4"/>
          <p:cNvSpPr/>
          <p:nvPr/>
        </p:nvSpPr>
        <p:spPr>
          <a:xfrm>
            <a:off x="360000" y="1440000"/>
            <a:ext cx="20520000" cy="1260000"/>
          </a:xfrm>
          <a:prstGeom prst="rect">
            <a:avLst/>
          </a:prstGeom>
          <a:solidFill>
            <a:srgbClr val="BDE4FC"/>
          </a:solidFill>
          <a:ln w="19050">
            <a:solidFill>
              <a:srgbClr val="013C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0000" y="1548000"/>
            <a:ext cx="20160000" cy="1080000"/>
          </a:xfrm>
          <a:prstGeom prst="rect">
            <a:avLst/>
          </a:prstGeom>
          <a:noFill/>
        </p:spPr>
        <p:txBody>
          <a:bodyPr wrap="square">
            <a:spAutoFit/>
          </a:bodyPr>
          <a:lstStyle/>
          <a:p>
            <a:pPr algn="l"/>
            <a:r>
              <a:rPr sz="1800" b="0">
                <a:solidFill>
                  <a:srgbClr val="202020"/>
                </a:solidFill>
              </a:rPr>
              <a:t>データの複数バージョンを保持することで読み取りと書き込みが互いをブロックしない並行制御方式。</a:t>
            </a:r>
          </a:p>
        </p:txBody>
      </p:sp>
      <p:sp>
        <p:nvSpPr>
          <p:cNvPr id="7" name="Rectangle 6"/>
          <p:cNvSpPr/>
          <p:nvPr/>
        </p:nvSpPr>
        <p:spPr>
          <a:xfrm>
            <a:off x="360000" y="2880000"/>
            <a:ext cx="6360000" cy="720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000" y="2988000"/>
            <a:ext cx="6360000" cy="540000"/>
          </a:xfrm>
          <a:prstGeom prst="rect">
            <a:avLst/>
          </a:prstGeom>
          <a:noFill/>
        </p:spPr>
        <p:txBody>
          <a:bodyPr wrap="square">
            <a:spAutoFit/>
          </a:bodyPr>
          <a:lstStyle/>
          <a:p>
            <a:pPr algn="ctr"/>
            <a:r>
              <a:rPr sz="2000" b="1">
                <a:solidFill>
                  <a:srgbClr val="FFFFFF"/>
                </a:solidFill>
              </a:rPr>
              <a:t>バージョン管理</a:t>
            </a:r>
          </a:p>
        </p:txBody>
      </p:sp>
      <p:sp>
        <p:nvSpPr>
          <p:cNvPr id="9" name="TextBox 8"/>
          <p:cNvSpPr txBox="1"/>
          <p:nvPr/>
        </p:nvSpPr>
        <p:spPr>
          <a:xfrm>
            <a:off x="360000" y="3528000"/>
            <a:ext cx="6360000" cy="6480000"/>
          </a:xfrm>
          <a:prstGeom prst="rect">
            <a:avLst/>
          </a:prstGeom>
          <a:noFill/>
        </p:spPr>
        <p:txBody>
          <a:bodyPr wrap="square">
            <a:spAutoFit/>
          </a:bodyPr>
          <a:lstStyle/>
          <a:p>
            <a:pPr algn="ctr"/>
            <a:r>
              <a:rPr sz="1600" b="0">
                <a:solidFill>
                  <a:srgbClr val="FFFFFF"/>
                </a:solidFill>
              </a:rPr>
              <a:t>更新時に古い行を残し新しいバージョンを追加。トランザクションのスナップショット時点のバージョンを読む</a:t>
            </a:r>
          </a:p>
        </p:txBody>
      </p:sp>
      <p:sp>
        <p:nvSpPr>
          <p:cNvPr id="10" name="Rectangle 9"/>
          <p:cNvSpPr/>
          <p:nvPr/>
        </p:nvSpPr>
        <p:spPr>
          <a:xfrm>
            <a:off x="7080000" y="2880000"/>
            <a:ext cx="6360000" cy="7200000"/>
          </a:xfrm>
          <a:prstGeom prst="rect">
            <a:avLst/>
          </a:prstGeom>
          <a:solidFill>
            <a:srgbClr val="015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0000" y="2988000"/>
            <a:ext cx="6360000" cy="540000"/>
          </a:xfrm>
          <a:prstGeom prst="rect">
            <a:avLst/>
          </a:prstGeom>
          <a:noFill/>
        </p:spPr>
        <p:txBody>
          <a:bodyPr wrap="square">
            <a:spAutoFit/>
          </a:bodyPr>
          <a:lstStyle/>
          <a:p>
            <a:pPr algn="ctr"/>
            <a:r>
              <a:rPr sz="2000" b="1">
                <a:solidFill>
                  <a:srgbClr val="FFFFFF"/>
                </a:solidFill>
              </a:rPr>
              <a:t>Read-Write 非ブロック</a:t>
            </a:r>
          </a:p>
        </p:txBody>
      </p:sp>
      <p:sp>
        <p:nvSpPr>
          <p:cNvPr id="12" name="TextBox 11"/>
          <p:cNvSpPr txBox="1"/>
          <p:nvPr/>
        </p:nvSpPr>
        <p:spPr>
          <a:xfrm>
            <a:off x="7080000" y="3528000"/>
            <a:ext cx="6360000" cy="6480000"/>
          </a:xfrm>
          <a:prstGeom prst="rect">
            <a:avLst/>
          </a:prstGeom>
          <a:noFill/>
        </p:spPr>
        <p:txBody>
          <a:bodyPr wrap="square">
            <a:spAutoFit/>
          </a:bodyPr>
          <a:lstStyle/>
          <a:p>
            <a:pPr algn="ctr"/>
            <a:r>
              <a:rPr sz="1600" b="0">
                <a:solidFill>
                  <a:srgbClr val="FFFFFF"/>
                </a:solidFill>
              </a:rPr>
              <a:t>読み取りは書き込みをブロックせず、書き込みも読み取りをブロックしない。高い並行性を実現</a:t>
            </a:r>
          </a:p>
        </p:txBody>
      </p:sp>
      <p:sp>
        <p:nvSpPr>
          <p:cNvPr id="13" name="Rectangle 12"/>
          <p:cNvSpPr/>
          <p:nvPr/>
        </p:nvSpPr>
        <p:spPr>
          <a:xfrm>
            <a:off x="13800000" y="2880000"/>
            <a:ext cx="6360000" cy="7200000"/>
          </a:xfrm>
          <a:prstGeom prst="rect">
            <a:avLst/>
          </a:prstGeom>
          <a:solidFill>
            <a:srgbClr val="EBA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800000" y="2988000"/>
            <a:ext cx="6360000" cy="540000"/>
          </a:xfrm>
          <a:prstGeom prst="rect">
            <a:avLst/>
          </a:prstGeom>
          <a:noFill/>
        </p:spPr>
        <p:txBody>
          <a:bodyPr wrap="square">
            <a:spAutoFit/>
          </a:bodyPr>
          <a:lstStyle/>
          <a:p>
            <a:pPr algn="ctr"/>
            <a:r>
              <a:rPr sz="2000" b="1">
                <a:solidFill>
                  <a:srgbClr val="FFFFFF"/>
                </a:solidFill>
              </a:rPr>
              <a:t>Vacuum/Purge</a:t>
            </a:r>
          </a:p>
        </p:txBody>
      </p:sp>
      <p:sp>
        <p:nvSpPr>
          <p:cNvPr id="15" name="TextBox 14"/>
          <p:cNvSpPr txBox="1"/>
          <p:nvPr/>
        </p:nvSpPr>
        <p:spPr>
          <a:xfrm>
            <a:off x="13800000" y="3528000"/>
            <a:ext cx="6360000" cy="6480000"/>
          </a:xfrm>
          <a:prstGeom prst="rect">
            <a:avLst/>
          </a:prstGeom>
          <a:noFill/>
        </p:spPr>
        <p:txBody>
          <a:bodyPr wrap="square">
            <a:spAutoFit/>
          </a:bodyPr>
          <a:lstStyle/>
          <a:p>
            <a:pPr algn="ctr"/>
            <a:r>
              <a:rPr sz="1600" b="0">
                <a:solidFill>
                  <a:srgbClr val="FFFFFF"/>
                </a:solidFill>
              </a:rPr>
              <a:t>古いバージョンはGCやVacuumで定期削除。PostgreSQLはVacuumで不要タプルを回収</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13CA6"/>
      </a:dk2>
      <a:lt2>
        <a:srgbClr val="F3FAFE"/>
      </a:lt2>
      <a:accent1>
        <a:srgbClr val="013CA6"/>
      </a:accent1>
      <a:accent2>
        <a:srgbClr val="BDE4FC"/>
      </a:accent2>
      <a:accent3>
        <a:srgbClr val="F3FAFE"/>
      </a:accent3>
      <a:accent4>
        <a:srgbClr val="EBA81A"/>
      </a:accent4>
      <a:accent5>
        <a:srgbClr val="00B050"/>
      </a:accent5>
      <a:accent6>
        <a:srgbClr val="FF0000"/>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