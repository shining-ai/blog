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202104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Ford-Fulkerson法 — 増加路を繰り返し発見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368000"/>
            <a:ext cx="1368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000" y="1368000"/>
            <a:ext cx="1339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ネットワーク（容量）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160000" y="3240000"/>
            <a:ext cx="3600000" cy="216000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780000" y="3816001"/>
            <a:ext cx="5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BA81A"/>
                </a:solidFill>
              </a:rPr>
              <a:t>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60000" y="5400000"/>
            <a:ext cx="3600000" cy="216000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80000" y="5976001"/>
            <a:ext cx="5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BA81A"/>
                </a:solidFill>
              </a:rPr>
              <a:t>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60000" y="3240000"/>
            <a:ext cx="3600000" cy="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80000" y="2736001"/>
            <a:ext cx="5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BA81A"/>
                </a:solidFill>
              </a:rPr>
              <a:t>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0" y="3240000"/>
            <a:ext cx="3600000" cy="432000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80000" y="4896001"/>
            <a:ext cx="5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BA81A"/>
                </a:solidFill>
              </a:rPr>
              <a:t>4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5760000" y="3240000"/>
            <a:ext cx="3600000" cy="432000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80000" y="4896001"/>
            <a:ext cx="5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BA81A"/>
                </a:solidFill>
              </a:rPr>
              <a:t>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60000" y="7560000"/>
            <a:ext cx="3600000" cy="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80000" y="7056001"/>
            <a:ext cx="5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BA81A"/>
                </a:solidFill>
              </a:rPr>
              <a:t>7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60000" y="3240000"/>
            <a:ext cx="3600000" cy="216000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980000" y="3816001"/>
            <a:ext cx="5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BA81A"/>
                </a:solidFill>
              </a:rPr>
              <a:t>9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9360000" y="5400000"/>
            <a:ext cx="3600000" cy="216000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980000" y="5976001"/>
            <a:ext cx="5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BA81A"/>
                </a:solidFill>
              </a:rPr>
              <a:t>6</a:t>
            </a:r>
          </a:p>
        </p:txBody>
      </p:sp>
      <p:sp>
        <p:nvSpPr>
          <p:cNvPr id="22" name="Oval 21"/>
          <p:cNvSpPr/>
          <p:nvPr/>
        </p:nvSpPr>
        <p:spPr>
          <a:xfrm>
            <a:off x="1692000" y="4932000"/>
            <a:ext cx="936000" cy="936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92000" y="5049000"/>
            <a:ext cx="936000" cy="70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4" name="Oval 23"/>
          <p:cNvSpPr/>
          <p:nvPr/>
        </p:nvSpPr>
        <p:spPr>
          <a:xfrm>
            <a:off x="5292000" y="2772000"/>
            <a:ext cx="936000" cy="936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2000" y="2889000"/>
            <a:ext cx="936000" cy="70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26" name="Oval 25"/>
          <p:cNvSpPr/>
          <p:nvPr/>
        </p:nvSpPr>
        <p:spPr>
          <a:xfrm>
            <a:off x="5292000" y="7092000"/>
            <a:ext cx="936000" cy="936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92000" y="7209000"/>
            <a:ext cx="936000" cy="70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28" name="Oval 27"/>
          <p:cNvSpPr/>
          <p:nvPr/>
        </p:nvSpPr>
        <p:spPr>
          <a:xfrm>
            <a:off x="8892000" y="2772000"/>
            <a:ext cx="936000" cy="936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92000" y="2889000"/>
            <a:ext cx="936000" cy="70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0" name="Oval 29"/>
          <p:cNvSpPr/>
          <p:nvPr/>
        </p:nvSpPr>
        <p:spPr>
          <a:xfrm>
            <a:off x="8892000" y="7092000"/>
            <a:ext cx="936000" cy="936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92000" y="7209000"/>
            <a:ext cx="936000" cy="70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32" name="Oval 31"/>
          <p:cNvSpPr/>
          <p:nvPr/>
        </p:nvSpPr>
        <p:spPr>
          <a:xfrm>
            <a:off x="12492000" y="4932000"/>
            <a:ext cx="936000" cy="936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492000" y="5049000"/>
            <a:ext cx="936000" cy="70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760000" y="1368000"/>
            <a:ext cx="576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904000" y="1368000"/>
            <a:ext cx="547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増加路探索ステップ</a:t>
            </a:r>
          </a:p>
        </p:txBody>
      </p:sp>
      <p:sp>
        <p:nvSpPr>
          <p:cNvPr id="36" name="Oval 35"/>
          <p:cNvSpPr/>
          <p:nvPr/>
        </p:nvSpPr>
        <p:spPr>
          <a:xfrm>
            <a:off x="14382000" y="2033999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382000" y="2110499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120000" y="2015999"/>
            <a:ext cx="43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増加路1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120000" y="2555999"/>
            <a:ext cx="504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S→A→C→T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120000" y="3095999"/>
            <a:ext cx="43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0B050"/>
                </a:solidFill>
              </a:rPr>
              <a:t>flow: +6</a:t>
            </a:r>
          </a:p>
        </p:txBody>
      </p:sp>
      <p:sp>
        <p:nvSpPr>
          <p:cNvPr id="41" name="Oval 40"/>
          <p:cNvSpPr/>
          <p:nvPr/>
        </p:nvSpPr>
        <p:spPr>
          <a:xfrm>
            <a:off x="14382000" y="3653999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382000" y="3730499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120000" y="3635999"/>
            <a:ext cx="43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増加路2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120000" y="4175999"/>
            <a:ext cx="504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S→A→D→T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120000" y="4715999"/>
            <a:ext cx="43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0B050"/>
                </a:solidFill>
              </a:rPr>
              <a:t>flow: +4</a:t>
            </a:r>
          </a:p>
        </p:txBody>
      </p:sp>
      <p:sp>
        <p:nvSpPr>
          <p:cNvPr id="46" name="Oval 45"/>
          <p:cNvSpPr/>
          <p:nvPr/>
        </p:nvSpPr>
        <p:spPr>
          <a:xfrm>
            <a:off x="14382000" y="5273999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382000" y="5350499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120000" y="5255999"/>
            <a:ext cx="43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増加路3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120000" y="5795999"/>
            <a:ext cx="504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S→B→D→T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120000" y="6335999"/>
            <a:ext cx="43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0B050"/>
                </a:solidFill>
              </a:rPr>
              <a:t>flow: +2</a:t>
            </a:r>
          </a:p>
        </p:txBody>
      </p:sp>
      <p:sp>
        <p:nvSpPr>
          <p:cNvPr id="51" name="Oval 50"/>
          <p:cNvSpPr/>
          <p:nvPr/>
        </p:nvSpPr>
        <p:spPr>
          <a:xfrm>
            <a:off x="14382000" y="6893999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382000" y="6970499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120000" y="6875999"/>
            <a:ext cx="43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増加路4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120000" y="7415999"/>
            <a:ext cx="504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S→B→C→T (残余)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120000" y="7955999"/>
            <a:ext cx="43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0B050"/>
                </a:solidFill>
              </a:rPr>
              <a:t>flow: +3</a:t>
            </a:r>
          </a:p>
        </p:txBody>
      </p:sp>
      <p:sp>
        <p:nvSpPr>
          <p:cNvPr id="56" name="Oval 55"/>
          <p:cNvSpPr/>
          <p:nvPr/>
        </p:nvSpPr>
        <p:spPr>
          <a:xfrm>
            <a:off x="14382000" y="8513999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4382000" y="8590499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120000" y="8495999"/>
            <a:ext cx="43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増加路なし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120000" y="9035999"/>
            <a:ext cx="504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最大フロー = 15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4760000" y="10620000"/>
            <a:ext cx="576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4868000" y="10674000"/>
            <a:ext cx="5544000" cy="89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残余グラフ: 逆辺でフローのキャンセルが可能
最大流 = 最小カット（最大流最小カット定理）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