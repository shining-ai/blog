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3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-124" y="-10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64000" y="1399613"/>
            <a:ext cx="6912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/>
              <a:t>グラフ</a:t>
            </a:r>
          </a:p>
        </p:txBody>
      </p:sp>
      <p:cxnSp>
        <p:nvCxnSpPr>
          <p:cNvPr id="6" name="Connector 5"/>
          <p:cNvCxnSpPr>
            <a:stCxn id="10" idx="3"/>
            <a:endCxn id="12" idx="0"/>
          </p:cNvCxnSpPr>
          <p:nvPr/>
        </p:nvCxnSpPr>
        <p:spPr>
          <a:xfrm flipH="1">
            <a:off x="2512777" y="3561643"/>
            <a:ext cx="1257135" cy="1598162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stCxn id="10" idx="5"/>
            <a:endCxn id="14" idx="0"/>
          </p:cNvCxnSpPr>
          <p:nvPr/>
        </p:nvCxnSpPr>
        <p:spPr>
          <a:xfrm>
            <a:off x="4533588" y="3561643"/>
            <a:ext cx="1257135" cy="1598162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12" idx="3"/>
            <a:endCxn id="16" idx="0"/>
          </p:cNvCxnSpPr>
          <p:nvPr/>
        </p:nvCxnSpPr>
        <p:spPr>
          <a:xfrm flipH="1">
            <a:off x="1420129" y="6081643"/>
            <a:ext cx="710810" cy="1598162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12" idx="5"/>
            <a:endCxn id="18" idx="0"/>
          </p:cNvCxnSpPr>
          <p:nvPr/>
        </p:nvCxnSpPr>
        <p:spPr>
          <a:xfrm>
            <a:off x="2894615" y="6081643"/>
            <a:ext cx="710810" cy="1598162"/>
          </a:xfrm>
          <a:prstGeom prst="line">
            <a:avLst/>
          </a:prstGeom>
          <a:ln w="317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611750" y="2639805"/>
            <a:ext cx="1080000" cy="108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/>
              <a:t>A</a:t>
            </a:r>
            <a:endParaRPr sz="4400" dirty="0"/>
          </a:p>
        </p:txBody>
      </p:sp>
      <p:sp>
        <p:nvSpPr>
          <p:cNvPr id="12" name="Oval 11"/>
          <p:cNvSpPr/>
          <p:nvPr/>
        </p:nvSpPr>
        <p:spPr>
          <a:xfrm>
            <a:off x="1972777" y="5159805"/>
            <a:ext cx="1080000" cy="108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/>
              <a:t>B</a:t>
            </a:r>
            <a:endParaRPr sz="4400" dirty="0"/>
          </a:p>
        </p:txBody>
      </p:sp>
      <p:sp>
        <p:nvSpPr>
          <p:cNvPr id="14" name="Oval 13"/>
          <p:cNvSpPr/>
          <p:nvPr/>
        </p:nvSpPr>
        <p:spPr>
          <a:xfrm>
            <a:off x="5250723" y="5159805"/>
            <a:ext cx="1080000" cy="108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/>
              <a:t>C</a:t>
            </a:r>
            <a:endParaRPr sz="4400" dirty="0"/>
          </a:p>
        </p:txBody>
      </p:sp>
      <p:sp>
        <p:nvSpPr>
          <p:cNvPr id="16" name="Oval 15"/>
          <p:cNvSpPr/>
          <p:nvPr/>
        </p:nvSpPr>
        <p:spPr>
          <a:xfrm>
            <a:off x="880129" y="7679805"/>
            <a:ext cx="1080000" cy="108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/>
              <a:t>D</a:t>
            </a:r>
            <a:endParaRPr sz="4400" dirty="0"/>
          </a:p>
        </p:txBody>
      </p:sp>
      <p:sp>
        <p:nvSpPr>
          <p:cNvPr id="18" name="Oval 17"/>
          <p:cNvSpPr/>
          <p:nvPr/>
        </p:nvSpPr>
        <p:spPr>
          <a:xfrm>
            <a:off x="3065425" y="7679805"/>
            <a:ext cx="1080000" cy="1080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dirty="0" smtClean="0"/>
              <a:t>E</a:t>
            </a:r>
            <a:endParaRPr sz="4400" dirty="0"/>
          </a:p>
        </p:txBody>
      </p:sp>
      <p:sp>
        <p:nvSpPr>
          <p:cNvPr id="20" name="TextBox 19"/>
          <p:cNvSpPr txBox="1"/>
          <p:nvPr/>
        </p:nvSpPr>
        <p:spPr>
          <a:xfrm>
            <a:off x="4719897" y="2948973"/>
            <a:ext cx="1007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chemeClr val="tx2"/>
                </a:solidFill>
              </a:rPr>
              <a:t>訪問1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3597" y="5468973"/>
            <a:ext cx="1007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chemeClr val="tx2"/>
                </a:solidFill>
              </a:rPr>
              <a:t>訪問2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130" y="8871455"/>
            <a:ext cx="1007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chemeClr val="tx2"/>
                </a:solidFill>
              </a:rPr>
              <a:t>訪問3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3903" y="8871455"/>
            <a:ext cx="1007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chemeClr val="tx2"/>
                </a:solidFill>
              </a:rPr>
              <a:t>訪問4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8411" y="5468973"/>
            <a:ext cx="1007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chemeClr val="tx2"/>
                </a:solidFill>
              </a:rPr>
              <a:t>訪問5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399613"/>
            <a:ext cx="11232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 dirty="0"/>
              <a:t>スタックの変化</a:t>
            </a:r>
          </a:p>
        </p:txBody>
      </p:sp>
      <p:sp>
        <p:nvSpPr>
          <p:cNvPr id="27" name="Oval 26"/>
          <p:cNvSpPr/>
          <p:nvPr/>
        </p:nvSpPr>
        <p:spPr>
          <a:xfrm>
            <a:off x="9624080" y="2791034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24080" y="2867534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0366" y="2619981"/>
            <a:ext cx="479160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800" b="1" dirty="0" smtClean="0">
                <a:solidFill>
                  <a:srgbClr val="013CA6"/>
                </a:solidFill>
              </a:rPr>
              <a:t>A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をスタックに入れる</a:t>
            </a:r>
            <a:endParaRPr lang="en-US" altLang="ja-JP" sz="2800" b="1" dirty="0" smtClean="0">
              <a:solidFill>
                <a:srgbClr val="013CA6"/>
              </a:solidFill>
            </a:endParaRPr>
          </a:p>
          <a:p>
            <a:pPr algn="l"/>
            <a:r>
              <a:rPr lang="en-US" altLang="ja-JP" sz="2800" b="1" dirty="0" smtClean="0">
                <a:solidFill>
                  <a:srgbClr val="013CA6"/>
                </a:solidFill>
              </a:rPr>
              <a:t>(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探索開始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  <a:endParaRPr sz="2800" b="1" dirty="0">
              <a:solidFill>
                <a:srgbClr val="013CA6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6013089" y="2827034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 smtClean="0">
                <a:solidFill>
                  <a:schemeClr val="tx1"/>
                </a:solidFill>
              </a:rPr>
              <a:t>A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60" name="Oval 59"/>
          <p:cNvSpPr/>
          <p:nvPr/>
        </p:nvSpPr>
        <p:spPr>
          <a:xfrm>
            <a:off x="9624080" y="9937676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24080" y="10014176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30366" y="9982067"/>
            <a:ext cx="4791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C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</a:t>
            </a:r>
            <a:r>
              <a:rPr lang="ja-JP" altLang="en-US" sz="2800" b="1" dirty="0">
                <a:solidFill>
                  <a:srgbClr val="013CA6"/>
                </a:solidFill>
              </a:rPr>
              <a:t>訪問</a:t>
            </a:r>
            <a:r>
              <a:rPr lang="en-US" altLang="ja-JP" sz="2800" b="1" dirty="0">
                <a:solidFill>
                  <a:srgbClr val="013CA6"/>
                </a:solidFill>
              </a:rPr>
              <a:t>(pop)</a:t>
            </a:r>
            <a:endParaRPr lang="en-US" altLang="ja-JP" sz="2800" b="1" dirty="0">
              <a:solidFill>
                <a:srgbClr val="013CA6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5883877" y="9973676"/>
            <a:ext cx="134119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dirty="0">
                <a:solidFill>
                  <a:srgbClr val="808080"/>
                </a:solidFill>
              </a:rPr>
              <a:t>（空）</a:t>
            </a:r>
          </a:p>
        </p:txBody>
      </p:sp>
      <p:sp>
        <p:nvSpPr>
          <p:cNvPr id="32" name="Oval 31"/>
          <p:cNvSpPr/>
          <p:nvPr/>
        </p:nvSpPr>
        <p:spPr>
          <a:xfrm>
            <a:off x="9624080" y="4268305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24080" y="4344805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30366" y="3881808"/>
            <a:ext cx="4791600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ja-JP" sz="2800" b="1" dirty="0" smtClean="0">
                <a:solidFill>
                  <a:srgbClr val="013CA6"/>
                </a:solidFill>
              </a:rPr>
              <a:t>A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を訪問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</a:t>
            </a:r>
            <a:r>
              <a:rPr lang="en-US" altLang="ja-JP" sz="2800" b="1" dirty="0">
                <a:solidFill>
                  <a:srgbClr val="013CA6"/>
                </a:solidFill>
              </a:rPr>
              <a:t>pop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</a:p>
          <a:p>
            <a:pPr algn="l"/>
            <a:r>
              <a:rPr lang="ja-JP" altLang="en-US" sz="2800" b="1" dirty="0" smtClean="0">
                <a:solidFill>
                  <a:srgbClr val="013CA6"/>
                </a:solidFill>
              </a:rPr>
              <a:t>子を次の訪問先とする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(push)</a:t>
            </a:r>
            <a:endParaRPr sz="2800" b="1" dirty="0">
              <a:solidFill>
                <a:srgbClr val="013CA6"/>
              </a:solidFill>
            </a:endParaRPr>
          </a:p>
        </p:txBody>
      </p:sp>
      <p:sp>
        <p:nvSpPr>
          <p:cNvPr id="66" name="Rectangle 34"/>
          <p:cNvSpPr/>
          <p:nvPr/>
        </p:nvSpPr>
        <p:spPr>
          <a:xfrm>
            <a:off x="16013089" y="4304305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C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67" name="Rectangle 34"/>
          <p:cNvSpPr/>
          <p:nvPr/>
        </p:nvSpPr>
        <p:spPr>
          <a:xfrm>
            <a:off x="17017932" y="4304305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 smtClean="0">
                <a:solidFill>
                  <a:schemeClr val="tx1"/>
                </a:solidFill>
              </a:rPr>
              <a:t>B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9624080" y="5745576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24080" y="5822076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0366" y="5359079"/>
            <a:ext cx="4791600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ja-JP" sz="2800" b="1" dirty="0" smtClean="0">
                <a:solidFill>
                  <a:srgbClr val="013CA6"/>
                </a:solidFill>
              </a:rPr>
              <a:t>B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を訪問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(pop)</a:t>
            </a:r>
          </a:p>
          <a:p>
            <a:r>
              <a:rPr lang="ja-JP" altLang="en-US" sz="2800" b="1" dirty="0">
                <a:solidFill>
                  <a:srgbClr val="013CA6"/>
                </a:solidFill>
              </a:rPr>
              <a:t>子を次の訪問先とする</a:t>
            </a:r>
            <a:r>
              <a:rPr lang="en-US" altLang="ja-JP" sz="2800" b="1" dirty="0">
                <a:solidFill>
                  <a:srgbClr val="013CA6"/>
                </a:solidFill>
              </a:rPr>
              <a:t>(push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  <a:endParaRPr lang="en-US" altLang="ja-JP" sz="2800" b="1" dirty="0">
              <a:solidFill>
                <a:srgbClr val="013CA6"/>
              </a:solidFill>
            </a:endParaRPr>
          </a:p>
        </p:txBody>
      </p:sp>
      <p:sp>
        <p:nvSpPr>
          <p:cNvPr id="68" name="Rectangle 34"/>
          <p:cNvSpPr/>
          <p:nvPr/>
        </p:nvSpPr>
        <p:spPr>
          <a:xfrm>
            <a:off x="16013089" y="5781576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C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69" name="Rectangle 34"/>
          <p:cNvSpPr/>
          <p:nvPr/>
        </p:nvSpPr>
        <p:spPr>
          <a:xfrm>
            <a:off x="17031508" y="5781576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 smtClean="0">
                <a:solidFill>
                  <a:schemeClr val="tx1"/>
                </a:solidFill>
              </a:rPr>
              <a:t>E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70" name="Rectangle 34"/>
          <p:cNvSpPr/>
          <p:nvPr/>
        </p:nvSpPr>
        <p:spPr>
          <a:xfrm>
            <a:off x="18037400" y="5781576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D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9624080" y="7174904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24080" y="7251404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30366" y="7219295"/>
            <a:ext cx="4791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D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</a:t>
            </a:r>
            <a:r>
              <a:rPr lang="ja-JP" altLang="en-US" sz="2800" b="1" dirty="0">
                <a:solidFill>
                  <a:srgbClr val="013CA6"/>
                </a:solidFill>
              </a:rPr>
              <a:t>訪問</a:t>
            </a:r>
            <a:r>
              <a:rPr lang="en-US" altLang="ja-JP" sz="2800" b="1" dirty="0">
                <a:solidFill>
                  <a:srgbClr val="013CA6"/>
                </a:solidFill>
              </a:rPr>
              <a:t>(pop</a:t>
            </a:r>
            <a:r>
              <a:rPr lang="en-US" altLang="ja-JP" sz="2800" b="1" dirty="0" smtClean="0">
                <a:solidFill>
                  <a:srgbClr val="013CA6"/>
                </a:solidFill>
              </a:rPr>
              <a:t>)</a:t>
            </a:r>
            <a:endParaRPr lang="en-US" altLang="ja-JP" sz="2800" b="1" dirty="0">
              <a:solidFill>
                <a:srgbClr val="013CA6"/>
              </a:solidFill>
            </a:endParaRPr>
          </a:p>
        </p:txBody>
      </p:sp>
      <p:sp>
        <p:nvSpPr>
          <p:cNvPr id="71" name="Rectangle 34"/>
          <p:cNvSpPr/>
          <p:nvPr/>
        </p:nvSpPr>
        <p:spPr>
          <a:xfrm>
            <a:off x="16013089" y="7210904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C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72" name="Rectangle 34"/>
          <p:cNvSpPr/>
          <p:nvPr/>
        </p:nvSpPr>
        <p:spPr>
          <a:xfrm>
            <a:off x="17044033" y="7210904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 smtClean="0">
                <a:solidFill>
                  <a:schemeClr val="tx1"/>
                </a:solidFill>
              </a:rPr>
              <a:t>E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9624080" y="8556289"/>
            <a:ext cx="612000" cy="612000"/>
          </a:xfrm>
          <a:prstGeom prst="ellipse">
            <a:avLst/>
          </a:prstGeom>
          <a:solidFill>
            <a:srgbClr val="013CA6"/>
          </a:solidFill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24080" y="8632789"/>
            <a:ext cx="612000" cy="45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30366" y="8600680"/>
            <a:ext cx="4791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ja-JP" sz="2800" b="1" dirty="0" smtClean="0">
                <a:solidFill>
                  <a:srgbClr val="013CA6"/>
                </a:solidFill>
              </a:rPr>
              <a:t>E</a:t>
            </a:r>
            <a:r>
              <a:rPr lang="ja-JP" altLang="en-US" sz="2800" b="1" dirty="0" smtClean="0">
                <a:solidFill>
                  <a:srgbClr val="013CA6"/>
                </a:solidFill>
              </a:rPr>
              <a:t>を</a:t>
            </a:r>
            <a:r>
              <a:rPr lang="ja-JP" altLang="en-US" sz="2800" b="1" dirty="0">
                <a:solidFill>
                  <a:srgbClr val="013CA6"/>
                </a:solidFill>
              </a:rPr>
              <a:t>訪問</a:t>
            </a:r>
            <a:r>
              <a:rPr lang="en-US" altLang="ja-JP" sz="2800" b="1" dirty="0">
                <a:solidFill>
                  <a:srgbClr val="013CA6"/>
                </a:solidFill>
              </a:rPr>
              <a:t>(pop)</a:t>
            </a:r>
            <a:endParaRPr lang="en-US" altLang="ja-JP" sz="2800" b="1" dirty="0">
              <a:solidFill>
                <a:srgbClr val="013CA6"/>
              </a:solidFill>
            </a:endParaRPr>
          </a:p>
        </p:txBody>
      </p:sp>
      <p:sp>
        <p:nvSpPr>
          <p:cNvPr id="73" name="Rectangle 34"/>
          <p:cNvSpPr/>
          <p:nvPr/>
        </p:nvSpPr>
        <p:spPr>
          <a:xfrm>
            <a:off x="16013089" y="8592289"/>
            <a:ext cx="1005893" cy="54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</a:rPr>
              <a:t>C</a:t>
            </a:r>
            <a:endParaRPr sz="3600" dirty="0">
              <a:solidFill>
                <a:schemeClr val="tx1"/>
              </a:solidFill>
            </a:endParaRPr>
          </a:p>
        </p:txBody>
      </p:sp>
      <p:cxnSp>
        <p:nvCxnSpPr>
          <p:cNvPr id="92" name="直線矢印コネクタ 91"/>
          <p:cNvCxnSpPr/>
          <p:nvPr/>
        </p:nvCxnSpPr>
        <p:spPr>
          <a:xfrm flipH="1">
            <a:off x="1153259" y="6055898"/>
            <a:ext cx="708793" cy="1539197"/>
          </a:xfrm>
          <a:prstGeom prst="straightConnector1">
            <a:avLst/>
          </a:prstGeom>
          <a:ln>
            <a:solidFill>
              <a:srgbClr val="013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93"/>
          <p:cNvCxnSpPr/>
          <p:nvPr/>
        </p:nvCxnSpPr>
        <p:spPr>
          <a:xfrm>
            <a:off x="2713447" y="6357576"/>
            <a:ext cx="562751" cy="1274500"/>
          </a:xfrm>
          <a:prstGeom prst="straightConnector1">
            <a:avLst/>
          </a:prstGeom>
          <a:ln>
            <a:solidFill>
              <a:srgbClr val="013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/>
          <p:cNvCxnSpPr/>
          <p:nvPr/>
        </p:nvCxnSpPr>
        <p:spPr>
          <a:xfrm>
            <a:off x="4451561" y="3860691"/>
            <a:ext cx="1012058" cy="1274500"/>
          </a:xfrm>
          <a:prstGeom prst="straightConnector1">
            <a:avLst/>
          </a:prstGeom>
          <a:ln>
            <a:solidFill>
              <a:srgbClr val="013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/>
          <p:cNvCxnSpPr/>
          <p:nvPr/>
        </p:nvCxnSpPr>
        <p:spPr>
          <a:xfrm flipH="1">
            <a:off x="2848202" y="3789850"/>
            <a:ext cx="1094524" cy="1393167"/>
          </a:xfrm>
          <a:prstGeom prst="straightConnector1">
            <a:avLst/>
          </a:prstGeom>
          <a:ln>
            <a:solidFill>
              <a:srgbClr val="013CA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/>
          <p:cNvCxnSpPr/>
          <p:nvPr/>
        </p:nvCxnSpPr>
        <p:spPr>
          <a:xfrm flipH="1">
            <a:off x="2340606" y="3573065"/>
            <a:ext cx="1094524" cy="1393167"/>
          </a:xfrm>
          <a:prstGeom prst="straightConnector1">
            <a:avLst/>
          </a:prstGeom>
          <a:ln>
            <a:solidFill>
              <a:srgbClr val="013C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/>
          <p:cNvCxnSpPr/>
          <p:nvPr/>
        </p:nvCxnSpPr>
        <p:spPr>
          <a:xfrm flipH="1">
            <a:off x="1748188" y="6508852"/>
            <a:ext cx="532526" cy="1156422"/>
          </a:xfrm>
          <a:prstGeom prst="straightConnector1">
            <a:avLst/>
          </a:prstGeom>
          <a:ln>
            <a:solidFill>
              <a:srgbClr val="013CA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/>
          <p:cNvCxnSpPr/>
          <p:nvPr/>
        </p:nvCxnSpPr>
        <p:spPr>
          <a:xfrm>
            <a:off x="3191332" y="6206405"/>
            <a:ext cx="562751" cy="1274500"/>
          </a:xfrm>
          <a:prstGeom prst="straightConnector1">
            <a:avLst/>
          </a:prstGeom>
          <a:ln>
            <a:solidFill>
              <a:srgbClr val="013CA6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21"/>
          <p:cNvSpPr txBox="1"/>
          <p:nvPr/>
        </p:nvSpPr>
        <p:spPr>
          <a:xfrm>
            <a:off x="540000" y="9476011"/>
            <a:ext cx="1623393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ja-JP" altLang="en-US" b="1" dirty="0" smtClean="0">
                <a:solidFill>
                  <a:schemeClr val="tx2"/>
                </a:solidFill>
              </a:rPr>
              <a:t>これ以上</a:t>
            </a:r>
            <a:endParaRPr lang="en-US" altLang="ja-JP" b="1" dirty="0" smtClean="0">
              <a:solidFill>
                <a:schemeClr val="tx2"/>
              </a:solidFill>
            </a:endParaRPr>
          </a:p>
          <a:p>
            <a:pPr algn="ctr"/>
            <a:r>
              <a:rPr lang="ja-JP" altLang="en-US" b="1" dirty="0" smtClean="0">
                <a:solidFill>
                  <a:schemeClr val="tx2"/>
                </a:solidFill>
              </a:rPr>
              <a:t>進めないので</a:t>
            </a:r>
            <a:endParaRPr lang="en-US" altLang="ja-JP" b="1" dirty="0" smtClean="0">
              <a:solidFill>
                <a:schemeClr val="tx2"/>
              </a:solidFill>
            </a:endParaRPr>
          </a:p>
          <a:p>
            <a:pPr algn="ctr"/>
            <a:r>
              <a:rPr lang="ja-JP" altLang="en-US" b="1" dirty="0" smtClean="0">
                <a:solidFill>
                  <a:schemeClr val="tx2"/>
                </a:solidFill>
              </a:rPr>
              <a:t>戻る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105" name="TextBox 21"/>
          <p:cNvSpPr txBox="1"/>
          <p:nvPr/>
        </p:nvSpPr>
        <p:spPr>
          <a:xfrm>
            <a:off x="3014457" y="9476011"/>
            <a:ext cx="1623393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ja-JP" altLang="en-US" b="1" dirty="0" smtClean="0">
                <a:solidFill>
                  <a:schemeClr val="tx2"/>
                </a:solidFill>
              </a:rPr>
              <a:t>これ以上</a:t>
            </a:r>
            <a:endParaRPr lang="en-US" altLang="ja-JP" b="1" dirty="0" smtClean="0">
              <a:solidFill>
                <a:schemeClr val="tx2"/>
              </a:solidFill>
            </a:endParaRPr>
          </a:p>
          <a:p>
            <a:pPr algn="ctr"/>
            <a:r>
              <a:rPr lang="ja-JP" altLang="en-US" b="1" dirty="0" smtClean="0">
                <a:solidFill>
                  <a:schemeClr val="tx2"/>
                </a:solidFill>
              </a:rPr>
              <a:t>進めないので</a:t>
            </a:r>
            <a:endParaRPr lang="en-US" altLang="ja-JP" b="1" dirty="0" smtClean="0">
              <a:solidFill>
                <a:schemeClr val="tx2"/>
              </a:solidFill>
            </a:endParaRPr>
          </a:p>
          <a:p>
            <a:pPr algn="ctr"/>
            <a:r>
              <a:rPr lang="ja-JP" altLang="en-US" b="1" dirty="0" smtClean="0">
                <a:solidFill>
                  <a:schemeClr val="tx2"/>
                </a:solidFill>
              </a:rPr>
              <a:t>戻る</a:t>
            </a:r>
            <a:endParaRPr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2440</TotalTime>
  <Words>136</Words>
  <Application>Microsoft Office PowerPoint</Application>
  <PresentationFormat>ユーザー設定</PresentationFormat>
  <Paragraphs>43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Theme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12</cp:revision>
  <dcterms:created xsi:type="dcterms:W3CDTF">2013-01-27T09:14:16Z</dcterms:created>
  <dcterms:modified xsi:type="dcterms:W3CDTF">2026-06-06T08:51:38Z</dcterms:modified>
</cp:coreProperties>
</file>