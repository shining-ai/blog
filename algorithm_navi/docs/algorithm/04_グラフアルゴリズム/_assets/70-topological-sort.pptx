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5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20210400" cy="93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トポロジカルソート — DAGの依存順序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368000"/>
            <a:ext cx="1188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4000" y="1368000"/>
            <a:ext cx="1159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DAG（有向非巡回グラフ）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60000" y="4320000"/>
            <a:ext cx="3600000" cy="1800000"/>
          </a:xfrm>
          <a:prstGeom prst="bentConnector3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160000" y="4320000"/>
            <a:ext cx="7560000" cy="0"/>
          </a:xfrm>
          <a:prstGeom prst="bentConnector3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2160000" y="6120000"/>
            <a:ext cx="3600000" cy="1800000"/>
          </a:xfrm>
          <a:prstGeom prst="bentConnector3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160000" y="7920000"/>
            <a:ext cx="3600000" cy="1800000"/>
          </a:xfrm>
          <a:prstGeom prst="bentConnector3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5760000" y="4320000"/>
            <a:ext cx="3960000" cy="1800000"/>
          </a:xfrm>
          <a:prstGeom prst="bentConnector3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760000" y="6120000"/>
            <a:ext cx="3960000" cy="1800000"/>
          </a:xfrm>
          <a:prstGeom prst="bentConnector3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760000" y="7920000"/>
            <a:ext cx="3960000" cy="1800000"/>
          </a:xfrm>
          <a:prstGeom prst="bentConnector3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692000" y="3852000"/>
            <a:ext cx="936000" cy="936000"/>
          </a:xfrm>
          <a:prstGeom prst="ellipse">
            <a:avLst/>
          </a:prstGeom>
          <a:solidFill>
            <a:srgbClr val="BDE4FC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92000" y="3969000"/>
            <a:ext cx="936000" cy="70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15" name="Oval 14"/>
          <p:cNvSpPr/>
          <p:nvPr/>
        </p:nvSpPr>
        <p:spPr>
          <a:xfrm>
            <a:off x="2556000" y="3636000"/>
            <a:ext cx="432000" cy="432000"/>
          </a:xfrm>
          <a:prstGeom prst="ellipse">
            <a:avLst/>
          </a:prstGeom>
          <a:solidFill>
            <a:srgbClr val="EBA81A"/>
          </a:solidFill>
          <a:ln w="317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56000" y="3690000"/>
            <a:ext cx="432000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7" name="Oval 16"/>
          <p:cNvSpPr/>
          <p:nvPr/>
        </p:nvSpPr>
        <p:spPr>
          <a:xfrm>
            <a:off x="1692000" y="7452000"/>
            <a:ext cx="936000" cy="936000"/>
          </a:xfrm>
          <a:prstGeom prst="ellipse">
            <a:avLst/>
          </a:prstGeom>
          <a:solidFill>
            <a:srgbClr val="BDE4FC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92000" y="7569000"/>
            <a:ext cx="936000" cy="70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19" name="Oval 18"/>
          <p:cNvSpPr/>
          <p:nvPr/>
        </p:nvSpPr>
        <p:spPr>
          <a:xfrm>
            <a:off x="2556000" y="7236000"/>
            <a:ext cx="432000" cy="432000"/>
          </a:xfrm>
          <a:prstGeom prst="ellipse">
            <a:avLst/>
          </a:prstGeom>
          <a:solidFill>
            <a:srgbClr val="EBA81A"/>
          </a:solidFill>
          <a:ln w="317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56000" y="7290000"/>
            <a:ext cx="432000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21" name="Oval 20"/>
          <p:cNvSpPr/>
          <p:nvPr/>
        </p:nvSpPr>
        <p:spPr>
          <a:xfrm>
            <a:off x="5292000" y="5652000"/>
            <a:ext cx="936000" cy="936000"/>
          </a:xfrm>
          <a:prstGeom prst="ellipse">
            <a:avLst/>
          </a:prstGeom>
          <a:solidFill>
            <a:srgbClr val="BDE4FC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92000" y="5769000"/>
            <a:ext cx="936000" cy="70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6156000" y="5436000"/>
            <a:ext cx="432000" cy="432000"/>
          </a:xfrm>
          <a:prstGeom prst="ellipse">
            <a:avLst/>
          </a:prstGeom>
          <a:solidFill>
            <a:srgbClr val="EBA81A"/>
          </a:solidFill>
          <a:ln w="317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56000" y="5490000"/>
            <a:ext cx="432000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5" name="Oval 24"/>
          <p:cNvSpPr/>
          <p:nvPr/>
        </p:nvSpPr>
        <p:spPr>
          <a:xfrm>
            <a:off x="5292000" y="9252000"/>
            <a:ext cx="936000" cy="936000"/>
          </a:xfrm>
          <a:prstGeom prst="ellipse">
            <a:avLst/>
          </a:prstGeom>
          <a:solidFill>
            <a:srgbClr val="BDE4FC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92000" y="9369000"/>
            <a:ext cx="936000" cy="70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</a:rPr>
              <a:t>D</a:t>
            </a:r>
          </a:p>
        </p:txBody>
      </p:sp>
      <p:sp>
        <p:nvSpPr>
          <p:cNvPr id="27" name="Oval 26"/>
          <p:cNvSpPr/>
          <p:nvPr/>
        </p:nvSpPr>
        <p:spPr>
          <a:xfrm>
            <a:off x="6156000" y="9036000"/>
            <a:ext cx="432000" cy="432000"/>
          </a:xfrm>
          <a:prstGeom prst="ellipse">
            <a:avLst/>
          </a:prstGeom>
          <a:solidFill>
            <a:srgbClr val="EBA81A"/>
          </a:solidFill>
          <a:ln w="317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6000" y="9090000"/>
            <a:ext cx="432000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9" name="Oval 28"/>
          <p:cNvSpPr/>
          <p:nvPr/>
        </p:nvSpPr>
        <p:spPr>
          <a:xfrm>
            <a:off x="9252000" y="3852000"/>
            <a:ext cx="936000" cy="936000"/>
          </a:xfrm>
          <a:prstGeom prst="ellipse">
            <a:avLst/>
          </a:prstGeom>
          <a:solidFill>
            <a:srgbClr val="BDE4FC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52000" y="3969000"/>
            <a:ext cx="936000" cy="70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</a:rPr>
              <a:t>E</a:t>
            </a:r>
          </a:p>
        </p:txBody>
      </p:sp>
      <p:sp>
        <p:nvSpPr>
          <p:cNvPr id="31" name="Oval 30"/>
          <p:cNvSpPr/>
          <p:nvPr/>
        </p:nvSpPr>
        <p:spPr>
          <a:xfrm>
            <a:off x="10116000" y="3636000"/>
            <a:ext cx="432000" cy="432000"/>
          </a:xfrm>
          <a:prstGeom prst="ellipse">
            <a:avLst/>
          </a:prstGeom>
          <a:solidFill>
            <a:srgbClr val="EBA81A"/>
          </a:solidFill>
          <a:ln w="317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16000" y="3690000"/>
            <a:ext cx="432000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3" name="Oval 32"/>
          <p:cNvSpPr/>
          <p:nvPr/>
        </p:nvSpPr>
        <p:spPr>
          <a:xfrm>
            <a:off x="9252000" y="7452000"/>
            <a:ext cx="936000" cy="936000"/>
          </a:xfrm>
          <a:prstGeom prst="ellipse">
            <a:avLst/>
          </a:prstGeom>
          <a:solidFill>
            <a:srgbClr val="BDE4FC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52000" y="7569000"/>
            <a:ext cx="936000" cy="70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</a:rPr>
              <a:t>F</a:t>
            </a:r>
          </a:p>
        </p:txBody>
      </p:sp>
      <p:sp>
        <p:nvSpPr>
          <p:cNvPr id="35" name="Oval 34"/>
          <p:cNvSpPr/>
          <p:nvPr/>
        </p:nvSpPr>
        <p:spPr>
          <a:xfrm>
            <a:off x="10116000" y="7236000"/>
            <a:ext cx="432000" cy="432000"/>
          </a:xfrm>
          <a:prstGeom prst="ellipse">
            <a:avLst/>
          </a:prstGeom>
          <a:solidFill>
            <a:srgbClr val="EBA81A"/>
          </a:solidFill>
          <a:ln w="317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16000" y="7290000"/>
            <a:ext cx="432000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40000" y="10620000"/>
            <a:ext cx="504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EBA81A"/>
                </a:solidFill>
              </a:rPr>
              <a:t>⬤ = 入次数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960000" y="1368000"/>
            <a:ext cx="756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104000" y="1368000"/>
            <a:ext cx="727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Kahn's Algorithm（入次数ベース BFS）</a:t>
            </a:r>
          </a:p>
        </p:txBody>
      </p:sp>
      <p:sp>
        <p:nvSpPr>
          <p:cNvPr id="40" name="Oval 39"/>
          <p:cNvSpPr/>
          <p:nvPr/>
        </p:nvSpPr>
        <p:spPr>
          <a:xfrm>
            <a:off x="12582000" y="2033999"/>
            <a:ext cx="612000" cy="612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582000" y="2110499"/>
            <a:ext cx="612000" cy="459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320000" y="2015999"/>
            <a:ext cx="324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013CA6"/>
                </a:solidFill>
              </a:rPr>
              <a:t>初期キュー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668000" y="2015999"/>
            <a:ext cx="324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0B050"/>
                </a:solidFill>
              </a:rPr>
              <a:t>[A, B]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320000" y="2663999"/>
            <a:ext cx="72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808080"/>
                </a:solidFill>
              </a:rPr>
              <a:t>in-deg=0の頂点を全て追加</a:t>
            </a:r>
          </a:p>
        </p:txBody>
      </p:sp>
      <p:sp>
        <p:nvSpPr>
          <p:cNvPr id="45" name="Oval 44"/>
          <p:cNvSpPr/>
          <p:nvPr/>
        </p:nvSpPr>
        <p:spPr>
          <a:xfrm>
            <a:off x="12582000" y="3437999"/>
            <a:ext cx="612000" cy="612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582000" y="3514499"/>
            <a:ext cx="612000" cy="459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320000" y="3419999"/>
            <a:ext cx="324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013CA6"/>
                </a:solidFill>
              </a:rPr>
              <a:t>Aを出力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668000" y="3419999"/>
            <a:ext cx="324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0B050"/>
                </a:solidFill>
              </a:rPr>
              <a:t>[B, C*, E*]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320000" y="4067999"/>
            <a:ext cx="72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808080"/>
                </a:solidFill>
              </a:rPr>
              <a:t>A→C, A→E の in-deg を減らす</a:t>
            </a:r>
          </a:p>
        </p:txBody>
      </p:sp>
      <p:sp>
        <p:nvSpPr>
          <p:cNvPr id="50" name="Oval 49"/>
          <p:cNvSpPr/>
          <p:nvPr/>
        </p:nvSpPr>
        <p:spPr>
          <a:xfrm>
            <a:off x="12582000" y="4841999"/>
            <a:ext cx="612000" cy="612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582000" y="4918499"/>
            <a:ext cx="612000" cy="459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320000" y="4823999"/>
            <a:ext cx="324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013CA6"/>
                </a:solidFill>
              </a:rPr>
              <a:t>Bを出力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6668000" y="4823999"/>
            <a:ext cx="324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0B050"/>
                </a:solidFill>
              </a:rPr>
              <a:t>[C, E, C*, D*]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320000" y="5471999"/>
            <a:ext cx="72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808080"/>
                </a:solidFill>
              </a:rPr>
              <a:t>B→C, B→D の in-deg を減らす</a:t>
            </a:r>
          </a:p>
        </p:txBody>
      </p:sp>
      <p:sp>
        <p:nvSpPr>
          <p:cNvPr id="55" name="Oval 54"/>
          <p:cNvSpPr/>
          <p:nvPr/>
        </p:nvSpPr>
        <p:spPr>
          <a:xfrm>
            <a:off x="12582000" y="6245999"/>
            <a:ext cx="612000" cy="612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582000" y="6322499"/>
            <a:ext cx="612000" cy="459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320000" y="6227999"/>
            <a:ext cx="324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013CA6"/>
                </a:solidFill>
              </a:rPr>
              <a:t>Cを出力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6668000" y="6227999"/>
            <a:ext cx="324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0B050"/>
                </a:solidFill>
              </a:rPr>
              <a:t>[E, D, E*, F*]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320000" y="6875999"/>
            <a:ext cx="72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808080"/>
                </a:solidFill>
              </a:rPr>
              <a:t>C→E, C→F の in-deg を減らす</a:t>
            </a:r>
          </a:p>
        </p:txBody>
      </p:sp>
      <p:sp>
        <p:nvSpPr>
          <p:cNvPr id="60" name="Oval 59"/>
          <p:cNvSpPr/>
          <p:nvPr/>
        </p:nvSpPr>
        <p:spPr>
          <a:xfrm>
            <a:off x="12582000" y="7649999"/>
            <a:ext cx="612000" cy="612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2582000" y="7726499"/>
            <a:ext cx="612000" cy="459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320000" y="7631999"/>
            <a:ext cx="324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013CA6"/>
                </a:solidFill>
              </a:rPr>
              <a:t>Eを出力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6668000" y="7631999"/>
            <a:ext cx="324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0B050"/>
                </a:solidFill>
              </a:rPr>
              <a:t>[D, F]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3320000" y="8279999"/>
            <a:ext cx="72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808080"/>
                </a:solidFill>
              </a:rPr>
              <a:t>E への辺なし</a:t>
            </a:r>
          </a:p>
        </p:txBody>
      </p:sp>
      <p:sp>
        <p:nvSpPr>
          <p:cNvPr id="65" name="Oval 64"/>
          <p:cNvSpPr/>
          <p:nvPr/>
        </p:nvSpPr>
        <p:spPr>
          <a:xfrm>
            <a:off x="12582000" y="9053999"/>
            <a:ext cx="612000" cy="612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2582000" y="9130499"/>
            <a:ext cx="612000" cy="459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3320000" y="9035999"/>
            <a:ext cx="324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013CA6"/>
                </a:solidFill>
              </a:rPr>
              <a:t>D,F を出力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6668000" y="9035999"/>
            <a:ext cx="324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0B050"/>
                </a:solidFill>
              </a:rPr>
              <a:t>[]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3320000" y="9683999"/>
            <a:ext cx="72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808080"/>
                </a:solidFill>
              </a:rPr>
              <a:t>完成: A,B,C,E,D,F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2960000" y="10620000"/>
            <a:ext cx="7560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3068000" y="10674000"/>
            <a:ext cx="7344000" cy="89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000000"/>
                </a:solidFill>
              </a:rPr>
              <a:t>出力順がトポロジカル順。閉路があれば出力数 &lt; V
DFSの後順逆転でも同様に求められる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