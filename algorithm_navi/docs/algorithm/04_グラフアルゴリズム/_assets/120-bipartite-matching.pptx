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二部マッチング — ハンガリアンアルゴリズム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二部グラフ（左=仕事, 右=人）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0" y="3240000"/>
            <a:ext cx="7920000" cy="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00000" y="3240000"/>
            <a:ext cx="7920000" cy="2160000"/>
          </a:xfrm>
          <a:prstGeom prst="line">
            <a:avLst/>
          </a:prstGeom>
          <a:ln w="508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00000" y="5400000"/>
            <a:ext cx="7920000" cy="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00000" y="5400000"/>
            <a:ext cx="7920000" cy="2160000"/>
          </a:xfrm>
          <a:prstGeom prst="line">
            <a:avLst/>
          </a:prstGeom>
          <a:ln w="508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00000" y="7560000"/>
            <a:ext cx="7920000" cy="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00000" y="7560000"/>
            <a:ext cx="7920000" cy="2160000"/>
          </a:xfrm>
          <a:prstGeom prst="line">
            <a:avLst/>
          </a:prstGeom>
          <a:ln w="508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600000" y="3240000"/>
            <a:ext cx="7920000" cy="6480000"/>
          </a:xfrm>
          <a:prstGeom prst="line">
            <a:avLst/>
          </a:prstGeom>
          <a:ln w="508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00000" y="9720000"/>
            <a:ext cx="7920000" cy="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132000" y="2772000"/>
            <a:ext cx="936000" cy="936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2000" y="288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仕事A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8000" y="3024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仕事A</a:t>
            </a:r>
          </a:p>
        </p:txBody>
      </p:sp>
      <p:sp>
        <p:nvSpPr>
          <p:cNvPr id="17" name="Oval 16"/>
          <p:cNvSpPr/>
          <p:nvPr/>
        </p:nvSpPr>
        <p:spPr>
          <a:xfrm>
            <a:off x="3132000" y="4932000"/>
            <a:ext cx="936000" cy="936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2000" y="504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仕事B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8000" y="5184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仕事B</a:t>
            </a:r>
          </a:p>
        </p:txBody>
      </p:sp>
      <p:sp>
        <p:nvSpPr>
          <p:cNvPr id="20" name="Oval 19"/>
          <p:cNvSpPr/>
          <p:nvPr/>
        </p:nvSpPr>
        <p:spPr>
          <a:xfrm>
            <a:off x="3132000" y="7092000"/>
            <a:ext cx="936000" cy="936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32000" y="720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仕事C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8000" y="7344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仕事C</a:t>
            </a:r>
          </a:p>
        </p:txBody>
      </p:sp>
      <p:sp>
        <p:nvSpPr>
          <p:cNvPr id="23" name="Oval 22"/>
          <p:cNvSpPr/>
          <p:nvPr/>
        </p:nvSpPr>
        <p:spPr>
          <a:xfrm>
            <a:off x="3132000" y="9252000"/>
            <a:ext cx="936000" cy="936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2000" y="936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仕事D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8000" y="9504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仕事D</a:t>
            </a:r>
          </a:p>
        </p:txBody>
      </p:sp>
      <p:sp>
        <p:nvSpPr>
          <p:cNvPr id="26" name="Oval 25"/>
          <p:cNvSpPr/>
          <p:nvPr/>
        </p:nvSpPr>
        <p:spPr>
          <a:xfrm>
            <a:off x="11052000" y="2772000"/>
            <a:ext cx="936000" cy="936000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52000" y="288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人1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8000" y="3024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人1</a:t>
            </a:r>
          </a:p>
        </p:txBody>
      </p:sp>
      <p:sp>
        <p:nvSpPr>
          <p:cNvPr id="29" name="Oval 28"/>
          <p:cNvSpPr/>
          <p:nvPr/>
        </p:nvSpPr>
        <p:spPr>
          <a:xfrm>
            <a:off x="11052000" y="4932000"/>
            <a:ext cx="936000" cy="936000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52000" y="504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人2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8000" y="5184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人2</a:t>
            </a:r>
          </a:p>
        </p:txBody>
      </p:sp>
      <p:sp>
        <p:nvSpPr>
          <p:cNvPr id="32" name="Oval 31"/>
          <p:cNvSpPr/>
          <p:nvPr/>
        </p:nvSpPr>
        <p:spPr>
          <a:xfrm>
            <a:off x="11052000" y="7092000"/>
            <a:ext cx="936000" cy="936000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52000" y="720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人3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8000" y="7344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人3</a:t>
            </a:r>
          </a:p>
        </p:txBody>
      </p:sp>
      <p:sp>
        <p:nvSpPr>
          <p:cNvPr id="35" name="Oval 34"/>
          <p:cNvSpPr/>
          <p:nvPr/>
        </p:nvSpPr>
        <p:spPr>
          <a:xfrm>
            <a:off x="11052000" y="9252000"/>
            <a:ext cx="936000" cy="936000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52000" y="936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人4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8000" y="9504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人4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0" y="10728000"/>
            <a:ext cx="79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太線 = 最大マッチング（マッチング数=4）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120000" y="1368000"/>
            <a:ext cx="54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264000" y="1368000"/>
            <a:ext cx="51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増加路（Augmenting Path）</a:t>
            </a:r>
          </a:p>
        </p:txBody>
      </p:sp>
      <p:sp>
        <p:nvSpPr>
          <p:cNvPr id="41" name="Oval 40"/>
          <p:cNvSpPr/>
          <p:nvPr/>
        </p:nvSpPr>
        <p:spPr>
          <a:xfrm>
            <a:off x="14922000" y="2105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22000" y="2182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660000" y="2015999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増加路とは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660000" y="2555999"/>
            <a:ext cx="468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マッチング辺と非マッチング辺を
交互に通り両端が未マッチの経路</a:t>
            </a:r>
          </a:p>
        </p:txBody>
      </p:sp>
      <p:sp>
        <p:nvSpPr>
          <p:cNvPr id="45" name="Oval 44"/>
          <p:cNvSpPr/>
          <p:nvPr/>
        </p:nvSpPr>
        <p:spPr>
          <a:xfrm>
            <a:off x="14922000" y="4193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22000" y="4270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660000" y="4103999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拡張操作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660000" y="4643999"/>
            <a:ext cx="468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増加路の辺の採用/不採用を
反転 → マッチング数 +1</a:t>
            </a:r>
          </a:p>
        </p:txBody>
      </p:sp>
      <p:sp>
        <p:nvSpPr>
          <p:cNvPr id="49" name="Oval 48"/>
          <p:cNvSpPr/>
          <p:nvPr/>
        </p:nvSpPr>
        <p:spPr>
          <a:xfrm>
            <a:off x="14922000" y="6281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922000" y="6358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60000" y="6191999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終了条件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660000" y="6731999"/>
            <a:ext cx="468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増加路が存在しなければ
現在のマッチングが最大</a:t>
            </a:r>
          </a:p>
        </p:txBody>
      </p:sp>
      <p:sp>
        <p:nvSpPr>
          <p:cNvPr id="53" name="Oval 52"/>
          <p:cNvSpPr/>
          <p:nvPr/>
        </p:nvSpPr>
        <p:spPr>
          <a:xfrm>
            <a:off x="14922000" y="8369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922000" y="8446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660000" y="8279999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König定理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660000" y="8819999"/>
            <a:ext cx="468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最大マッチング = 最小頂点被覆
（二部グラフのみ成立）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