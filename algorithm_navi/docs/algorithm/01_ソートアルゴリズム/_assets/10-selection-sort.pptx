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</p:sldIdLst>
  <p:sldSz cx="21289963" cy="1197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124" y="-1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/>
          <p:cNvGrpSpPr/>
          <p:nvPr/>
        </p:nvGrpSpPr>
        <p:grpSpPr>
          <a:xfrm>
            <a:off x="3498406" y="1287008"/>
            <a:ext cx="14293150" cy="9398908"/>
            <a:chOff x="3483581" y="1287008"/>
            <a:chExt cx="14293150" cy="9398908"/>
          </a:xfrm>
        </p:grpSpPr>
        <p:sp>
          <p:nvSpPr>
            <p:cNvPr id="14" name="Rectangle 13"/>
            <p:cNvSpPr/>
            <p:nvPr/>
          </p:nvSpPr>
          <p:spPr>
            <a:xfrm>
              <a:off x="3513231" y="9677917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1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385231" y="9677917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2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257231" y="9677917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3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129231" y="9677917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5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1001231" y="9677917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3053231" y="9935695"/>
              <a:ext cx="4723500" cy="49244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ja-JP" altLang="en-US" sz="2600" dirty="0">
                  <a:solidFill>
                    <a:srgbClr val="666666"/>
                  </a:solidFill>
                </a:rPr>
                <a:t>← 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「</a:t>
              </a:r>
              <a:r>
                <a:rPr lang="en-US" altLang="ja-JP" sz="2600" dirty="0" smtClean="0">
                  <a:solidFill>
                    <a:srgbClr val="666666"/>
                  </a:solidFill>
                </a:rPr>
                <a:t>8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」</a:t>
              </a:r>
              <a:r>
                <a:rPr lang="ja-JP" altLang="en-US" sz="2600" dirty="0">
                  <a:solidFill>
                    <a:srgbClr val="666666"/>
                  </a:solidFill>
                </a:rPr>
                <a:t>が先頭なのでそのまま</a:t>
              </a:r>
              <a:endParaRPr lang="ja-JP" altLang="en-US" sz="2600" dirty="0">
                <a:solidFill>
                  <a:srgbClr val="666666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3023581" y="3222968"/>
              <a:ext cx="3783700" cy="49244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ja-JP" altLang="en-US" sz="2600" dirty="0">
                  <a:solidFill>
                    <a:srgbClr val="666666"/>
                  </a:solidFill>
                </a:rPr>
                <a:t>← 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「</a:t>
              </a:r>
              <a:r>
                <a:rPr lang="en-US" altLang="ja-JP" sz="2600" dirty="0" smtClean="0">
                  <a:solidFill>
                    <a:srgbClr val="666666"/>
                  </a:solidFill>
                </a:rPr>
                <a:t>3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」</a:t>
              </a:r>
              <a:r>
                <a:rPr lang="ja-JP" altLang="en-US" sz="2600" dirty="0">
                  <a:solidFill>
                    <a:srgbClr val="666666"/>
                  </a:solidFill>
                </a:rPr>
                <a:t>と先頭を交換</a:t>
              </a:r>
              <a:endParaRPr lang="ja-JP" altLang="en-US" sz="2600" dirty="0">
                <a:solidFill>
                  <a:srgbClr val="666666"/>
                </a:solidFill>
              </a:endParaRPr>
            </a:p>
          </p:txBody>
        </p:sp>
        <p:sp>
          <p:nvSpPr>
            <p:cNvPr id="59" name="Rectangle 5"/>
            <p:cNvSpPr/>
            <p:nvPr/>
          </p:nvSpPr>
          <p:spPr>
            <a:xfrm>
              <a:off x="3483581" y="2965190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1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0" name="Rectangle 6"/>
            <p:cNvSpPr/>
            <p:nvPr/>
          </p:nvSpPr>
          <p:spPr>
            <a:xfrm>
              <a:off x="5355581" y="2965190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2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1" name="Rectangle 7"/>
            <p:cNvSpPr/>
            <p:nvPr/>
          </p:nvSpPr>
          <p:spPr>
            <a:xfrm>
              <a:off x="7227581" y="2965190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3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2" name="Rectangle 8"/>
            <p:cNvSpPr/>
            <p:nvPr/>
          </p:nvSpPr>
          <p:spPr>
            <a:xfrm>
              <a:off x="9099581" y="2965190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5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63" name="Rectangle 9"/>
            <p:cNvSpPr/>
            <p:nvPr/>
          </p:nvSpPr>
          <p:spPr>
            <a:xfrm>
              <a:off x="10971581" y="2965190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8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cxnSp>
          <p:nvCxnSpPr>
            <p:cNvPr id="73" name="カギ線コネクタ 72"/>
            <p:cNvCxnSpPr>
              <a:stCxn id="61" idx="2"/>
              <a:endCxn id="63" idx="2"/>
            </p:cNvCxnSpPr>
            <p:nvPr/>
          </p:nvCxnSpPr>
          <p:spPr>
            <a:xfrm rot="16200000" flipH="1">
              <a:off x="9999581" y="2101189"/>
              <a:ext cx="12700" cy="3744000"/>
            </a:xfrm>
            <a:prstGeom prst="bentConnector3">
              <a:avLst>
                <a:gd name="adj1" fmla="val 1800000"/>
              </a:avLst>
            </a:prstGeom>
            <a:ln>
              <a:solidFill>
                <a:schemeClr val="tx2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13053231" y="8057459"/>
              <a:ext cx="3783700" cy="8925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ja-JP" altLang="en-US" sz="2600" dirty="0">
                  <a:solidFill>
                    <a:srgbClr val="666666"/>
                  </a:solidFill>
                </a:rPr>
                <a:t>← 未確定部分を探索</a:t>
              </a:r>
            </a:p>
            <a:p>
              <a:r>
                <a:rPr lang="ja-JP" altLang="en-US" sz="2600" dirty="0">
                  <a:solidFill>
                    <a:srgbClr val="666666"/>
                  </a:solidFill>
                </a:rPr>
                <a:t>     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「</a:t>
              </a:r>
              <a:r>
                <a:rPr lang="en-US" altLang="ja-JP" sz="2600" dirty="0" smtClean="0">
                  <a:solidFill>
                    <a:srgbClr val="666666"/>
                  </a:solidFill>
                </a:rPr>
                <a:t>8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」</a:t>
              </a:r>
              <a:r>
                <a:rPr lang="ja-JP" altLang="en-US" sz="2600" dirty="0">
                  <a:solidFill>
                    <a:srgbClr val="666666"/>
                  </a:solidFill>
                </a:rPr>
                <a:t>が一番小さい</a:t>
              </a:r>
              <a:endParaRPr lang="ja-JP" altLang="en-US" sz="2600" dirty="0">
                <a:solidFill>
                  <a:srgbClr val="666666"/>
                </a:solidFill>
              </a:endParaRPr>
            </a:p>
          </p:txBody>
        </p:sp>
        <p:sp>
          <p:nvSpPr>
            <p:cNvPr id="65" name="Rectangle 5"/>
            <p:cNvSpPr/>
            <p:nvPr/>
          </p:nvSpPr>
          <p:spPr>
            <a:xfrm>
              <a:off x="3513231" y="7999736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1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6" name="Rectangle 6"/>
            <p:cNvSpPr/>
            <p:nvPr/>
          </p:nvSpPr>
          <p:spPr>
            <a:xfrm>
              <a:off x="5385231" y="7999736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2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7" name="Rectangle 7"/>
            <p:cNvSpPr/>
            <p:nvPr/>
          </p:nvSpPr>
          <p:spPr>
            <a:xfrm>
              <a:off x="7257231" y="7999736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3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8" name="Rectangle 8"/>
            <p:cNvSpPr/>
            <p:nvPr/>
          </p:nvSpPr>
          <p:spPr>
            <a:xfrm>
              <a:off x="9129231" y="7999736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5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9" name="Rectangle 9"/>
            <p:cNvSpPr/>
            <p:nvPr/>
          </p:nvSpPr>
          <p:spPr>
            <a:xfrm>
              <a:off x="11001231" y="7999736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8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64" name="TextBox 18"/>
            <p:cNvSpPr txBox="1"/>
            <p:nvPr/>
          </p:nvSpPr>
          <p:spPr>
            <a:xfrm>
              <a:off x="13023581" y="1344738"/>
              <a:ext cx="4171607" cy="8925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ja-JP" altLang="en-US" sz="2600" dirty="0">
                  <a:solidFill>
                    <a:srgbClr val="666666"/>
                  </a:solidFill>
                </a:rPr>
                <a:t>← 未確定部分を探索</a:t>
              </a:r>
            </a:p>
            <a:p>
              <a:r>
                <a:rPr lang="ja-JP" altLang="en-US" sz="2600" dirty="0">
                  <a:solidFill>
                    <a:srgbClr val="666666"/>
                  </a:solidFill>
                </a:rPr>
                <a:t>     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「</a:t>
              </a:r>
              <a:r>
                <a:rPr lang="en-US" altLang="ja-JP" sz="2600" dirty="0" smtClean="0">
                  <a:solidFill>
                    <a:srgbClr val="666666"/>
                  </a:solidFill>
                </a:rPr>
                <a:t>3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」</a:t>
              </a:r>
              <a:r>
                <a:rPr lang="ja-JP" altLang="en-US" sz="2600" dirty="0">
                  <a:solidFill>
                    <a:srgbClr val="666666"/>
                  </a:solidFill>
                </a:rPr>
                <a:t>が一番小さい</a:t>
              </a:r>
              <a:endParaRPr lang="ja-JP" altLang="en-US" sz="2600" dirty="0">
                <a:solidFill>
                  <a:srgbClr val="666666"/>
                </a:solidFill>
              </a:endParaRPr>
            </a:p>
          </p:txBody>
        </p:sp>
        <p:sp>
          <p:nvSpPr>
            <p:cNvPr id="70" name="Rectangle 5"/>
            <p:cNvSpPr/>
            <p:nvPr/>
          </p:nvSpPr>
          <p:spPr>
            <a:xfrm>
              <a:off x="3483581" y="1287008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1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72" name="Rectangle 6"/>
            <p:cNvSpPr/>
            <p:nvPr/>
          </p:nvSpPr>
          <p:spPr>
            <a:xfrm>
              <a:off x="5355581" y="1287008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2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74" name="Rectangle 7"/>
            <p:cNvSpPr/>
            <p:nvPr/>
          </p:nvSpPr>
          <p:spPr>
            <a:xfrm>
              <a:off x="7227581" y="1287008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5" name="Rectangle 8"/>
            <p:cNvSpPr/>
            <p:nvPr/>
          </p:nvSpPr>
          <p:spPr>
            <a:xfrm>
              <a:off x="9099581" y="1287008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5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77" name="Rectangle 9"/>
            <p:cNvSpPr/>
            <p:nvPr/>
          </p:nvSpPr>
          <p:spPr>
            <a:xfrm>
              <a:off x="10971581" y="1287008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3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79" name="TextBox 26"/>
            <p:cNvSpPr txBox="1"/>
            <p:nvPr/>
          </p:nvSpPr>
          <p:spPr>
            <a:xfrm>
              <a:off x="13053231" y="4701095"/>
              <a:ext cx="3783700" cy="8925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ja-JP" altLang="en-US" sz="2600" dirty="0">
                  <a:solidFill>
                    <a:srgbClr val="666666"/>
                  </a:solidFill>
                </a:rPr>
                <a:t>← 未確定部分を探索</a:t>
              </a:r>
            </a:p>
            <a:p>
              <a:r>
                <a:rPr lang="ja-JP" altLang="en-US" sz="2600" dirty="0">
                  <a:solidFill>
                    <a:srgbClr val="666666"/>
                  </a:solidFill>
                </a:rPr>
                <a:t>     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「</a:t>
              </a:r>
              <a:r>
                <a:rPr lang="en-US" altLang="ja-JP" sz="2600" dirty="0" smtClean="0">
                  <a:solidFill>
                    <a:srgbClr val="666666"/>
                  </a:solidFill>
                </a:rPr>
                <a:t>5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」</a:t>
              </a:r>
              <a:r>
                <a:rPr lang="ja-JP" altLang="en-US" sz="2600" dirty="0">
                  <a:solidFill>
                    <a:srgbClr val="666666"/>
                  </a:solidFill>
                </a:rPr>
                <a:t>が一番小さい</a:t>
              </a:r>
              <a:endParaRPr lang="ja-JP" altLang="en-US" sz="2600" dirty="0">
                <a:solidFill>
                  <a:srgbClr val="666666"/>
                </a:solidFill>
              </a:endParaRPr>
            </a:p>
          </p:txBody>
        </p:sp>
        <p:sp>
          <p:nvSpPr>
            <p:cNvPr id="80" name="Rectangle 5"/>
            <p:cNvSpPr/>
            <p:nvPr/>
          </p:nvSpPr>
          <p:spPr>
            <a:xfrm>
              <a:off x="3513231" y="4643372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1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81" name="Rectangle 6"/>
            <p:cNvSpPr/>
            <p:nvPr/>
          </p:nvSpPr>
          <p:spPr>
            <a:xfrm>
              <a:off x="5385231" y="4643372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2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82" name="Rectangle 7"/>
            <p:cNvSpPr/>
            <p:nvPr/>
          </p:nvSpPr>
          <p:spPr>
            <a:xfrm>
              <a:off x="7257231" y="4643372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3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83" name="Rectangle 8"/>
            <p:cNvSpPr/>
            <p:nvPr/>
          </p:nvSpPr>
          <p:spPr>
            <a:xfrm>
              <a:off x="9129231" y="4643372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5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84" name="Rectangle 9"/>
            <p:cNvSpPr/>
            <p:nvPr/>
          </p:nvSpPr>
          <p:spPr>
            <a:xfrm>
              <a:off x="11001231" y="4643372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8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87" name="TextBox 26"/>
            <p:cNvSpPr txBox="1"/>
            <p:nvPr/>
          </p:nvSpPr>
          <p:spPr>
            <a:xfrm>
              <a:off x="13053231" y="6579336"/>
              <a:ext cx="4584944" cy="49244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ja-JP" altLang="en-US" sz="2600" dirty="0">
                  <a:solidFill>
                    <a:srgbClr val="666666"/>
                  </a:solidFill>
                </a:rPr>
                <a:t>← 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「</a:t>
              </a:r>
              <a:r>
                <a:rPr lang="en-US" altLang="ja-JP" sz="2600" dirty="0" smtClean="0">
                  <a:solidFill>
                    <a:srgbClr val="666666"/>
                  </a:solidFill>
                </a:rPr>
                <a:t>5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」が先頭なのでそのまま</a:t>
              </a:r>
              <a:endParaRPr lang="ja-JP" altLang="en-US" sz="2600" dirty="0">
                <a:solidFill>
                  <a:srgbClr val="666666"/>
                </a:solidFill>
              </a:endParaRPr>
            </a:p>
          </p:txBody>
        </p:sp>
        <p:sp>
          <p:nvSpPr>
            <p:cNvPr id="88" name="Rectangle 5"/>
            <p:cNvSpPr/>
            <p:nvPr/>
          </p:nvSpPr>
          <p:spPr>
            <a:xfrm>
              <a:off x="3513231" y="6321554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1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89" name="Rectangle 6"/>
            <p:cNvSpPr/>
            <p:nvPr/>
          </p:nvSpPr>
          <p:spPr>
            <a:xfrm>
              <a:off x="5385231" y="6321554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2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90" name="Rectangle 7"/>
            <p:cNvSpPr/>
            <p:nvPr/>
          </p:nvSpPr>
          <p:spPr>
            <a:xfrm>
              <a:off x="7257231" y="6321554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3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91" name="Rectangle 8"/>
            <p:cNvSpPr/>
            <p:nvPr/>
          </p:nvSpPr>
          <p:spPr>
            <a:xfrm>
              <a:off x="9129231" y="6321554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5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92" name="Rectangle 9"/>
            <p:cNvSpPr/>
            <p:nvPr/>
          </p:nvSpPr>
          <p:spPr>
            <a:xfrm>
              <a:off x="11001231" y="6321554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8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cxnSp>
          <p:nvCxnSpPr>
            <p:cNvPr id="93" name="直線矢印コネクタ 92"/>
            <p:cNvCxnSpPr/>
            <p:nvPr/>
          </p:nvCxnSpPr>
          <p:spPr>
            <a:xfrm>
              <a:off x="8073248" y="2589572"/>
              <a:ext cx="3849656" cy="0"/>
            </a:xfrm>
            <a:prstGeom prst="straightConnector1">
              <a:avLst/>
            </a:prstGeom>
            <a:ln w="76200"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矢印コネクタ 93"/>
            <p:cNvCxnSpPr/>
            <p:nvPr/>
          </p:nvCxnSpPr>
          <p:spPr>
            <a:xfrm>
              <a:off x="9958440" y="5961953"/>
              <a:ext cx="1975483" cy="0"/>
            </a:xfrm>
            <a:prstGeom prst="straightConnector1">
              <a:avLst/>
            </a:prstGeom>
            <a:ln w="76200"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8422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43"/>
          <p:cNvSpPr/>
          <p:nvPr/>
        </p:nvSpPr>
        <p:spPr>
          <a:xfrm>
            <a:off x="720000" y="109800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7" name="TextBox 45"/>
          <p:cNvSpPr txBox="1"/>
          <p:nvPr/>
        </p:nvSpPr>
        <p:spPr>
          <a:xfrm>
            <a:off x="1080000" y="11034000"/>
            <a:ext cx="19130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13CA6"/>
                </a:solidFill>
              </a:rPr>
              <a:t>各ステップで未ソート部分の最小値を探し、先頭へ移動  ／  比較: O(n²)、交換: 最大 n−1 回</a:t>
            </a:r>
          </a:p>
        </p:txBody>
      </p:sp>
      <p:grpSp>
        <p:nvGrpSpPr>
          <p:cNvPr id="32" name="グループ化 31"/>
          <p:cNvGrpSpPr/>
          <p:nvPr/>
        </p:nvGrpSpPr>
        <p:grpSpPr>
          <a:xfrm>
            <a:off x="3789178" y="2197594"/>
            <a:ext cx="13711607" cy="7577737"/>
            <a:chOff x="3665631" y="1739211"/>
            <a:chExt cx="13711607" cy="7577737"/>
          </a:xfrm>
        </p:grpSpPr>
        <p:sp>
          <p:nvSpPr>
            <p:cNvPr id="6" name="Rectangle 5"/>
            <p:cNvSpPr/>
            <p:nvPr/>
          </p:nvSpPr>
          <p:spPr>
            <a:xfrm>
              <a:off x="3665631" y="1739211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rgbClr val="222222"/>
                  </a:solidFill>
                </a:rPr>
                <a:t>5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5537631" y="1739211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3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7409631" y="1739211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8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9281631" y="1739211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153631" y="1739211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313025" y="1996989"/>
              <a:ext cx="4064213" cy="49244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lang="ja-JP" altLang="en-US" sz="2600" dirty="0">
                  <a:solidFill>
                    <a:srgbClr val="666666"/>
                  </a:solidFill>
                </a:rPr>
                <a:t>初期状態</a:t>
              </a:r>
              <a:endParaRPr sz="2600" b="0" dirty="0">
                <a:solidFill>
                  <a:srgbClr val="666666"/>
                </a:solidFill>
              </a:endParaRPr>
            </a:p>
          </p:txBody>
        </p:sp>
        <p:sp>
          <p:nvSpPr>
            <p:cNvPr id="53" name="Rectangle 5"/>
            <p:cNvSpPr/>
            <p:nvPr/>
          </p:nvSpPr>
          <p:spPr>
            <a:xfrm>
              <a:off x="3665631" y="8302599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1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54" name="Rectangle 6"/>
            <p:cNvSpPr/>
            <p:nvPr/>
          </p:nvSpPr>
          <p:spPr>
            <a:xfrm>
              <a:off x="5537631" y="8302599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2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55" name="Rectangle 7"/>
            <p:cNvSpPr/>
            <p:nvPr/>
          </p:nvSpPr>
          <p:spPr>
            <a:xfrm>
              <a:off x="7409631" y="8302599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6" name="Rectangle 8"/>
            <p:cNvSpPr/>
            <p:nvPr/>
          </p:nvSpPr>
          <p:spPr>
            <a:xfrm>
              <a:off x="9281631" y="8302599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5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57" name="Rectangle 9"/>
            <p:cNvSpPr/>
            <p:nvPr/>
          </p:nvSpPr>
          <p:spPr>
            <a:xfrm>
              <a:off x="11153631" y="8302599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3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47" name="Rectangle 5"/>
            <p:cNvSpPr/>
            <p:nvPr/>
          </p:nvSpPr>
          <p:spPr>
            <a:xfrm>
              <a:off x="3665631" y="5020906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600" b="1" dirty="0" smtClean="0">
                  <a:solidFill>
                    <a:schemeClr val="bg1"/>
                  </a:solidFill>
                </a:rPr>
                <a:t>1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48" name="Rectangle 6"/>
            <p:cNvSpPr/>
            <p:nvPr/>
          </p:nvSpPr>
          <p:spPr>
            <a:xfrm>
              <a:off x="5537631" y="5020906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3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7"/>
            <p:cNvSpPr/>
            <p:nvPr/>
          </p:nvSpPr>
          <p:spPr>
            <a:xfrm>
              <a:off x="7409631" y="5020906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8</a:t>
              </a:r>
            </a:p>
          </p:txBody>
        </p:sp>
        <p:sp>
          <p:nvSpPr>
            <p:cNvPr id="50" name="Rectangle 8"/>
            <p:cNvSpPr/>
            <p:nvPr/>
          </p:nvSpPr>
          <p:spPr>
            <a:xfrm>
              <a:off x="9281631" y="5020906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5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51" name="Rectangle 9"/>
            <p:cNvSpPr/>
            <p:nvPr/>
          </p:nvSpPr>
          <p:spPr>
            <a:xfrm>
              <a:off x="11153631" y="5020906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rgbClr val="222222"/>
                  </a:solidFill>
                </a:rPr>
                <a:t>2</a:t>
              </a:r>
            </a:p>
          </p:txBody>
        </p:sp>
        <p:cxnSp>
          <p:nvCxnSpPr>
            <p:cNvPr id="71" name="カギ線コネクタ 70"/>
            <p:cNvCxnSpPr>
              <a:stCxn id="47" idx="2"/>
              <a:endCxn id="50" idx="2"/>
            </p:cNvCxnSpPr>
            <p:nvPr/>
          </p:nvCxnSpPr>
          <p:spPr>
            <a:xfrm rot="16200000" flipH="1">
              <a:off x="7373631" y="3220905"/>
              <a:ext cx="12700" cy="5616000"/>
            </a:xfrm>
            <a:prstGeom prst="bentConnector3">
              <a:avLst>
                <a:gd name="adj1" fmla="val 1800000"/>
              </a:avLst>
            </a:prstGeom>
            <a:ln>
              <a:solidFill>
                <a:schemeClr val="tx2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18"/>
            <p:cNvSpPr txBox="1"/>
            <p:nvPr/>
          </p:nvSpPr>
          <p:spPr>
            <a:xfrm>
              <a:off x="13205631" y="5278684"/>
              <a:ext cx="3961500" cy="49244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2600" b="0" dirty="0">
                  <a:solidFill>
                    <a:srgbClr val="666666"/>
                  </a:solidFill>
                </a:rPr>
                <a:t>← </a:t>
              </a:r>
              <a:r>
                <a:rPr lang="ja-JP" altLang="en-US" sz="2600" b="0" dirty="0" smtClean="0">
                  <a:solidFill>
                    <a:srgbClr val="666666"/>
                  </a:solidFill>
                </a:rPr>
                <a:t>「</a:t>
              </a:r>
              <a:r>
                <a:rPr lang="en-US" altLang="ja-JP" sz="2600" b="0" dirty="0" smtClean="0">
                  <a:solidFill>
                    <a:srgbClr val="666666"/>
                  </a:solidFill>
                </a:rPr>
                <a:t>1</a:t>
              </a:r>
              <a:r>
                <a:rPr lang="ja-JP" altLang="en-US" sz="2600" b="0" dirty="0" smtClean="0">
                  <a:solidFill>
                    <a:srgbClr val="666666"/>
                  </a:solidFill>
                </a:rPr>
                <a:t>」と先頭を交換</a:t>
              </a:r>
              <a:endParaRPr lang="en-US" sz="2600" dirty="0">
                <a:solidFill>
                  <a:srgbClr val="666666"/>
                </a:solidFill>
              </a:endParaRPr>
            </a:p>
          </p:txBody>
        </p:sp>
        <p:cxnSp>
          <p:nvCxnSpPr>
            <p:cNvPr id="52" name="カギ線コネクタ 51"/>
            <p:cNvCxnSpPr>
              <a:stCxn id="54" idx="2"/>
              <a:endCxn id="57" idx="2"/>
            </p:cNvCxnSpPr>
            <p:nvPr/>
          </p:nvCxnSpPr>
          <p:spPr>
            <a:xfrm rot="16200000" flipH="1">
              <a:off x="9245631" y="6502598"/>
              <a:ext cx="12700" cy="5616000"/>
            </a:xfrm>
            <a:prstGeom prst="bentConnector3">
              <a:avLst>
                <a:gd name="adj1" fmla="val 1800000"/>
              </a:avLst>
            </a:prstGeom>
            <a:ln>
              <a:solidFill>
                <a:schemeClr val="tx2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"/>
            <p:cNvSpPr/>
            <p:nvPr/>
          </p:nvSpPr>
          <p:spPr>
            <a:xfrm>
              <a:off x="3665631" y="3380058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5</a:t>
              </a:r>
            </a:p>
          </p:txBody>
        </p:sp>
        <p:sp>
          <p:nvSpPr>
            <p:cNvPr id="64" name="Rectangle 6"/>
            <p:cNvSpPr/>
            <p:nvPr/>
          </p:nvSpPr>
          <p:spPr>
            <a:xfrm>
              <a:off x="5537631" y="3380058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3</a:t>
              </a:r>
            </a:p>
          </p:txBody>
        </p:sp>
        <p:sp>
          <p:nvSpPr>
            <p:cNvPr id="70" name="Rectangle 7"/>
            <p:cNvSpPr/>
            <p:nvPr/>
          </p:nvSpPr>
          <p:spPr>
            <a:xfrm>
              <a:off x="7409631" y="3380058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8</a:t>
              </a:r>
            </a:p>
          </p:txBody>
        </p:sp>
        <p:sp>
          <p:nvSpPr>
            <p:cNvPr id="72" name="Rectangle 8"/>
            <p:cNvSpPr/>
            <p:nvPr/>
          </p:nvSpPr>
          <p:spPr>
            <a:xfrm>
              <a:off x="9281631" y="3380058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4" name="Rectangle 9"/>
            <p:cNvSpPr/>
            <p:nvPr/>
          </p:nvSpPr>
          <p:spPr>
            <a:xfrm>
              <a:off x="11153631" y="3380058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2</a:t>
              </a:r>
            </a:p>
          </p:txBody>
        </p:sp>
        <p:sp>
          <p:nvSpPr>
            <p:cNvPr id="75" name="TextBox 10"/>
            <p:cNvSpPr txBox="1"/>
            <p:nvPr/>
          </p:nvSpPr>
          <p:spPr>
            <a:xfrm>
              <a:off x="13313025" y="3437782"/>
              <a:ext cx="4064213" cy="8925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ja-JP" altLang="en-US" sz="2600" dirty="0" smtClean="0">
                  <a:solidFill>
                    <a:srgbClr val="666666"/>
                  </a:solidFill>
                </a:rPr>
                <a:t>← 未</a:t>
              </a:r>
              <a:r>
                <a:rPr lang="ja-JP" altLang="en-US" sz="2600" dirty="0">
                  <a:solidFill>
                    <a:srgbClr val="666666"/>
                  </a:solidFill>
                </a:rPr>
                <a:t>確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定</a:t>
              </a:r>
              <a:r>
                <a:rPr lang="ja-JP" altLang="en-US" sz="2600" dirty="0">
                  <a:solidFill>
                    <a:srgbClr val="666666"/>
                  </a:solidFill>
                </a:rPr>
                <a:t>部分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を探索</a:t>
              </a:r>
              <a:endParaRPr lang="en-US" altLang="ja-JP" sz="2600" dirty="0" smtClean="0">
                <a:solidFill>
                  <a:srgbClr val="666666"/>
                </a:solidFill>
              </a:endParaRPr>
            </a:p>
            <a:p>
              <a:pPr algn="l"/>
              <a:r>
                <a:rPr lang="ja-JP" altLang="en-US" sz="2600" b="0" dirty="0" smtClean="0">
                  <a:solidFill>
                    <a:srgbClr val="666666"/>
                  </a:solidFill>
                </a:rPr>
                <a:t>     「</a:t>
              </a:r>
              <a:r>
                <a:rPr lang="en-US" altLang="ja-JP" sz="2600" b="0" dirty="0" smtClean="0">
                  <a:solidFill>
                    <a:srgbClr val="666666"/>
                  </a:solidFill>
                </a:rPr>
                <a:t>1</a:t>
              </a:r>
              <a:r>
                <a:rPr lang="ja-JP" altLang="en-US" sz="2600" b="0" dirty="0" smtClean="0">
                  <a:solidFill>
                    <a:srgbClr val="666666"/>
                  </a:solidFill>
                </a:rPr>
                <a:t>」が一番小さい</a:t>
              </a:r>
              <a:endParaRPr sz="2600" b="0" dirty="0">
                <a:solidFill>
                  <a:srgbClr val="666666"/>
                </a:solidFill>
              </a:endParaRPr>
            </a:p>
          </p:txBody>
        </p:sp>
        <p:sp>
          <p:nvSpPr>
            <p:cNvPr id="77" name="Rectangle 5"/>
            <p:cNvSpPr/>
            <p:nvPr/>
          </p:nvSpPr>
          <p:spPr>
            <a:xfrm>
              <a:off x="3665631" y="6661753"/>
              <a:ext cx="1800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600" b="1" dirty="0" smtClean="0">
                  <a:solidFill>
                    <a:schemeClr val="bg1"/>
                  </a:solidFill>
                </a:rPr>
                <a:t>1</a:t>
              </a:r>
              <a:endParaRPr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78" name="Rectangle 6"/>
            <p:cNvSpPr/>
            <p:nvPr/>
          </p:nvSpPr>
          <p:spPr>
            <a:xfrm>
              <a:off x="5537631" y="6661753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3</a:t>
              </a:r>
              <a:endParaRPr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79" name="Rectangle 7"/>
            <p:cNvSpPr/>
            <p:nvPr/>
          </p:nvSpPr>
          <p:spPr>
            <a:xfrm>
              <a:off x="7409631" y="6661753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8</a:t>
              </a:r>
            </a:p>
          </p:txBody>
        </p:sp>
        <p:sp>
          <p:nvSpPr>
            <p:cNvPr id="80" name="Rectangle 8"/>
            <p:cNvSpPr/>
            <p:nvPr/>
          </p:nvSpPr>
          <p:spPr>
            <a:xfrm>
              <a:off x="9281631" y="6661753"/>
              <a:ext cx="1800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b="1" dirty="0">
                  <a:solidFill>
                    <a:srgbClr val="222222"/>
                  </a:solidFill>
                </a:rPr>
                <a:t>5</a:t>
              </a:r>
              <a:endParaRPr sz="3600" b="1" dirty="0">
                <a:solidFill>
                  <a:srgbClr val="222222"/>
                </a:solidFill>
              </a:endParaRPr>
            </a:p>
          </p:txBody>
        </p:sp>
        <p:sp>
          <p:nvSpPr>
            <p:cNvPr id="81" name="Rectangle 9"/>
            <p:cNvSpPr/>
            <p:nvPr/>
          </p:nvSpPr>
          <p:spPr>
            <a:xfrm>
              <a:off x="11153631" y="6661753"/>
              <a:ext cx="1800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83" name="TextBox 18"/>
            <p:cNvSpPr txBox="1"/>
            <p:nvPr/>
          </p:nvSpPr>
          <p:spPr>
            <a:xfrm>
              <a:off x="13205631" y="6719476"/>
              <a:ext cx="3961500" cy="8925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2600" b="0" dirty="0" smtClean="0">
                  <a:solidFill>
                    <a:srgbClr val="666666"/>
                  </a:solidFill>
                </a:rPr>
                <a:t>←</a:t>
              </a:r>
              <a:r>
                <a:rPr lang="en-US" sz="2600" b="0" dirty="0" smtClean="0">
                  <a:solidFill>
                    <a:srgbClr val="666666"/>
                  </a:solidFill>
                </a:rPr>
                <a:t> 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未</a:t>
              </a:r>
              <a:r>
                <a:rPr lang="ja-JP" altLang="en-US" sz="2600" dirty="0">
                  <a:solidFill>
                    <a:srgbClr val="666666"/>
                  </a:solidFill>
                </a:rPr>
                <a:t>確定部分を探索</a:t>
              </a:r>
              <a:endParaRPr lang="en-US" altLang="ja-JP" sz="2600" dirty="0">
                <a:solidFill>
                  <a:srgbClr val="666666"/>
                </a:solidFill>
              </a:endParaRPr>
            </a:p>
            <a:p>
              <a:pPr algn="l"/>
              <a:r>
                <a:rPr lang="en-US" altLang="ja-JP" sz="2600" dirty="0" smtClean="0">
                  <a:solidFill>
                    <a:srgbClr val="666666"/>
                  </a:solidFill>
                </a:rPr>
                <a:t>     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「</a:t>
              </a:r>
              <a:r>
                <a:rPr lang="en-US" altLang="ja-JP" sz="2600" dirty="0">
                  <a:solidFill>
                    <a:srgbClr val="666666"/>
                  </a:solidFill>
                </a:rPr>
                <a:t>2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」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が</a:t>
              </a:r>
              <a:r>
                <a:rPr lang="ja-JP" altLang="en-US" sz="2600" dirty="0">
                  <a:solidFill>
                    <a:srgbClr val="666666"/>
                  </a:solidFill>
                </a:rPr>
                <a:t>小</a:t>
              </a:r>
              <a:r>
                <a:rPr lang="ja-JP" altLang="en-US" sz="2600" dirty="0" smtClean="0">
                  <a:solidFill>
                    <a:srgbClr val="666666"/>
                  </a:solidFill>
                </a:rPr>
                <a:t>さ</a:t>
              </a:r>
              <a:r>
                <a:rPr lang="ja-JP" altLang="en-US" sz="2600" b="0" dirty="0" smtClean="0">
                  <a:solidFill>
                    <a:srgbClr val="666666"/>
                  </a:solidFill>
                </a:rPr>
                <a:t>い</a:t>
              </a:r>
              <a:endParaRPr lang="en-US" sz="2600" dirty="0">
                <a:solidFill>
                  <a:srgbClr val="666666"/>
                </a:solidFill>
              </a:endParaRPr>
            </a:p>
          </p:txBody>
        </p:sp>
        <p:cxnSp>
          <p:nvCxnSpPr>
            <p:cNvPr id="88" name="直線矢印コネクタ 87"/>
            <p:cNvCxnSpPr/>
            <p:nvPr/>
          </p:nvCxnSpPr>
          <p:spPr>
            <a:xfrm>
              <a:off x="6385610" y="7960499"/>
              <a:ext cx="5636281" cy="0"/>
            </a:xfrm>
            <a:prstGeom prst="straightConnector1">
              <a:avLst/>
            </a:prstGeom>
            <a:ln w="76200"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矢印コネクタ 88"/>
            <p:cNvCxnSpPr/>
            <p:nvPr/>
          </p:nvCxnSpPr>
          <p:spPr>
            <a:xfrm>
              <a:off x="4426705" y="4633099"/>
              <a:ext cx="7501890" cy="0"/>
            </a:xfrm>
            <a:prstGeom prst="straightConnector1">
              <a:avLst/>
            </a:prstGeom>
            <a:ln w="76200"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18"/>
            <p:cNvSpPr txBox="1"/>
            <p:nvPr/>
          </p:nvSpPr>
          <p:spPr>
            <a:xfrm>
              <a:off x="13205631" y="8560376"/>
              <a:ext cx="3961500" cy="49244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2600" b="0" dirty="0">
                  <a:solidFill>
                    <a:srgbClr val="666666"/>
                  </a:solidFill>
                </a:rPr>
                <a:t>← </a:t>
              </a:r>
              <a:r>
                <a:rPr lang="ja-JP" altLang="en-US" sz="2600" b="0" dirty="0" smtClean="0">
                  <a:solidFill>
                    <a:srgbClr val="666666"/>
                  </a:solidFill>
                </a:rPr>
                <a:t>「</a:t>
              </a:r>
              <a:r>
                <a:rPr lang="en-US" altLang="ja-JP" sz="2600" dirty="0">
                  <a:solidFill>
                    <a:srgbClr val="666666"/>
                  </a:solidFill>
                </a:rPr>
                <a:t>2</a:t>
              </a:r>
              <a:r>
                <a:rPr lang="ja-JP" altLang="en-US" sz="2600" b="0" dirty="0" smtClean="0">
                  <a:solidFill>
                    <a:srgbClr val="666666"/>
                  </a:solidFill>
                </a:rPr>
                <a:t>」と先頭を交換</a:t>
              </a:r>
              <a:endParaRPr lang="en-US" sz="2600" dirty="0">
                <a:solidFill>
                  <a:srgbClr val="666666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7673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225</Words>
  <Application>Microsoft Office PowerPoint</Application>
  <PresentationFormat>ユーザー設定</PresentationFormat>
  <Paragraphs>72</Paragraphs>
  <Slides>2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3" baseType="lpstr">
      <vt:lpstr>Office Theme</vt:lpstr>
      <vt:lpstr>PowerPoint プレゼンテーション</vt:lpstr>
      <vt:lpstr>PowerPoint プレゼンテーション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shining</dc:creator>
  <dc:description>generated using python-pptx</dc:description>
  <cp:lastModifiedBy>shining</cp:lastModifiedBy>
  <cp:revision>25</cp:revision>
  <dcterms:created xsi:type="dcterms:W3CDTF">2013-01-27T09:14:16Z</dcterms:created>
  <dcterms:modified xsi:type="dcterms:W3CDTF">2026-05-27T15:17:44Z</dcterms:modified>
</cp:coreProperties>
</file>