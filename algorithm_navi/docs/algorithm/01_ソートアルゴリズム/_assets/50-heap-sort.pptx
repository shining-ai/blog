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436"/>
            <a:ext cx="21290400" cy="11049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25999"/>
            <a:ext cx="19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ヒープソート：</a:t>
            </a:r>
            <a:r>
              <a:rPr sz="5000" b="1" dirty="0" smtClean="0">
                <a:solidFill>
                  <a:srgbClr val="FFFFFF"/>
                </a:solidFill>
              </a:rPr>
              <a:t>最大ヒープの構造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3376" y="1440000"/>
            <a:ext cx="2458848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13CA6"/>
                </a:solidFill>
              </a:rPr>
              <a:t>配列表現</a:t>
            </a:r>
          </a:p>
        </p:txBody>
      </p:sp>
      <p:grpSp>
        <p:nvGrpSpPr>
          <p:cNvPr id="49" name="グループ化 48"/>
          <p:cNvGrpSpPr/>
          <p:nvPr/>
        </p:nvGrpSpPr>
        <p:grpSpPr>
          <a:xfrm>
            <a:off x="4128061" y="1948000"/>
            <a:ext cx="13033841" cy="1584000"/>
            <a:chOff x="4837859" y="1948000"/>
            <a:chExt cx="13033841" cy="1584000"/>
          </a:xfrm>
        </p:grpSpPr>
        <p:sp>
          <p:nvSpPr>
            <p:cNvPr id="6" name="Rectangle 5"/>
            <p:cNvSpPr/>
            <p:nvPr/>
          </p:nvSpPr>
          <p:spPr>
            <a:xfrm>
              <a:off x="5847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1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575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7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59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303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987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031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715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59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43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4487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71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6215700" y="1948000"/>
              <a:ext cx="1656000" cy="1080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899700" y="3100000"/>
              <a:ext cx="54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0">
                  <a:solidFill>
                    <a:srgbClr val="666666"/>
                  </a:solidFill>
                </a:rPr>
                <a:t>6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37859" y="3100000"/>
              <a:ext cx="1106482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523376" y="4512698"/>
            <a:ext cx="2458848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13CA6"/>
                </a:solidFill>
              </a:rPr>
              <a:t>ツリー表現</a:t>
            </a:r>
          </a:p>
        </p:txBody>
      </p:sp>
      <p:grpSp>
        <p:nvGrpSpPr>
          <p:cNvPr id="50" name="グループ化 49"/>
          <p:cNvGrpSpPr/>
          <p:nvPr/>
        </p:nvGrpSpPr>
        <p:grpSpPr>
          <a:xfrm>
            <a:off x="6288981" y="4830199"/>
            <a:ext cx="8712000" cy="5868000"/>
            <a:chOff x="5746700" y="4830199"/>
            <a:chExt cx="8712000" cy="5868000"/>
          </a:xfrm>
        </p:grpSpPr>
        <p:cxnSp>
          <p:nvCxnSpPr>
            <p:cNvPr id="27" name="Connector 26"/>
            <p:cNvCxnSpPr/>
            <p:nvPr/>
          </p:nvCxnSpPr>
          <p:spPr>
            <a:xfrm flipH="1">
              <a:off x="7582700" y="5982199"/>
              <a:ext cx="252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10102700" y="5982199"/>
              <a:ext cx="252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H="1">
              <a:off x="6322700" y="8142199"/>
              <a:ext cx="126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7582700" y="8142199"/>
              <a:ext cx="126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H="1">
              <a:off x="11362700" y="8142199"/>
              <a:ext cx="126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12622700" y="8142199"/>
              <a:ext cx="1260000" cy="1008000"/>
            </a:xfrm>
            <a:prstGeom prst="line">
              <a:avLst/>
            </a:prstGeom>
            <a:ln w="38100">
              <a:solidFill>
                <a:srgbClr val="BDE4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9526700" y="4830199"/>
              <a:ext cx="1152000" cy="1152000"/>
            </a:xfrm>
            <a:prstGeom prst="ellipse">
              <a:avLst/>
            </a:prstGeom>
            <a:solidFill>
              <a:schemeClr val="tx2"/>
            </a:solidFill>
            <a:ln w="317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814700" y="601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[0]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006700" y="699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7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4700" y="817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[1]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12046700" y="699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334700" y="817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[2]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5746700" y="915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34700" y="1033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[3]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8266700" y="915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54700" y="1033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[4]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10786700" y="915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074700" y="1033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[5]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3306700" y="9150199"/>
              <a:ext cx="1152000" cy="1152000"/>
            </a:xfrm>
            <a:prstGeom prst="ellipse">
              <a:avLst/>
            </a:prstGeom>
            <a:solidFill>
              <a:srgbClr val="F3FAFE"/>
            </a:solidFill>
            <a:ln w="317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3594700" y="10338199"/>
              <a:ext cx="648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>
                  <a:solidFill>
                    <a:srgbClr val="666666"/>
                  </a:solidFill>
                </a:rPr>
                <a:t>[6]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80000" y="11122085"/>
            <a:ext cx="19130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solidFill>
                  <a:srgbClr val="013CA6"/>
                </a:solidFill>
              </a:rPr>
              <a:t>最大ヒープ: 親 ≥ 子  ／  配列で効率的に表現可能  ／  ヒープ構築: O(n)（bottom-up heapify</a:t>
            </a:r>
            <a:r>
              <a:rPr sz="2700" b="1" dirty="0" smtClean="0">
                <a:solidFill>
                  <a:srgbClr val="013CA6"/>
                </a:solidFill>
              </a:rPr>
              <a:t>）</a:t>
            </a:r>
            <a:endParaRPr lang="en-US" sz="2700" b="1" dirty="0" smtClean="0">
              <a:solidFill>
                <a:srgbClr val="013CA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113773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25999"/>
            <a:ext cx="19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ヒープソート：ソートフェーズ（最大値を順に確定</a:t>
            </a:r>
            <a:r>
              <a:rPr sz="5000" b="1" dirty="0" smtClean="0">
                <a:solidFill>
                  <a:srgbClr val="FFFFFF"/>
                </a:solidFill>
              </a:rPr>
              <a:t>）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grpSp>
        <p:nvGrpSpPr>
          <p:cNvPr id="62" name="グループ化 61"/>
          <p:cNvGrpSpPr/>
          <p:nvPr/>
        </p:nvGrpSpPr>
        <p:grpSpPr>
          <a:xfrm>
            <a:off x="720000" y="2340000"/>
            <a:ext cx="2520000" cy="1007999"/>
            <a:chOff x="720000" y="2340000"/>
            <a:chExt cx="2520000" cy="1007999"/>
          </a:xfrm>
        </p:grpSpPr>
        <p:sp>
          <p:nvSpPr>
            <p:cNvPr id="5" name="Rectangle 4"/>
            <p:cNvSpPr/>
            <p:nvPr/>
          </p:nvSpPr>
          <p:spPr>
            <a:xfrm>
              <a:off x="720000" y="2340000"/>
              <a:ext cx="2520000" cy="1007999"/>
            </a:xfrm>
            <a:prstGeom prst="rect">
              <a:avLst/>
            </a:prstGeom>
            <a:solidFill>
              <a:srgbClr val="013C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20000" y="2551612"/>
              <a:ext cx="252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FFFFFF"/>
                  </a:solidFill>
                </a:rPr>
                <a:t>STEP </a:t>
              </a:r>
              <a:r>
                <a:rPr sz="3200" b="1" dirty="0" smtClean="0">
                  <a:solidFill>
                    <a:srgbClr val="FFFFFF"/>
                  </a:solidFill>
                </a:rPr>
                <a:t>1</a:t>
              </a:r>
              <a:endParaRPr lang="en-US" sz="3200" b="1" dirty="0" smtClean="0">
                <a:solidFill>
                  <a:srgbClr val="FFFFFF"/>
                </a:solidFill>
              </a:endParaRPr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0" y="3492000"/>
            <a:ext cx="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0000" y="4968000"/>
            <a:ext cx="198504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グループ化 60"/>
          <p:cNvGrpSpPr/>
          <p:nvPr/>
        </p:nvGrpSpPr>
        <p:grpSpPr>
          <a:xfrm>
            <a:off x="720000" y="6757301"/>
            <a:ext cx="2520000" cy="1007999"/>
            <a:chOff x="720000" y="5948100"/>
            <a:chExt cx="2520000" cy="1007999"/>
          </a:xfrm>
        </p:grpSpPr>
        <p:sp>
          <p:nvSpPr>
            <p:cNvPr id="18" name="Rectangle 17"/>
            <p:cNvSpPr/>
            <p:nvPr/>
          </p:nvSpPr>
          <p:spPr>
            <a:xfrm>
              <a:off x="720000" y="5948100"/>
              <a:ext cx="2520000" cy="1007999"/>
            </a:xfrm>
            <a:prstGeom prst="rect">
              <a:avLst/>
            </a:prstGeom>
            <a:solidFill>
              <a:srgbClr val="013C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0000" y="6159712"/>
              <a:ext cx="252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FFFFFF"/>
                  </a:solidFill>
                </a:rPr>
                <a:t>STEP </a:t>
              </a:r>
              <a:r>
                <a:rPr sz="3200" b="1" dirty="0" smtClean="0">
                  <a:solidFill>
                    <a:srgbClr val="FFFFFF"/>
                  </a:solidFill>
                </a:rPr>
                <a:t>2</a:t>
              </a:r>
              <a:endParaRPr lang="en-US" sz="3200" b="1" dirty="0" smtClean="0">
                <a:solidFill>
                  <a:srgbClr val="FFFFFF"/>
                </a:solidFill>
              </a:endParaRPr>
            </a:p>
          </p:txBody>
        </p:sp>
      </p:grpSp>
      <p:cxnSp>
        <p:nvCxnSpPr>
          <p:cNvPr id="27" name="Connector 26"/>
          <p:cNvCxnSpPr/>
          <p:nvPr/>
        </p:nvCxnSpPr>
        <p:spPr>
          <a:xfrm>
            <a:off x="0" y="6300000"/>
            <a:ext cx="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9108000"/>
            <a:ext cx="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20000" y="1098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最終結果: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0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2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64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36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08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780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52000" y="10980000"/>
            <a:ext cx="1800000" cy="720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0000" y="11122085"/>
            <a:ext cx="19130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solidFill>
                  <a:srgbClr val="013CA6"/>
                </a:solidFill>
              </a:rPr>
              <a:t>「root（最大値）を末尾へ移動 → heapify」を繰り返す  ／  各ステップ O(log n)  ／  全体 O(n log n</a:t>
            </a:r>
            <a:r>
              <a:rPr sz="2700" b="1" dirty="0" smtClean="0">
                <a:solidFill>
                  <a:srgbClr val="013CA6"/>
                </a:solidFill>
              </a:rPr>
              <a:t>)</a:t>
            </a:r>
            <a:endParaRPr lang="en-US" sz="2700" b="1" dirty="0" smtClean="0">
              <a:solidFill>
                <a:srgbClr val="013CA6"/>
              </a:solidFill>
            </a:endParaRPr>
          </a:p>
        </p:txBody>
      </p:sp>
      <p:grpSp>
        <p:nvGrpSpPr>
          <p:cNvPr id="66" name="グループ化 65"/>
          <p:cNvGrpSpPr/>
          <p:nvPr/>
        </p:nvGrpSpPr>
        <p:grpSpPr>
          <a:xfrm>
            <a:off x="3600000" y="2372824"/>
            <a:ext cx="17051196" cy="942350"/>
            <a:chOff x="3600000" y="2340000"/>
            <a:chExt cx="17051196" cy="942350"/>
          </a:xfrm>
        </p:grpSpPr>
        <p:sp>
          <p:nvSpPr>
            <p:cNvPr id="7" name="Rectangle 6"/>
            <p:cNvSpPr/>
            <p:nvPr/>
          </p:nvSpPr>
          <p:spPr>
            <a:xfrm>
              <a:off x="3600000" y="2340000"/>
              <a:ext cx="1800000" cy="936000"/>
            </a:xfrm>
            <a:prstGeom prst="rect">
              <a:avLst/>
            </a:prstGeom>
            <a:solidFill>
              <a:srgbClr val="EBA81A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72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7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4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216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88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960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832000" y="2340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993404" y="2376000"/>
              <a:ext cx="365779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root(9) を末尾(6) と交換</a:t>
              </a:r>
              <a:r>
                <a:rPr dirty="0"/>
                <a:t/>
              </a:r>
              <a:br>
                <a:rPr dirty="0"/>
              </a:br>
              <a:r>
                <a:rPr sz="2400" dirty="0"/>
                <a:t>→ 9 を末尾に確定</a:t>
              </a:r>
              <a:endParaRPr dirty="0"/>
            </a:p>
          </p:txBody>
        </p:sp>
        <p:cxnSp>
          <p:nvCxnSpPr>
            <p:cNvPr id="54" name="カギ線コネクタ 53"/>
            <p:cNvCxnSpPr>
              <a:stCxn id="7" idx="2"/>
              <a:endCxn id="13" idx="2"/>
            </p:cNvCxnSpPr>
            <p:nvPr/>
          </p:nvCxnSpPr>
          <p:spPr>
            <a:xfrm rot="16200000" flipH="1">
              <a:off x="10116000" y="-2340000"/>
              <a:ext cx="12700" cy="11232000"/>
            </a:xfrm>
            <a:prstGeom prst="bentConnector3">
              <a:avLst>
                <a:gd name="adj1" fmla="val 3900000"/>
              </a:avLst>
            </a:prstGeom>
            <a:ln w="38100"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グループ化 59"/>
          <p:cNvGrpSpPr/>
          <p:nvPr/>
        </p:nvGrpSpPr>
        <p:grpSpPr>
          <a:xfrm>
            <a:off x="3593394" y="5630600"/>
            <a:ext cx="17057802" cy="3261400"/>
            <a:chOff x="3593394" y="5148000"/>
            <a:chExt cx="17057802" cy="3261400"/>
          </a:xfrm>
        </p:grpSpPr>
        <p:sp>
          <p:nvSpPr>
            <p:cNvPr id="20" name="Rectangle 19"/>
            <p:cNvSpPr/>
            <p:nvPr/>
          </p:nvSpPr>
          <p:spPr>
            <a:xfrm>
              <a:off x="3600000" y="5148000"/>
              <a:ext cx="1800000" cy="936000"/>
            </a:xfrm>
            <a:prstGeom prst="rect">
              <a:avLst/>
            </a:prstGeom>
            <a:solidFill>
              <a:srgbClr val="EBA81A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FFFFFF"/>
                  </a:solidFill>
                </a:rPr>
                <a:t>6</a:t>
              </a:r>
              <a:endParaRPr sz="3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72000" y="5148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7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344000" y="5148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222222"/>
                  </a:solidFill>
                </a:rPr>
                <a:t>8</a:t>
              </a:r>
              <a:endParaRPr sz="3400" b="1" dirty="0">
                <a:solidFill>
                  <a:srgbClr val="222222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216000" y="5148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88000" y="5148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960000" y="51480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4832000" y="5148000"/>
              <a:ext cx="1800000" cy="936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3404" y="5298300"/>
              <a:ext cx="3657792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ja-JP" altLang="en-US" sz="2600" b="0" dirty="0" smtClean="0">
                  <a:solidFill>
                    <a:srgbClr val="666666"/>
                  </a:solidFill>
                </a:rPr>
                <a:t>未確定で</a:t>
              </a:r>
              <a:r>
                <a:rPr sz="2600" b="0" dirty="0" smtClean="0">
                  <a:solidFill>
                    <a:srgbClr val="666666"/>
                  </a:solidFill>
                </a:rPr>
                <a:t>heapify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実施</a:t>
              </a:r>
              <a:endParaRPr lang="en-US" altLang="ja-JP" sz="2600" b="0" dirty="0" smtClean="0">
                <a:solidFill>
                  <a:srgbClr val="666666"/>
                </a:solidFill>
              </a:endParaRPr>
            </a:p>
            <a:p>
              <a:r>
                <a:rPr lang="ja-JP" altLang="en-US" sz="2400" dirty="0" smtClean="0">
                  <a:solidFill>
                    <a:srgbClr val="666666"/>
                  </a:solidFill>
                </a:rPr>
                <a:t>→</a:t>
              </a:r>
              <a:r>
                <a:rPr lang="ja-JP" altLang="en-US" sz="2400" dirty="0"/>
                <a:t>最大ヒープ構</a:t>
              </a:r>
              <a:r>
                <a:rPr lang="ja-JP" altLang="en-US" sz="2400" dirty="0" smtClean="0"/>
                <a:t>築</a:t>
              </a:r>
              <a:endParaRPr lang="en-US" altLang="ja-JP" sz="24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00000" y="7473400"/>
              <a:ext cx="1800000" cy="936000"/>
            </a:xfrm>
            <a:prstGeom prst="rect">
              <a:avLst/>
            </a:prstGeom>
            <a:solidFill>
              <a:srgbClr val="EBA81A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FFFFFF"/>
                  </a:solidFill>
                </a:rPr>
                <a:t>8</a:t>
              </a:r>
              <a:endParaRPr sz="3400" b="1" dirty="0">
                <a:solidFill>
                  <a:srgbClr val="FFFFFF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472000" y="74734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222222"/>
                  </a:solidFill>
                </a:rPr>
                <a:t>7</a:t>
              </a:r>
              <a:endParaRPr sz="3400" b="1" dirty="0">
                <a:solidFill>
                  <a:srgbClr val="222222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344000" y="74734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216000" y="74734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088000" y="74734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960000" y="7473400"/>
              <a:ext cx="1800000" cy="9360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tx1"/>
                  </a:solidFill>
                </a:rPr>
                <a:t>4</a:t>
              </a:r>
              <a:endParaRPr sz="3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4832000" y="7473400"/>
              <a:ext cx="1800000" cy="936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6993404" y="7695179"/>
              <a:ext cx="3657792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ja-JP" sz="2600" b="0" dirty="0" smtClean="0">
                  <a:solidFill>
                    <a:srgbClr val="666666"/>
                  </a:solidFill>
                </a:rPr>
                <a:t>STEP1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に戻る</a:t>
              </a:r>
              <a:endParaRPr dirty="0"/>
            </a:p>
          </p:txBody>
        </p:sp>
        <p:sp>
          <p:nvSpPr>
            <p:cNvPr id="58" name="TextBox 41"/>
            <p:cNvSpPr txBox="1"/>
            <p:nvPr/>
          </p:nvSpPr>
          <p:spPr>
            <a:xfrm>
              <a:off x="7372704" y="6608277"/>
              <a:ext cx="3657792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600" b="0" dirty="0" smtClean="0">
                  <a:solidFill>
                    <a:schemeClr val="tx2"/>
                  </a:solidFill>
                </a:rPr>
                <a:t>未確定領域</a:t>
              </a: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59" name="左中かっこ 58"/>
            <p:cNvSpPr/>
            <p:nvPr/>
          </p:nvSpPr>
          <p:spPr>
            <a:xfrm rot="16200000">
              <a:off x="9047957" y="722366"/>
              <a:ext cx="307287" cy="1121641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156</Words>
  <Application>Microsoft Office PowerPoint</Application>
  <PresentationFormat>ユーザー設定</PresentationFormat>
  <Paragraphs>71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17</cp:revision>
  <dcterms:created xsi:type="dcterms:W3CDTF">2013-01-27T09:14:16Z</dcterms:created>
  <dcterms:modified xsi:type="dcterms:W3CDTF">2026-05-31T16:20:43Z</dcterms:modified>
</cp:coreProperties>
</file>