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8" r:id="rId2"/>
    <p:sldId id="256" r:id="rId3"/>
    <p:sldId id="259" r:id="rId4"/>
    <p:sldId id="260" r:id="rId5"/>
  </p:sldIdLst>
  <p:sldSz cx="21289963" cy="119729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FAFE"/>
    <a:srgbClr val="D4F5E0"/>
    <a:srgbClr val="00B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0" d="100"/>
          <a:sy n="50" d="100"/>
        </p:scale>
        <p:origin x="-124" y="-1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/>
          <p:cNvSpPr/>
          <p:nvPr/>
        </p:nvSpPr>
        <p:spPr>
          <a:xfrm>
            <a:off x="720000" y="10980000"/>
            <a:ext cx="19850400" cy="792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080000" y="11122085"/>
            <a:ext cx="19130400" cy="5078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700" b="1" dirty="0" smtClean="0">
                <a:solidFill>
                  <a:srgbClr val="013CA6"/>
                </a:solidFill>
              </a:rPr>
              <a:t>再帰的に分割 </a:t>
            </a:r>
            <a:r>
              <a:rPr sz="2700" b="1" dirty="0">
                <a:solidFill>
                  <a:srgbClr val="013CA6"/>
                </a:solidFill>
              </a:rPr>
              <a:t>→ </a:t>
            </a:r>
            <a:r>
              <a:rPr lang="en-US" altLang="ja-JP" sz="2700" b="1" dirty="0" smtClean="0">
                <a:solidFill>
                  <a:srgbClr val="013CA6"/>
                </a:solidFill>
              </a:rPr>
              <a:t>pivot</a:t>
            </a:r>
            <a:r>
              <a:rPr lang="ja-JP" altLang="en-US" sz="2700" b="1" dirty="0" smtClean="0">
                <a:solidFill>
                  <a:srgbClr val="013CA6"/>
                </a:solidFill>
              </a:rPr>
              <a:t>は正しい位置</a:t>
            </a:r>
            <a:r>
              <a:rPr sz="2700" b="1" dirty="0" smtClean="0">
                <a:solidFill>
                  <a:srgbClr val="013CA6"/>
                </a:solidFill>
              </a:rPr>
              <a:t>  </a:t>
            </a:r>
            <a:r>
              <a:rPr sz="2700" b="1" dirty="0">
                <a:solidFill>
                  <a:srgbClr val="013CA6"/>
                </a:solidFill>
              </a:rPr>
              <a:t>／  分割レベル数 = log 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36949" y="627700"/>
            <a:ext cx="227916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ja-JP" altLang="en-US" sz="2800" b="1" dirty="0">
                <a:solidFill>
                  <a:srgbClr val="666666"/>
                </a:solidFill>
              </a:rPr>
              <a:t>元の</a:t>
            </a:r>
            <a:r>
              <a:rPr sz="2800" b="1" dirty="0" smtClean="0">
                <a:solidFill>
                  <a:srgbClr val="666666"/>
                </a:solidFill>
              </a:rPr>
              <a:t>配列</a:t>
            </a:r>
            <a:endParaRPr lang="en-US" sz="2800" b="1" dirty="0" smtClean="0">
              <a:solidFill>
                <a:srgbClr val="666666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936949" y="4919100"/>
            <a:ext cx="339995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ja-JP" altLang="en-US" sz="2800" b="1" dirty="0" smtClean="0">
                <a:solidFill>
                  <a:srgbClr val="666666"/>
                </a:solidFill>
              </a:rPr>
              <a:t>大小の塊で</a:t>
            </a:r>
            <a:r>
              <a:rPr sz="2800" b="1" dirty="0" smtClean="0">
                <a:solidFill>
                  <a:srgbClr val="666666"/>
                </a:solidFill>
              </a:rPr>
              <a:t>分割</a:t>
            </a:r>
            <a:endParaRPr lang="en-US" sz="2800" b="1" dirty="0" smtClean="0">
              <a:solidFill>
                <a:srgbClr val="666666"/>
              </a:solidFill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1936949" y="7258823"/>
            <a:ext cx="31158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800" b="1" dirty="0">
                <a:solidFill>
                  <a:srgbClr val="666666"/>
                </a:solidFill>
              </a:rPr>
              <a:t>大小の塊で分割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36949" y="9598547"/>
            <a:ext cx="479971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ja-JP" altLang="en-US" sz="2800" b="1" dirty="0" smtClean="0">
                <a:solidFill>
                  <a:srgbClr val="666666"/>
                </a:solidFill>
              </a:rPr>
              <a:t>全てを結合</a:t>
            </a:r>
            <a:r>
              <a:rPr sz="2800" b="1" dirty="0" smtClean="0">
                <a:solidFill>
                  <a:srgbClr val="666666"/>
                </a:solidFill>
              </a:rPr>
              <a:t>（ソート</a:t>
            </a:r>
            <a:r>
              <a:rPr lang="ja-JP" altLang="en-US" sz="2800" b="1" dirty="0" smtClean="0">
                <a:solidFill>
                  <a:srgbClr val="666666"/>
                </a:solidFill>
              </a:rPr>
              <a:t>完了</a:t>
            </a:r>
            <a:r>
              <a:rPr sz="2800" b="1" dirty="0" smtClean="0">
                <a:solidFill>
                  <a:srgbClr val="666666"/>
                </a:solidFill>
              </a:rPr>
              <a:t>）</a:t>
            </a:r>
            <a:endParaRPr lang="en-US" sz="2800" b="1" dirty="0" smtClean="0">
              <a:solidFill>
                <a:srgbClr val="666666"/>
              </a:solidFill>
            </a:endParaRPr>
          </a:p>
        </p:txBody>
      </p:sp>
      <p:sp>
        <p:nvSpPr>
          <p:cNvPr id="43" name="Rectangle 8"/>
          <p:cNvSpPr/>
          <p:nvPr/>
        </p:nvSpPr>
        <p:spPr>
          <a:xfrm>
            <a:off x="6196379" y="441301"/>
            <a:ext cx="1548000" cy="1007999"/>
          </a:xfrm>
          <a:prstGeom prst="rect">
            <a:avLst/>
          </a:prstGeom>
          <a:solidFill>
            <a:srgbClr val="F3FAFE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3600" b="1" dirty="0">
                <a:solidFill>
                  <a:srgbClr val="222222"/>
                </a:solidFill>
              </a:rPr>
              <a:t>5</a:t>
            </a:r>
          </a:p>
        </p:txBody>
      </p:sp>
      <p:sp>
        <p:nvSpPr>
          <p:cNvPr id="41" name="Rectangle 6"/>
          <p:cNvSpPr/>
          <p:nvPr/>
        </p:nvSpPr>
        <p:spPr>
          <a:xfrm>
            <a:off x="10983692" y="441301"/>
            <a:ext cx="1548000" cy="1007999"/>
          </a:xfrm>
          <a:prstGeom prst="rect">
            <a:avLst/>
          </a:prstGeom>
          <a:solidFill>
            <a:srgbClr val="F3FAFE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3600" b="1">
                <a:solidFill>
                  <a:srgbClr val="222222"/>
                </a:solidFill>
              </a:rPr>
              <a:t>1</a:t>
            </a:r>
          </a:p>
        </p:txBody>
      </p:sp>
      <p:sp>
        <p:nvSpPr>
          <p:cNvPr id="42" name="Rectangle 7"/>
          <p:cNvSpPr/>
          <p:nvPr/>
        </p:nvSpPr>
        <p:spPr>
          <a:xfrm>
            <a:off x="7792150" y="441301"/>
            <a:ext cx="1548000" cy="1007999"/>
          </a:xfrm>
          <a:prstGeom prst="rect">
            <a:avLst/>
          </a:prstGeom>
          <a:solidFill>
            <a:srgbClr val="F3FAFE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3600" b="1">
                <a:solidFill>
                  <a:srgbClr val="222222"/>
                </a:solidFill>
              </a:rPr>
              <a:t>3</a:t>
            </a:r>
          </a:p>
        </p:txBody>
      </p:sp>
      <p:sp>
        <p:nvSpPr>
          <p:cNvPr id="44" name="Rectangle 9"/>
          <p:cNvSpPr/>
          <p:nvPr/>
        </p:nvSpPr>
        <p:spPr>
          <a:xfrm>
            <a:off x="9387921" y="441301"/>
            <a:ext cx="1548000" cy="1007999"/>
          </a:xfrm>
          <a:prstGeom prst="rect">
            <a:avLst/>
          </a:prstGeom>
          <a:solidFill>
            <a:srgbClr val="F3FAFE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3600" b="1">
                <a:solidFill>
                  <a:srgbClr val="222222"/>
                </a:solidFill>
              </a:rPr>
              <a:t>8</a:t>
            </a:r>
          </a:p>
        </p:txBody>
      </p:sp>
      <p:sp>
        <p:nvSpPr>
          <p:cNvPr id="45" name="Rectangle 10"/>
          <p:cNvSpPr/>
          <p:nvPr/>
        </p:nvSpPr>
        <p:spPr>
          <a:xfrm>
            <a:off x="12579463" y="441301"/>
            <a:ext cx="1548000" cy="1007999"/>
          </a:xfrm>
          <a:prstGeom prst="rect">
            <a:avLst/>
          </a:prstGeom>
          <a:solidFill>
            <a:srgbClr val="F3FAFE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3600" b="1">
                <a:solidFill>
                  <a:srgbClr val="222222"/>
                </a:solidFill>
              </a:rPr>
              <a:t>2</a:t>
            </a:r>
          </a:p>
        </p:txBody>
      </p:sp>
      <p:sp>
        <p:nvSpPr>
          <p:cNvPr id="46" name="Rectangle 11"/>
          <p:cNvSpPr/>
          <p:nvPr/>
        </p:nvSpPr>
        <p:spPr>
          <a:xfrm>
            <a:off x="15771005" y="441301"/>
            <a:ext cx="1548000" cy="1007999"/>
          </a:xfrm>
          <a:prstGeom prst="rect">
            <a:avLst/>
          </a:prstGeom>
          <a:solidFill>
            <a:srgbClr val="F3FAFE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3600" b="1">
                <a:solidFill>
                  <a:srgbClr val="222222"/>
                </a:solidFill>
              </a:rPr>
              <a:t>4</a:t>
            </a:r>
          </a:p>
        </p:txBody>
      </p:sp>
      <p:sp>
        <p:nvSpPr>
          <p:cNvPr id="47" name="Rectangle 12"/>
          <p:cNvSpPr/>
          <p:nvPr/>
        </p:nvSpPr>
        <p:spPr>
          <a:xfrm>
            <a:off x="17366779" y="441301"/>
            <a:ext cx="1548000" cy="1007999"/>
          </a:xfrm>
          <a:prstGeom prst="rect">
            <a:avLst/>
          </a:prstGeom>
          <a:solidFill>
            <a:srgbClr val="F3FAFE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3600" b="1" dirty="0">
                <a:solidFill>
                  <a:srgbClr val="222222"/>
                </a:solidFill>
              </a:rPr>
              <a:t>6</a:t>
            </a:r>
          </a:p>
        </p:txBody>
      </p:sp>
      <p:sp>
        <p:nvSpPr>
          <p:cNvPr id="48" name="Rectangle 13"/>
          <p:cNvSpPr/>
          <p:nvPr/>
        </p:nvSpPr>
        <p:spPr>
          <a:xfrm>
            <a:off x="14175234" y="441301"/>
            <a:ext cx="1548000" cy="1007999"/>
          </a:xfrm>
          <a:prstGeom prst="rect">
            <a:avLst/>
          </a:prstGeom>
          <a:solidFill>
            <a:srgbClr val="F3FAFE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3600" b="1">
                <a:solidFill>
                  <a:srgbClr val="222222"/>
                </a:solidFill>
              </a:rPr>
              <a:t>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4500871" y="3339329"/>
            <a:ext cx="94449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2400" b="1" dirty="0" smtClean="0">
                <a:solidFill>
                  <a:srgbClr val="013CA6"/>
                </a:solidFill>
              </a:rPr>
              <a:t>pivot</a:t>
            </a:r>
            <a:endParaRPr lang="en-US" sz="2400" b="1" dirty="0" smtClean="0">
              <a:solidFill>
                <a:srgbClr val="013CA6"/>
              </a:solidFill>
            </a:endParaRPr>
          </a:p>
        </p:txBody>
      </p:sp>
      <p:cxnSp>
        <p:nvCxnSpPr>
          <p:cNvPr id="13" name="直線矢印コネクタ 12"/>
          <p:cNvCxnSpPr>
            <a:stCxn id="128" idx="2"/>
          </p:cNvCxnSpPr>
          <p:nvPr/>
        </p:nvCxnSpPr>
        <p:spPr>
          <a:xfrm>
            <a:off x="10195944" y="4206682"/>
            <a:ext cx="1949" cy="470028"/>
          </a:xfrm>
          <a:prstGeom prst="straightConnector1">
            <a:avLst/>
          </a:prstGeom>
          <a:ln w="57150">
            <a:solidFill>
              <a:srgbClr val="00B05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直線矢印コネクタ 80"/>
          <p:cNvCxnSpPr/>
          <p:nvPr/>
        </p:nvCxnSpPr>
        <p:spPr>
          <a:xfrm>
            <a:off x="17357994" y="4075166"/>
            <a:ext cx="0" cy="537968"/>
          </a:xfrm>
          <a:prstGeom prst="straightConnector1">
            <a:avLst/>
          </a:prstGeom>
          <a:ln w="57150">
            <a:solidFill>
              <a:schemeClr val="accent6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TextBox 33"/>
          <p:cNvSpPr txBox="1"/>
          <p:nvPr/>
        </p:nvSpPr>
        <p:spPr>
          <a:xfrm>
            <a:off x="1936949" y="2589100"/>
            <a:ext cx="328331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ja-JP" sz="2800" b="1" dirty="0" smtClean="0">
                <a:solidFill>
                  <a:srgbClr val="666666"/>
                </a:solidFill>
              </a:rPr>
              <a:t>Pivot</a:t>
            </a:r>
            <a:r>
              <a:rPr lang="ja-JP" altLang="en-US" sz="2800" b="1" dirty="0" smtClean="0">
                <a:solidFill>
                  <a:srgbClr val="666666"/>
                </a:solidFill>
              </a:rPr>
              <a:t>を基準に整列</a:t>
            </a:r>
            <a:endParaRPr lang="en-US" sz="2800" b="1" dirty="0" smtClean="0">
              <a:solidFill>
                <a:srgbClr val="666666"/>
              </a:solidFill>
            </a:endParaRPr>
          </a:p>
        </p:txBody>
      </p:sp>
      <p:sp>
        <p:nvSpPr>
          <p:cNvPr id="121" name="TextBox 37"/>
          <p:cNvSpPr txBox="1"/>
          <p:nvPr/>
        </p:nvSpPr>
        <p:spPr>
          <a:xfrm>
            <a:off x="11285445" y="5702723"/>
            <a:ext cx="94449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2400" b="1" dirty="0" smtClean="0">
                <a:solidFill>
                  <a:srgbClr val="013CA6"/>
                </a:solidFill>
              </a:rPr>
              <a:t>pivot</a:t>
            </a:r>
            <a:endParaRPr lang="en-US" sz="2400" b="1" dirty="0" smtClean="0">
              <a:solidFill>
                <a:srgbClr val="013CA6"/>
              </a:solidFill>
            </a:endParaRPr>
          </a:p>
        </p:txBody>
      </p:sp>
      <p:sp>
        <p:nvSpPr>
          <p:cNvPr id="122" name="TextBox 37"/>
          <p:cNvSpPr txBox="1"/>
          <p:nvPr/>
        </p:nvSpPr>
        <p:spPr>
          <a:xfrm>
            <a:off x="8093903" y="8091517"/>
            <a:ext cx="94449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2400" b="1" dirty="0" smtClean="0">
                <a:solidFill>
                  <a:srgbClr val="013CA6"/>
                </a:solidFill>
              </a:rPr>
              <a:t>pivot</a:t>
            </a:r>
            <a:endParaRPr lang="en-US" sz="2400" b="1" dirty="0" smtClean="0">
              <a:solidFill>
                <a:srgbClr val="013CA6"/>
              </a:solidFill>
            </a:endParaRPr>
          </a:p>
        </p:txBody>
      </p:sp>
      <p:sp>
        <p:nvSpPr>
          <p:cNvPr id="125" name="TextBox 37"/>
          <p:cNvSpPr txBox="1"/>
          <p:nvPr/>
        </p:nvSpPr>
        <p:spPr>
          <a:xfrm>
            <a:off x="12881216" y="8091517"/>
            <a:ext cx="94449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2400" b="1" dirty="0" smtClean="0">
                <a:solidFill>
                  <a:srgbClr val="013CA6"/>
                </a:solidFill>
              </a:rPr>
              <a:t>pivot</a:t>
            </a:r>
            <a:endParaRPr lang="en-US" sz="2400" b="1" dirty="0" smtClean="0">
              <a:solidFill>
                <a:srgbClr val="013CA6"/>
              </a:solidFill>
            </a:endParaRPr>
          </a:p>
        </p:txBody>
      </p:sp>
      <p:sp>
        <p:nvSpPr>
          <p:cNvPr id="126" name="TextBox 37"/>
          <p:cNvSpPr txBox="1"/>
          <p:nvPr/>
        </p:nvSpPr>
        <p:spPr>
          <a:xfrm>
            <a:off x="16113527" y="5702723"/>
            <a:ext cx="94449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2400" b="1" dirty="0" smtClean="0">
                <a:solidFill>
                  <a:srgbClr val="013CA6"/>
                </a:solidFill>
              </a:rPr>
              <a:t>pivot</a:t>
            </a:r>
            <a:endParaRPr lang="en-US" sz="2400" b="1" dirty="0" smtClean="0">
              <a:solidFill>
                <a:srgbClr val="013CA6"/>
              </a:solidFill>
            </a:endParaRPr>
          </a:p>
        </p:txBody>
      </p:sp>
      <p:sp>
        <p:nvSpPr>
          <p:cNvPr id="127" name="TextBox 37"/>
          <p:cNvSpPr txBox="1"/>
          <p:nvPr/>
        </p:nvSpPr>
        <p:spPr>
          <a:xfrm>
            <a:off x="17668532" y="8091517"/>
            <a:ext cx="94449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2400" b="1" dirty="0" smtClean="0">
                <a:solidFill>
                  <a:srgbClr val="013CA6"/>
                </a:solidFill>
              </a:rPr>
              <a:t>pivot</a:t>
            </a:r>
            <a:endParaRPr lang="en-US" sz="2400" b="1" dirty="0" smtClean="0">
              <a:solidFill>
                <a:srgbClr val="013CA6"/>
              </a:solidFill>
            </a:endParaRPr>
          </a:p>
        </p:txBody>
      </p:sp>
      <p:sp>
        <p:nvSpPr>
          <p:cNvPr id="128" name="TextBox 37"/>
          <p:cNvSpPr txBox="1"/>
          <p:nvPr/>
        </p:nvSpPr>
        <p:spPr>
          <a:xfrm>
            <a:off x="8495485" y="3745017"/>
            <a:ext cx="340091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2400" b="1" dirty="0">
                <a:solidFill>
                  <a:srgbClr val="00B050"/>
                </a:solidFill>
              </a:rPr>
              <a:t>p</a:t>
            </a:r>
            <a:r>
              <a:rPr lang="en-US" altLang="ja-JP" sz="2400" b="1" dirty="0" smtClean="0">
                <a:solidFill>
                  <a:srgbClr val="00B050"/>
                </a:solidFill>
              </a:rPr>
              <a:t>ivot</a:t>
            </a:r>
            <a:r>
              <a:rPr lang="ja-JP" altLang="en-US" sz="2400" b="1" dirty="0" smtClean="0">
                <a:solidFill>
                  <a:srgbClr val="00B050"/>
                </a:solidFill>
              </a:rPr>
              <a:t>より小さい</a:t>
            </a:r>
            <a:endParaRPr lang="en-US" sz="2400" b="1" dirty="0" smtClean="0">
              <a:solidFill>
                <a:srgbClr val="00B050"/>
              </a:solidFill>
            </a:endParaRPr>
          </a:p>
        </p:txBody>
      </p:sp>
      <p:sp>
        <p:nvSpPr>
          <p:cNvPr id="129" name="TextBox 37"/>
          <p:cNvSpPr txBox="1"/>
          <p:nvPr/>
        </p:nvSpPr>
        <p:spPr>
          <a:xfrm>
            <a:off x="15657536" y="3669566"/>
            <a:ext cx="340091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2400" b="1" dirty="0">
                <a:solidFill>
                  <a:schemeClr val="accent6"/>
                </a:solidFill>
              </a:rPr>
              <a:t>p</a:t>
            </a:r>
            <a:r>
              <a:rPr lang="en-US" altLang="ja-JP" sz="2400" b="1" dirty="0" smtClean="0">
                <a:solidFill>
                  <a:schemeClr val="accent6"/>
                </a:solidFill>
              </a:rPr>
              <a:t>ivot</a:t>
            </a:r>
            <a:r>
              <a:rPr lang="ja-JP" altLang="en-US" sz="2400" b="1" dirty="0" smtClean="0">
                <a:solidFill>
                  <a:schemeClr val="accent6"/>
                </a:solidFill>
              </a:rPr>
              <a:t>より</a:t>
            </a:r>
            <a:r>
              <a:rPr lang="ja-JP" altLang="en-US" sz="2400" b="1" dirty="0">
                <a:solidFill>
                  <a:schemeClr val="accent6"/>
                </a:solidFill>
              </a:rPr>
              <a:t>大きい</a:t>
            </a:r>
            <a:endParaRPr lang="en-US" sz="2400" b="1" dirty="0" smtClean="0">
              <a:solidFill>
                <a:schemeClr val="accent6"/>
              </a:solidFill>
            </a:endParaRPr>
          </a:p>
        </p:txBody>
      </p:sp>
      <p:sp>
        <p:nvSpPr>
          <p:cNvPr id="27" name="右中かっこ 26"/>
          <p:cNvSpPr/>
          <p:nvPr/>
        </p:nvSpPr>
        <p:spPr>
          <a:xfrm rot="5400000">
            <a:off x="10050687" y="-446575"/>
            <a:ext cx="290512" cy="7952881"/>
          </a:xfrm>
          <a:prstGeom prst="rightBrace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0" name="右中かっこ 129"/>
          <p:cNvSpPr/>
          <p:nvPr/>
        </p:nvSpPr>
        <p:spPr>
          <a:xfrm rot="5400000">
            <a:off x="17237948" y="1955188"/>
            <a:ext cx="240093" cy="3066180"/>
          </a:xfrm>
          <a:prstGeom prst="rightBrace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31" name="直線矢印コネクタ 130"/>
          <p:cNvCxnSpPr/>
          <p:nvPr/>
        </p:nvCxnSpPr>
        <p:spPr>
          <a:xfrm>
            <a:off x="18191578" y="6478466"/>
            <a:ext cx="0" cy="537968"/>
          </a:xfrm>
          <a:prstGeom prst="straightConnector1">
            <a:avLst/>
          </a:prstGeom>
          <a:ln w="57150">
            <a:solidFill>
              <a:schemeClr val="accent6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" name="TextBox 37"/>
          <p:cNvSpPr txBox="1"/>
          <p:nvPr/>
        </p:nvSpPr>
        <p:spPr>
          <a:xfrm>
            <a:off x="17030142" y="6072866"/>
            <a:ext cx="23228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2400" b="1" dirty="0">
                <a:solidFill>
                  <a:schemeClr val="accent6"/>
                </a:solidFill>
              </a:rPr>
              <a:t>p</a:t>
            </a:r>
            <a:r>
              <a:rPr lang="en-US" altLang="ja-JP" sz="2400" b="1" dirty="0" smtClean="0">
                <a:solidFill>
                  <a:schemeClr val="accent6"/>
                </a:solidFill>
              </a:rPr>
              <a:t>ivot</a:t>
            </a:r>
            <a:r>
              <a:rPr lang="ja-JP" altLang="en-US" sz="2400" b="1" dirty="0" smtClean="0">
                <a:solidFill>
                  <a:schemeClr val="accent6"/>
                </a:solidFill>
              </a:rPr>
              <a:t>より</a:t>
            </a:r>
            <a:r>
              <a:rPr lang="ja-JP" altLang="en-US" sz="2400" b="1" dirty="0">
                <a:solidFill>
                  <a:schemeClr val="accent6"/>
                </a:solidFill>
              </a:rPr>
              <a:t>大きい</a:t>
            </a:r>
            <a:endParaRPr lang="en-US" sz="2400" b="1" dirty="0" smtClean="0">
              <a:solidFill>
                <a:schemeClr val="accent6"/>
              </a:solidFill>
            </a:endParaRPr>
          </a:p>
        </p:txBody>
      </p:sp>
      <p:sp>
        <p:nvSpPr>
          <p:cNvPr id="133" name="右中かっこ 132"/>
          <p:cNvSpPr/>
          <p:nvPr/>
        </p:nvSpPr>
        <p:spPr>
          <a:xfrm rot="5400000">
            <a:off x="18071532" y="5157793"/>
            <a:ext cx="240093" cy="1467571"/>
          </a:xfrm>
          <a:prstGeom prst="rightBrace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34" name="直線矢印コネクタ 133"/>
          <p:cNvCxnSpPr/>
          <p:nvPr/>
        </p:nvCxnSpPr>
        <p:spPr>
          <a:xfrm>
            <a:off x="13404644" y="6478466"/>
            <a:ext cx="0" cy="537968"/>
          </a:xfrm>
          <a:prstGeom prst="straightConnector1">
            <a:avLst/>
          </a:prstGeom>
          <a:ln w="57150">
            <a:solidFill>
              <a:schemeClr val="accent6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5" name="TextBox 37"/>
          <p:cNvSpPr txBox="1"/>
          <p:nvPr/>
        </p:nvSpPr>
        <p:spPr>
          <a:xfrm>
            <a:off x="12243208" y="6072866"/>
            <a:ext cx="23228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2400" b="1" dirty="0">
                <a:solidFill>
                  <a:schemeClr val="accent6"/>
                </a:solidFill>
              </a:rPr>
              <a:t>p</a:t>
            </a:r>
            <a:r>
              <a:rPr lang="en-US" altLang="ja-JP" sz="2400" b="1" dirty="0" smtClean="0">
                <a:solidFill>
                  <a:schemeClr val="accent6"/>
                </a:solidFill>
              </a:rPr>
              <a:t>ivot</a:t>
            </a:r>
            <a:r>
              <a:rPr lang="ja-JP" altLang="en-US" sz="2400" b="1" dirty="0" smtClean="0">
                <a:solidFill>
                  <a:schemeClr val="accent6"/>
                </a:solidFill>
              </a:rPr>
              <a:t>より</a:t>
            </a:r>
            <a:r>
              <a:rPr lang="ja-JP" altLang="en-US" sz="2400" b="1" dirty="0">
                <a:solidFill>
                  <a:schemeClr val="accent6"/>
                </a:solidFill>
              </a:rPr>
              <a:t>大きい</a:t>
            </a:r>
            <a:endParaRPr lang="en-US" sz="2400" b="1" dirty="0" smtClean="0">
              <a:solidFill>
                <a:schemeClr val="accent6"/>
              </a:solidFill>
            </a:endParaRPr>
          </a:p>
        </p:txBody>
      </p:sp>
      <p:sp>
        <p:nvSpPr>
          <p:cNvPr id="136" name="右中かっこ 135"/>
          <p:cNvSpPr/>
          <p:nvPr/>
        </p:nvSpPr>
        <p:spPr>
          <a:xfrm rot="5400000">
            <a:off x="13284598" y="5157793"/>
            <a:ext cx="240093" cy="1467571"/>
          </a:xfrm>
          <a:prstGeom prst="rightBrace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37" name="直線矢印コネクタ 136"/>
          <p:cNvCxnSpPr/>
          <p:nvPr/>
        </p:nvCxnSpPr>
        <p:spPr>
          <a:xfrm flipH="1">
            <a:off x="8605789" y="6563645"/>
            <a:ext cx="525" cy="470028"/>
          </a:xfrm>
          <a:prstGeom prst="straightConnector1">
            <a:avLst/>
          </a:prstGeom>
          <a:ln w="57150">
            <a:solidFill>
              <a:srgbClr val="00B05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8" name="TextBox 37"/>
          <p:cNvSpPr txBox="1"/>
          <p:nvPr/>
        </p:nvSpPr>
        <p:spPr>
          <a:xfrm>
            <a:off x="6905593" y="6101980"/>
            <a:ext cx="340091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2400" b="1" dirty="0">
                <a:solidFill>
                  <a:srgbClr val="00B050"/>
                </a:solidFill>
              </a:rPr>
              <a:t>p</a:t>
            </a:r>
            <a:r>
              <a:rPr lang="en-US" altLang="ja-JP" sz="2400" b="1" dirty="0" smtClean="0">
                <a:solidFill>
                  <a:srgbClr val="00B050"/>
                </a:solidFill>
              </a:rPr>
              <a:t>ivot</a:t>
            </a:r>
            <a:r>
              <a:rPr lang="ja-JP" altLang="en-US" sz="2400" b="1" dirty="0" smtClean="0">
                <a:solidFill>
                  <a:srgbClr val="00B050"/>
                </a:solidFill>
              </a:rPr>
              <a:t>より小さい</a:t>
            </a:r>
            <a:endParaRPr lang="en-US" sz="2400" b="1" dirty="0" smtClean="0">
              <a:solidFill>
                <a:srgbClr val="00B050"/>
              </a:solidFill>
            </a:endParaRPr>
          </a:p>
        </p:txBody>
      </p:sp>
      <p:sp>
        <p:nvSpPr>
          <p:cNvPr id="139" name="右中かっこ 138"/>
          <p:cNvSpPr/>
          <p:nvPr/>
        </p:nvSpPr>
        <p:spPr>
          <a:xfrm rot="5400000">
            <a:off x="8460795" y="3551091"/>
            <a:ext cx="290512" cy="4671474"/>
          </a:xfrm>
          <a:prstGeom prst="rightBrace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40" name="直線矢印コネクタ 139"/>
          <p:cNvCxnSpPr/>
          <p:nvPr/>
        </p:nvCxnSpPr>
        <p:spPr>
          <a:xfrm>
            <a:off x="10204537" y="8897548"/>
            <a:ext cx="0" cy="537968"/>
          </a:xfrm>
          <a:prstGeom prst="straightConnector1">
            <a:avLst/>
          </a:prstGeom>
          <a:ln w="57150">
            <a:solidFill>
              <a:schemeClr val="accent6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1" name="TextBox 37"/>
          <p:cNvSpPr txBox="1"/>
          <p:nvPr/>
        </p:nvSpPr>
        <p:spPr>
          <a:xfrm>
            <a:off x="9043101" y="8491948"/>
            <a:ext cx="23228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2400" b="1" dirty="0">
                <a:solidFill>
                  <a:schemeClr val="accent6"/>
                </a:solidFill>
              </a:rPr>
              <a:t>p</a:t>
            </a:r>
            <a:r>
              <a:rPr lang="en-US" altLang="ja-JP" sz="2400" b="1" dirty="0" smtClean="0">
                <a:solidFill>
                  <a:schemeClr val="accent6"/>
                </a:solidFill>
              </a:rPr>
              <a:t>ivot</a:t>
            </a:r>
            <a:r>
              <a:rPr lang="ja-JP" altLang="en-US" sz="2400" b="1" dirty="0" smtClean="0">
                <a:solidFill>
                  <a:schemeClr val="accent6"/>
                </a:solidFill>
              </a:rPr>
              <a:t>より</a:t>
            </a:r>
            <a:r>
              <a:rPr lang="ja-JP" altLang="en-US" sz="2400" b="1" dirty="0">
                <a:solidFill>
                  <a:schemeClr val="accent6"/>
                </a:solidFill>
              </a:rPr>
              <a:t>大きい</a:t>
            </a:r>
            <a:endParaRPr lang="en-US" sz="2400" b="1" dirty="0" smtClean="0">
              <a:solidFill>
                <a:schemeClr val="accent6"/>
              </a:solidFill>
            </a:endParaRPr>
          </a:p>
        </p:txBody>
      </p:sp>
      <p:sp>
        <p:nvSpPr>
          <p:cNvPr id="142" name="右中かっこ 141"/>
          <p:cNvSpPr/>
          <p:nvPr/>
        </p:nvSpPr>
        <p:spPr>
          <a:xfrm rot="5400000">
            <a:off x="10084491" y="7576875"/>
            <a:ext cx="240093" cy="1467571"/>
          </a:xfrm>
          <a:prstGeom prst="rightBrace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43" name="直線矢印コネクタ 142"/>
          <p:cNvCxnSpPr/>
          <p:nvPr/>
        </p:nvCxnSpPr>
        <p:spPr>
          <a:xfrm flipH="1">
            <a:off x="6994000" y="8963233"/>
            <a:ext cx="525" cy="470028"/>
          </a:xfrm>
          <a:prstGeom prst="straightConnector1">
            <a:avLst/>
          </a:prstGeom>
          <a:ln w="57150">
            <a:solidFill>
              <a:srgbClr val="00B05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4" name="TextBox 37"/>
          <p:cNvSpPr txBox="1"/>
          <p:nvPr/>
        </p:nvSpPr>
        <p:spPr>
          <a:xfrm>
            <a:off x="5832826" y="8501568"/>
            <a:ext cx="23228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2400" b="1" dirty="0">
                <a:solidFill>
                  <a:srgbClr val="00B050"/>
                </a:solidFill>
              </a:rPr>
              <a:t>p</a:t>
            </a:r>
            <a:r>
              <a:rPr lang="en-US" altLang="ja-JP" sz="2400" b="1" dirty="0" smtClean="0">
                <a:solidFill>
                  <a:srgbClr val="00B050"/>
                </a:solidFill>
              </a:rPr>
              <a:t>ivot</a:t>
            </a:r>
            <a:r>
              <a:rPr lang="ja-JP" altLang="en-US" sz="2400" b="1" dirty="0" smtClean="0">
                <a:solidFill>
                  <a:srgbClr val="00B050"/>
                </a:solidFill>
              </a:rPr>
              <a:t>より小さい</a:t>
            </a:r>
            <a:endParaRPr lang="en-US" sz="2400" b="1" dirty="0" smtClean="0">
              <a:solidFill>
                <a:srgbClr val="00B050"/>
              </a:solidFill>
            </a:endParaRPr>
          </a:p>
        </p:txBody>
      </p:sp>
      <p:sp>
        <p:nvSpPr>
          <p:cNvPr id="145" name="右中かっこ 144"/>
          <p:cNvSpPr/>
          <p:nvPr/>
        </p:nvSpPr>
        <p:spPr>
          <a:xfrm rot="5400000">
            <a:off x="6849006" y="7467755"/>
            <a:ext cx="290512" cy="1637323"/>
          </a:xfrm>
          <a:prstGeom prst="rightBrace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6" name="Rectangle 8"/>
          <p:cNvSpPr/>
          <p:nvPr/>
        </p:nvSpPr>
        <p:spPr>
          <a:xfrm>
            <a:off x="6196379" y="2339800"/>
            <a:ext cx="1548000" cy="1007999"/>
          </a:xfrm>
          <a:prstGeom prst="rect">
            <a:avLst/>
          </a:prstGeom>
          <a:solidFill>
            <a:srgbClr val="D4F5E0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3600" b="1" dirty="0">
                <a:solidFill>
                  <a:srgbClr val="222222"/>
                </a:solidFill>
              </a:rPr>
              <a:t>5</a:t>
            </a:r>
          </a:p>
        </p:txBody>
      </p:sp>
      <p:sp>
        <p:nvSpPr>
          <p:cNvPr id="157" name="Rectangle 6"/>
          <p:cNvSpPr/>
          <p:nvPr/>
        </p:nvSpPr>
        <p:spPr>
          <a:xfrm>
            <a:off x="10983692" y="2339800"/>
            <a:ext cx="1548000" cy="1007999"/>
          </a:xfrm>
          <a:prstGeom prst="rect">
            <a:avLst/>
          </a:prstGeom>
          <a:solidFill>
            <a:srgbClr val="D4F5E0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3600" b="1" dirty="0">
                <a:solidFill>
                  <a:srgbClr val="222222"/>
                </a:solidFill>
              </a:rPr>
              <a:t>2</a:t>
            </a:r>
            <a:endParaRPr sz="3600" b="1" dirty="0">
              <a:solidFill>
                <a:srgbClr val="222222"/>
              </a:solidFill>
            </a:endParaRPr>
          </a:p>
        </p:txBody>
      </p:sp>
      <p:sp>
        <p:nvSpPr>
          <p:cNvPr id="158" name="Rectangle 7"/>
          <p:cNvSpPr/>
          <p:nvPr/>
        </p:nvSpPr>
        <p:spPr>
          <a:xfrm>
            <a:off x="7792150" y="2339800"/>
            <a:ext cx="1548000" cy="1007999"/>
          </a:xfrm>
          <a:prstGeom prst="rect">
            <a:avLst/>
          </a:prstGeom>
          <a:solidFill>
            <a:srgbClr val="D4F5E0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3600" b="1">
                <a:solidFill>
                  <a:srgbClr val="222222"/>
                </a:solidFill>
              </a:rPr>
              <a:t>3</a:t>
            </a:r>
          </a:p>
        </p:txBody>
      </p:sp>
      <p:sp>
        <p:nvSpPr>
          <p:cNvPr id="159" name="Rectangle 9"/>
          <p:cNvSpPr/>
          <p:nvPr/>
        </p:nvSpPr>
        <p:spPr>
          <a:xfrm>
            <a:off x="9387921" y="2339800"/>
            <a:ext cx="1548000" cy="1007999"/>
          </a:xfrm>
          <a:prstGeom prst="rect">
            <a:avLst/>
          </a:prstGeom>
          <a:solidFill>
            <a:srgbClr val="D4F5E0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3600" b="1" dirty="0">
                <a:solidFill>
                  <a:srgbClr val="222222"/>
                </a:solidFill>
              </a:rPr>
              <a:t>1</a:t>
            </a:r>
            <a:endParaRPr sz="3600" b="1" dirty="0">
              <a:solidFill>
                <a:srgbClr val="222222"/>
              </a:solidFill>
            </a:endParaRPr>
          </a:p>
        </p:txBody>
      </p:sp>
      <p:sp>
        <p:nvSpPr>
          <p:cNvPr id="160" name="Rectangle 10"/>
          <p:cNvSpPr/>
          <p:nvPr/>
        </p:nvSpPr>
        <p:spPr>
          <a:xfrm>
            <a:off x="12579463" y="2339800"/>
            <a:ext cx="1548000" cy="1007999"/>
          </a:xfrm>
          <a:prstGeom prst="rect">
            <a:avLst/>
          </a:prstGeom>
          <a:solidFill>
            <a:srgbClr val="D4F5E0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3600" b="1" dirty="0">
                <a:solidFill>
                  <a:srgbClr val="222222"/>
                </a:solidFill>
              </a:rPr>
              <a:t>4</a:t>
            </a:r>
            <a:endParaRPr sz="3600" b="1" dirty="0">
              <a:solidFill>
                <a:srgbClr val="222222"/>
              </a:solidFill>
            </a:endParaRPr>
          </a:p>
        </p:txBody>
      </p:sp>
      <p:sp>
        <p:nvSpPr>
          <p:cNvPr id="161" name="Rectangle 11"/>
          <p:cNvSpPr/>
          <p:nvPr/>
        </p:nvSpPr>
        <p:spPr>
          <a:xfrm>
            <a:off x="15771005" y="2339800"/>
            <a:ext cx="1548000" cy="100799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3600" b="1" dirty="0">
                <a:solidFill>
                  <a:srgbClr val="222222"/>
                </a:solidFill>
              </a:rPr>
              <a:t>8</a:t>
            </a:r>
            <a:endParaRPr sz="3600" b="1" dirty="0">
              <a:solidFill>
                <a:srgbClr val="222222"/>
              </a:solidFill>
            </a:endParaRPr>
          </a:p>
        </p:txBody>
      </p:sp>
      <p:sp>
        <p:nvSpPr>
          <p:cNvPr id="162" name="Rectangle 12"/>
          <p:cNvSpPr/>
          <p:nvPr/>
        </p:nvSpPr>
        <p:spPr>
          <a:xfrm>
            <a:off x="17366779" y="2339800"/>
            <a:ext cx="1548000" cy="100799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3600" b="1" dirty="0">
                <a:solidFill>
                  <a:srgbClr val="222222"/>
                </a:solidFill>
              </a:rPr>
              <a:t>7</a:t>
            </a:r>
            <a:endParaRPr sz="3600" b="1" dirty="0">
              <a:solidFill>
                <a:srgbClr val="222222"/>
              </a:solidFill>
            </a:endParaRPr>
          </a:p>
        </p:txBody>
      </p:sp>
      <p:sp>
        <p:nvSpPr>
          <p:cNvPr id="163" name="Rectangle 13"/>
          <p:cNvSpPr/>
          <p:nvPr/>
        </p:nvSpPr>
        <p:spPr>
          <a:xfrm>
            <a:off x="14175234" y="2339800"/>
            <a:ext cx="1548000" cy="1007999"/>
          </a:xfrm>
          <a:prstGeom prst="rect">
            <a:avLst/>
          </a:prstGeom>
          <a:solidFill>
            <a:schemeClr val="tx2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3600" b="1" dirty="0" smtClean="0">
                <a:solidFill>
                  <a:schemeClr val="bg1"/>
                </a:solidFill>
              </a:rPr>
              <a:t>6</a:t>
            </a:r>
            <a:endParaRPr sz="3600" b="1" dirty="0">
              <a:solidFill>
                <a:schemeClr val="bg1"/>
              </a:solidFill>
            </a:endParaRPr>
          </a:p>
        </p:txBody>
      </p:sp>
      <p:sp>
        <p:nvSpPr>
          <p:cNvPr id="165" name="Rectangle 8"/>
          <p:cNvSpPr/>
          <p:nvPr/>
        </p:nvSpPr>
        <p:spPr>
          <a:xfrm>
            <a:off x="6196379" y="4676710"/>
            <a:ext cx="1548000" cy="1007999"/>
          </a:xfrm>
          <a:prstGeom prst="rect">
            <a:avLst/>
          </a:prstGeom>
          <a:solidFill>
            <a:srgbClr val="D4F5E0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3600" b="1" dirty="0">
                <a:solidFill>
                  <a:srgbClr val="222222"/>
                </a:solidFill>
              </a:rPr>
              <a:t>3</a:t>
            </a:r>
            <a:endParaRPr sz="3600" b="1" dirty="0">
              <a:solidFill>
                <a:srgbClr val="222222"/>
              </a:solidFill>
            </a:endParaRPr>
          </a:p>
        </p:txBody>
      </p:sp>
      <p:sp>
        <p:nvSpPr>
          <p:cNvPr id="166" name="Rectangle 6"/>
          <p:cNvSpPr/>
          <p:nvPr/>
        </p:nvSpPr>
        <p:spPr>
          <a:xfrm>
            <a:off x="10983692" y="4676710"/>
            <a:ext cx="1548000" cy="1007999"/>
          </a:xfrm>
          <a:prstGeom prst="rect">
            <a:avLst/>
          </a:prstGeom>
          <a:solidFill>
            <a:schemeClr val="tx2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3600" b="1" dirty="0">
                <a:solidFill>
                  <a:schemeClr val="bg1"/>
                </a:solidFill>
              </a:rPr>
              <a:t>4</a:t>
            </a:r>
            <a:endParaRPr sz="3600" b="1" dirty="0">
              <a:solidFill>
                <a:schemeClr val="bg1"/>
              </a:solidFill>
            </a:endParaRPr>
          </a:p>
        </p:txBody>
      </p:sp>
      <p:sp>
        <p:nvSpPr>
          <p:cNvPr id="167" name="Rectangle 7"/>
          <p:cNvSpPr/>
          <p:nvPr/>
        </p:nvSpPr>
        <p:spPr>
          <a:xfrm>
            <a:off x="7792150" y="4676710"/>
            <a:ext cx="1548000" cy="1007999"/>
          </a:xfrm>
          <a:prstGeom prst="rect">
            <a:avLst/>
          </a:prstGeom>
          <a:solidFill>
            <a:srgbClr val="D4F5E0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3600" b="1" dirty="0">
                <a:solidFill>
                  <a:srgbClr val="222222"/>
                </a:solidFill>
              </a:rPr>
              <a:t>1</a:t>
            </a:r>
            <a:endParaRPr sz="3600" b="1" dirty="0">
              <a:solidFill>
                <a:srgbClr val="222222"/>
              </a:solidFill>
            </a:endParaRPr>
          </a:p>
        </p:txBody>
      </p:sp>
      <p:sp>
        <p:nvSpPr>
          <p:cNvPr id="168" name="Rectangle 9"/>
          <p:cNvSpPr/>
          <p:nvPr/>
        </p:nvSpPr>
        <p:spPr>
          <a:xfrm>
            <a:off x="9387921" y="4676710"/>
            <a:ext cx="1548000" cy="1007999"/>
          </a:xfrm>
          <a:prstGeom prst="rect">
            <a:avLst/>
          </a:prstGeom>
          <a:solidFill>
            <a:srgbClr val="D4F5E0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3600" b="1" dirty="0">
                <a:solidFill>
                  <a:srgbClr val="222222"/>
                </a:solidFill>
              </a:rPr>
              <a:t>2</a:t>
            </a:r>
            <a:endParaRPr sz="3600" b="1" dirty="0">
              <a:solidFill>
                <a:srgbClr val="222222"/>
              </a:solidFill>
            </a:endParaRPr>
          </a:p>
        </p:txBody>
      </p:sp>
      <p:sp>
        <p:nvSpPr>
          <p:cNvPr id="169" name="Rectangle 10"/>
          <p:cNvSpPr/>
          <p:nvPr/>
        </p:nvSpPr>
        <p:spPr>
          <a:xfrm>
            <a:off x="12579463" y="4676710"/>
            <a:ext cx="1548000" cy="100799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3600" b="1" dirty="0">
                <a:solidFill>
                  <a:srgbClr val="222222"/>
                </a:solidFill>
              </a:rPr>
              <a:t>5</a:t>
            </a:r>
            <a:endParaRPr sz="3600" b="1" dirty="0">
              <a:solidFill>
                <a:srgbClr val="222222"/>
              </a:solidFill>
            </a:endParaRPr>
          </a:p>
        </p:txBody>
      </p:sp>
      <p:sp>
        <p:nvSpPr>
          <p:cNvPr id="170" name="Rectangle 11"/>
          <p:cNvSpPr/>
          <p:nvPr/>
        </p:nvSpPr>
        <p:spPr>
          <a:xfrm>
            <a:off x="15771005" y="4676710"/>
            <a:ext cx="1548000" cy="1007999"/>
          </a:xfrm>
          <a:prstGeom prst="rect">
            <a:avLst/>
          </a:prstGeom>
          <a:solidFill>
            <a:schemeClr val="tx2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3600" b="1" dirty="0">
                <a:solidFill>
                  <a:schemeClr val="bg1"/>
                </a:solidFill>
              </a:rPr>
              <a:t>7</a:t>
            </a:r>
            <a:endParaRPr sz="3600" b="1" dirty="0">
              <a:solidFill>
                <a:schemeClr val="bg1"/>
              </a:solidFill>
            </a:endParaRPr>
          </a:p>
        </p:txBody>
      </p:sp>
      <p:sp>
        <p:nvSpPr>
          <p:cNvPr id="171" name="Rectangle 12"/>
          <p:cNvSpPr/>
          <p:nvPr/>
        </p:nvSpPr>
        <p:spPr>
          <a:xfrm>
            <a:off x="17366779" y="4676710"/>
            <a:ext cx="1548000" cy="100799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3600" b="1" dirty="0">
                <a:solidFill>
                  <a:srgbClr val="222222"/>
                </a:solidFill>
              </a:rPr>
              <a:t>8</a:t>
            </a:r>
            <a:endParaRPr sz="3600" b="1" dirty="0">
              <a:solidFill>
                <a:srgbClr val="222222"/>
              </a:solidFill>
            </a:endParaRPr>
          </a:p>
        </p:txBody>
      </p:sp>
      <p:sp>
        <p:nvSpPr>
          <p:cNvPr id="174" name="Rectangle 8"/>
          <p:cNvSpPr/>
          <p:nvPr/>
        </p:nvSpPr>
        <p:spPr>
          <a:xfrm>
            <a:off x="6196379" y="7016434"/>
            <a:ext cx="1548000" cy="1007999"/>
          </a:xfrm>
          <a:prstGeom prst="rect">
            <a:avLst/>
          </a:prstGeom>
          <a:solidFill>
            <a:srgbClr val="D4F5E0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3600" b="1" dirty="0">
                <a:solidFill>
                  <a:srgbClr val="222222"/>
                </a:solidFill>
              </a:rPr>
              <a:t>1</a:t>
            </a:r>
            <a:endParaRPr sz="3600" b="1" dirty="0">
              <a:solidFill>
                <a:srgbClr val="222222"/>
              </a:solidFill>
            </a:endParaRPr>
          </a:p>
        </p:txBody>
      </p:sp>
      <p:sp>
        <p:nvSpPr>
          <p:cNvPr id="176" name="Rectangle 7"/>
          <p:cNvSpPr/>
          <p:nvPr/>
        </p:nvSpPr>
        <p:spPr>
          <a:xfrm>
            <a:off x="7792150" y="7016434"/>
            <a:ext cx="1548000" cy="1007999"/>
          </a:xfrm>
          <a:prstGeom prst="rect">
            <a:avLst/>
          </a:prstGeom>
          <a:solidFill>
            <a:schemeClr val="tx2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3600" b="1" dirty="0">
                <a:solidFill>
                  <a:schemeClr val="bg1"/>
                </a:solidFill>
              </a:rPr>
              <a:t>2</a:t>
            </a:r>
            <a:endParaRPr sz="3600" b="1" dirty="0">
              <a:solidFill>
                <a:schemeClr val="bg1"/>
              </a:solidFill>
            </a:endParaRPr>
          </a:p>
        </p:txBody>
      </p:sp>
      <p:sp>
        <p:nvSpPr>
          <p:cNvPr id="177" name="Rectangle 9"/>
          <p:cNvSpPr/>
          <p:nvPr/>
        </p:nvSpPr>
        <p:spPr>
          <a:xfrm>
            <a:off x="9387921" y="7016434"/>
            <a:ext cx="1548000" cy="100799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3600" b="1" dirty="0">
                <a:solidFill>
                  <a:srgbClr val="222222"/>
                </a:solidFill>
              </a:rPr>
              <a:t>3</a:t>
            </a:r>
            <a:endParaRPr sz="3600" b="1" dirty="0">
              <a:solidFill>
                <a:srgbClr val="222222"/>
              </a:solidFill>
            </a:endParaRPr>
          </a:p>
        </p:txBody>
      </p:sp>
      <p:sp>
        <p:nvSpPr>
          <p:cNvPr id="178" name="Rectangle 10"/>
          <p:cNvSpPr/>
          <p:nvPr/>
        </p:nvSpPr>
        <p:spPr>
          <a:xfrm>
            <a:off x="12579463" y="7016434"/>
            <a:ext cx="1548000" cy="1007999"/>
          </a:xfrm>
          <a:prstGeom prst="rect">
            <a:avLst/>
          </a:prstGeom>
          <a:solidFill>
            <a:schemeClr val="tx2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3600" b="1" dirty="0">
                <a:solidFill>
                  <a:schemeClr val="bg1"/>
                </a:solidFill>
              </a:rPr>
              <a:t>5</a:t>
            </a:r>
            <a:endParaRPr sz="3600" b="1" dirty="0">
              <a:solidFill>
                <a:schemeClr val="bg1"/>
              </a:solidFill>
            </a:endParaRPr>
          </a:p>
        </p:txBody>
      </p:sp>
      <p:sp>
        <p:nvSpPr>
          <p:cNvPr id="180" name="Rectangle 12"/>
          <p:cNvSpPr/>
          <p:nvPr/>
        </p:nvSpPr>
        <p:spPr>
          <a:xfrm>
            <a:off x="17366779" y="7016434"/>
            <a:ext cx="1548000" cy="1007999"/>
          </a:xfrm>
          <a:prstGeom prst="rect">
            <a:avLst/>
          </a:prstGeom>
          <a:solidFill>
            <a:schemeClr val="tx2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3600" b="1" dirty="0">
                <a:solidFill>
                  <a:schemeClr val="bg1"/>
                </a:solidFill>
              </a:rPr>
              <a:t>8</a:t>
            </a:r>
            <a:endParaRPr sz="3600" b="1" dirty="0">
              <a:solidFill>
                <a:schemeClr val="bg1"/>
              </a:solidFill>
            </a:endParaRPr>
          </a:p>
        </p:txBody>
      </p:sp>
      <p:sp>
        <p:nvSpPr>
          <p:cNvPr id="183" name="Rectangle 8"/>
          <p:cNvSpPr/>
          <p:nvPr/>
        </p:nvSpPr>
        <p:spPr>
          <a:xfrm>
            <a:off x="6196379" y="9356158"/>
            <a:ext cx="1548000" cy="1007999"/>
          </a:xfrm>
          <a:prstGeom prst="rect">
            <a:avLst/>
          </a:prstGeom>
          <a:solidFill>
            <a:schemeClr val="tx2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3600" b="1" dirty="0">
                <a:solidFill>
                  <a:schemeClr val="bg1"/>
                </a:solidFill>
              </a:rPr>
              <a:t>1</a:t>
            </a:r>
            <a:endParaRPr sz="3600" b="1" dirty="0">
              <a:solidFill>
                <a:schemeClr val="bg1"/>
              </a:solidFill>
            </a:endParaRPr>
          </a:p>
        </p:txBody>
      </p:sp>
      <p:sp>
        <p:nvSpPr>
          <p:cNvPr id="186" name="Rectangle 9"/>
          <p:cNvSpPr/>
          <p:nvPr/>
        </p:nvSpPr>
        <p:spPr>
          <a:xfrm>
            <a:off x="9387921" y="9356158"/>
            <a:ext cx="1548000" cy="1007999"/>
          </a:xfrm>
          <a:prstGeom prst="rect">
            <a:avLst/>
          </a:prstGeom>
          <a:solidFill>
            <a:schemeClr val="tx2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3600" b="1" dirty="0">
                <a:solidFill>
                  <a:schemeClr val="bg1"/>
                </a:solidFill>
              </a:rPr>
              <a:t>3</a:t>
            </a:r>
            <a:endParaRPr sz="3600" b="1" dirty="0">
              <a:solidFill>
                <a:schemeClr val="bg1"/>
              </a:solidFill>
            </a:endParaRPr>
          </a:p>
        </p:txBody>
      </p:sp>
      <p:sp>
        <p:nvSpPr>
          <p:cNvPr id="198" name="TextBox 37"/>
          <p:cNvSpPr txBox="1"/>
          <p:nvPr/>
        </p:nvSpPr>
        <p:spPr>
          <a:xfrm>
            <a:off x="6498131" y="10364157"/>
            <a:ext cx="94449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2400" b="1" dirty="0" smtClean="0">
                <a:solidFill>
                  <a:srgbClr val="013CA6"/>
                </a:solidFill>
              </a:rPr>
              <a:t>pivot</a:t>
            </a:r>
            <a:endParaRPr lang="en-US" sz="2400" b="1" dirty="0" smtClean="0">
              <a:solidFill>
                <a:srgbClr val="013CA6"/>
              </a:solidFill>
            </a:endParaRPr>
          </a:p>
        </p:txBody>
      </p:sp>
      <p:sp>
        <p:nvSpPr>
          <p:cNvPr id="199" name="TextBox 37"/>
          <p:cNvSpPr txBox="1"/>
          <p:nvPr/>
        </p:nvSpPr>
        <p:spPr>
          <a:xfrm>
            <a:off x="9689673" y="10364156"/>
            <a:ext cx="94449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2400" b="1" dirty="0" smtClean="0">
                <a:solidFill>
                  <a:srgbClr val="013CA6"/>
                </a:solidFill>
              </a:rPr>
              <a:t>pivot</a:t>
            </a:r>
            <a:endParaRPr lang="en-US" sz="2400" b="1" dirty="0" smtClean="0">
              <a:solidFill>
                <a:srgbClr val="013CA6"/>
              </a:solidFill>
            </a:endParaRPr>
          </a:p>
        </p:txBody>
      </p:sp>
      <p:cxnSp>
        <p:nvCxnSpPr>
          <p:cNvPr id="69" name="Connector 12"/>
          <p:cNvCxnSpPr/>
          <p:nvPr/>
        </p:nvCxnSpPr>
        <p:spPr>
          <a:xfrm>
            <a:off x="720000" y="1894550"/>
            <a:ext cx="19850400" cy="0"/>
          </a:xfrm>
          <a:prstGeom prst="line">
            <a:avLst/>
          </a:prstGeom>
          <a:ln w="1905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81409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20000" y="636200"/>
            <a:ext cx="24550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ja-JP" altLang="en-US" sz="2600" b="0" dirty="0" smtClean="0">
                <a:solidFill>
                  <a:srgbClr val="013CA6"/>
                </a:solidFill>
              </a:rPr>
              <a:t>ピボットの選択</a:t>
            </a:r>
            <a:endParaRPr sz="2600" b="0" dirty="0">
              <a:solidFill>
                <a:srgbClr val="013CA6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600000" y="1694500"/>
            <a:ext cx="1908000" cy="1080000"/>
          </a:xfrm>
          <a:prstGeom prst="rect">
            <a:avLst/>
          </a:prstGeom>
          <a:solidFill>
            <a:srgbClr val="F3FAFE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3600" b="1">
                <a:solidFill>
                  <a:srgbClr val="222222"/>
                </a:solidFill>
              </a:rPr>
              <a:t>5</a:t>
            </a:r>
          </a:p>
        </p:txBody>
      </p:sp>
      <p:sp>
        <p:nvSpPr>
          <p:cNvPr id="7" name="Rectangle 6"/>
          <p:cNvSpPr/>
          <p:nvPr/>
        </p:nvSpPr>
        <p:spPr>
          <a:xfrm>
            <a:off x="5580000" y="1694500"/>
            <a:ext cx="1908000" cy="1080000"/>
          </a:xfrm>
          <a:prstGeom prst="rect">
            <a:avLst/>
          </a:prstGeom>
          <a:solidFill>
            <a:srgbClr val="F3FAFE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3600" b="1">
                <a:solidFill>
                  <a:srgbClr val="222222"/>
                </a:solidFill>
              </a:rPr>
              <a:t>3</a:t>
            </a:r>
          </a:p>
        </p:txBody>
      </p:sp>
      <p:sp>
        <p:nvSpPr>
          <p:cNvPr id="8" name="Rectangle 7"/>
          <p:cNvSpPr/>
          <p:nvPr/>
        </p:nvSpPr>
        <p:spPr>
          <a:xfrm>
            <a:off x="7560000" y="1694500"/>
            <a:ext cx="1908000" cy="1080000"/>
          </a:xfrm>
          <a:prstGeom prst="rect">
            <a:avLst/>
          </a:prstGeom>
          <a:solidFill>
            <a:srgbClr val="F3FAFE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3600" b="1">
                <a:solidFill>
                  <a:srgbClr val="222222"/>
                </a:solidFill>
              </a:rPr>
              <a:t>8</a:t>
            </a:r>
          </a:p>
        </p:txBody>
      </p:sp>
      <p:sp>
        <p:nvSpPr>
          <p:cNvPr id="9" name="Rectangle 8"/>
          <p:cNvSpPr/>
          <p:nvPr/>
        </p:nvSpPr>
        <p:spPr>
          <a:xfrm>
            <a:off x="9540000" y="1694500"/>
            <a:ext cx="1908000" cy="1080000"/>
          </a:xfrm>
          <a:prstGeom prst="rect">
            <a:avLst/>
          </a:prstGeom>
          <a:solidFill>
            <a:srgbClr val="F3FAFE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3600" b="1">
                <a:solidFill>
                  <a:srgbClr val="222222"/>
                </a:solidFill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520000" y="1694500"/>
            <a:ext cx="1908000" cy="1080000"/>
          </a:xfrm>
          <a:prstGeom prst="rect">
            <a:avLst/>
          </a:prstGeom>
          <a:solidFill>
            <a:schemeClr val="tx2"/>
          </a:solidFill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3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8670" y="3168432"/>
            <a:ext cx="5560060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2600" b="1" dirty="0">
                <a:solidFill>
                  <a:srgbClr val="666666"/>
                </a:solidFill>
              </a:rPr>
              <a:t>i = -</a:t>
            </a:r>
            <a:r>
              <a:rPr lang="en-US" altLang="ja-JP" sz="2600" b="1" dirty="0" smtClean="0">
                <a:solidFill>
                  <a:srgbClr val="666666"/>
                </a:solidFill>
              </a:rPr>
              <a:t>1</a:t>
            </a:r>
          </a:p>
          <a:p>
            <a:pPr algn="ctr"/>
            <a:r>
              <a:rPr lang="en-US" altLang="ja-JP" sz="2600" b="1" dirty="0" smtClean="0">
                <a:solidFill>
                  <a:srgbClr val="666666"/>
                </a:solidFill>
              </a:rPr>
              <a:t>(</a:t>
            </a:r>
            <a:r>
              <a:rPr lang="ja-JP" altLang="en-US" sz="2600" b="1" dirty="0" smtClean="0">
                <a:solidFill>
                  <a:srgbClr val="666666"/>
                </a:solidFill>
              </a:rPr>
              <a:t>ピボット未満の最後の要素の位置</a:t>
            </a:r>
            <a:r>
              <a:rPr lang="en-US" altLang="ja-JP" sz="2600" b="1" dirty="0" smtClean="0">
                <a:solidFill>
                  <a:srgbClr val="666666"/>
                </a:solidFill>
              </a:rPr>
              <a:t>)</a:t>
            </a:r>
            <a:endParaRPr lang="en-US" sz="2600" b="1" dirty="0" smtClean="0">
              <a:solidFill>
                <a:srgbClr val="666666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3998973" y="1455400"/>
            <a:ext cx="654545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dirty="0">
                <a:solidFill>
                  <a:srgbClr val="666666"/>
                </a:solidFill>
              </a:rPr>
              <a:t>ピボット = 2（末尾</a:t>
            </a:r>
            <a:r>
              <a:rPr sz="2400" b="0" dirty="0" smtClean="0">
                <a:solidFill>
                  <a:srgbClr val="666666"/>
                </a:solidFill>
              </a:rPr>
              <a:t>）</a:t>
            </a:r>
            <a:endParaRPr lang="en-US" sz="2400" b="0" dirty="0" smtClean="0">
              <a:solidFill>
                <a:srgbClr val="666666"/>
              </a:solidFill>
            </a:endParaRPr>
          </a:p>
          <a:p>
            <a:r>
              <a:rPr lang="en-US" sz="2400" b="0" dirty="0" smtClean="0">
                <a:solidFill>
                  <a:srgbClr val="666666"/>
                </a:solidFill>
              </a:rPr>
              <a:t>i </a:t>
            </a:r>
            <a:r>
              <a:rPr sz="2400" b="0" dirty="0" smtClean="0">
                <a:solidFill>
                  <a:srgbClr val="666666"/>
                </a:solidFill>
              </a:rPr>
              <a:t>= </a:t>
            </a:r>
            <a:r>
              <a:rPr sz="2400" b="0" dirty="0">
                <a:solidFill>
                  <a:srgbClr val="666666"/>
                </a:solidFill>
              </a:rPr>
              <a:t>-</a:t>
            </a:r>
            <a:r>
              <a:rPr sz="2400" b="0" dirty="0" smtClean="0">
                <a:solidFill>
                  <a:srgbClr val="666666"/>
                </a:solidFill>
              </a:rPr>
              <a:t>1</a:t>
            </a:r>
            <a:r>
              <a:rPr lang="en-US" altLang="ja-JP" sz="2400" dirty="0">
                <a:solidFill>
                  <a:srgbClr val="666666"/>
                </a:solidFill>
              </a:rPr>
              <a:t> </a:t>
            </a:r>
            <a:r>
              <a:rPr lang="ja-JP" altLang="en-US" sz="2400" dirty="0" smtClean="0">
                <a:solidFill>
                  <a:srgbClr val="666666"/>
                </a:solidFill>
              </a:rPr>
              <a:t>（ピ</a:t>
            </a:r>
            <a:r>
              <a:rPr lang="ja-JP" altLang="en-US" sz="2400" dirty="0">
                <a:solidFill>
                  <a:srgbClr val="666666"/>
                </a:solidFill>
              </a:rPr>
              <a:t>ボット未満の最後の要素のインデック</a:t>
            </a:r>
            <a:r>
              <a:rPr lang="ja-JP" altLang="en-US" sz="2400" dirty="0" smtClean="0">
                <a:solidFill>
                  <a:srgbClr val="666666"/>
                </a:solidFill>
              </a:rPr>
              <a:t>ス</a:t>
            </a:r>
            <a:r>
              <a:rPr lang="ja-JP" altLang="en-US" sz="2400" dirty="0">
                <a:solidFill>
                  <a:srgbClr val="666666"/>
                </a:solidFill>
              </a:rPr>
              <a:t>）</a:t>
            </a:r>
            <a:endParaRPr sz="2400" b="0" dirty="0">
              <a:solidFill>
                <a:srgbClr val="666666"/>
              </a:solidFill>
            </a:endParaRPr>
          </a:p>
        </p:txBody>
      </p:sp>
      <p:cxnSp>
        <p:nvCxnSpPr>
          <p:cNvPr id="13" name="Connector 12"/>
          <p:cNvCxnSpPr/>
          <p:nvPr/>
        </p:nvCxnSpPr>
        <p:spPr>
          <a:xfrm>
            <a:off x="720000" y="4258500"/>
            <a:ext cx="19850400" cy="0"/>
          </a:xfrm>
          <a:prstGeom prst="line">
            <a:avLst/>
          </a:prstGeom>
          <a:ln w="1905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20000" y="4574200"/>
            <a:ext cx="468000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dirty="0" smtClean="0">
                <a:solidFill>
                  <a:srgbClr val="013CA6"/>
                </a:solidFill>
              </a:rPr>
              <a:t>pivot より</a:t>
            </a:r>
            <a:r>
              <a:rPr lang="ja-JP" altLang="en-US" sz="2600" b="0" dirty="0" smtClean="0">
                <a:solidFill>
                  <a:srgbClr val="013CA6"/>
                </a:solidFill>
              </a:rPr>
              <a:t>要素が</a:t>
            </a:r>
            <a:r>
              <a:rPr sz="2600" b="0" dirty="0" smtClean="0">
                <a:solidFill>
                  <a:srgbClr val="013CA6"/>
                </a:solidFill>
              </a:rPr>
              <a:t>大きい</a:t>
            </a:r>
            <a:r>
              <a:rPr lang="ja-JP" altLang="en-US" sz="2600" b="0" dirty="0" smtClean="0">
                <a:solidFill>
                  <a:srgbClr val="013CA6"/>
                </a:solidFill>
              </a:rPr>
              <a:t>とき</a:t>
            </a:r>
            <a:r>
              <a:rPr dirty="0"/>
              <a:t/>
            </a:r>
            <a:br>
              <a:rPr dirty="0"/>
            </a:br>
            <a:r>
              <a:rPr sz="2400" dirty="0"/>
              <a:t>→ スキップ</a:t>
            </a:r>
            <a:endParaRPr dirty="0"/>
          </a:p>
        </p:txBody>
      </p:sp>
      <p:sp>
        <p:nvSpPr>
          <p:cNvPr id="21" name="TextBox 20"/>
          <p:cNvSpPr txBox="1"/>
          <p:nvPr/>
        </p:nvSpPr>
        <p:spPr>
          <a:xfrm>
            <a:off x="13811400" y="6064887"/>
            <a:ext cx="72000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ja-JP" altLang="en-US" sz="2400" b="0" dirty="0" smtClean="0">
                <a:solidFill>
                  <a:srgbClr val="666666"/>
                </a:solidFill>
              </a:rPr>
              <a:t>「</a:t>
            </a:r>
            <a:r>
              <a:rPr sz="2400" b="0" dirty="0" smtClean="0">
                <a:solidFill>
                  <a:srgbClr val="666666"/>
                </a:solidFill>
              </a:rPr>
              <a:t>5</a:t>
            </a:r>
            <a:r>
              <a:rPr lang="ja-JP" altLang="en-US" sz="2400" b="0" dirty="0" smtClean="0">
                <a:solidFill>
                  <a:srgbClr val="666666"/>
                </a:solidFill>
              </a:rPr>
              <a:t>」</a:t>
            </a:r>
            <a:r>
              <a:rPr sz="2400" b="0" dirty="0" smtClean="0">
                <a:solidFill>
                  <a:srgbClr val="666666"/>
                </a:solidFill>
              </a:rPr>
              <a:t>は</a:t>
            </a:r>
            <a:r>
              <a:rPr lang="ja-JP" altLang="en-US" sz="2400" dirty="0" smtClean="0">
                <a:solidFill>
                  <a:srgbClr val="666666"/>
                </a:solidFill>
              </a:rPr>
              <a:t>ピ</a:t>
            </a:r>
            <a:r>
              <a:rPr lang="ja-JP" altLang="en-US" sz="2400" dirty="0">
                <a:solidFill>
                  <a:srgbClr val="666666"/>
                </a:solidFill>
              </a:rPr>
              <a:t>ボッ</a:t>
            </a:r>
            <a:r>
              <a:rPr lang="ja-JP" altLang="en-US" sz="2400" dirty="0" smtClean="0">
                <a:solidFill>
                  <a:srgbClr val="666666"/>
                </a:solidFill>
              </a:rPr>
              <a:t>ト</a:t>
            </a:r>
            <a:r>
              <a:rPr lang="en-US" altLang="ja-JP" sz="2400" dirty="0" smtClean="0">
                <a:solidFill>
                  <a:srgbClr val="666666"/>
                </a:solidFill>
              </a:rPr>
              <a:t>(</a:t>
            </a:r>
            <a:r>
              <a:rPr sz="2400" b="0" dirty="0" smtClean="0">
                <a:solidFill>
                  <a:srgbClr val="666666"/>
                </a:solidFill>
              </a:rPr>
              <a:t>2</a:t>
            </a:r>
            <a:r>
              <a:rPr lang="en-US" sz="2400" b="0" dirty="0" smtClean="0">
                <a:solidFill>
                  <a:srgbClr val="666666"/>
                </a:solidFill>
              </a:rPr>
              <a:t>)</a:t>
            </a:r>
            <a:r>
              <a:rPr sz="2400" b="0" dirty="0" smtClean="0">
                <a:solidFill>
                  <a:srgbClr val="666666"/>
                </a:solidFill>
              </a:rPr>
              <a:t>より大き </a:t>
            </a:r>
            <a:r>
              <a:rPr sz="2400" b="0" dirty="0">
                <a:solidFill>
                  <a:srgbClr val="666666"/>
                </a:solidFill>
              </a:rPr>
              <a:t>い → i は動かない</a:t>
            </a:r>
          </a:p>
        </p:txBody>
      </p:sp>
      <p:sp>
        <p:nvSpPr>
          <p:cNvPr id="42" name="TextBox 37"/>
          <p:cNvSpPr txBox="1"/>
          <p:nvPr/>
        </p:nvSpPr>
        <p:spPr>
          <a:xfrm>
            <a:off x="12001752" y="2706767"/>
            <a:ext cx="94449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2400" b="1" dirty="0" smtClean="0">
                <a:solidFill>
                  <a:srgbClr val="013CA6"/>
                </a:solidFill>
              </a:rPr>
              <a:t>pivot</a:t>
            </a:r>
            <a:endParaRPr lang="en-US" sz="2400" b="1" dirty="0" smtClean="0">
              <a:solidFill>
                <a:srgbClr val="013CA6"/>
              </a:solidFill>
            </a:endParaRPr>
          </a:p>
        </p:txBody>
      </p:sp>
      <p:cxnSp>
        <p:nvCxnSpPr>
          <p:cNvPr id="43" name="直線矢印コネクタ 42"/>
          <p:cNvCxnSpPr/>
          <p:nvPr/>
        </p:nvCxnSpPr>
        <p:spPr>
          <a:xfrm flipH="1" flipV="1">
            <a:off x="3358174" y="2809300"/>
            <a:ext cx="526" cy="465245"/>
          </a:xfrm>
          <a:prstGeom prst="straightConnector1">
            <a:avLst/>
          </a:prstGeom>
          <a:ln w="5715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Rectangle 5"/>
          <p:cNvSpPr/>
          <p:nvPr/>
        </p:nvSpPr>
        <p:spPr>
          <a:xfrm>
            <a:off x="3599474" y="5755719"/>
            <a:ext cx="1908000" cy="1080000"/>
          </a:xfrm>
          <a:prstGeom prst="rect">
            <a:avLst/>
          </a:prstGeom>
          <a:solidFill>
            <a:schemeClr val="accent6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3600" b="1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60" name="Rectangle 6"/>
          <p:cNvSpPr/>
          <p:nvPr/>
        </p:nvSpPr>
        <p:spPr>
          <a:xfrm>
            <a:off x="5579474" y="5755719"/>
            <a:ext cx="1908000" cy="1080000"/>
          </a:xfrm>
          <a:prstGeom prst="rect">
            <a:avLst/>
          </a:prstGeom>
          <a:solidFill>
            <a:srgbClr val="F3FAFE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3600" b="1">
                <a:solidFill>
                  <a:srgbClr val="222222"/>
                </a:solidFill>
              </a:rPr>
              <a:t>3</a:t>
            </a:r>
          </a:p>
        </p:txBody>
      </p:sp>
      <p:sp>
        <p:nvSpPr>
          <p:cNvPr id="61" name="Rectangle 7"/>
          <p:cNvSpPr/>
          <p:nvPr/>
        </p:nvSpPr>
        <p:spPr>
          <a:xfrm>
            <a:off x="7559474" y="5755719"/>
            <a:ext cx="1908000" cy="1080000"/>
          </a:xfrm>
          <a:prstGeom prst="rect">
            <a:avLst/>
          </a:prstGeom>
          <a:solidFill>
            <a:srgbClr val="F3FAFE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3600" b="1">
                <a:solidFill>
                  <a:srgbClr val="222222"/>
                </a:solidFill>
              </a:rPr>
              <a:t>8</a:t>
            </a:r>
          </a:p>
        </p:txBody>
      </p:sp>
      <p:sp>
        <p:nvSpPr>
          <p:cNvPr id="62" name="Rectangle 8"/>
          <p:cNvSpPr/>
          <p:nvPr/>
        </p:nvSpPr>
        <p:spPr>
          <a:xfrm>
            <a:off x="9539474" y="5755719"/>
            <a:ext cx="1908000" cy="1080000"/>
          </a:xfrm>
          <a:prstGeom prst="rect">
            <a:avLst/>
          </a:prstGeom>
          <a:solidFill>
            <a:srgbClr val="F3FAFE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3600" b="1">
                <a:solidFill>
                  <a:srgbClr val="222222"/>
                </a:solidFill>
              </a:rPr>
              <a:t>1</a:t>
            </a:r>
          </a:p>
        </p:txBody>
      </p:sp>
      <p:sp>
        <p:nvSpPr>
          <p:cNvPr id="63" name="Rectangle 9"/>
          <p:cNvSpPr/>
          <p:nvPr/>
        </p:nvSpPr>
        <p:spPr>
          <a:xfrm>
            <a:off x="11519474" y="5755719"/>
            <a:ext cx="1908000" cy="1080000"/>
          </a:xfrm>
          <a:prstGeom prst="rect">
            <a:avLst/>
          </a:prstGeom>
          <a:solidFill>
            <a:schemeClr val="tx2"/>
          </a:solidFill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36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64" name="TextBox 10"/>
          <p:cNvSpPr txBox="1"/>
          <p:nvPr/>
        </p:nvSpPr>
        <p:spPr>
          <a:xfrm>
            <a:off x="2692658" y="7229651"/>
            <a:ext cx="1331033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2600" b="1" dirty="0">
                <a:solidFill>
                  <a:srgbClr val="666666"/>
                </a:solidFill>
              </a:rPr>
              <a:t>i = -</a:t>
            </a:r>
            <a:r>
              <a:rPr lang="en-US" altLang="ja-JP" sz="2600" b="1" dirty="0" smtClean="0">
                <a:solidFill>
                  <a:srgbClr val="666666"/>
                </a:solidFill>
              </a:rPr>
              <a:t>1</a:t>
            </a:r>
          </a:p>
        </p:txBody>
      </p:sp>
      <p:sp>
        <p:nvSpPr>
          <p:cNvPr id="65" name="TextBox 37"/>
          <p:cNvSpPr txBox="1"/>
          <p:nvPr/>
        </p:nvSpPr>
        <p:spPr>
          <a:xfrm>
            <a:off x="12001226" y="6767986"/>
            <a:ext cx="94449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2400" b="1" dirty="0" smtClean="0">
                <a:solidFill>
                  <a:srgbClr val="013CA6"/>
                </a:solidFill>
              </a:rPr>
              <a:t>pivot</a:t>
            </a:r>
            <a:endParaRPr lang="en-US" sz="2400" b="1" dirty="0" smtClean="0">
              <a:solidFill>
                <a:srgbClr val="013CA6"/>
              </a:solidFill>
            </a:endParaRPr>
          </a:p>
        </p:txBody>
      </p:sp>
      <p:cxnSp>
        <p:nvCxnSpPr>
          <p:cNvPr id="66" name="直線矢印コネクタ 65"/>
          <p:cNvCxnSpPr/>
          <p:nvPr/>
        </p:nvCxnSpPr>
        <p:spPr>
          <a:xfrm flipH="1" flipV="1">
            <a:off x="3357648" y="6854551"/>
            <a:ext cx="526" cy="465245"/>
          </a:xfrm>
          <a:prstGeom prst="straightConnector1">
            <a:avLst/>
          </a:prstGeom>
          <a:ln w="5715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Rectangle 5"/>
          <p:cNvSpPr/>
          <p:nvPr/>
        </p:nvSpPr>
        <p:spPr>
          <a:xfrm>
            <a:off x="3600000" y="7862226"/>
            <a:ext cx="1908000" cy="1080000"/>
          </a:xfrm>
          <a:prstGeom prst="rect">
            <a:avLst/>
          </a:prstGeom>
          <a:solidFill>
            <a:srgbClr val="F3FAFE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3600" b="1">
                <a:solidFill>
                  <a:srgbClr val="222222"/>
                </a:solidFill>
              </a:rPr>
              <a:t>5</a:t>
            </a:r>
          </a:p>
        </p:txBody>
      </p:sp>
      <p:sp>
        <p:nvSpPr>
          <p:cNvPr id="77" name="Rectangle 6"/>
          <p:cNvSpPr/>
          <p:nvPr/>
        </p:nvSpPr>
        <p:spPr>
          <a:xfrm>
            <a:off x="5580000" y="7862226"/>
            <a:ext cx="1908000" cy="1080000"/>
          </a:xfrm>
          <a:prstGeom prst="rect">
            <a:avLst/>
          </a:prstGeom>
          <a:solidFill>
            <a:schemeClr val="accent6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3600" b="1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78" name="Rectangle 7"/>
          <p:cNvSpPr/>
          <p:nvPr/>
        </p:nvSpPr>
        <p:spPr>
          <a:xfrm>
            <a:off x="7560000" y="7862226"/>
            <a:ext cx="1908000" cy="1080000"/>
          </a:xfrm>
          <a:prstGeom prst="rect">
            <a:avLst/>
          </a:prstGeom>
          <a:solidFill>
            <a:srgbClr val="F3FAFE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3600" b="1">
                <a:solidFill>
                  <a:srgbClr val="222222"/>
                </a:solidFill>
              </a:rPr>
              <a:t>8</a:t>
            </a:r>
          </a:p>
        </p:txBody>
      </p:sp>
      <p:sp>
        <p:nvSpPr>
          <p:cNvPr id="79" name="Rectangle 8"/>
          <p:cNvSpPr/>
          <p:nvPr/>
        </p:nvSpPr>
        <p:spPr>
          <a:xfrm>
            <a:off x="9540000" y="7862226"/>
            <a:ext cx="1908000" cy="1080000"/>
          </a:xfrm>
          <a:prstGeom prst="rect">
            <a:avLst/>
          </a:prstGeom>
          <a:solidFill>
            <a:srgbClr val="F3FAFE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3600" b="1">
                <a:solidFill>
                  <a:srgbClr val="222222"/>
                </a:solidFill>
              </a:rPr>
              <a:t>1</a:t>
            </a:r>
          </a:p>
        </p:txBody>
      </p:sp>
      <p:sp>
        <p:nvSpPr>
          <p:cNvPr id="80" name="Rectangle 9"/>
          <p:cNvSpPr/>
          <p:nvPr/>
        </p:nvSpPr>
        <p:spPr>
          <a:xfrm>
            <a:off x="11520000" y="7862226"/>
            <a:ext cx="1908000" cy="1080000"/>
          </a:xfrm>
          <a:prstGeom prst="rect">
            <a:avLst/>
          </a:prstGeom>
          <a:solidFill>
            <a:schemeClr val="tx2"/>
          </a:solidFill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3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81" name="TextBox 37"/>
          <p:cNvSpPr txBox="1"/>
          <p:nvPr/>
        </p:nvSpPr>
        <p:spPr>
          <a:xfrm>
            <a:off x="12001752" y="8842209"/>
            <a:ext cx="94449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2400" b="1" dirty="0" smtClean="0">
                <a:solidFill>
                  <a:srgbClr val="013CA6"/>
                </a:solidFill>
              </a:rPr>
              <a:t>pivot</a:t>
            </a:r>
            <a:endParaRPr lang="en-US" sz="2400" b="1" dirty="0" smtClean="0">
              <a:solidFill>
                <a:srgbClr val="013CA6"/>
              </a:solidFill>
            </a:endParaRPr>
          </a:p>
        </p:txBody>
      </p:sp>
      <p:sp>
        <p:nvSpPr>
          <p:cNvPr id="88" name="Rectangle 5"/>
          <p:cNvSpPr/>
          <p:nvPr/>
        </p:nvSpPr>
        <p:spPr>
          <a:xfrm>
            <a:off x="3600526" y="9968732"/>
            <a:ext cx="1908000" cy="1080000"/>
          </a:xfrm>
          <a:prstGeom prst="rect">
            <a:avLst/>
          </a:prstGeom>
          <a:solidFill>
            <a:srgbClr val="F3FAFE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3600" b="1">
                <a:solidFill>
                  <a:srgbClr val="222222"/>
                </a:solidFill>
              </a:rPr>
              <a:t>5</a:t>
            </a:r>
          </a:p>
        </p:txBody>
      </p:sp>
      <p:sp>
        <p:nvSpPr>
          <p:cNvPr id="89" name="Rectangle 6"/>
          <p:cNvSpPr/>
          <p:nvPr/>
        </p:nvSpPr>
        <p:spPr>
          <a:xfrm>
            <a:off x="5580526" y="9968732"/>
            <a:ext cx="1908000" cy="1080000"/>
          </a:xfrm>
          <a:prstGeom prst="rect">
            <a:avLst/>
          </a:prstGeom>
          <a:solidFill>
            <a:srgbClr val="F3FAFE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3600" b="1">
                <a:solidFill>
                  <a:srgbClr val="222222"/>
                </a:solidFill>
              </a:rPr>
              <a:t>3</a:t>
            </a:r>
          </a:p>
        </p:txBody>
      </p:sp>
      <p:sp>
        <p:nvSpPr>
          <p:cNvPr id="90" name="Rectangle 7"/>
          <p:cNvSpPr/>
          <p:nvPr/>
        </p:nvSpPr>
        <p:spPr>
          <a:xfrm>
            <a:off x="7560526" y="9968732"/>
            <a:ext cx="1908000" cy="1080000"/>
          </a:xfrm>
          <a:prstGeom prst="rect">
            <a:avLst/>
          </a:prstGeom>
          <a:solidFill>
            <a:schemeClr val="accent6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3600" b="1">
                <a:solidFill>
                  <a:schemeClr val="bg1"/>
                </a:solidFill>
              </a:rPr>
              <a:t>8</a:t>
            </a:r>
          </a:p>
        </p:txBody>
      </p:sp>
      <p:sp>
        <p:nvSpPr>
          <p:cNvPr id="91" name="Rectangle 8"/>
          <p:cNvSpPr/>
          <p:nvPr/>
        </p:nvSpPr>
        <p:spPr>
          <a:xfrm>
            <a:off x="9540526" y="9968732"/>
            <a:ext cx="1908000" cy="1080000"/>
          </a:xfrm>
          <a:prstGeom prst="rect">
            <a:avLst/>
          </a:prstGeom>
          <a:solidFill>
            <a:srgbClr val="F3FAFE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3600" b="1">
                <a:solidFill>
                  <a:srgbClr val="222222"/>
                </a:solidFill>
              </a:rPr>
              <a:t>1</a:t>
            </a:r>
          </a:p>
        </p:txBody>
      </p:sp>
      <p:sp>
        <p:nvSpPr>
          <p:cNvPr id="92" name="Rectangle 9"/>
          <p:cNvSpPr/>
          <p:nvPr/>
        </p:nvSpPr>
        <p:spPr>
          <a:xfrm>
            <a:off x="11520526" y="9968732"/>
            <a:ext cx="1908000" cy="1080000"/>
          </a:xfrm>
          <a:prstGeom prst="rect">
            <a:avLst/>
          </a:prstGeom>
          <a:solidFill>
            <a:schemeClr val="tx2"/>
          </a:solidFill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3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3" name="TextBox 37"/>
          <p:cNvSpPr txBox="1"/>
          <p:nvPr/>
        </p:nvSpPr>
        <p:spPr>
          <a:xfrm>
            <a:off x="12002278" y="11035966"/>
            <a:ext cx="94449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2400" b="1" dirty="0" smtClean="0">
                <a:solidFill>
                  <a:srgbClr val="013CA6"/>
                </a:solidFill>
              </a:rPr>
              <a:t>pivot</a:t>
            </a:r>
            <a:endParaRPr lang="en-US" sz="2400" b="1" dirty="0" smtClean="0">
              <a:solidFill>
                <a:srgbClr val="013CA6"/>
              </a:solidFill>
            </a:endParaRPr>
          </a:p>
        </p:txBody>
      </p:sp>
      <p:sp>
        <p:nvSpPr>
          <p:cNvPr id="95" name="TextBox 20"/>
          <p:cNvSpPr txBox="1"/>
          <p:nvPr/>
        </p:nvSpPr>
        <p:spPr>
          <a:xfrm>
            <a:off x="13811400" y="8171394"/>
            <a:ext cx="72000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ja-JP" altLang="en-US" sz="2400" b="0" dirty="0" smtClean="0">
                <a:solidFill>
                  <a:srgbClr val="666666"/>
                </a:solidFill>
              </a:rPr>
              <a:t>「</a:t>
            </a:r>
            <a:r>
              <a:rPr lang="en-US" altLang="ja-JP" sz="2400" dirty="0" smtClean="0">
                <a:solidFill>
                  <a:srgbClr val="666666"/>
                </a:solidFill>
              </a:rPr>
              <a:t>3</a:t>
            </a:r>
            <a:r>
              <a:rPr lang="ja-JP" altLang="en-US" sz="2400" b="0" dirty="0" smtClean="0">
                <a:solidFill>
                  <a:srgbClr val="666666"/>
                </a:solidFill>
              </a:rPr>
              <a:t>」</a:t>
            </a:r>
            <a:r>
              <a:rPr sz="2400" b="0" dirty="0" smtClean="0">
                <a:solidFill>
                  <a:srgbClr val="666666"/>
                </a:solidFill>
              </a:rPr>
              <a:t>は</a:t>
            </a:r>
            <a:r>
              <a:rPr lang="ja-JP" altLang="en-US" sz="2400" dirty="0" smtClean="0">
                <a:solidFill>
                  <a:srgbClr val="666666"/>
                </a:solidFill>
              </a:rPr>
              <a:t>ピ</a:t>
            </a:r>
            <a:r>
              <a:rPr lang="ja-JP" altLang="en-US" sz="2400" dirty="0">
                <a:solidFill>
                  <a:srgbClr val="666666"/>
                </a:solidFill>
              </a:rPr>
              <a:t>ボッ</a:t>
            </a:r>
            <a:r>
              <a:rPr lang="ja-JP" altLang="en-US" sz="2400" dirty="0" smtClean="0">
                <a:solidFill>
                  <a:srgbClr val="666666"/>
                </a:solidFill>
              </a:rPr>
              <a:t>ト</a:t>
            </a:r>
            <a:r>
              <a:rPr lang="en-US" altLang="ja-JP" sz="2400" dirty="0" smtClean="0">
                <a:solidFill>
                  <a:srgbClr val="666666"/>
                </a:solidFill>
              </a:rPr>
              <a:t>(</a:t>
            </a:r>
            <a:r>
              <a:rPr sz="2400" b="0" dirty="0" smtClean="0">
                <a:solidFill>
                  <a:srgbClr val="666666"/>
                </a:solidFill>
              </a:rPr>
              <a:t>2</a:t>
            </a:r>
            <a:r>
              <a:rPr lang="en-US" sz="2400" b="0" dirty="0" smtClean="0">
                <a:solidFill>
                  <a:srgbClr val="666666"/>
                </a:solidFill>
              </a:rPr>
              <a:t>)</a:t>
            </a:r>
            <a:r>
              <a:rPr sz="2400" b="0" dirty="0" smtClean="0">
                <a:solidFill>
                  <a:srgbClr val="666666"/>
                </a:solidFill>
              </a:rPr>
              <a:t>より大き </a:t>
            </a:r>
            <a:r>
              <a:rPr sz="2400" b="0" dirty="0">
                <a:solidFill>
                  <a:srgbClr val="666666"/>
                </a:solidFill>
              </a:rPr>
              <a:t>い → i は動かない</a:t>
            </a:r>
          </a:p>
        </p:txBody>
      </p:sp>
      <p:sp>
        <p:nvSpPr>
          <p:cNvPr id="96" name="TextBox 20"/>
          <p:cNvSpPr txBox="1"/>
          <p:nvPr/>
        </p:nvSpPr>
        <p:spPr>
          <a:xfrm>
            <a:off x="13811400" y="10277900"/>
            <a:ext cx="72000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ja-JP" altLang="en-US" sz="2400" b="0" dirty="0" smtClean="0">
                <a:solidFill>
                  <a:srgbClr val="666666"/>
                </a:solidFill>
              </a:rPr>
              <a:t>「</a:t>
            </a:r>
            <a:r>
              <a:rPr lang="en-US" altLang="ja-JP" sz="2400" dirty="0">
                <a:solidFill>
                  <a:srgbClr val="666666"/>
                </a:solidFill>
              </a:rPr>
              <a:t>8</a:t>
            </a:r>
            <a:r>
              <a:rPr lang="ja-JP" altLang="en-US" sz="2400" b="0" dirty="0" smtClean="0">
                <a:solidFill>
                  <a:srgbClr val="666666"/>
                </a:solidFill>
              </a:rPr>
              <a:t>」</a:t>
            </a:r>
            <a:r>
              <a:rPr sz="2400" b="0" dirty="0" smtClean="0">
                <a:solidFill>
                  <a:srgbClr val="666666"/>
                </a:solidFill>
              </a:rPr>
              <a:t>は</a:t>
            </a:r>
            <a:r>
              <a:rPr lang="ja-JP" altLang="en-US" sz="2400" dirty="0" smtClean="0">
                <a:solidFill>
                  <a:srgbClr val="666666"/>
                </a:solidFill>
              </a:rPr>
              <a:t>ピ</a:t>
            </a:r>
            <a:r>
              <a:rPr lang="ja-JP" altLang="en-US" sz="2400" dirty="0">
                <a:solidFill>
                  <a:srgbClr val="666666"/>
                </a:solidFill>
              </a:rPr>
              <a:t>ボッ</a:t>
            </a:r>
            <a:r>
              <a:rPr lang="ja-JP" altLang="en-US" sz="2400" dirty="0" smtClean="0">
                <a:solidFill>
                  <a:srgbClr val="666666"/>
                </a:solidFill>
              </a:rPr>
              <a:t>ト</a:t>
            </a:r>
            <a:r>
              <a:rPr lang="en-US" altLang="ja-JP" sz="2400" dirty="0" smtClean="0">
                <a:solidFill>
                  <a:srgbClr val="666666"/>
                </a:solidFill>
              </a:rPr>
              <a:t>(</a:t>
            </a:r>
            <a:r>
              <a:rPr sz="2400" b="0" dirty="0" smtClean="0">
                <a:solidFill>
                  <a:srgbClr val="666666"/>
                </a:solidFill>
              </a:rPr>
              <a:t>2</a:t>
            </a:r>
            <a:r>
              <a:rPr lang="en-US" sz="2400" b="0" dirty="0" smtClean="0">
                <a:solidFill>
                  <a:srgbClr val="666666"/>
                </a:solidFill>
              </a:rPr>
              <a:t>)</a:t>
            </a:r>
            <a:r>
              <a:rPr sz="2400" b="0" dirty="0" smtClean="0">
                <a:solidFill>
                  <a:srgbClr val="666666"/>
                </a:solidFill>
              </a:rPr>
              <a:t>より大き </a:t>
            </a:r>
            <a:r>
              <a:rPr sz="2400" b="0" dirty="0">
                <a:solidFill>
                  <a:srgbClr val="666666"/>
                </a:solidFill>
              </a:rPr>
              <a:t>い → i は動かない</a:t>
            </a:r>
          </a:p>
        </p:txBody>
      </p:sp>
      <p:sp>
        <p:nvSpPr>
          <p:cNvPr id="99" name="TextBox 10"/>
          <p:cNvSpPr txBox="1"/>
          <p:nvPr/>
        </p:nvSpPr>
        <p:spPr>
          <a:xfrm>
            <a:off x="2692131" y="9217803"/>
            <a:ext cx="1331033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2600" b="1" dirty="0">
                <a:solidFill>
                  <a:srgbClr val="666666"/>
                </a:solidFill>
              </a:rPr>
              <a:t>i = -</a:t>
            </a:r>
            <a:r>
              <a:rPr lang="en-US" altLang="ja-JP" sz="2600" b="1" dirty="0" smtClean="0">
                <a:solidFill>
                  <a:srgbClr val="666666"/>
                </a:solidFill>
              </a:rPr>
              <a:t>1</a:t>
            </a:r>
          </a:p>
        </p:txBody>
      </p:sp>
      <p:cxnSp>
        <p:nvCxnSpPr>
          <p:cNvPr id="100" name="直線矢印コネクタ 99"/>
          <p:cNvCxnSpPr/>
          <p:nvPr/>
        </p:nvCxnSpPr>
        <p:spPr>
          <a:xfrm flipH="1" flipV="1">
            <a:off x="3357121" y="8842703"/>
            <a:ext cx="526" cy="465245"/>
          </a:xfrm>
          <a:prstGeom prst="straightConnector1">
            <a:avLst/>
          </a:prstGeom>
          <a:ln w="5715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TextBox 10"/>
          <p:cNvSpPr txBox="1"/>
          <p:nvPr/>
        </p:nvSpPr>
        <p:spPr>
          <a:xfrm>
            <a:off x="2691604" y="11322828"/>
            <a:ext cx="1331033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2600" b="1" dirty="0">
                <a:solidFill>
                  <a:srgbClr val="666666"/>
                </a:solidFill>
              </a:rPr>
              <a:t>i = -</a:t>
            </a:r>
            <a:r>
              <a:rPr lang="en-US" altLang="ja-JP" sz="2600" b="1" dirty="0" smtClean="0">
                <a:solidFill>
                  <a:srgbClr val="666666"/>
                </a:solidFill>
              </a:rPr>
              <a:t>1</a:t>
            </a:r>
          </a:p>
        </p:txBody>
      </p:sp>
      <p:cxnSp>
        <p:nvCxnSpPr>
          <p:cNvPr id="102" name="直線矢印コネクタ 101"/>
          <p:cNvCxnSpPr/>
          <p:nvPr/>
        </p:nvCxnSpPr>
        <p:spPr>
          <a:xfrm flipH="1" flipV="1">
            <a:off x="3356594" y="10947728"/>
            <a:ext cx="526" cy="465245"/>
          </a:xfrm>
          <a:prstGeom prst="straightConnector1">
            <a:avLst/>
          </a:prstGeom>
          <a:ln w="5715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3509600" y="1618300"/>
            <a:ext cx="1908000" cy="1080000"/>
          </a:xfrm>
          <a:prstGeom prst="rect">
            <a:avLst/>
          </a:prstGeom>
          <a:solidFill>
            <a:srgbClr val="F3FAFE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3600" b="1">
                <a:solidFill>
                  <a:srgbClr val="222222"/>
                </a:solidFill>
              </a:rPr>
              <a:t>5</a:t>
            </a:r>
          </a:p>
        </p:txBody>
      </p:sp>
      <p:sp>
        <p:nvSpPr>
          <p:cNvPr id="7" name="Rectangle 6"/>
          <p:cNvSpPr/>
          <p:nvPr/>
        </p:nvSpPr>
        <p:spPr>
          <a:xfrm>
            <a:off x="5512200" y="1618300"/>
            <a:ext cx="1908000" cy="1080000"/>
          </a:xfrm>
          <a:prstGeom prst="rect">
            <a:avLst/>
          </a:prstGeom>
          <a:solidFill>
            <a:srgbClr val="F3FAFE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3600" b="1">
                <a:solidFill>
                  <a:srgbClr val="222222"/>
                </a:solidFill>
              </a:rPr>
              <a:t>3</a:t>
            </a:r>
          </a:p>
        </p:txBody>
      </p:sp>
      <p:sp>
        <p:nvSpPr>
          <p:cNvPr id="8" name="Rectangle 7"/>
          <p:cNvSpPr/>
          <p:nvPr/>
        </p:nvSpPr>
        <p:spPr>
          <a:xfrm>
            <a:off x="7514800" y="1618300"/>
            <a:ext cx="1908000" cy="1080000"/>
          </a:xfrm>
          <a:prstGeom prst="rect">
            <a:avLst/>
          </a:prstGeom>
          <a:solidFill>
            <a:srgbClr val="F3FAFE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3600" b="1">
                <a:solidFill>
                  <a:srgbClr val="222222"/>
                </a:solidFill>
              </a:rPr>
              <a:t>8</a:t>
            </a:r>
          </a:p>
        </p:txBody>
      </p:sp>
      <p:sp>
        <p:nvSpPr>
          <p:cNvPr id="9" name="Rectangle 8"/>
          <p:cNvSpPr/>
          <p:nvPr/>
        </p:nvSpPr>
        <p:spPr>
          <a:xfrm>
            <a:off x="9517400" y="1618300"/>
            <a:ext cx="1908000" cy="1080000"/>
          </a:xfrm>
          <a:prstGeom prst="rect">
            <a:avLst/>
          </a:prstGeom>
          <a:solidFill>
            <a:schemeClr val="accent6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3600" b="1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520000" y="1618300"/>
            <a:ext cx="1908000" cy="1080000"/>
          </a:xfrm>
          <a:prstGeom prst="rect">
            <a:avLst/>
          </a:prstGeom>
          <a:solidFill>
            <a:schemeClr val="tx2"/>
          </a:solidFill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3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83570" y="3092232"/>
            <a:ext cx="5560060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2600" b="1" dirty="0">
                <a:solidFill>
                  <a:srgbClr val="666666"/>
                </a:solidFill>
              </a:rPr>
              <a:t>i = 0</a:t>
            </a:r>
            <a:endParaRPr lang="en-US" altLang="ja-JP" sz="2600" b="1" dirty="0" smtClean="0">
              <a:solidFill>
                <a:srgbClr val="666666"/>
              </a:solidFill>
            </a:endParaRPr>
          </a:p>
          <a:p>
            <a:pPr algn="ctr"/>
            <a:r>
              <a:rPr lang="en-US" altLang="ja-JP" sz="2600" b="1" dirty="0" smtClean="0">
                <a:solidFill>
                  <a:srgbClr val="666666"/>
                </a:solidFill>
              </a:rPr>
              <a:t>(</a:t>
            </a:r>
            <a:r>
              <a:rPr lang="ja-JP" altLang="en-US" sz="2600" b="1" dirty="0" smtClean="0">
                <a:solidFill>
                  <a:srgbClr val="666666"/>
                </a:solidFill>
              </a:rPr>
              <a:t>ピボット未満の最後の要素の位置</a:t>
            </a:r>
            <a:r>
              <a:rPr lang="en-US" altLang="ja-JP" sz="2600" b="1" dirty="0" smtClean="0">
                <a:solidFill>
                  <a:srgbClr val="666666"/>
                </a:solidFill>
              </a:rPr>
              <a:t>)</a:t>
            </a:r>
            <a:endParaRPr lang="en-US" sz="2600" b="1" dirty="0" smtClean="0">
              <a:solidFill>
                <a:srgbClr val="666666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3680000" y="1927468"/>
            <a:ext cx="7920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400" dirty="0" smtClean="0">
                <a:solidFill>
                  <a:srgbClr val="666666"/>
                </a:solidFill>
              </a:rPr>
              <a:t>「</a:t>
            </a:r>
            <a:r>
              <a:rPr lang="en-US" altLang="ja-JP" sz="2400" dirty="0" smtClean="0">
                <a:solidFill>
                  <a:srgbClr val="666666"/>
                </a:solidFill>
              </a:rPr>
              <a:t>1</a:t>
            </a:r>
            <a:r>
              <a:rPr lang="ja-JP" altLang="en-US" sz="2400" dirty="0" smtClean="0">
                <a:solidFill>
                  <a:srgbClr val="666666"/>
                </a:solidFill>
              </a:rPr>
              <a:t>」</a:t>
            </a:r>
            <a:r>
              <a:rPr lang="ja-JP" altLang="en-US" sz="2400" dirty="0">
                <a:solidFill>
                  <a:srgbClr val="666666"/>
                </a:solidFill>
              </a:rPr>
              <a:t>はピボット</a:t>
            </a:r>
            <a:r>
              <a:rPr lang="en-US" altLang="ja-JP" sz="2400" dirty="0">
                <a:solidFill>
                  <a:srgbClr val="666666"/>
                </a:solidFill>
              </a:rPr>
              <a:t>(2)</a:t>
            </a:r>
            <a:r>
              <a:rPr lang="ja-JP" altLang="en-US" sz="2400" dirty="0">
                <a:solidFill>
                  <a:srgbClr val="666666"/>
                </a:solidFill>
              </a:rPr>
              <a:t>よ</a:t>
            </a:r>
            <a:r>
              <a:rPr lang="ja-JP" altLang="en-US" sz="2400" dirty="0" smtClean="0">
                <a:solidFill>
                  <a:srgbClr val="666666"/>
                </a:solidFill>
              </a:rPr>
              <a:t>り小さい </a:t>
            </a:r>
            <a:r>
              <a:rPr lang="ja-JP" altLang="en-US" sz="2400" dirty="0">
                <a:solidFill>
                  <a:srgbClr val="666666"/>
                </a:solidFill>
              </a:rPr>
              <a:t>→ </a:t>
            </a:r>
            <a:r>
              <a:rPr lang="en-US" altLang="ja-JP" sz="2400" dirty="0">
                <a:solidFill>
                  <a:srgbClr val="666666"/>
                </a:solidFill>
              </a:rPr>
              <a:t>i </a:t>
            </a:r>
            <a:r>
              <a:rPr lang="ja-JP" altLang="en-US" sz="2400" dirty="0" smtClean="0">
                <a:solidFill>
                  <a:srgbClr val="666666"/>
                </a:solidFill>
              </a:rPr>
              <a:t>を</a:t>
            </a:r>
            <a:r>
              <a:rPr lang="en-US" altLang="ja-JP" sz="2400" dirty="0" smtClean="0">
                <a:solidFill>
                  <a:srgbClr val="666666"/>
                </a:solidFill>
              </a:rPr>
              <a:t>+1</a:t>
            </a:r>
            <a:endParaRPr lang="ja-JP" altLang="en-US" sz="2400" dirty="0">
              <a:solidFill>
                <a:srgbClr val="666666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3680000" y="4731387"/>
            <a:ext cx="7920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ja-JP" altLang="en-US" sz="2400" b="0" dirty="0" smtClean="0">
                <a:solidFill>
                  <a:srgbClr val="666666"/>
                </a:solidFill>
              </a:rPr>
              <a:t>「</a:t>
            </a:r>
            <a:r>
              <a:rPr lang="en-US" altLang="ja-JP" sz="2400" dirty="0">
                <a:solidFill>
                  <a:srgbClr val="666666"/>
                </a:solidFill>
              </a:rPr>
              <a:t>1</a:t>
            </a:r>
            <a:r>
              <a:rPr lang="ja-JP" altLang="en-US" sz="2400" b="0" dirty="0" smtClean="0">
                <a:solidFill>
                  <a:srgbClr val="666666"/>
                </a:solidFill>
              </a:rPr>
              <a:t>」と </a:t>
            </a:r>
            <a:r>
              <a:rPr lang="en-US" altLang="ja-JP" sz="2400" b="0" dirty="0" smtClean="0">
                <a:solidFill>
                  <a:srgbClr val="666666"/>
                </a:solidFill>
              </a:rPr>
              <a:t>i </a:t>
            </a:r>
            <a:r>
              <a:rPr lang="ja-JP" altLang="en-US" sz="2400" b="0" dirty="0" smtClean="0">
                <a:solidFill>
                  <a:srgbClr val="666666"/>
                </a:solidFill>
              </a:rPr>
              <a:t>の要素を入れ替える</a:t>
            </a:r>
            <a:endParaRPr sz="2400" b="0" dirty="0">
              <a:solidFill>
                <a:srgbClr val="666666"/>
              </a:solidFill>
            </a:endParaRPr>
          </a:p>
        </p:txBody>
      </p:sp>
      <p:cxnSp>
        <p:nvCxnSpPr>
          <p:cNvPr id="22" name="Connector 21"/>
          <p:cNvCxnSpPr/>
          <p:nvPr/>
        </p:nvCxnSpPr>
        <p:spPr>
          <a:xfrm>
            <a:off x="720000" y="7142400"/>
            <a:ext cx="19850400" cy="0"/>
          </a:xfrm>
          <a:prstGeom prst="line">
            <a:avLst/>
          </a:prstGeom>
          <a:ln w="1905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3600000" y="8758700"/>
            <a:ext cx="1908000" cy="1080000"/>
          </a:xfrm>
          <a:prstGeom prst="rect">
            <a:avLst/>
          </a:prstGeom>
          <a:solidFill>
            <a:srgbClr val="F3FAFE"/>
          </a:solidFill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3600" b="1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580000" y="8758700"/>
            <a:ext cx="1908000" cy="1080000"/>
          </a:xfrm>
          <a:prstGeom prst="rect">
            <a:avLst/>
          </a:prstGeom>
          <a:solidFill>
            <a:schemeClr val="tx2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3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60000" y="8758700"/>
            <a:ext cx="1908000" cy="1080000"/>
          </a:xfrm>
          <a:prstGeom prst="rect">
            <a:avLst/>
          </a:prstGeom>
          <a:solidFill>
            <a:srgbClr val="F3FAFE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3600" b="1">
                <a:solidFill>
                  <a:srgbClr val="222222"/>
                </a:solidFill>
              </a:rPr>
              <a:t>8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540000" y="8758700"/>
            <a:ext cx="1908000" cy="1080000"/>
          </a:xfrm>
          <a:prstGeom prst="rect">
            <a:avLst/>
          </a:prstGeom>
          <a:solidFill>
            <a:srgbClr val="F3FAFE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3600" b="1">
                <a:solidFill>
                  <a:srgbClr val="222222"/>
                </a:solidFill>
              </a:rPr>
              <a:t>5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1520000" y="8758700"/>
            <a:ext cx="1908000" cy="1080000"/>
          </a:xfrm>
          <a:prstGeom prst="rect">
            <a:avLst/>
          </a:prstGeom>
          <a:solidFill>
            <a:srgbClr val="F3FAFE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3600" b="1">
                <a:solidFill>
                  <a:srgbClr val="222222"/>
                </a:solidFill>
              </a:rP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680000" y="9067868"/>
            <a:ext cx="58399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dirty="0" smtClean="0">
                <a:solidFill>
                  <a:srgbClr val="666666"/>
                </a:solidFill>
              </a:rPr>
              <a:t>ピボット</a:t>
            </a:r>
            <a:r>
              <a:rPr lang="ja-JP" altLang="en-US" sz="2400" b="0" dirty="0" smtClean="0">
                <a:solidFill>
                  <a:srgbClr val="666666"/>
                </a:solidFill>
              </a:rPr>
              <a:t>を </a:t>
            </a:r>
            <a:r>
              <a:rPr lang="en-US" altLang="ja-JP" sz="2400" b="0" dirty="0" smtClean="0">
                <a:solidFill>
                  <a:srgbClr val="666666"/>
                </a:solidFill>
              </a:rPr>
              <a:t>i + 1</a:t>
            </a:r>
            <a:r>
              <a:rPr lang="ja-JP" altLang="en-US" sz="2400" b="0" dirty="0" smtClean="0">
                <a:solidFill>
                  <a:srgbClr val="666666"/>
                </a:solidFill>
              </a:rPr>
              <a:t>の要素と入れ替える</a:t>
            </a:r>
            <a:endParaRPr sz="2400" b="0" dirty="0">
              <a:solidFill>
                <a:srgbClr val="666666"/>
              </a:solidFill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720000" y="11340000"/>
            <a:ext cx="19850400" cy="540000"/>
          </a:xfrm>
          <a:prstGeom prst="rect">
            <a:avLst/>
          </a:prstGeom>
          <a:solidFill>
            <a:srgbClr val="F3FAFE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080000" y="11376000"/>
            <a:ext cx="191304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013CA6"/>
                </a:solidFill>
              </a:rPr>
              <a:t>[ 1 ] │ 2 │ [ 8, 5, 3 ]   →  2 は確定。左右を再帰的にソート</a:t>
            </a:r>
          </a:p>
        </p:txBody>
      </p:sp>
      <p:sp>
        <p:nvSpPr>
          <p:cNvPr id="42" name="TextBox 37"/>
          <p:cNvSpPr txBox="1"/>
          <p:nvPr/>
        </p:nvSpPr>
        <p:spPr>
          <a:xfrm>
            <a:off x="12001752" y="2630567"/>
            <a:ext cx="94449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2400" b="1" dirty="0" smtClean="0">
                <a:solidFill>
                  <a:srgbClr val="013CA6"/>
                </a:solidFill>
              </a:rPr>
              <a:t>pivot</a:t>
            </a:r>
            <a:endParaRPr lang="en-US" sz="2400" b="1" dirty="0" smtClean="0">
              <a:solidFill>
                <a:srgbClr val="013CA6"/>
              </a:solidFill>
            </a:endParaRPr>
          </a:p>
        </p:txBody>
      </p:sp>
      <p:cxnSp>
        <p:nvCxnSpPr>
          <p:cNvPr id="43" name="直線矢印コネクタ 42"/>
          <p:cNvCxnSpPr/>
          <p:nvPr/>
        </p:nvCxnSpPr>
        <p:spPr>
          <a:xfrm flipH="1" flipV="1">
            <a:off x="4463337" y="2733100"/>
            <a:ext cx="526" cy="465245"/>
          </a:xfrm>
          <a:prstGeom prst="straightConnector1">
            <a:avLst/>
          </a:prstGeom>
          <a:ln w="5715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Rectangle 5"/>
          <p:cNvSpPr/>
          <p:nvPr/>
        </p:nvSpPr>
        <p:spPr>
          <a:xfrm>
            <a:off x="3509600" y="4422219"/>
            <a:ext cx="1908000" cy="1080000"/>
          </a:xfrm>
          <a:prstGeom prst="rect">
            <a:avLst/>
          </a:prstGeom>
          <a:solidFill>
            <a:schemeClr val="accent6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3600" b="1" dirty="0">
                <a:solidFill>
                  <a:schemeClr val="bg1"/>
                </a:solidFill>
              </a:rPr>
              <a:t>1</a:t>
            </a:r>
            <a:endParaRPr sz="3600" b="1" dirty="0">
              <a:solidFill>
                <a:schemeClr val="bg1"/>
              </a:solidFill>
            </a:endParaRPr>
          </a:p>
        </p:txBody>
      </p:sp>
      <p:sp>
        <p:nvSpPr>
          <p:cNvPr id="60" name="Rectangle 6"/>
          <p:cNvSpPr/>
          <p:nvPr/>
        </p:nvSpPr>
        <p:spPr>
          <a:xfrm>
            <a:off x="5512068" y="4422219"/>
            <a:ext cx="1908000" cy="1080000"/>
          </a:xfrm>
          <a:prstGeom prst="rect">
            <a:avLst/>
          </a:prstGeom>
          <a:solidFill>
            <a:srgbClr val="F3FAFE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3600" b="1">
                <a:solidFill>
                  <a:srgbClr val="222222"/>
                </a:solidFill>
              </a:rPr>
              <a:t>3</a:t>
            </a:r>
          </a:p>
        </p:txBody>
      </p:sp>
      <p:sp>
        <p:nvSpPr>
          <p:cNvPr id="61" name="Rectangle 7"/>
          <p:cNvSpPr/>
          <p:nvPr/>
        </p:nvSpPr>
        <p:spPr>
          <a:xfrm>
            <a:off x="7514536" y="4422219"/>
            <a:ext cx="1908000" cy="1080000"/>
          </a:xfrm>
          <a:prstGeom prst="rect">
            <a:avLst/>
          </a:prstGeom>
          <a:solidFill>
            <a:srgbClr val="F3FAFE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3600" b="1">
                <a:solidFill>
                  <a:srgbClr val="222222"/>
                </a:solidFill>
              </a:rPr>
              <a:t>8</a:t>
            </a:r>
          </a:p>
        </p:txBody>
      </p:sp>
      <p:sp>
        <p:nvSpPr>
          <p:cNvPr id="62" name="Rectangle 8"/>
          <p:cNvSpPr/>
          <p:nvPr/>
        </p:nvSpPr>
        <p:spPr>
          <a:xfrm>
            <a:off x="9517004" y="4422219"/>
            <a:ext cx="1908000" cy="1080000"/>
          </a:xfrm>
          <a:prstGeom prst="rect">
            <a:avLst/>
          </a:prstGeom>
          <a:solidFill>
            <a:srgbClr val="F3FAFE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3600" b="1" dirty="0">
                <a:solidFill>
                  <a:srgbClr val="222222"/>
                </a:solidFill>
              </a:rPr>
              <a:t>5</a:t>
            </a:r>
            <a:endParaRPr sz="3600" b="1" dirty="0">
              <a:solidFill>
                <a:srgbClr val="222222"/>
              </a:solidFill>
            </a:endParaRPr>
          </a:p>
        </p:txBody>
      </p:sp>
      <p:sp>
        <p:nvSpPr>
          <p:cNvPr id="63" name="Rectangle 9"/>
          <p:cNvSpPr/>
          <p:nvPr/>
        </p:nvSpPr>
        <p:spPr>
          <a:xfrm>
            <a:off x="11519474" y="4422219"/>
            <a:ext cx="1908000" cy="1080000"/>
          </a:xfrm>
          <a:prstGeom prst="rect">
            <a:avLst/>
          </a:prstGeom>
          <a:solidFill>
            <a:schemeClr val="tx2"/>
          </a:solidFill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3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65" name="TextBox 37"/>
          <p:cNvSpPr txBox="1"/>
          <p:nvPr/>
        </p:nvSpPr>
        <p:spPr>
          <a:xfrm>
            <a:off x="12001226" y="5434486"/>
            <a:ext cx="94449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2400" b="1" dirty="0" smtClean="0">
                <a:solidFill>
                  <a:srgbClr val="013CA6"/>
                </a:solidFill>
              </a:rPr>
              <a:t>pivot</a:t>
            </a:r>
            <a:endParaRPr lang="en-US" sz="2400" b="1" dirty="0" smtClean="0">
              <a:solidFill>
                <a:srgbClr val="013CA6"/>
              </a:solidFill>
            </a:endParaRPr>
          </a:p>
        </p:txBody>
      </p:sp>
      <p:cxnSp>
        <p:nvCxnSpPr>
          <p:cNvPr id="3" name="カギ線コネクタ 2"/>
          <p:cNvCxnSpPr>
            <a:stCxn id="59" idx="2"/>
            <a:endCxn id="62" idx="2"/>
          </p:cNvCxnSpPr>
          <p:nvPr/>
        </p:nvCxnSpPr>
        <p:spPr>
          <a:xfrm rot="16200000" flipH="1">
            <a:off x="7467302" y="2498517"/>
            <a:ext cx="12700" cy="6007404"/>
          </a:xfrm>
          <a:prstGeom prst="bentConnector3">
            <a:avLst>
              <a:gd name="adj1" fmla="val 3000000"/>
            </a:avLst>
          </a:prstGeom>
          <a:ln w="38100">
            <a:solidFill>
              <a:schemeClr val="tx2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カギ線コネクタ 69"/>
          <p:cNvCxnSpPr>
            <a:stCxn id="35" idx="2"/>
            <a:endCxn id="38" idx="2"/>
          </p:cNvCxnSpPr>
          <p:nvPr/>
        </p:nvCxnSpPr>
        <p:spPr>
          <a:xfrm rot="16200000" flipH="1">
            <a:off x="9504000" y="6868700"/>
            <a:ext cx="12700" cy="5940000"/>
          </a:xfrm>
          <a:prstGeom prst="bentConnector3">
            <a:avLst>
              <a:gd name="adj1" fmla="val 3800000"/>
            </a:avLst>
          </a:prstGeom>
          <a:ln w="38100">
            <a:solidFill>
              <a:schemeClr val="tx2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13"/>
          <p:cNvSpPr txBox="1"/>
          <p:nvPr/>
        </p:nvSpPr>
        <p:spPr>
          <a:xfrm>
            <a:off x="720000" y="357800"/>
            <a:ext cx="468000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dirty="0" smtClean="0">
                <a:solidFill>
                  <a:srgbClr val="013CA6"/>
                </a:solidFill>
              </a:rPr>
              <a:t>pivot より</a:t>
            </a:r>
            <a:r>
              <a:rPr lang="ja-JP" altLang="en-US" sz="2600" b="0" dirty="0" smtClean="0">
                <a:solidFill>
                  <a:srgbClr val="013CA6"/>
                </a:solidFill>
              </a:rPr>
              <a:t>要素が小さいとき</a:t>
            </a:r>
            <a:r>
              <a:rPr dirty="0"/>
              <a:t/>
            </a:r>
            <a:br>
              <a:rPr dirty="0"/>
            </a:br>
            <a:r>
              <a:rPr sz="2400" dirty="0"/>
              <a:t>→ </a:t>
            </a:r>
            <a:r>
              <a:rPr lang="en-US" altLang="ja-JP" sz="2400" dirty="0" smtClean="0"/>
              <a:t>i</a:t>
            </a:r>
            <a:r>
              <a:rPr lang="ja-JP" altLang="en-US" sz="2400" dirty="0" smtClean="0"/>
              <a:t>の更新 </a:t>
            </a:r>
            <a:r>
              <a:rPr lang="en-US" altLang="ja-JP" sz="2400" dirty="0" smtClean="0"/>
              <a:t>+ </a:t>
            </a:r>
            <a:r>
              <a:rPr lang="ja-JP" altLang="en-US" sz="2400" dirty="0" smtClean="0"/>
              <a:t>要素の入れ替え</a:t>
            </a:r>
            <a:endParaRPr dirty="0"/>
          </a:p>
        </p:txBody>
      </p:sp>
      <p:sp>
        <p:nvSpPr>
          <p:cNvPr id="72" name="TextBox 10"/>
          <p:cNvSpPr txBox="1"/>
          <p:nvPr/>
        </p:nvSpPr>
        <p:spPr>
          <a:xfrm>
            <a:off x="3731532" y="6419632"/>
            <a:ext cx="1464136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2600" b="1" dirty="0">
                <a:solidFill>
                  <a:srgbClr val="666666"/>
                </a:solidFill>
              </a:rPr>
              <a:t>i = </a:t>
            </a:r>
            <a:r>
              <a:rPr lang="en-US" altLang="ja-JP" sz="2600" b="1" dirty="0" smtClean="0">
                <a:solidFill>
                  <a:srgbClr val="666666"/>
                </a:solidFill>
              </a:rPr>
              <a:t>0</a:t>
            </a:r>
          </a:p>
        </p:txBody>
      </p:sp>
      <p:cxnSp>
        <p:nvCxnSpPr>
          <p:cNvPr id="73" name="直線矢印コネクタ 72"/>
          <p:cNvCxnSpPr/>
          <p:nvPr/>
        </p:nvCxnSpPr>
        <p:spPr>
          <a:xfrm flipH="1" flipV="1">
            <a:off x="4463337" y="6060500"/>
            <a:ext cx="526" cy="465245"/>
          </a:xfrm>
          <a:prstGeom prst="straightConnector1">
            <a:avLst/>
          </a:prstGeom>
          <a:ln w="5715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直線矢印コネクタ 44"/>
          <p:cNvCxnSpPr/>
          <p:nvPr/>
        </p:nvCxnSpPr>
        <p:spPr>
          <a:xfrm>
            <a:off x="3263900" y="2965722"/>
            <a:ext cx="774700" cy="0"/>
          </a:xfrm>
          <a:prstGeom prst="straightConnector1">
            <a:avLst/>
          </a:prstGeom>
          <a:ln>
            <a:solidFill>
              <a:schemeClr val="tx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TextBox 10"/>
          <p:cNvSpPr txBox="1"/>
          <p:nvPr/>
        </p:nvSpPr>
        <p:spPr>
          <a:xfrm>
            <a:off x="3731532" y="10367178"/>
            <a:ext cx="1464136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2600" b="1" dirty="0">
                <a:solidFill>
                  <a:srgbClr val="666666"/>
                </a:solidFill>
              </a:rPr>
              <a:t>i = </a:t>
            </a:r>
            <a:r>
              <a:rPr lang="en-US" altLang="ja-JP" sz="2600" b="1" dirty="0" smtClean="0">
                <a:solidFill>
                  <a:srgbClr val="666666"/>
                </a:solidFill>
              </a:rPr>
              <a:t>0</a:t>
            </a:r>
          </a:p>
        </p:txBody>
      </p:sp>
      <p:cxnSp>
        <p:nvCxnSpPr>
          <p:cNvPr id="83" name="直線矢印コネクタ 82"/>
          <p:cNvCxnSpPr/>
          <p:nvPr/>
        </p:nvCxnSpPr>
        <p:spPr>
          <a:xfrm flipH="1" flipV="1">
            <a:off x="4463337" y="10008046"/>
            <a:ext cx="526" cy="465245"/>
          </a:xfrm>
          <a:prstGeom prst="straightConnector1">
            <a:avLst/>
          </a:prstGeom>
          <a:ln w="5715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TextBox 13"/>
          <p:cNvSpPr txBox="1"/>
          <p:nvPr/>
        </p:nvSpPr>
        <p:spPr>
          <a:xfrm>
            <a:off x="720000" y="7415900"/>
            <a:ext cx="468000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dirty="0" smtClean="0">
                <a:solidFill>
                  <a:srgbClr val="013CA6"/>
                </a:solidFill>
              </a:rPr>
              <a:t>pivot </a:t>
            </a:r>
            <a:r>
              <a:rPr lang="ja-JP" altLang="en-US" sz="2600" b="0" dirty="0" smtClean="0">
                <a:solidFill>
                  <a:srgbClr val="013CA6"/>
                </a:solidFill>
              </a:rPr>
              <a:t>まで到達したとき</a:t>
            </a:r>
            <a:r>
              <a:rPr dirty="0"/>
              <a:t/>
            </a:r>
            <a:br>
              <a:rPr dirty="0"/>
            </a:br>
            <a:r>
              <a:rPr sz="2400" dirty="0"/>
              <a:t>→ </a:t>
            </a:r>
            <a:r>
              <a:rPr lang="en-US" altLang="ja-JP" sz="2400" dirty="0" smtClean="0"/>
              <a:t>pivot</a:t>
            </a:r>
            <a:r>
              <a:rPr lang="ja-JP" altLang="en-US" sz="2400" dirty="0" smtClean="0"/>
              <a:t>を正しい位置に配置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314795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/>
          <p:cNvSpPr/>
          <p:nvPr/>
        </p:nvSpPr>
        <p:spPr>
          <a:xfrm>
            <a:off x="720000" y="10980000"/>
            <a:ext cx="19850400" cy="792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080000" y="11122085"/>
            <a:ext cx="19130400" cy="5078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ja-JP" sz="2700" b="1" dirty="0" smtClean="0">
                <a:solidFill>
                  <a:srgbClr val="013CA6"/>
                </a:solidFill>
              </a:rPr>
              <a:t>Pivot</a:t>
            </a:r>
            <a:r>
              <a:rPr lang="ja-JP" altLang="en-US" sz="2700" b="1" dirty="0" smtClean="0">
                <a:solidFill>
                  <a:srgbClr val="013CA6"/>
                </a:solidFill>
              </a:rPr>
              <a:t>と重複領域を作成して、重複が多い場合に効率的に処理する</a:t>
            </a:r>
            <a:endParaRPr sz="2700" b="1" dirty="0">
              <a:solidFill>
                <a:srgbClr val="013CA6"/>
              </a:solidFill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18025510" y="3832433"/>
            <a:ext cx="94449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2400" b="1" dirty="0" smtClean="0">
                <a:solidFill>
                  <a:srgbClr val="013CA6"/>
                </a:solidFill>
              </a:rPr>
              <a:t>pivot</a:t>
            </a:r>
            <a:endParaRPr lang="en-US" sz="2400" b="1" dirty="0" smtClean="0">
              <a:solidFill>
                <a:srgbClr val="013CA6"/>
              </a:solidFill>
            </a:endParaRPr>
          </a:p>
        </p:txBody>
      </p:sp>
      <p:sp>
        <p:nvSpPr>
          <p:cNvPr id="128" name="TextBox 37"/>
          <p:cNvSpPr txBox="1"/>
          <p:nvPr/>
        </p:nvSpPr>
        <p:spPr>
          <a:xfrm>
            <a:off x="3883652" y="4138717"/>
            <a:ext cx="340091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2400" b="1" dirty="0">
                <a:solidFill>
                  <a:srgbClr val="00B050"/>
                </a:solidFill>
              </a:rPr>
              <a:t>p</a:t>
            </a:r>
            <a:r>
              <a:rPr lang="en-US" altLang="ja-JP" sz="2400" b="1" dirty="0" smtClean="0">
                <a:solidFill>
                  <a:srgbClr val="00B050"/>
                </a:solidFill>
              </a:rPr>
              <a:t>ivot</a:t>
            </a:r>
            <a:r>
              <a:rPr lang="ja-JP" altLang="en-US" sz="2400" b="1" dirty="0" smtClean="0">
                <a:solidFill>
                  <a:srgbClr val="00B050"/>
                </a:solidFill>
              </a:rPr>
              <a:t>より小さい</a:t>
            </a:r>
            <a:endParaRPr lang="en-US" sz="2400" b="1" dirty="0" smtClean="0">
              <a:solidFill>
                <a:srgbClr val="00B050"/>
              </a:solidFill>
            </a:endParaRPr>
          </a:p>
        </p:txBody>
      </p:sp>
      <p:sp>
        <p:nvSpPr>
          <p:cNvPr id="129" name="TextBox 37"/>
          <p:cNvSpPr txBox="1"/>
          <p:nvPr/>
        </p:nvSpPr>
        <p:spPr>
          <a:xfrm>
            <a:off x="14292929" y="4117048"/>
            <a:ext cx="340091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2400" b="1" dirty="0">
                <a:solidFill>
                  <a:schemeClr val="accent6"/>
                </a:solidFill>
              </a:rPr>
              <a:t>p</a:t>
            </a:r>
            <a:r>
              <a:rPr lang="en-US" altLang="ja-JP" sz="2400" b="1" dirty="0" smtClean="0">
                <a:solidFill>
                  <a:schemeClr val="accent6"/>
                </a:solidFill>
              </a:rPr>
              <a:t>ivot</a:t>
            </a:r>
            <a:r>
              <a:rPr lang="ja-JP" altLang="en-US" sz="2400" b="1" dirty="0" smtClean="0">
                <a:solidFill>
                  <a:schemeClr val="accent6"/>
                </a:solidFill>
              </a:rPr>
              <a:t>より</a:t>
            </a:r>
            <a:r>
              <a:rPr lang="ja-JP" altLang="en-US" sz="2400" b="1" dirty="0">
                <a:solidFill>
                  <a:schemeClr val="accent6"/>
                </a:solidFill>
              </a:rPr>
              <a:t>大きい</a:t>
            </a:r>
            <a:endParaRPr lang="en-US" sz="2400" b="1" dirty="0" smtClean="0">
              <a:solidFill>
                <a:schemeClr val="accent6"/>
              </a:solidFill>
            </a:endParaRPr>
          </a:p>
        </p:txBody>
      </p:sp>
      <p:sp>
        <p:nvSpPr>
          <p:cNvPr id="27" name="右中かっこ 26"/>
          <p:cNvSpPr/>
          <p:nvPr/>
        </p:nvSpPr>
        <p:spPr>
          <a:xfrm rot="5400000">
            <a:off x="5440948" y="1551797"/>
            <a:ext cx="290512" cy="4671474"/>
          </a:xfrm>
          <a:prstGeom prst="rightBrace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0" name="右中かっこ 129"/>
          <p:cNvSpPr/>
          <p:nvPr/>
        </p:nvSpPr>
        <p:spPr>
          <a:xfrm rot="5400000">
            <a:off x="15953515" y="2379653"/>
            <a:ext cx="240093" cy="3066180"/>
          </a:xfrm>
          <a:prstGeom prst="rightBrace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2" name="グループ化 1"/>
          <p:cNvGrpSpPr/>
          <p:nvPr/>
        </p:nvGrpSpPr>
        <p:grpSpPr>
          <a:xfrm>
            <a:off x="3235546" y="2646041"/>
            <a:ext cx="16006300" cy="1007999"/>
            <a:chOff x="3235546" y="1464941"/>
            <a:chExt cx="16006300" cy="1007999"/>
          </a:xfrm>
        </p:grpSpPr>
        <p:sp>
          <p:nvSpPr>
            <p:cNvPr id="156" name="Rectangle 8"/>
            <p:cNvSpPr/>
            <p:nvPr/>
          </p:nvSpPr>
          <p:spPr>
            <a:xfrm>
              <a:off x="3235546" y="1464941"/>
              <a:ext cx="1548000" cy="1007999"/>
            </a:xfrm>
            <a:prstGeom prst="rect">
              <a:avLst/>
            </a:prstGeom>
            <a:solidFill>
              <a:srgbClr val="D4F5E0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ja-JP" sz="3600" b="1" dirty="0">
                  <a:solidFill>
                    <a:srgbClr val="222222"/>
                  </a:solidFill>
                </a:rPr>
                <a:t>4</a:t>
              </a:r>
              <a:endParaRPr sz="3600" b="1" dirty="0">
                <a:solidFill>
                  <a:srgbClr val="222222"/>
                </a:solidFill>
              </a:endParaRPr>
            </a:p>
          </p:txBody>
        </p:sp>
        <p:sp>
          <p:nvSpPr>
            <p:cNvPr id="157" name="Rectangle 6"/>
            <p:cNvSpPr/>
            <p:nvPr/>
          </p:nvSpPr>
          <p:spPr>
            <a:xfrm>
              <a:off x="8054980" y="1464941"/>
              <a:ext cx="1548000" cy="1007999"/>
            </a:xfrm>
            <a:prstGeom prst="rect">
              <a:avLst/>
            </a:prstGeom>
            <a:solidFill>
              <a:schemeClr val="tx2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ja-JP" sz="3600" b="1" dirty="0">
                  <a:solidFill>
                    <a:schemeClr val="bg1"/>
                  </a:solidFill>
                </a:rPr>
                <a:t>6</a:t>
              </a:r>
              <a:endParaRPr sz="3600" b="1" dirty="0">
                <a:solidFill>
                  <a:schemeClr val="bg1"/>
                </a:solidFill>
              </a:endParaRPr>
            </a:p>
          </p:txBody>
        </p:sp>
        <p:sp>
          <p:nvSpPr>
            <p:cNvPr id="158" name="Rectangle 7"/>
            <p:cNvSpPr/>
            <p:nvPr/>
          </p:nvSpPr>
          <p:spPr>
            <a:xfrm>
              <a:off x="4842024" y="1464941"/>
              <a:ext cx="1548000" cy="1007999"/>
            </a:xfrm>
            <a:prstGeom prst="rect">
              <a:avLst/>
            </a:prstGeom>
            <a:solidFill>
              <a:srgbClr val="D4F5E0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600" b="1">
                  <a:solidFill>
                    <a:srgbClr val="222222"/>
                  </a:solidFill>
                </a:rPr>
                <a:t>3</a:t>
              </a:r>
            </a:p>
          </p:txBody>
        </p:sp>
        <p:sp>
          <p:nvSpPr>
            <p:cNvPr id="159" name="Rectangle 9"/>
            <p:cNvSpPr/>
            <p:nvPr/>
          </p:nvSpPr>
          <p:spPr>
            <a:xfrm>
              <a:off x="6448502" y="1464941"/>
              <a:ext cx="1548000" cy="1007999"/>
            </a:xfrm>
            <a:prstGeom prst="rect">
              <a:avLst/>
            </a:prstGeom>
            <a:solidFill>
              <a:srgbClr val="D4F5E0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3600" b="1" dirty="0">
                  <a:solidFill>
                    <a:srgbClr val="222222"/>
                  </a:solidFill>
                </a:rPr>
                <a:t>1</a:t>
              </a:r>
              <a:endParaRPr sz="3600" b="1" dirty="0">
                <a:solidFill>
                  <a:srgbClr val="222222"/>
                </a:solidFill>
              </a:endParaRPr>
            </a:p>
          </p:txBody>
        </p:sp>
        <p:sp>
          <p:nvSpPr>
            <p:cNvPr id="160" name="Rectangle 10"/>
            <p:cNvSpPr/>
            <p:nvPr/>
          </p:nvSpPr>
          <p:spPr>
            <a:xfrm>
              <a:off x="9661458" y="1464941"/>
              <a:ext cx="1548000" cy="1007999"/>
            </a:xfrm>
            <a:prstGeom prst="rect">
              <a:avLst/>
            </a:prstGeom>
            <a:solidFill>
              <a:schemeClr val="tx2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ja-JP" sz="3600" b="1" dirty="0">
                  <a:solidFill>
                    <a:schemeClr val="bg1"/>
                  </a:solidFill>
                </a:rPr>
                <a:t>6</a:t>
              </a:r>
              <a:endParaRPr sz="3600" b="1" dirty="0">
                <a:solidFill>
                  <a:schemeClr val="bg1"/>
                </a:solidFill>
              </a:endParaRPr>
            </a:p>
          </p:txBody>
        </p:sp>
        <p:sp>
          <p:nvSpPr>
            <p:cNvPr id="161" name="Rectangle 11"/>
            <p:cNvSpPr/>
            <p:nvPr/>
          </p:nvSpPr>
          <p:spPr>
            <a:xfrm>
              <a:off x="14480892" y="1464941"/>
              <a:ext cx="1548000" cy="100799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3600" b="1" dirty="0">
                  <a:solidFill>
                    <a:srgbClr val="222222"/>
                  </a:solidFill>
                </a:rPr>
                <a:t>8</a:t>
              </a:r>
              <a:endParaRPr sz="3600" b="1" dirty="0">
                <a:solidFill>
                  <a:srgbClr val="222222"/>
                </a:solidFill>
              </a:endParaRPr>
            </a:p>
          </p:txBody>
        </p:sp>
        <p:sp>
          <p:nvSpPr>
            <p:cNvPr id="162" name="Rectangle 12"/>
            <p:cNvSpPr/>
            <p:nvPr/>
          </p:nvSpPr>
          <p:spPr>
            <a:xfrm>
              <a:off x="16087370" y="1464941"/>
              <a:ext cx="1548000" cy="100799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3600" b="1" dirty="0">
                  <a:solidFill>
                    <a:srgbClr val="222222"/>
                  </a:solidFill>
                </a:rPr>
                <a:t>7</a:t>
              </a:r>
              <a:endParaRPr sz="3600" b="1" dirty="0">
                <a:solidFill>
                  <a:srgbClr val="222222"/>
                </a:solidFill>
              </a:endParaRPr>
            </a:p>
          </p:txBody>
        </p:sp>
        <p:sp>
          <p:nvSpPr>
            <p:cNvPr id="163" name="Rectangle 13"/>
            <p:cNvSpPr/>
            <p:nvPr/>
          </p:nvSpPr>
          <p:spPr>
            <a:xfrm>
              <a:off x="11267936" y="1464941"/>
              <a:ext cx="1548000" cy="1007999"/>
            </a:xfrm>
            <a:prstGeom prst="rect">
              <a:avLst/>
            </a:prstGeom>
            <a:solidFill>
              <a:srgbClr val="F3FAFE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3600" b="1" dirty="0">
                  <a:solidFill>
                    <a:schemeClr val="tx1"/>
                  </a:solidFill>
                </a:rPr>
                <a:t>9</a:t>
              </a:r>
              <a:endParaRPr sz="3600" b="1" dirty="0">
                <a:solidFill>
                  <a:schemeClr val="tx1"/>
                </a:solidFill>
              </a:endParaRPr>
            </a:p>
          </p:txBody>
        </p:sp>
        <p:sp>
          <p:nvSpPr>
            <p:cNvPr id="70" name="Rectangle 13"/>
            <p:cNvSpPr/>
            <p:nvPr/>
          </p:nvSpPr>
          <p:spPr>
            <a:xfrm>
              <a:off x="17693846" y="1464941"/>
              <a:ext cx="1548000" cy="1007999"/>
            </a:xfrm>
            <a:prstGeom prst="rect">
              <a:avLst/>
            </a:prstGeom>
            <a:solidFill>
              <a:schemeClr val="tx2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ja-JP" sz="3600" b="1" dirty="0" smtClean="0">
                  <a:solidFill>
                    <a:schemeClr val="bg1"/>
                  </a:solidFill>
                </a:rPr>
                <a:t>6</a:t>
              </a:r>
              <a:endParaRPr sz="3600" b="1" dirty="0">
                <a:solidFill>
                  <a:schemeClr val="bg1"/>
                </a:solidFill>
              </a:endParaRPr>
            </a:p>
          </p:txBody>
        </p:sp>
        <p:sp>
          <p:nvSpPr>
            <p:cNvPr id="71" name="Rectangle 13"/>
            <p:cNvSpPr/>
            <p:nvPr/>
          </p:nvSpPr>
          <p:spPr>
            <a:xfrm>
              <a:off x="12874414" y="1464941"/>
              <a:ext cx="1548000" cy="1007999"/>
            </a:xfrm>
            <a:prstGeom prst="rect">
              <a:avLst/>
            </a:prstGeom>
            <a:solidFill>
              <a:srgbClr val="F3FAFE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3600" b="1" dirty="0" smtClean="0">
                  <a:solidFill>
                    <a:schemeClr val="tx1"/>
                  </a:solidFill>
                </a:rPr>
                <a:t>2</a:t>
              </a:r>
              <a:endParaRPr sz="3600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72" name="右中かっこ 71"/>
          <p:cNvSpPr/>
          <p:nvPr/>
        </p:nvSpPr>
        <p:spPr>
          <a:xfrm rot="5400000">
            <a:off x="12671857" y="2292194"/>
            <a:ext cx="290512" cy="3190680"/>
          </a:xfrm>
          <a:prstGeom prst="rightBrac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3" name="TextBox 37"/>
          <p:cNvSpPr txBox="1"/>
          <p:nvPr/>
        </p:nvSpPr>
        <p:spPr>
          <a:xfrm>
            <a:off x="11114154" y="4269448"/>
            <a:ext cx="340091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sz="2400" b="1" dirty="0" smtClean="0">
                <a:solidFill>
                  <a:schemeClr val="bg1">
                    <a:lumMod val="50000"/>
                  </a:schemeClr>
                </a:solidFill>
              </a:rPr>
              <a:t>未処理</a:t>
            </a:r>
            <a:endParaRPr lang="en-US" sz="2400" b="1" dirty="0" smtClean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5" name="右中かっこ 74"/>
          <p:cNvSpPr/>
          <p:nvPr/>
        </p:nvSpPr>
        <p:spPr>
          <a:xfrm rot="5400000">
            <a:off x="9439301" y="2378337"/>
            <a:ext cx="290512" cy="3018394"/>
          </a:xfrm>
          <a:prstGeom prst="rightBrac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6" name="TextBox 37"/>
          <p:cNvSpPr txBox="1"/>
          <p:nvPr/>
        </p:nvSpPr>
        <p:spPr>
          <a:xfrm>
            <a:off x="7765713" y="4191015"/>
            <a:ext cx="340091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2400" b="1" dirty="0" smtClean="0">
                <a:solidFill>
                  <a:schemeClr val="tx2"/>
                </a:solidFill>
              </a:rPr>
              <a:t>pivot</a:t>
            </a:r>
            <a:r>
              <a:rPr lang="ja-JP" altLang="en-US" sz="2400" b="1" dirty="0" smtClean="0">
                <a:solidFill>
                  <a:schemeClr val="tx2"/>
                </a:solidFill>
              </a:rPr>
              <a:t>と同じ</a:t>
            </a:r>
            <a:endParaRPr lang="en-US" sz="2400" b="1" dirty="0" smtClean="0">
              <a:solidFill>
                <a:schemeClr val="tx2"/>
              </a:solidFill>
            </a:endParaRPr>
          </a:p>
        </p:txBody>
      </p:sp>
      <p:grpSp>
        <p:nvGrpSpPr>
          <p:cNvPr id="3" name="グループ化 2"/>
          <p:cNvGrpSpPr/>
          <p:nvPr/>
        </p:nvGrpSpPr>
        <p:grpSpPr>
          <a:xfrm>
            <a:off x="7297512" y="4082790"/>
            <a:ext cx="1464136" cy="1561165"/>
            <a:chOff x="2626632" y="2099710"/>
            <a:chExt cx="1464136" cy="1561165"/>
          </a:xfrm>
        </p:grpSpPr>
        <p:sp>
          <p:nvSpPr>
            <p:cNvPr id="77" name="TextBox 10"/>
            <p:cNvSpPr txBox="1"/>
            <p:nvPr/>
          </p:nvSpPr>
          <p:spPr>
            <a:xfrm>
              <a:off x="2626632" y="3168432"/>
              <a:ext cx="1464136" cy="49244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2600" b="1" dirty="0" smtClean="0">
                  <a:solidFill>
                    <a:srgbClr val="666666"/>
                  </a:solidFill>
                </a:rPr>
                <a:t>lt </a:t>
              </a:r>
              <a:r>
                <a:rPr lang="en-US" altLang="ja-JP" sz="2600" b="1" dirty="0">
                  <a:solidFill>
                    <a:srgbClr val="666666"/>
                  </a:solidFill>
                </a:rPr>
                <a:t>= </a:t>
              </a:r>
              <a:r>
                <a:rPr lang="en-US" altLang="ja-JP" sz="2600" b="1" dirty="0" smtClean="0">
                  <a:solidFill>
                    <a:srgbClr val="666666"/>
                  </a:solidFill>
                </a:rPr>
                <a:t>2</a:t>
              </a:r>
            </a:p>
          </p:txBody>
        </p:sp>
        <p:cxnSp>
          <p:nvCxnSpPr>
            <p:cNvPr id="78" name="直線矢印コネクタ 77"/>
            <p:cNvCxnSpPr/>
            <p:nvPr/>
          </p:nvCxnSpPr>
          <p:spPr>
            <a:xfrm flipH="1" flipV="1">
              <a:off x="3358174" y="2099710"/>
              <a:ext cx="526" cy="1097025"/>
            </a:xfrm>
            <a:prstGeom prst="straightConnector1">
              <a:avLst/>
            </a:prstGeom>
            <a:ln w="57150">
              <a:solidFill>
                <a:schemeClr val="bg1">
                  <a:lumMod val="50000"/>
                </a:schemeClr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5" name="TextBox 10"/>
          <p:cNvSpPr txBox="1"/>
          <p:nvPr/>
        </p:nvSpPr>
        <p:spPr>
          <a:xfrm>
            <a:off x="5481823" y="7602613"/>
            <a:ext cx="1032631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3600" b="1" dirty="0" smtClean="0">
                <a:solidFill>
                  <a:srgbClr val="666666"/>
                </a:solidFill>
              </a:rPr>
              <a:t>lt		:  </a:t>
            </a:r>
            <a:r>
              <a:rPr lang="ja-JP" altLang="en-US" sz="3600" b="1" dirty="0" smtClean="0">
                <a:solidFill>
                  <a:srgbClr val="666666"/>
                </a:solidFill>
              </a:rPr>
              <a:t>ピ</a:t>
            </a:r>
            <a:r>
              <a:rPr lang="ja-JP" altLang="en-US" sz="3600" b="1" dirty="0" smtClean="0">
                <a:solidFill>
                  <a:srgbClr val="666666"/>
                </a:solidFill>
              </a:rPr>
              <a:t>ボット未満の最後の要素の位</a:t>
            </a:r>
            <a:r>
              <a:rPr lang="ja-JP" altLang="en-US" sz="3600" b="1" dirty="0" smtClean="0">
                <a:solidFill>
                  <a:srgbClr val="666666"/>
                </a:solidFill>
              </a:rPr>
              <a:t>置</a:t>
            </a:r>
            <a:endParaRPr lang="en-US" altLang="ja-JP" sz="3600" b="1" dirty="0" smtClean="0">
              <a:solidFill>
                <a:srgbClr val="666666"/>
              </a:solidFill>
            </a:endParaRPr>
          </a:p>
          <a:p>
            <a:r>
              <a:rPr lang="en-US" altLang="ja-JP" sz="3600" b="1" dirty="0" smtClean="0">
                <a:solidFill>
                  <a:srgbClr val="666666"/>
                </a:solidFill>
              </a:rPr>
              <a:t>i 		:  </a:t>
            </a:r>
            <a:r>
              <a:rPr lang="ja-JP" altLang="en-US" sz="3600" b="1" dirty="0" smtClean="0">
                <a:solidFill>
                  <a:srgbClr val="666666"/>
                </a:solidFill>
              </a:rPr>
              <a:t>未処理領域の先頭</a:t>
            </a:r>
            <a:endParaRPr lang="en-US" altLang="ja-JP" sz="3600" b="1" dirty="0" smtClean="0">
              <a:solidFill>
                <a:srgbClr val="666666"/>
              </a:solidFill>
            </a:endParaRPr>
          </a:p>
          <a:p>
            <a:r>
              <a:rPr lang="en-US" sz="3600" b="1" dirty="0" smtClean="0">
                <a:solidFill>
                  <a:srgbClr val="666666"/>
                </a:solidFill>
              </a:rPr>
              <a:t>gt		:  </a:t>
            </a:r>
            <a:r>
              <a:rPr lang="ja-JP" altLang="en-US" sz="3600" b="1" dirty="0" smtClean="0">
                <a:solidFill>
                  <a:srgbClr val="666666"/>
                </a:solidFill>
              </a:rPr>
              <a:t>ピボットより大きい最初の要素の位置</a:t>
            </a:r>
            <a:endParaRPr lang="en-US" sz="3600" b="1" dirty="0" smtClean="0">
              <a:solidFill>
                <a:srgbClr val="666666"/>
              </a:solidFill>
            </a:endParaRPr>
          </a:p>
        </p:txBody>
      </p:sp>
      <p:grpSp>
        <p:nvGrpSpPr>
          <p:cNvPr id="86" name="グループ化 85"/>
          <p:cNvGrpSpPr/>
          <p:nvPr/>
        </p:nvGrpSpPr>
        <p:grpSpPr>
          <a:xfrm>
            <a:off x="10535868" y="4074750"/>
            <a:ext cx="1464136" cy="1561165"/>
            <a:chOff x="2626632" y="2099710"/>
            <a:chExt cx="1464136" cy="1561165"/>
          </a:xfrm>
        </p:grpSpPr>
        <p:sp>
          <p:nvSpPr>
            <p:cNvPr id="87" name="TextBox 10"/>
            <p:cNvSpPr txBox="1"/>
            <p:nvPr/>
          </p:nvSpPr>
          <p:spPr>
            <a:xfrm>
              <a:off x="2626632" y="3168432"/>
              <a:ext cx="1464136" cy="49244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2600" b="1" dirty="0">
                  <a:solidFill>
                    <a:srgbClr val="666666"/>
                  </a:solidFill>
                </a:rPr>
                <a:t>i</a:t>
              </a:r>
              <a:r>
                <a:rPr lang="en-US" altLang="ja-JP" sz="2600" b="1" dirty="0" smtClean="0">
                  <a:solidFill>
                    <a:srgbClr val="666666"/>
                  </a:solidFill>
                </a:rPr>
                <a:t> </a:t>
              </a:r>
              <a:r>
                <a:rPr lang="en-US" altLang="ja-JP" sz="2600" b="1" dirty="0">
                  <a:solidFill>
                    <a:srgbClr val="666666"/>
                  </a:solidFill>
                </a:rPr>
                <a:t>= </a:t>
              </a:r>
              <a:r>
                <a:rPr lang="en-US" altLang="ja-JP" sz="2600" b="1" dirty="0" smtClean="0">
                  <a:solidFill>
                    <a:srgbClr val="666666"/>
                  </a:solidFill>
                </a:rPr>
                <a:t>4</a:t>
              </a:r>
            </a:p>
          </p:txBody>
        </p:sp>
        <p:cxnSp>
          <p:nvCxnSpPr>
            <p:cNvPr id="88" name="直線矢印コネクタ 87"/>
            <p:cNvCxnSpPr/>
            <p:nvPr/>
          </p:nvCxnSpPr>
          <p:spPr>
            <a:xfrm flipH="1" flipV="1">
              <a:off x="3358174" y="2099710"/>
              <a:ext cx="526" cy="1097025"/>
            </a:xfrm>
            <a:prstGeom prst="straightConnector1">
              <a:avLst/>
            </a:prstGeom>
            <a:ln w="57150">
              <a:solidFill>
                <a:schemeClr val="bg1">
                  <a:lumMod val="50000"/>
                </a:schemeClr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9" name="グループ化 88"/>
          <p:cNvGrpSpPr/>
          <p:nvPr/>
        </p:nvGrpSpPr>
        <p:grpSpPr>
          <a:xfrm>
            <a:off x="13748824" y="4117048"/>
            <a:ext cx="1464136" cy="1561165"/>
            <a:chOff x="2626632" y="2099710"/>
            <a:chExt cx="1464136" cy="1561165"/>
          </a:xfrm>
        </p:grpSpPr>
        <p:sp>
          <p:nvSpPr>
            <p:cNvPr id="90" name="TextBox 10"/>
            <p:cNvSpPr txBox="1"/>
            <p:nvPr/>
          </p:nvSpPr>
          <p:spPr>
            <a:xfrm>
              <a:off x="2626632" y="3168432"/>
              <a:ext cx="1464136" cy="49244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2600" b="1" dirty="0" smtClean="0">
                  <a:solidFill>
                    <a:srgbClr val="666666"/>
                  </a:solidFill>
                </a:rPr>
                <a:t>gt </a:t>
              </a:r>
              <a:r>
                <a:rPr lang="en-US" altLang="ja-JP" sz="2600" b="1" dirty="0">
                  <a:solidFill>
                    <a:srgbClr val="666666"/>
                  </a:solidFill>
                </a:rPr>
                <a:t>= </a:t>
              </a:r>
              <a:r>
                <a:rPr lang="en-US" altLang="ja-JP" sz="2600" b="1" dirty="0">
                  <a:solidFill>
                    <a:srgbClr val="666666"/>
                  </a:solidFill>
                </a:rPr>
                <a:t>7</a:t>
              </a:r>
              <a:endParaRPr lang="en-US" altLang="ja-JP" sz="2600" b="1" dirty="0" smtClean="0">
                <a:solidFill>
                  <a:srgbClr val="666666"/>
                </a:solidFill>
              </a:endParaRPr>
            </a:p>
          </p:txBody>
        </p:sp>
        <p:cxnSp>
          <p:nvCxnSpPr>
            <p:cNvPr id="91" name="直線矢印コネクタ 90"/>
            <p:cNvCxnSpPr/>
            <p:nvPr/>
          </p:nvCxnSpPr>
          <p:spPr>
            <a:xfrm flipH="1" flipV="1">
              <a:off x="3358174" y="2099710"/>
              <a:ext cx="526" cy="1097025"/>
            </a:xfrm>
            <a:prstGeom prst="straightConnector1">
              <a:avLst/>
            </a:prstGeom>
            <a:ln w="57150">
              <a:solidFill>
                <a:schemeClr val="bg1">
                  <a:lumMod val="50000"/>
                </a:schemeClr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804067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1259</TotalTime>
  <Words>475</Words>
  <Application>Microsoft Office PowerPoint</Application>
  <PresentationFormat>ユーザー設定</PresentationFormat>
  <Paragraphs>136</Paragraphs>
  <Slides>4</Slides>
  <Notes>0</Notes>
  <HiddenSlides>0</HiddenSlides>
  <MMClips>0</MMClips>
  <ScaleCrop>false</ScaleCrop>
  <HeadingPairs>
    <vt:vector size="4" baseType="variant"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5" baseType="lpstr"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shining</dc:creator>
  <dc:description>generated using python-pptx</dc:description>
  <cp:lastModifiedBy>shining</cp:lastModifiedBy>
  <cp:revision>52</cp:revision>
  <dcterms:created xsi:type="dcterms:W3CDTF">2013-01-27T09:14:16Z</dcterms:created>
  <dcterms:modified xsi:type="dcterms:W3CDTF">2026-05-31T15:05:13Z</dcterms:modified>
</cp:coreProperties>
</file>