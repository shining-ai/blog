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遺伝的アルゴリズム — 集団の進化で最適解を探索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98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95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GAの進化サイクル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620000"/>
            <a:ext cx="720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個体群（世代 t）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0" y="2160000"/>
            <a:ext cx="1007999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2160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7999" y="2160000"/>
            <a:ext cx="1007999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7999" y="2160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95998" y="2160000"/>
            <a:ext cx="1007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5998" y="2160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03997" y="2160000"/>
            <a:ext cx="1007999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03997" y="2160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1996" y="2160000"/>
            <a:ext cx="1007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1996" y="2160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9995" y="2160000"/>
            <a:ext cx="1620000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9995" y="2160000"/>
            <a:ext cx="162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f=14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0000" y="3456000"/>
            <a:ext cx="1007999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0000" y="3456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87999" y="3456000"/>
            <a:ext cx="1007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87999" y="3456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95998" y="3456000"/>
            <a:ext cx="1007999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95998" y="3456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03997" y="3456000"/>
            <a:ext cx="1007999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03997" y="3456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11996" y="3456000"/>
            <a:ext cx="1007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1996" y="3456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99995" y="3456000"/>
            <a:ext cx="1620000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9995" y="3456000"/>
            <a:ext cx="162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f=12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80000" y="4752000"/>
            <a:ext cx="1007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0000" y="4752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87999" y="4752000"/>
            <a:ext cx="1007999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87999" y="4752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95998" y="4752000"/>
            <a:ext cx="1007999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95998" y="4752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03997" y="4752000"/>
            <a:ext cx="1007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03997" y="4752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11996" y="4752000"/>
            <a:ext cx="1007999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11996" y="4752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99995" y="4752000"/>
            <a:ext cx="162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9995" y="4752000"/>
            <a:ext cx="162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</a:rPr>
              <a:t>f=9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80000" y="6048000"/>
            <a:ext cx="1007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0000" y="6048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87999" y="6048000"/>
            <a:ext cx="1007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87999" y="6048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95998" y="6048000"/>
            <a:ext cx="1007999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95998" y="6048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03997" y="6048000"/>
            <a:ext cx="1007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03997" y="6048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11996" y="6048000"/>
            <a:ext cx="1007999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11996" y="6048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99995" y="6048000"/>
            <a:ext cx="162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99995" y="6048000"/>
            <a:ext cx="162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</a:rPr>
              <a:t>f=6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099995" y="2520000"/>
            <a:ext cx="1260000" cy="0"/>
          </a:xfrm>
          <a:prstGeom prst="bentConnector3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171995" y="2160000"/>
            <a:ext cx="126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A81A"/>
                </a:solidFill>
              </a:rPr>
              <a:t>選択
(トーナメント)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39995" y="1908000"/>
            <a:ext cx="504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13CA6"/>
                </a:solidFill>
              </a:rPr>
              <a:t>親1（f=14）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39995" y="2340000"/>
            <a:ext cx="1007999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39995" y="2340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547994" y="2340000"/>
            <a:ext cx="1007999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47994" y="2340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555993" y="2340000"/>
            <a:ext cx="1007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555993" y="2340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2563992" y="2340000"/>
            <a:ext cx="1007999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563992" y="2340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3571991" y="2340000"/>
            <a:ext cx="1007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571991" y="2340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39995" y="3276000"/>
            <a:ext cx="504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13CA6"/>
                </a:solidFill>
              </a:rPr>
              <a:t>親2（f=12）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39995" y="3708000"/>
            <a:ext cx="1007999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39995" y="3708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547994" y="3708000"/>
            <a:ext cx="1007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547994" y="3708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555993" y="3708000"/>
            <a:ext cx="1007999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555993" y="3708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2563992" y="3708000"/>
            <a:ext cx="1007999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2563992" y="3708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3571991" y="3708000"/>
            <a:ext cx="1007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3571991" y="3708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</a:rPr>
              <a:t>0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4939990" y="3060000"/>
            <a:ext cx="1260000" cy="0"/>
          </a:xfrm>
          <a:prstGeom prst="bentConnector3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5011990" y="2700000"/>
            <a:ext cx="126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B050"/>
                </a:solidFill>
              </a:rPr>
              <a:t>交叉
(一点交叉)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379990" y="1908000"/>
            <a:ext cx="504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B050"/>
                </a:solidFill>
              </a:rPr>
              <a:t>子1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379990" y="2340000"/>
            <a:ext cx="1007999" cy="72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379990" y="2340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387989" y="2340000"/>
            <a:ext cx="1007999" cy="72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7387989" y="2340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8395988" y="2340000"/>
            <a:ext cx="1007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8395988" y="2340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403987" y="2340000"/>
            <a:ext cx="1007999" cy="72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9403987" y="2340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411986" y="2340000"/>
            <a:ext cx="1007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411986" y="2340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6379990" y="3276000"/>
            <a:ext cx="504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B050"/>
                </a:solidFill>
              </a:rPr>
              <a:t>子2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6379990" y="3708000"/>
            <a:ext cx="1007999" cy="72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6379990" y="3708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7387989" y="3708000"/>
            <a:ext cx="1007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7387989" y="3708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8395988" y="3708000"/>
            <a:ext cx="1007999" cy="72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8395988" y="3708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9403987" y="3708000"/>
            <a:ext cx="1007999" cy="72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9403987" y="3708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0411986" y="3708000"/>
            <a:ext cx="1007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0411986" y="3708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</a:rPr>
              <a:t>0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21779985" y="3060000"/>
            <a:ext cx="1260000" cy="0"/>
          </a:xfrm>
          <a:prstGeom prst="bentConnector3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1851985" y="2700000"/>
            <a:ext cx="126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0000"/>
                </a:solidFill>
              </a:rPr>
              <a:t>突然変異
(ビット反転)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3219985" y="1908000"/>
            <a:ext cx="504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0000"/>
                </a:solidFill>
              </a:rPr>
              <a:t>突然変異後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3219985" y="2340000"/>
            <a:ext cx="1007999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3219985" y="2340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4227984" y="2340000"/>
            <a:ext cx="1007999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4227984" y="2340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5235983" y="2340000"/>
            <a:ext cx="1007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5235983" y="2340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6243982" y="2340000"/>
            <a:ext cx="1007999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6243982" y="2340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7251981" y="2340000"/>
            <a:ext cx="1007999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7251981" y="2340000"/>
            <a:ext cx="100799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7251981" y="3096000"/>
            <a:ext cx="18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0000"/>
                </a:solidFill>
              </a:rPr>
              <a:t>↑突然変異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20000" y="8820000"/>
            <a:ext cx="198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4000" y="8820000"/>
            <a:ext cx="195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主要オペレータ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00000" y="9468000"/>
            <a:ext cx="48600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00000" y="9468000"/>
            <a:ext cx="486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13CA6"/>
                </a:solidFill>
              </a:rPr>
              <a:t>選択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08000" y="10188000"/>
            <a:ext cx="46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優秀な個体を親として選ぶ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8000" y="10728000"/>
            <a:ext cx="46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808080"/>
                </a:solidFill>
              </a:rPr>
              <a:t>ルーレット / トーナメント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940000" y="9468000"/>
            <a:ext cx="48600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940000" y="9468000"/>
            <a:ext cx="486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13CA6"/>
                </a:solidFill>
              </a:rPr>
              <a:t>交叉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48000" y="10188000"/>
            <a:ext cx="46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2親から新しい子を生成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048000" y="10728000"/>
            <a:ext cx="46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808080"/>
                </a:solidFill>
              </a:rPr>
              <a:t>一点 / 二点 / 一様交叉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980000" y="9468000"/>
            <a:ext cx="48600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980000" y="9468000"/>
            <a:ext cx="486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13CA6"/>
                </a:solidFill>
              </a:rPr>
              <a:t>突然変異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088000" y="10188000"/>
            <a:ext cx="46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多様性を維持する微小変化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088000" y="10728000"/>
            <a:ext cx="46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808080"/>
                </a:solidFill>
              </a:rPr>
              <a:t>確率 0.1〜2% でビット反転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6020000" y="9468000"/>
            <a:ext cx="48600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6020000" y="9468000"/>
            <a:ext cx="486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13CA6"/>
                </a:solidFill>
              </a:rPr>
              <a:t>エリート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6128000" y="10188000"/>
            <a:ext cx="46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最良個体を次世代に確実に引継ぎ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6128000" y="10728000"/>
            <a:ext cx="46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808080"/>
                </a:solidFill>
              </a:rPr>
              <a:t>上位 1〜5% を直接コピー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20000" y="11448000"/>
            <a:ext cx="19800000" cy="43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28000" y="11502000"/>
            <a:ext cx="19584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集団サイズ 50〜200、世代数 100〜1000 が目安
染色体設計（符号化）が性能に大きく影響する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