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焼きなまし法 — 温度による確率的受理で局所最適を脱出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108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1051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受理確率  P = exp(−Δ/T)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908000" y="10122152"/>
            <a:ext cx="468000" cy="200918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376000" y="9996407"/>
            <a:ext cx="468000" cy="125745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844000" y="9915957"/>
            <a:ext cx="467999" cy="8045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311999" y="9860843"/>
            <a:ext cx="468001" cy="55114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780000" y="9820916"/>
            <a:ext cx="468000" cy="39927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248000" y="9790723"/>
            <a:ext cx="468000" cy="30193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716000" y="9767116"/>
            <a:ext cx="468000" cy="23607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184000" y="9748162"/>
            <a:ext cx="468000" cy="18954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652000" y="9732616"/>
            <a:ext cx="468000" cy="15546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120000" y="9719637"/>
            <a:ext cx="468000" cy="12979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588000" y="9708639"/>
            <a:ext cx="468000" cy="10998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056000" y="9699203"/>
            <a:ext cx="468000" cy="9436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524000" y="9691017"/>
            <a:ext cx="468000" cy="8186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992000" y="9683850"/>
            <a:ext cx="468000" cy="7167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460000" y="9677522"/>
            <a:ext cx="468000" cy="6328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928000" y="9671895"/>
            <a:ext cx="468000" cy="5627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96000" y="9666858"/>
            <a:ext cx="468000" cy="5037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864000" y="9662324"/>
            <a:ext cx="468000" cy="4534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332000" y="9658220"/>
            <a:ext cx="468000" cy="4104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0800000" y="9654488"/>
            <a:ext cx="468000" cy="3732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268000" y="9651080"/>
            <a:ext cx="468000" cy="3408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1736000" y="9647956"/>
            <a:ext cx="468000" cy="3124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2204000" y="9645081"/>
            <a:ext cx="468000" cy="2875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780000" y="9501081"/>
            <a:ext cx="43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0B050"/>
                </a:solidFill>
              </a:rPr>
              <a:t>Δ=1（少し悪化）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1908000" y="10434178"/>
            <a:ext cx="468000" cy="5782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376000" y="10409177"/>
            <a:ext cx="468000" cy="25001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844000" y="10369078"/>
            <a:ext cx="467999" cy="40099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311999" y="10323070"/>
            <a:ext cx="468001" cy="46008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780000" y="10276811"/>
            <a:ext cx="468000" cy="46259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248000" y="10232941"/>
            <a:ext cx="468000" cy="43870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716000" y="10192459"/>
            <a:ext cx="468000" cy="40482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184000" y="10155577"/>
            <a:ext cx="468000" cy="36882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652000" y="10122152"/>
            <a:ext cx="468000" cy="33425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120000" y="10091902"/>
            <a:ext cx="468000" cy="30250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588000" y="10064507"/>
            <a:ext cx="468000" cy="27395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056000" y="10039648"/>
            <a:ext cx="468000" cy="24859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524000" y="10017036"/>
            <a:ext cx="468000" cy="22612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992000" y="9996407"/>
            <a:ext cx="468000" cy="20629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460000" y="9977534"/>
            <a:ext cx="468000" cy="18873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928000" y="9960215"/>
            <a:ext cx="468000" cy="17319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396000" y="9944277"/>
            <a:ext cx="468000" cy="15938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864000" y="9929568"/>
            <a:ext cx="468000" cy="14709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0332000" y="9915957"/>
            <a:ext cx="468000" cy="13611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0800000" y="9903330"/>
            <a:ext cx="468000" cy="12627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1268000" y="9891587"/>
            <a:ext cx="468000" cy="11743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1736000" y="9880641"/>
            <a:ext cx="468000" cy="10946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2204000" y="9870416"/>
            <a:ext cx="468000" cy="10225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2780000" y="9726416"/>
            <a:ext cx="43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BA81A"/>
                </a:solidFill>
              </a:rPr>
              <a:t>Δ=5（中程度悪化）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1908000" y="10439960"/>
            <a:ext cx="468000" cy="39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376000" y="10438900"/>
            <a:ext cx="468000" cy="106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844000" y="10434178"/>
            <a:ext cx="467999" cy="4722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311999" y="10424175"/>
            <a:ext cx="468001" cy="10003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780000" y="10409177"/>
            <a:ext cx="468000" cy="14998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248000" y="10390378"/>
            <a:ext cx="468000" cy="18799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716000" y="10369078"/>
            <a:ext cx="468000" cy="2130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184000" y="10346370"/>
            <a:ext cx="468000" cy="22708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652000" y="10323070"/>
            <a:ext cx="468000" cy="2330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0000" y="10299754"/>
            <a:ext cx="468000" cy="23316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588000" y="10276811"/>
            <a:ext cx="468000" cy="22943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056000" y="10254489"/>
            <a:ext cx="468000" cy="22322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524000" y="10232941"/>
            <a:ext cx="468000" cy="21548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7992000" y="10212252"/>
            <a:ext cx="468000" cy="20689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460000" y="10192459"/>
            <a:ext cx="468000" cy="19793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928000" y="10173572"/>
            <a:ext cx="468000" cy="18887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9396000" y="10155577"/>
            <a:ext cx="468000" cy="17995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64000" y="10138448"/>
            <a:ext cx="468000" cy="17129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332000" y="10122152"/>
            <a:ext cx="468000" cy="16296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800000" y="10106650"/>
            <a:ext cx="468000" cy="15502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1268000" y="10091902"/>
            <a:ext cx="468000" cy="14748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1736000" y="10077868"/>
            <a:ext cx="468000" cy="14034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2204000" y="10064507"/>
            <a:ext cx="468000" cy="13361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2780000" y="9920507"/>
            <a:ext cx="43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0000"/>
                </a:solidFill>
              </a:rPr>
              <a:t>Δ=10（大きく悪化）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440000" y="10440000"/>
            <a:ext cx="11232000" cy="0"/>
          </a:xfrm>
          <a:prstGeom prst="bentConnector3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440000" y="9489600"/>
            <a:ext cx="0" cy="950400"/>
          </a:xfrm>
          <a:prstGeom prst="bentConnector3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2744000" y="10296000"/>
            <a:ext cx="144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温度 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-540000" y="9489600"/>
            <a:ext cx="18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受理確率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0000" y="10260000"/>
            <a:ext cx="108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808080"/>
                </a:solidFill>
              </a:rPr>
              <a:t>0%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368000" y="10440000"/>
            <a:ext cx="14400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80000" y="9828000"/>
            <a:ext cx="108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808080"/>
                </a:solidFill>
              </a:rPr>
              <a:t>50%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368000" y="10008000"/>
            <a:ext cx="14400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80000" y="9396000"/>
            <a:ext cx="108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808080"/>
                </a:solidFill>
              </a:rPr>
              <a:t>100%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1368000" y="9576000"/>
            <a:ext cx="14400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11880000" y="1368000"/>
            <a:ext cx="864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2024000" y="1368000"/>
            <a:ext cx="835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焼きなまし法のフロー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1988000" y="2160000"/>
            <a:ext cx="432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2420000" y="2160000"/>
            <a:ext cx="7920000" cy="90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2528000" y="2160000"/>
            <a:ext cx="774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初期解 s, 温度 T = T₀ を設定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988000" y="3420000"/>
            <a:ext cx="432000" cy="90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2420000" y="3420000"/>
            <a:ext cx="7920000" cy="90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2528000" y="3420000"/>
            <a:ext cx="774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近傍解 s' をランダムに生成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1988000" y="4680000"/>
            <a:ext cx="432000" cy="90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2420000" y="4680000"/>
            <a:ext cx="7920000" cy="90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2528000" y="4680000"/>
            <a:ext cx="774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Δ = f(s') − f(s) を計算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988000" y="5940000"/>
            <a:ext cx="432000" cy="90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2420000" y="5940000"/>
            <a:ext cx="7920000" cy="90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2528000" y="5940000"/>
            <a:ext cx="774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Δ &lt; 0  →  s ← s'（改善を受け入れ）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1988000" y="7200000"/>
            <a:ext cx="432000" cy="9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2420000" y="7200000"/>
            <a:ext cx="7920000" cy="90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2528000" y="7200000"/>
            <a:ext cx="774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Δ ≥ 0  →  確率 e^(−Δ/T) で s ← s'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988000" y="8460000"/>
            <a:ext cx="432000" cy="90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2420000" y="8460000"/>
            <a:ext cx="7920000" cy="90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2528000" y="8460000"/>
            <a:ext cx="774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T ← α × T  （冷却）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988000" y="9720000"/>
            <a:ext cx="432000" cy="90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2420000" y="9720000"/>
            <a:ext cx="7920000" cy="90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2528000" y="9720000"/>
            <a:ext cx="774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T &lt; T_min まで繰り返す → 最良解を返す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1880000" y="11340000"/>
            <a:ext cx="864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2024000" y="11340000"/>
            <a:ext cx="835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冷却スケジュール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420000" y="11340000"/>
            <a:ext cx="79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幾何冷却 T←αT（α≈0.99〜0.999）が最も実用的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20000" y="10800000"/>
            <a:ext cx="1080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28000" y="10854000"/>
            <a:ext cx="10584000" cy="82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温度が高い: 広域探索（悪化も受け入れて多様な解を探索）
温度が低い: 精密化（ほぼ改善のみ受け入れて解を絞り込む）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