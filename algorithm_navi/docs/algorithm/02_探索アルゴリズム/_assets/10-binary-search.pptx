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4" y="-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1290400" cy="12827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251999"/>
            <a:ext cx="19080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dirty="0" smtClean="0">
                <a:solidFill>
                  <a:srgbClr val="FFFFFF"/>
                </a:solidFill>
              </a:rPr>
              <a:t>二分探索の動作</a:t>
            </a:r>
            <a:endParaRPr lang="en-US" sz="5000" b="1" dirty="0" smtClean="0">
              <a:solidFill>
                <a:srgbClr val="FFFFFF"/>
              </a:solidFill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80000" y="110340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13CA6"/>
                </a:solidFill>
              </a:rPr>
              <a:t>1回の比較で探索範囲が半分になる  ／  n=10億でも約30回  ／  ソート済み配列が前提</a:t>
            </a:r>
          </a:p>
        </p:txBody>
      </p:sp>
      <p:cxnSp>
        <p:nvCxnSpPr>
          <p:cNvPr id="92" name="Connector 16"/>
          <p:cNvCxnSpPr/>
          <p:nvPr/>
        </p:nvCxnSpPr>
        <p:spPr>
          <a:xfrm>
            <a:off x="720000" y="4585128"/>
            <a:ext cx="1985040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6" name="グループ化 135"/>
          <p:cNvGrpSpPr/>
          <p:nvPr/>
        </p:nvGrpSpPr>
        <p:grpSpPr>
          <a:xfrm>
            <a:off x="2172200" y="1732600"/>
            <a:ext cx="16128000" cy="2453529"/>
            <a:chOff x="2172200" y="2202500"/>
            <a:chExt cx="16128000" cy="2453529"/>
          </a:xfrm>
        </p:grpSpPr>
        <p:grpSp>
          <p:nvGrpSpPr>
            <p:cNvPr id="94" name="グループ化 93"/>
            <p:cNvGrpSpPr/>
            <p:nvPr/>
          </p:nvGrpSpPr>
          <p:grpSpPr>
            <a:xfrm>
              <a:off x="2172200" y="2202500"/>
              <a:ext cx="16128000" cy="1440000"/>
              <a:chOff x="2172200" y="2304100"/>
              <a:chExt cx="16128000" cy="144000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172200" y="2304100"/>
                <a:ext cx="172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1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28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0</a:t>
                </a: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3972200" y="2304100"/>
                <a:ext cx="172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2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46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1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5772200" y="2304100"/>
                <a:ext cx="172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3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64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2</a:t>
                </a: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7572200" y="2304100"/>
                <a:ext cx="172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4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82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3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9372200" y="2304100"/>
                <a:ext cx="1728000" cy="1007999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100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4</a:t>
                </a: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11172200" y="2304100"/>
                <a:ext cx="172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6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118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5</a:t>
                </a: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12972200" y="2304100"/>
                <a:ext cx="172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rgbClr val="222222"/>
                    </a:solidFill>
                  </a:rPr>
                  <a:t>7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36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6</a:t>
                </a: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14772200" y="2304100"/>
                <a:ext cx="172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8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54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7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16572200" y="2304100"/>
                <a:ext cx="172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9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72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8</a:t>
                </a:r>
              </a:p>
            </p:txBody>
          </p:sp>
        </p:grpSp>
        <p:sp>
          <p:nvSpPr>
            <p:cNvPr id="93" name="TextBox 41"/>
            <p:cNvSpPr txBox="1"/>
            <p:nvPr/>
          </p:nvSpPr>
          <p:spPr>
            <a:xfrm>
              <a:off x="5018147" y="3763477"/>
              <a:ext cx="10436106" cy="892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2600" dirty="0" smtClean="0">
                  <a:solidFill>
                    <a:schemeClr val="tx2"/>
                  </a:solidFill>
                </a:rPr>
                <a:t>中</a:t>
              </a:r>
              <a:r>
                <a:rPr lang="ja-JP" altLang="en-US" sz="2600" dirty="0">
                  <a:solidFill>
                    <a:schemeClr val="tx2"/>
                  </a:solidFill>
                </a:rPr>
                <a:t>央の要素「</a:t>
              </a:r>
              <a:r>
                <a:rPr lang="en-US" altLang="ja-JP" sz="2600" dirty="0">
                  <a:solidFill>
                    <a:schemeClr val="tx2"/>
                  </a:solidFill>
                </a:rPr>
                <a:t>5</a:t>
              </a:r>
              <a:r>
                <a:rPr lang="ja-JP" altLang="en-US" sz="2600" dirty="0">
                  <a:solidFill>
                    <a:schemeClr val="tx2"/>
                  </a:solidFill>
                </a:rPr>
                <a:t>」を確認</a:t>
              </a:r>
            </a:p>
            <a:p>
              <a:pPr algn="ctr"/>
              <a:r>
                <a:rPr lang="ja-JP" altLang="en-US" sz="2600" dirty="0">
                  <a:solidFill>
                    <a:schemeClr val="tx2"/>
                  </a:solidFill>
                </a:rPr>
                <a:t>「</a:t>
              </a:r>
              <a:r>
                <a:rPr lang="en-US" altLang="ja-JP" sz="2600" dirty="0">
                  <a:solidFill>
                    <a:schemeClr val="tx2"/>
                  </a:solidFill>
                </a:rPr>
                <a:t>5</a:t>
              </a:r>
              <a:r>
                <a:rPr lang="ja-JP" altLang="en-US" sz="2600" dirty="0">
                  <a:solidFill>
                    <a:schemeClr val="tx2"/>
                  </a:solidFill>
                </a:rPr>
                <a:t>」は「</a:t>
              </a:r>
              <a:r>
                <a:rPr lang="en-US" altLang="ja-JP" sz="2600" dirty="0">
                  <a:solidFill>
                    <a:schemeClr val="tx2"/>
                  </a:solidFill>
                </a:rPr>
                <a:t>6</a:t>
              </a:r>
              <a:r>
                <a:rPr lang="ja-JP" altLang="en-US" sz="2600" dirty="0">
                  <a:solidFill>
                    <a:schemeClr val="tx2"/>
                  </a:solidFill>
                </a:rPr>
                <a:t>」より小さいので左半分は候補から除</a:t>
              </a:r>
              <a:r>
                <a:rPr lang="ja-JP" altLang="en-US" sz="2600" dirty="0" smtClean="0">
                  <a:solidFill>
                    <a:schemeClr val="tx2"/>
                  </a:solidFill>
                </a:rPr>
                <a:t>外</a:t>
              </a:r>
              <a:endParaRPr lang="en-US" altLang="ja-JP" sz="2600" dirty="0" smtClean="0">
                <a:solidFill>
                  <a:schemeClr val="tx2"/>
                </a:solidFill>
              </a:endParaRPr>
            </a:p>
          </p:txBody>
        </p:sp>
      </p:grpSp>
      <p:cxnSp>
        <p:nvCxnSpPr>
          <p:cNvPr id="114" name="Connector 16"/>
          <p:cNvCxnSpPr/>
          <p:nvPr/>
        </p:nvCxnSpPr>
        <p:spPr>
          <a:xfrm>
            <a:off x="810000" y="7836655"/>
            <a:ext cx="1985040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7" name="グループ化 136"/>
          <p:cNvGrpSpPr/>
          <p:nvPr/>
        </p:nvGrpSpPr>
        <p:grpSpPr>
          <a:xfrm>
            <a:off x="2262200" y="4984127"/>
            <a:ext cx="16128000" cy="2453529"/>
            <a:chOff x="2262200" y="5491800"/>
            <a:chExt cx="16128000" cy="2453529"/>
          </a:xfrm>
        </p:grpSpPr>
        <p:grpSp>
          <p:nvGrpSpPr>
            <p:cNvPr id="95" name="グループ化 94"/>
            <p:cNvGrpSpPr/>
            <p:nvPr/>
          </p:nvGrpSpPr>
          <p:grpSpPr>
            <a:xfrm>
              <a:off x="2262200" y="5491800"/>
              <a:ext cx="16128000" cy="1440000"/>
              <a:chOff x="2172200" y="2304100"/>
              <a:chExt cx="16128000" cy="1440000"/>
            </a:xfrm>
          </p:grpSpPr>
          <p:sp>
            <p:nvSpPr>
              <p:cNvPr id="96" name="Rectangle 5"/>
              <p:cNvSpPr/>
              <p:nvPr/>
            </p:nvSpPr>
            <p:spPr>
              <a:xfrm>
                <a:off x="2172200" y="2304100"/>
                <a:ext cx="1728000" cy="1007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7" name="TextBox 6"/>
              <p:cNvSpPr txBox="1"/>
              <p:nvPr/>
            </p:nvSpPr>
            <p:spPr>
              <a:xfrm>
                <a:off x="28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0</a:t>
                </a:r>
              </a:p>
            </p:txBody>
          </p:sp>
          <p:sp>
            <p:nvSpPr>
              <p:cNvPr id="98" name="Rectangle 7"/>
              <p:cNvSpPr/>
              <p:nvPr/>
            </p:nvSpPr>
            <p:spPr>
              <a:xfrm>
                <a:off x="3972200" y="2304100"/>
                <a:ext cx="1728000" cy="1007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9" name="TextBox 8"/>
              <p:cNvSpPr txBox="1"/>
              <p:nvPr/>
            </p:nvSpPr>
            <p:spPr>
              <a:xfrm>
                <a:off x="46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1</a:t>
                </a:r>
              </a:p>
            </p:txBody>
          </p:sp>
          <p:sp>
            <p:nvSpPr>
              <p:cNvPr id="100" name="Rectangle 9"/>
              <p:cNvSpPr/>
              <p:nvPr/>
            </p:nvSpPr>
            <p:spPr>
              <a:xfrm>
                <a:off x="5772200" y="2304100"/>
                <a:ext cx="1728000" cy="1007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1" name="TextBox 10"/>
              <p:cNvSpPr txBox="1"/>
              <p:nvPr/>
            </p:nvSpPr>
            <p:spPr>
              <a:xfrm>
                <a:off x="64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2</a:t>
                </a:r>
              </a:p>
            </p:txBody>
          </p:sp>
          <p:sp>
            <p:nvSpPr>
              <p:cNvPr id="102" name="Rectangle 11"/>
              <p:cNvSpPr/>
              <p:nvPr/>
            </p:nvSpPr>
            <p:spPr>
              <a:xfrm>
                <a:off x="7572200" y="2304100"/>
                <a:ext cx="1728000" cy="1007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03" name="TextBox 12"/>
              <p:cNvSpPr txBox="1"/>
              <p:nvPr/>
            </p:nvSpPr>
            <p:spPr>
              <a:xfrm>
                <a:off x="82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3</a:t>
                </a:r>
              </a:p>
            </p:txBody>
          </p:sp>
          <p:sp>
            <p:nvSpPr>
              <p:cNvPr id="104" name="Rectangle 13"/>
              <p:cNvSpPr/>
              <p:nvPr/>
            </p:nvSpPr>
            <p:spPr>
              <a:xfrm>
                <a:off x="9372200" y="2304100"/>
                <a:ext cx="1728000" cy="1007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05" name="TextBox 14"/>
              <p:cNvSpPr txBox="1"/>
              <p:nvPr/>
            </p:nvSpPr>
            <p:spPr>
              <a:xfrm>
                <a:off x="100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4</a:t>
                </a:r>
              </a:p>
            </p:txBody>
          </p:sp>
          <p:sp>
            <p:nvSpPr>
              <p:cNvPr id="106" name="Rectangle 15"/>
              <p:cNvSpPr/>
              <p:nvPr/>
            </p:nvSpPr>
            <p:spPr>
              <a:xfrm>
                <a:off x="11172200" y="2304100"/>
                <a:ext cx="172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6</a:t>
                </a:r>
              </a:p>
            </p:txBody>
          </p:sp>
          <p:sp>
            <p:nvSpPr>
              <p:cNvPr id="107" name="TextBox 16"/>
              <p:cNvSpPr txBox="1"/>
              <p:nvPr/>
            </p:nvSpPr>
            <p:spPr>
              <a:xfrm>
                <a:off x="118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5</a:t>
                </a:r>
              </a:p>
            </p:txBody>
          </p:sp>
          <p:sp>
            <p:nvSpPr>
              <p:cNvPr id="108" name="Rectangle 17"/>
              <p:cNvSpPr/>
              <p:nvPr/>
            </p:nvSpPr>
            <p:spPr>
              <a:xfrm>
                <a:off x="12972200" y="2304100"/>
                <a:ext cx="1728000" cy="1007999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7</a:t>
                </a:r>
              </a:p>
            </p:txBody>
          </p:sp>
          <p:sp>
            <p:nvSpPr>
              <p:cNvPr id="109" name="TextBox 18"/>
              <p:cNvSpPr txBox="1"/>
              <p:nvPr/>
            </p:nvSpPr>
            <p:spPr>
              <a:xfrm>
                <a:off x="136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6</a:t>
                </a:r>
              </a:p>
            </p:txBody>
          </p:sp>
          <p:sp>
            <p:nvSpPr>
              <p:cNvPr id="110" name="Rectangle 19"/>
              <p:cNvSpPr/>
              <p:nvPr/>
            </p:nvSpPr>
            <p:spPr>
              <a:xfrm>
                <a:off x="14772200" y="2304100"/>
                <a:ext cx="172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8</a:t>
                </a:r>
              </a:p>
            </p:txBody>
          </p:sp>
          <p:sp>
            <p:nvSpPr>
              <p:cNvPr id="111" name="TextBox 20"/>
              <p:cNvSpPr txBox="1"/>
              <p:nvPr/>
            </p:nvSpPr>
            <p:spPr>
              <a:xfrm>
                <a:off x="154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7</a:t>
                </a:r>
              </a:p>
            </p:txBody>
          </p:sp>
          <p:sp>
            <p:nvSpPr>
              <p:cNvPr id="112" name="Rectangle 21"/>
              <p:cNvSpPr/>
              <p:nvPr/>
            </p:nvSpPr>
            <p:spPr>
              <a:xfrm>
                <a:off x="16572200" y="2304100"/>
                <a:ext cx="172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9</a:t>
                </a:r>
              </a:p>
            </p:txBody>
          </p:sp>
          <p:sp>
            <p:nvSpPr>
              <p:cNvPr id="113" name="TextBox 22"/>
              <p:cNvSpPr txBox="1"/>
              <p:nvPr/>
            </p:nvSpPr>
            <p:spPr>
              <a:xfrm>
                <a:off x="172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8</a:t>
                </a:r>
              </a:p>
            </p:txBody>
          </p:sp>
        </p:grpSp>
        <p:sp>
          <p:nvSpPr>
            <p:cNvPr id="115" name="TextBox 41"/>
            <p:cNvSpPr txBox="1"/>
            <p:nvPr/>
          </p:nvSpPr>
          <p:spPr>
            <a:xfrm>
              <a:off x="5108147" y="7052777"/>
              <a:ext cx="10436106" cy="892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2600" dirty="0" smtClean="0">
                  <a:solidFill>
                    <a:schemeClr val="tx2"/>
                  </a:solidFill>
                </a:rPr>
                <a:t>残</a:t>
              </a:r>
              <a:r>
                <a:rPr lang="ja-JP" altLang="en-US" sz="2600" dirty="0">
                  <a:solidFill>
                    <a:schemeClr val="tx2"/>
                  </a:solidFill>
                </a:rPr>
                <a:t>りの要素の中央である「</a:t>
              </a:r>
              <a:r>
                <a:rPr lang="en-US" altLang="ja-JP" sz="2600" dirty="0">
                  <a:solidFill>
                    <a:schemeClr val="tx2"/>
                  </a:solidFill>
                </a:rPr>
                <a:t>7</a:t>
              </a:r>
              <a:r>
                <a:rPr lang="ja-JP" altLang="en-US" sz="2600" dirty="0">
                  <a:solidFill>
                    <a:schemeClr val="tx2"/>
                  </a:solidFill>
                </a:rPr>
                <a:t>」を確認</a:t>
              </a:r>
            </a:p>
            <a:p>
              <a:pPr algn="ctr"/>
              <a:r>
                <a:rPr lang="ja-JP" altLang="en-US" sz="2600" dirty="0">
                  <a:solidFill>
                    <a:schemeClr val="tx2"/>
                  </a:solidFill>
                </a:rPr>
                <a:t>「</a:t>
              </a:r>
              <a:r>
                <a:rPr lang="en-US" altLang="ja-JP" sz="2600" dirty="0">
                  <a:solidFill>
                    <a:schemeClr val="tx2"/>
                  </a:solidFill>
                </a:rPr>
                <a:t>7</a:t>
              </a:r>
              <a:r>
                <a:rPr lang="ja-JP" altLang="en-US" sz="2600" dirty="0">
                  <a:solidFill>
                    <a:schemeClr val="tx2"/>
                  </a:solidFill>
                </a:rPr>
                <a:t>」は「</a:t>
              </a:r>
              <a:r>
                <a:rPr lang="en-US" altLang="ja-JP" sz="2600" dirty="0">
                  <a:solidFill>
                    <a:schemeClr val="tx2"/>
                  </a:solidFill>
                </a:rPr>
                <a:t>6</a:t>
              </a:r>
              <a:r>
                <a:rPr lang="ja-JP" altLang="en-US" sz="2600" dirty="0">
                  <a:solidFill>
                    <a:schemeClr val="tx2"/>
                  </a:solidFill>
                </a:rPr>
                <a:t>」より大きいので右半分は候補から除</a:t>
              </a:r>
              <a:r>
                <a:rPr lang="ja-JP" altLang="en-US" sz="2600" dirty="0" smtClean="0">
                  <a:solidFill>
                    <a:schemeClr val="tx2"/>
                  </a:solidFill>
                </a:rPr>
                <a:t>外</a:t>
              </a:r>
              <a:endParaRPr lang="ja-JP" altLang="en-US" sz="26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38" name="グループ化 137"/>
          <p:cNvGrpSpPr/>
          <p:nvPr/>
        </p:nvGrpSpPr>
        <p:grpSpPr>
          <a:xfrm>
            <a:off x="2262200" y="8235653"/>
            <a:ext cx="16128000" cy="2453529"/>
            <a:chOff x="2262200" y="8159453"/>
            <a:chExt cx="16128000" cy="2453529"/>
          </a:xfrm>
        </p:grpSpPr>
        <p:grpSp>
          <p:nvGrpSpPr>
            <p:cNvPr id="116" name="グループ化 115"/>
            <p:cNvGrpSpPr/>
            <p:nvPr/>
          </p:nvGrpSpPr>
          <p:grpSpPr>
            <a:xfrm>
              <a:off x="2262200" y="8159453"/>
              <a:ext cx="16128000" cy="1440000"/>
              <a:chOff x="2172200" y="2304100"/>
              <a:chExt cx="16128000" cy="1440000"/>
            </a:xfrm>
          </p:grpSpPr>
          <p:sp>
            <p:nvSpPr>
              <p:cNvPr id="117" name="Rectangle 5"/>
              <p:cNvSpPr/>
              <p:nvPr/>
            </p:nvSpPr>
            <p:spPr>
              <a:xfrm>
                <a:off x="2172200" y="2304100"/>
                <a:ext cx="1728000" cy="1007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18" name="TextBox 6"/>
              <p:cNvSpPr txBox="1"/>
              <p:nvPr/>
            </p:nvSpPr>
            <p:spPr>
              <a:xfrm>
                <a:off x="28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0</a:t>
                </a:r>
              </a:p>
            </p:txBody>
          </p:sp>
          <p:sp>
            <p:nvSpPr>
              <p:cNvPr id="119" name="Rectangle 7"/>
              <p:cNvSpPr/>
              <p:nvPr/>
            </p:nvSpPr>
            <p:spPr>
              <a:xfrm>
                <a:off x="3972200" y="2304100"/>
                <a:ext cx="1728000" cy="1007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20" name="TextBox 8"/>
              <p:cNvSpPr txBox="1"/>
              <p:nvPr/>
            </p:nvSpPr>
            <p:spPr>
              <a:xfrm>
                <a:off x="46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1</a:t>
                </a:r>
              </a:p>
            </p:txBody>
          </p:sp>
          <p:sp>
            <p:nvSpPr>
              <p:cNvPr id="121" name="Rectangle 9"/>
              <p:cNvSpPr/>
              <p:nvPr/>
            </p:nvSpPr>
            <p:spPr>
              <a:xfrm>
                <a:off x="5772200" y="2304100"/>
                <a:ext cx="1728000" cy="1007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22" name="TextBox 10"/>
              <p:cNvSpPr txBox="1"/>
              <p:nvPr/>
            </p:nvSpPr>
            <p:spPr>
              <a:xfrm>
                <a:off x="64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2</a:t>
                </a:r>
              </a:p>
            </p:txBody>
          </p:sp>
          <p:sp>
            <p:nvSpPr>
              <p:cNvPr id="123" name="Rectangle 11"/>
              <p:cNvSpPr/>
              <p:nvPr/>
            </p:nvSpPr>
            <p:spPr>
              <a:xfrm>
                <a:off x="7572200" y="2304100"/>
                <a:ext cx="1728000" cy="1007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4" name="TextBox 12"/>
              <p:cNvSpPr txBox="1"/>
              <p:nvPr/>
            </p:nvSpPr>
            <p:spPr>
              <a:xfrm>
                <a:off x="82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3</a:t>
                </a:r>
              </a:p>
            </p:txBody>
          </p:sp>
          <p:sp>
            <p:nvSpPr>
              <p:cNvPr id="125" name="Rectangle 13"/>
              <p:cNvSpPr/>
              <p:nvPr/>
            </p:nvSpPr>
            <p:spPr>
              <a:xfrm>
                <a:off x="9372200" y="2304100"/>
                <a:ext cx="1728000" cy="1007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26" name="TextBox 14"/>
              <p:cNvSpPr txBox="1"/>
              <p:nvPr/>
            </p:nvSpPr>
            <p:spPr>
              <a:xfrm>
                <a:off x="100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4</a:t>
                </a:r>
              </a:p>
            </p:txBody>
          </p:sp>
          <p:sp>
            <p:nvSpPr>
              <p:cNvPr id="127" name="Rectangle 15"/>
              <p:cNvSpPr/>
              <p:nvPr/>
            </p:nvSpPr>
            <p:spPr>
              <a:xfrm>
                <a:off x="11172200" y="2304100"/>
                <a:ext cx="1728000" cy="1007999"/>
              </a:xfrm>
              <a:prstGeom prst="rect">
                <a:avLst/>
              </a:prstGeom>
              <a:solidFill>
                <a:schemeClr val="tx2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28" name="TextBox 16"/>
              <p:cNvSpPr txBox="1"/>
              <p:nvPr/>
            </p:nvSpPr>
            <p:spPr>
              <a:xfrm>
                <a:off x="118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5</a:t>
                </a:r>
              </a:p>
            </p:txBody>
          </p:sp>
          <p:sp>
            <p:nvSpPr>
              <p:cNvPr id="129" name="Rectangle 17"/>
              <p:cNvSpPr/>
              <p:nvPr/>
            </p:nvSpPr>
            <p:spPr>
              <a:xfrm>
                <a:off x="12972200" y="2304100"/>
                <a:ext cx="1728000" cy="1007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30" name="TextBox 18"/>
              <p:cNvSpPr txBox="1"/>
              <p:nvPr/>
            </p:nvSpPr>
            <p:spPr>
              <a:xfrm>
                <a:off x="136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6</a:t>
                </a:r>
              </a:p>
            </p:txBody>
          </p:sp>
          <p:sp>
            <p:nvSpPr>
              <p:cNvPr id="131" name="Rectangle 19"/>
              <p:cNvSpPr/>
              <p:nvPr/>
            </p:nvSpPr>
            <p:spPr>
              <a:xfrm>
                <a:off x="14772200" y="2304100"/>
                <a:ext cx="1728000" cy="1007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32" name="TextBox 20"/>
              <p:cNvSpPr txBox="1"/>
              <p:nvPr/>
            </p:nvSpPr>
            <p:spPr>
              <a:xfrm>
                <a:off x="154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7</a:t>
                </a:r>
              </a:p>
            </p:txBody>
          </p:sp>
          <p:sp>
            <p:nvSpPr>
              <p:cNvPr id="133" name="Rectangle 21"/>
              <p:cNvSpPr/>
              <p:nvPr/>
            </p:nvSpPr>
            <p:spPr>
              <a:xfrm>
                <a:off x="16572200" y="2304100"/>
                <a:ext cx="1728000" cy="1007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134" name="TextBox 22"/>
              <p:cNvSpPr txBox="1"/>
              <p:nvPr/>
            </p:nvSpPr>
            <p:spPr>
              <a:xfrm>
                <a:off x="17256200" y="3384100"/>
                <a:ext cx="540000" cy="36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000" b="0">
                    <a:solidFill>
                      <a:srgbClr val="666666"/>
                    </a:solidFill>
                  </a:rPr>
                  <a:t>8</a:t>
                </a:r>
              </a:p>
            </p:txBody>
          </p:sp>
        </p:grpSp>
        <p:sp>
          <p:nvSpPr>
            <p:cNvPr id="135" name="TextBox 41"/>
            <p:cNvSpPr txBox="1"/>
            <p:nvPr/>
          </p:nvSpPr>
          <p:spPr>
            <a:xfrm>
              <a:off x="5108147" y="9720430"/>
              <a:ext cx="10436106" cy="892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2600" dirty="0" smtClean="0">
                  <a:solidFill>
                    <a:schemeClr val="tx2"/>
                  </a:solidFill>
                </a:rPr>
                <a:t>残</a:t>
              </a:r>
              <a:r>
                <a:rPr lang="ja-JP" altLang="en-US" sz="2600" dirty="0">
                  <a:solidFill>
                    <a:schemeClr val="tx2"/>
                  </a:solidFill>
                </a:rPr>
                <a:t>りの要素の中央である「</a:t>
              </a:r>
              <a:r>
                <a:rPr lang="en-US" altLang="ja-JP" sz="2600" dirty="0">
                  <a:solidFill>
                    <a:schemeClr val="tx2"/>
                  </a:solidFill>
                </a:rPr>
                <a:t>7</a:t>
              </a:r>
              <a:r>
                <a:rPr lang="ja-JP" altLang="en-US" sz="2600" dirty="0">
                  <a:solidFill>
                    <a:schemeClr val="tx2"/>
                  </a:solidFill>
                </a:rPr>
                <a:t>」を確認</a:t>
              </a:r>
            </a:p>
            <a:p>
              <a:pPr algn="ctr"/>
              <a:r>
                <a:rPr lang="ja-JP" altLang="en-US" sz="2600" dirty="0">
                  <a:solidFill>
                    <a:schemeClr val="tx2"/>
                  </a:solidFill>
                </a:rPr>
                <a:t>「</a:t>
              </a:r>
              <a:r>
                <a:rPr lang="en-US" altLang="ja-JP" sz="2600" dirty="0">
                  <a:solidFill>
                    <a:schemeClr val="tx2"/>
                  </a:solidFill>
                </a:rPr>
                <a:t>7</a:t>
              </a:r>
              <a:r>
                <a:rPr lang="ja-JP" altLang="en-US" sz="2600" dirty="0">
                  <a:solidFill>
                    <a:schemeClr val="tx2"/>
                  </a:solidFill>
                </a:rPr>
                <a:t>」は「</a:t>
              </a:r>
              <a:r>
                <a:rPr lang="en-US" altLang="ja-JP" sz="2600" dirty="0">
                  <a:solidFill>
                    <a:schemeClr val="tx2"/>
                  </a:solidFill>
                </a:rPr>
                <a:t>6</a:t>
              </a:r>
              <a:r>
                <a:rPr lang="ja-JP" altLang="en-US" sz="2600" dirty="0">
                  <a:solidFill>
                    <a:schemeClr val="tx2"/>
                  </a:solidFill>
                </a:rPr>
                <a:t>」より大きいので右半分は候補から除</a:t>
              </a:r>
              <a:r>
                <a:rPr lang="ja-JP" altLang="en-US" sz="2600" dirty="0" smtClean="0">
                  <a:solidFill>
                    <a:schemeClr val="tx2"/>
                  </a:solidFill>
                </a:rPr>
                <a:t>外</a:t>
              </a:r>
              <a:endParaRPr lang="ja-JP" altLang="en-US" sz="260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1290400" cy="13335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251999"/>
            <a:ext cx="19080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dirty="0">
                <a:solidFill>
                  <a:srgbClr val="FFFFFF"/>
                </a:solidFill>
              </a:rPr>
              <a:t>二分探索の応用：</a:t>
            </a:r>
            <a:r>
              <a:rPr sz="5000" b="1" dirty="0" smtClean="0">
                <a:solidFill>
                  <a:srgbClr val="FFFFFF"/>
                </a:solidFill>
              </a:rPr>
              <a:t>答えを二分探索する</a:t>
            </a:r>
            <a:endParaRPr lang="en-US" sz="5000" b="1" dirty="0" smtClean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0000" y="2340000"/>
            <a:ext cx="19850400" cy="7715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000" y="2412000"/>
            <a:ext cx="1913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013CA6"/>
                </a:solidFill>
              </a:rPr>
              <a:t>「条件(x) が False → True に変わる境界」が単調なら、二分探索で最小の True を O(log n) </a:t>
            </a:r>
            <a:r>
              <a:rPr sz="2800" b="1" dirty="0" smtClean="0">
                <a:solidFill>
                  <a:srgbClr val="013CA6"/>
                </a:solidFill>
              </a:rPr>
              <a:t>で見つけられる</a:t>
            </a:r>
            <a:endParaRPr lang="en-US" sz="2800" b="1" dirty="0" smtClean="0">
              <a:solidFill>
                <a:srgbClr val="013CA6"/>
              </a:solidFill>
            </a:endParaRPr>
          </a:p>
        </p:txBody>
      </p:sp>
      <p:grpSp>
        <p:nvGrpSpPr>
          <p:cNvPr id="60" name="グループ化 59"/>
          <p:cNvGrpSpPr/>
          <p:nvPr/>
        </p:nvGrpSpPr>
        <p:grpSpPr>
          <a:xfrm>
            <a:off x="931500" y="4315600"/>
            <a:ext cx="17928000" cy="1007999"/>
            <a:chOff x="931500" y="4315600"/>
            <a:chExt cx="17928000" cy="1007999"/>
          </a:xfrm>
        </p:grpSpPr>
        <p:sp>
          <p:nvSpPr>
            <p:cNvPr id="8" name="TextBox 7"/>
            <p:cNvSpPr txBox="1"/>
            <p:nvPr/>
          </p:nvSpPr>
          <p:spPr>
            <a:xfrm>
              <a:off x="931500" y="4573378"/>
              <a:ext cx="9000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600" b="1" dirty="0">
                  <a:solidFill>
                    <a:srgbClr val="666666"/>
                  </a:solidFill>
                </a:rPr>
                <a:t>x²</a:t>
              </a:r>
              <a:r>
                <a:rPr sz="2600" b="1" dirty="0" smtClean="0">
                  <a:solidFill>
                    <a:srgbClr val="666666"/>
                  </a:solidFill>
                </a:rPr>
                <a:t>:</a:t>
              </a:r>
              <a:endParaRPr lang="en-US" sz="2600" b="1" dirty="0" smtClean="0">
                <a:solidFill>
                  <a:srgbClr val="666666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651500" y="4315600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379500" y="4315600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107500" y="4315600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9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835500" y="4315600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16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563500" y="4315600"/>
              <a:ext cx="1656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chemeClr val="bg1"/>
                  </a:solidFill>
                </a:rPr>
                <a:t>25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291500" y="4315600"/>
              <a:ext cx="1656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chemeClr val="bg1"/>
                  </a:solidFill>
                </a:rPr>
                <a:t>36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2019500" y="4315600"/>
              <a:ext cx="1656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chemeClr val="bg1"/>
                  </a:solidFill>
                </a:rPr>
                <a:t>49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3747500" y="4315600"/>
              <a:ext cx="1656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chemeClr val="bg1"/>
                  </a:solidFill>
                </a:rPr>
                <a:t>64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5475500" y="4315600"/>
              <a:ext cx="1656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chemeClr val="bg1"/>
                  </a:solidFill>
                </a:rPr>
                <a:t>81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7203500" y="4315600"/>
              <a:ext cx="1656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chemeClr val="bg1"/>
                  </a:solidFill>
                </a:rPr>
                <a:t>100</a:t>
              </a:r>
            </a:p>
          </p:txBody>
        </p:sp>
      </p:grpSp>
      <p:grpSp>
        <p:nvGrpSpPr>
          <p:cNvPr id="59" name="グループ化 58"/>
          <p:cNvGrpSpPr/>
          <p:nvPr/>
        </p:nvGrpSpPr>
        <p:grpSpPr>
          <a:xfrm>
            <a:off x="931500" y="6361000"/>
            <a:ext cx="17928000" cy="1007999"/>
            <a:chOff x="931500" y="5772400"/>
            <a:chExt cx="17928000" cy="1007999"/>
          </a:xfrm>
        </p:grpSpPr>
        <p:sp>
          <p:nvSpPr>
            <p:cNvPr id="7" name="TextBox 6"/>
            <p:cNvSpPr txBox="1"/>
            <p:nvPr/>
          </p:nvSpPr>
          <p:spPr>
            <a:xfrm>
              <a:off x="931500" y="6030178"/>
              <a:ext cx="9000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600" b="1" dirty="0">
                  <a:solidFill>
                    <a:srgbClr val="666666"/>
                  </a:solidFill>
                </a:rPr>
                <a:t>x</a:t>
              </a:r>
              <a:r>
                <a:rPr sz="2600" b="1" dirty="0" smtClean="0">
                  <a:solidFill>
                    <a:srgbClr val="666666"/>
                  </a:solidFill>
                </a:rPr>
                <a:t>:</a:t>
              </a:r>
              <a:endParaRPr lang="en-US" sz="2600" b="1" dirty="0" smtClean="0">
                <a:solidFill>
                  <a:srgbClr val="666666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651500" y="5772400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379500" y="5772400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2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107500" y="5772400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835500" y="5772400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563500" y="5772400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291500" y="5772400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6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2019500" y="5772400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7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3747500" y="5772400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8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5475500" y="5772400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9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7203500" y="5772400"/>
              <a:ext cx="1656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000" b="1">
                  <a:solidFill>
                    <a:srgbClr val="222222"/>
                  </a:solidFill>
                </a:rPr>
                <a:t>10</a:t>
              </a:r>
            </a:p>
          </p:txBody>
        </p:sp>
      </p:grpSp>
      <p:grpSp>
        <p:nvGrpSpPr>
          <p:cNvPr id="61" name="グループ化 60"/>
          <p:cNvGrpSpPr/>
          <p:nvPr/>
        </p:nvGrpSpPr>
        <p:grpSpPr>
          <a:xfrm>
            <a:off x="751500" y="8406399"/>
            <a:ext cx="18108000" cy="1116000"/>
            <a:chOff x="751500" y="7686399"/>
            <a:chExt cx="18108000" cy="1116000"/>
          </a:xfrm>
        </p:grpSpPr>
        <p:sp>
          <p:nvSpPr>
            <p:cNvPr id="9" name="TextBox 8"/>
            <p:cNvSpPr txBox="1"/>
            <p:nvPr/>
          </p:nvSpPr>
          <p:spPr>
            <a:xfrm>
              <a:off x="751500" y="7722399"/>
              <a:ext cx="1260000" cy="108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200" b="1" dirty="0">
                  <a:solidFill>
                    <a:srgbClr val="666666"/>
                  </a:solidFill>
                </a:rPr>
                <a:t>条件</a:t>
              </a:r>
              <a:r>
                <a:rPr dirty="0"/>
                <a:t/>
              </a:r>
              <a:br>
                <a:rPr dirty="0"/>
              </a:br>
              <a:r>
                <a:rPr dirty="0"/>
                <a:t>(x²≥25):</a:t>
              </a:r>
            </a:p>
          </p:txBody>
        </p:sp>
        <p:grpSp>
          <p:nvGrpSpPr>
            <p:cNvPr id="58" name="グループ化 57"/>
            <p:cNvGrpSpPr/>
            <p:nvPr/>
          </p:nvGrpSpPr>
          <p:grpSpPr>
            <a:xfrm>
              <a:off x="1651500" y="7686399"/>
              <a:ext cx="17208000" cy="864000"/>
              <a:chOff x="1651500" y="7686399"/>
              <a:chExt cx="17208000" cy="86400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1651500" y="7686399"/>
                <a:ext cx="1656000" cy="864000"/>
              </a:xfrm>
              <a:prstGeom prst="rect">
                <a:avLst/>
              </a:prstGeom>
              <a:solidFill>
                <a:srgbClr val="EEEEE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000" b="1">
                    <a:solidFill>
                      <a:srgbClr val="666666"/>
                    </a:solidFill>
                  </a:rPr>
                  <a:t>F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3379500" y="7686399"/>
                <a:ext cx="1656000" cy="864000"/>
              </a:xfrm>
              <a:prstGeom prst="rect">
                <a:avLst/>
              </a:prstGeom>
              <a:solidFill>
                <a:srgbClr val="EEEEE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000" b="1">
                    <a:solidFill>
                      <a:srgbClr val="666666"/>
                    </a:solidFill>
                  </a:rPr>
                  <a:t>F</a:t>
                </a: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5107500" y="7686399"/>
                <a:ext cx="1656000" cy="864000"/>
              </a:xfrm>
              <a:prstGeom prst="rect">
                <a:avLst/>
              </a:prstGeom>
              <a:solidFill>
                <a:srgbClr val="EEEEE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000" b="1">
                    <a:solidFill>
                      <a:srgbClr val="666666"/>
                    </a:solidFill>
                  </a:rPr>
                  <a:t>F</a:t>
                </a: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6835500" y="7686399"/>
                <a:ext cx="1656000" cy="864000"/>
              </a:xfrm>
              <a:prstGeom prst="rect">
                <a:avLst/>
              </a:prstGeom>
              <a:solidFill>
                <a:srgbClr val="EEEEE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000" b="1">
                    <a:solidFill>
                      <a:srgbClr val="666666"/>
                    </a:solidFill>
                  </a:rPr>
                  <a:t>F</a:t>
                </a: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8563500" y="7686399"/>
                <a:ext cx="1656000" cy="864000"/>
              </a:xfrm>
              <a:prstGeom prst="rect">
                <a:avLst/>
              </a:prstGeom>
              <a:solidFill>
                <a:srgbClr val="00B050"/>
              </a:solidFill>
              <a:ln w="254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000" b="1">
                    <a:solidFill>
                      <a:srgbClr val="FFFFFF"/>
                    </a:solidFill>
                  </a:rPr>
                  <a:t>T</a:t>
                </a: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10291500" y="7686399"/>
                <a:ext cx="1656000" cy="864000"/>
              </a:xfrm>
              <a:prstGeom prst="rect">
                <a:avLst/>
              </a:prstGeom>
              <a:solidFill>
                <a:srgbClr val="D4F5E0"/>
              </a:solidFill>
              <a:ln w="254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000" b="1">
                    <a:solidFill>
                      <a:srgbClr val="00B050"/>
                    </a:solidFill>
                  </a:rPr>
                  <a:t>T</a:t>
                </a:r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12019500" y="7686399"/>
                <a:ext cx="1656000" cy="864000"/>
              </a:xfrm>
              <a:prstGeom prst="rect">
                <a:avLst/>
              </a:prstGeom>
              <a:solidFill>
                <a:srgbClr val="D4F5E0"/>
              </a:solidFill>
              <a:ln w="254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000" b="1">
                    <a:solidFill>
                      <a:srgbClr val="00B050"/>
                    </a:solidFill>
                  </a:rPr>
                  <a:t>T</a:t>
                </a: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13747500" y="7686399"/>
                <a:ext cx="1656000" cy="864000"/>
              </a:xfrm>
              <a:prstGeom prst="rect">
                <a:avLst/>
              </a:prstGeom>
              <a:solidFill>
                <a:srgbClr val="D4F5E0"/>
              </a:solidFill>
              <a:ln w="254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000" b="1">
                    <a:solidFill>
                      <a:srgbClr val="00B050"/>
                    </a:solidFill>
                  </a:rPr>
                  <a:t>T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5475500" y="7686399"/>
                <a:ext cx="1656000" cy="864000"/>
              </a:xfrm>
              <a:prstGeom prst="rect">
                <a:avLst/>
              </a:prstGeom>
              <a:solidFill>
                <a:srgbClr val="D4F5E0"/>
              </a:solidFill>
              <a:ln w="254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000" b="1">
                    <a:solidFill>
                      <a:srgbClr val="00B050"/>
                    </a:solidFill>
                  </a:rPr>
                  <a:t>T</a:t>
                </a: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17203500" y="7686399"/>
                <a:ext cx="1656000" cy="864000"/>
              </a:xfrm>
              <a:prstGeom prst="rect">
                <a:avLst/>
              </a:prstGeom>
              <a:solidFill>
                <a:srgbClr val="D4F5E0"/>
              </a:solidFill>
              <a:ln w="254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000" b="1">
                    <a:solidFill>
                      <a:srgbClr val="00B050"/>
                    </a:solidFill>
                  </a:rPr>
                  <a:t>T</a:t>
                </a:r>
              </a:p>
            </p:txBody>
          </p:sp>
        </p:grpSp>
      </p:grpSp>
      <p:cxnSp>
        <p:nvCxnSpPr>
          <p:cNvPr id="40" name="Connector 39"/>
          <p:cNvCxnSpPr/>
          <p:nvPr/>
        </p:nvCxnSpPr>
        <p:spPr>
          <a:xfrm>
            <a:off x="0" y="5903999"/>
            <a:ext cx="0" cy="1332000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11600" y="7463899"/>
            <a:ext cx="576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dirty="0">
                <a:solidFill>
                  <a:schemeClr val="tx2"/>
                </a:solidFill>
              </a:rPr>
              <a:t>← False | True 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54500" y="9384399"/>
            <a:ext cx="2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00B050"/>
                </a:solidFill>
              </a:rPr>
              <a:t>最小の True</a:t>
            </a:r>
            <a:r>
              <a:rPr dirty="0"/>
              <a:t/>
            </a:r>
            <a:br>
              <a:rPr dirty="0"/>
            </a:br>
            <a:r>
              <a:rPr dirty="0"/>
              <a:t>= x = 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80000" y="110340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13CA6"/>
                </a:solidFill>
              </a:rPr>
              <a:t>条件が「単調（F…FT…T）」なら何にでも使える  ／  「答えを決めうちして条件を確認する」発想が重要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258</Words>
  <Application>Microsoft Office PowerPoint</Application>
  <PresentationFormat>ユーザー設定</PresentationFormat>
  <Paragraphs>100</Paragraphs>
  <Slides>2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3" baseType="lpstr">
      <vt:lpstr>Office Theme</vt:lpstr>
      <vt:lpstr>PowerPoint プレゼンテーション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13</cp:revision>
  <dcterms:created xsi:type="dcterms:W3CDTF">2013-01-27T09:14:16Z</dcterms:created>
  <dcterms:modified xsi:type="dcterms:W3CDTF">2026-06-03T14:50:47Z</dcterms:modified>
</cp:coreProperties>
</file>