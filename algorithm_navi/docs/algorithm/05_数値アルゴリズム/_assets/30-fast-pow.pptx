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52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108000"/>
            <a:ext cx="20210400" cy="93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高速べき乗 — 指数を 2 進数で分解して O(log n) 回の乗算</a:t>
            </a:r>
          </a:p>
        </p:txBody>
      </p:sp>
      <p:sp>
        <p:nvSpPr>
          <p:cNvPr id="4" name="Rectangle 3"/>
          <p:cNvSpPr/>
          <p:nvPr/>
        </p:nvSpPr>
        <p:spPr>
          <a:xfrm>
            <a:off x="720000" y="1368000"/>
            <a:ext cx="12240000" cy="648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4000" y="1368000"/>
            <a:ext cx="11952000" cy="64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3¹³ の計算（13 = 1101₂）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000" y="2088000"/>
            <a:ext cx="11520000" cy="64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013CA6"/>
                </a:solidFill>
              </a:rPr>
              <a:t>13 = 8 + 4 + 1  =  2³ + 2² + 2⁰  =  1101₂</a:t>
            </a:r>
          </a:p>
        </p:txBody>
      </p:sp>
      <p:sp>
        <p:nvSpPr>
          <p:cNvPr id="7" name="Oval 6"/>
          <p:cNvSpPr/>
          <p:nvPr/>
        </p:nvSpPr>
        <p:spPr>
          <a:xfrm>
            <a:off x="1116000" y="2952000"/>
            <a:ext cx="648000" cy="648000"/>
          </a:xfrm>
          <a:prstGeom prst="ellipse">
            <a:avLst/>
          </a:prstGeom>
          <a:solidFill>
            <a:srgbClr val="013CA6"/>
          </a:solidFill>
          <a:ln w="317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6000" y="3114000"/>
            <a:ext cx="648000" cy="324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1980000" y="2880000"/>
            <a:ext cx="2520000" cy="792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980000" y="2880000"/>
            <a:ext cx="2520000" cy="79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000000"/>
                </a:solidFill>
              </a:rPr>
              <a:t>3¹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88000" y="2880000"/>
            <a:ext cx="7920000" cy="79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000000"/>
                </a:solidFill>
              </a:rPr>
              <a:t>=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00000" y="2880000"/>
            <a:ext cx="1800000" cy="79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00B050"/>
                </a:solidFill>
              </a:rPr>
              <a:t>← 使用</a:t>
            </a:r>
          </a:p>
        </p:txBody>
      </p:sp>
      <p:sp>
        <p:nvSpPr>
          <p:cNvPr id="13" name="Oval 12"/>
          <p:cNvSpPr/>
          <p:nvPr/>
        </p:nvSpPr>
        <p:spPr>
          <a:xfrm>
            <a:off x="1116000" y="4607999"/>
            <a:ext cx="648000" cy="648000"/>
          </a:xfrm>
          <a:prstGeom prst="ellipse">
            <a:avLst/>
          </a:prstGeom>
          <a:solidFill>
            <a:srgbClr val="D0D0D0"/>
          </a:solidFill>
          <a:ln w="317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6000" y="4769999"/>
            <a:ext cx="648000" cy="324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980000" y="4535999"/>
            <a:ext cx="2520000" cy="792000"/>
          </a:xfrm>
          <a:prstGeom prst="rect">
            <a:avLst/>
          </a:prstGeom>
          <a:solidFill>
            <a:srgbClr val="F3FAFE"/>
          </a:solidFill>
          <a:ln w="190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980000" y="4535999"/>
            <a:ext cx="2520000" cy="79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0">
                <a:solidFill>
                  <a:srgbClr val="000000"/>
                </a:solidFill>
              </a:rPr>
              <a:t>3²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88000" y="4535999"/>
            <a:ext cx="7920000" cy="79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000000"/>
                </a:solidFill>
              </a:rPr>
              <a:t>= 3¹ × 3¹  = 9</a:t>
            </a:r>
          </a:p>
        </p:txBody>
      </p:sp>
      <p:sp>
        <p:nvSpPr>
          <p:cNvPr id="18" name="Oval 17"/>
          <p:cNvSpPr/>
          <p:nvPr/>
        </p:nvSpPr>
        <p:spPr>
          <a:xfrm>
            <a:off x="1116000" y="6263998"/>
            <a:ext cx="648000" cy="648000"/>
          </a:xfrm>
          <a:prstGeom prst="ellipse">
            <a:avLst/>
          </a:prstGeom>
          <a:solidFill>
            <a:srgbClr val="D0D0D0"/>
          </a:solidFill>
          <a:ln w="317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16000" y="6425998"/>
            <a:ext cx="648000" cy="324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980000" y="6191998"/>
            <a:ext cx="2520000" cy="792000"/>
          </a:xfrm>
          <a:prstGeom prst="rect">
            <a:avLst/>
          </a:prstGeom>
          <a:solidFill>
            <a:srgbClr val="F3FAFE"/>
          </a:solidFill>
          <a:ln w="190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980000" y="6191998"/>
            <a:ext cx="2520000" cy="79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0">
                <a:solidFill>
                  <a:srgbClr val="000000"/>
                </a:solidFill>
              </a:rPr>
              <a:t>3⁴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88000" y="6191998"/>
            <a:ext cx="7920000" cy="79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000000"/>
                </a:solidFill>
              </a:rPr>
              <a:t>= 3² × 3²  = 81</a:t>
            </a:r>
          </a:p>
        </p:txBody>
      </p:sp>
      <p:sp>
        <p:nvSpPr>
          <p:cNvPr id="23" name="Oval 22"/>
          <p:cNvSpPr/>
          <p:nvPr/>
        </p:nvSpPr>
        <p:spPr>
          <a:xfrm>
            <a:off x="1116000" y="7919997"/>
            <a:ext cx="648000" cy="648000"/>
          </a:xfrm>
          <a:prstGeom prst="ellipse">
            <a:avLst/>
          </a:prstGeom>
          <a:solidFill>
            <a:srgbClr val="013CA6"/>
          </a:solidFill>
          <a:ln w="317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16000" y="8081997"/>
            <a:ext cx="648000" cy="324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980000" y="7847997"/>
            <a:ext cx="2520000" cy="792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980000" y="7847997"/>
            <a:ext cx="2520000" cy="79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000000"/>
                </a:solidFill>
              </a:rPr>
              <a:t>3⁸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88000" y="7847997"/>
            <a:ext cx="7920000" cy="79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000000"/>
                </a:solidFill>
              </a:rPr>
              <a:t>= 3⁴ × 3⁴  = 6561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00000" y="7847997"/>
            <a:ext cx="1800000" cy="79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00B050"/>
                </a:solidFill>
              </a:rPr>
              <a:t>← 使用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80000" y="9792000"/>
            <a:ext cx="11520000" cy="900000"/>
          </a:xfrm>
          <a:prstGeom prst="rect">
            <a:avLst/>
          </a:prstGeom>
          <a:solidFill>
            <a:srgbClr val="F3FAFE"/>
          </a:solidFill>
          <a:ln w="254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260000" y="9792000"/>
            <a:ext cx="11160000" cy="9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013CA6"/>
                </a:solidFill>
              </a:rPr>
              <a:t>3¹³  =  3⁸ × 3⁴ × 3¹  =  6561 × 81 × 3  =  1594323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3680000" y="1368000"/>
            <a:ext cx="6840000" cy="648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3824000" y="1368000"/>
            <a:ext cx="6552000" cy="64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アルゴリズムの流れ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4040000" y="2160000"/>
            <a:ext cx="6120000" cy="792000"/>
          </a:xfrm>
          <a:prstGeom prst="rect">
            <a:avLst/>
          </a:prstGeom>
          <a:solidFill>
            <a:srgbClr val="F3FAFE"/>
          </a:solidFill>
          <a:ln w="1270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4148000" y="2160000"/>
            <a:ext cx="3960000" cy="79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</a:rPr>
              <a:t>result = 1,  base = 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180000" y="2160000"/>
            <a:ext cx="1800000" cy="79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013CA6"/>
                </a:solidFill>
              </a:rPr>
              <a:t>初期化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4040000" y="3132000"/>
            <a:ext cx="6120000" cy="792000"/>
          </a:xfrm>
          <a:prstGeom prst="rect">
            <a:avLst/>
          </a:prstGeom>
          <a:solidFill>
            <a:srgbClr val="F3FAFE"/>
          </a:solidFill>
          <a:ln w="1270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4148000" y="3132000"/>
            <a:ext cx="3960000" cy="79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</a:rPr>
              <a:t>exp=13(1101₂): bit=1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8180000" y="3132000"/>
            <a:ext cx="1800000" cy="79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013CA6"/>
                </a:solidFill>
              </a:rPr>
              <a:t>result = 1×3 = 3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4040000" y="4104000"/>
            <a:ext cx="6120000" cy="792000"/>
          </a:xfrm>
          <a:prstGeom prst="rect">
            <a:avLst/>
          </a:prstGeom>
          <a:solidFill>
            <a:srgbClr val="F3FAFE"/>
          </a:solidFill>
          <a:ln w="1270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4148000" y="4104000"/>
            <a:ext cx="3960000" cy="79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</a:rPr>
              <a:t>exp &gt;&gt;= 1 → 6,  base² = 9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4040000" y="5076000"/>
            <a:ext cx="6120000" cy="792000"/>
          </a:xfrm>
          <a:prstGeom prst="rect">
            <a:avLst/>
          </a:prstGeom>
          <a:solidFill>
            <a:srgbClr val="F3FAFE"/>
          </a:solidFill>
          <a:ln w="1270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4148000" y="5076000"/>
            <a:ext cx="3960000" cy="79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</a:rPr>
              <a:t>exp=6(0110₂): bit=0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8180000" y="5076000"/>
            <a:ext cx="1800000" cy="79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013CA6"/>
                </a:solidFill>
              </a:rPr>
              <a:t>result 更新なし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4040000" y="6048000"/>
            <a:ext cx="6120000" cy="792000"/>
          </a:xfrm>
          <a:prstGeom prst="rect">
            <a:avLst/>
          </a:prstGeom>
          <a:solidFill>
            <a:srgbClr val="F3FAFE"/>
          </a:solidFill>
          <a:ln w="1270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4148000" y="6048000"/>
            <a:ext cx="3960000" cy="79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</a:rPr>
              <a:t>exp &gt;&gt;= 1 → 3,  base² = 81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4040000" y="7020000"/>
            <a:ext cx="6120000" cy="792000"/>
          </a:xfrm>
          <a:prstGeom prst="rect">
            <a:avLst/>
          </a:prstGeom>
          <a:solidFill>
            <a:srgbClr val="F3FAFE"/>
          </a:solidFill>
          <a:ln w="1270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4148000" y="7020000"/>
            <a:ext cx="3960000" cy="79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</a:rPr>
              <a:t>exp=3(0011₂): bit=1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8180000" y="7020000"/>
            <a:ext cx="1800000" cy="79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013CA6"/>
                </a:solidFill>
              </a:rPr>
              <a:t>result = 3×81 = 243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4040000" y="7992000"/>
            <a:ext cx="6120000" cy="792000"/>
          </a:xfrm>
          <a:prstGeom prst="rect">
            <a:avLst/>
          </a:prstGeom>
          <a:solidFill>
            <a:srgbClr val="F3FAFE"/>
          </a:solidFill>
          <a:ln w="1270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4148000" y="7992000"/>
            <a:ext cx="3960000" cy="79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</a:rPr>
              <a:t>exp &gt;&gt;= 1 → 1,  base² = 6561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4040000" y="8964000"/>
            <a:ext cx="6120000" cy="792000"/>
          </a:xfrm>
          <a:prstGeom prst="rect">
            <a:avLst/>
          </a:prstGeom>
          <a:solidFill>
            <a:srgbClr val="F3FAFE"/>
          </a:solidFill>
          <a:ln w="1270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4148000" y="8964000"/>
            <a:ext cx="3960000" cy="79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</a:rPr>
              <a:t>exp=1(0001₂): bit=1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8180000" y="8964000"/>
            <a:ext cx="1800000" cy="79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013CA6"/>
                </a:solidFill>
              </a:rPr>
              <a:t>result = 243×6561 = 1594323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4040000" y="9936000"/>
            <a:ext cx="6120000" cy="792000"/>
          </a:xfrm>
          <a:prstGeom prst="rect">
            <a:avLst/>
          </a:prstGeom>
          <a:solidFill>
            <a:srgbClr val="EBA81A"/>
          </a:solidFill>
          <a:ln w="1270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4148000" y="9936000"/>
            <a:ext cx="3960000" cy="79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</a:rPr>
              <a:t>exp &gt;&gt;= 1 → 0  → 完了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8180000" y="9936000"/>
            <a:ext cx="1800000" cy="79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013CA6"/>
                </a:solidFill>
              </a:rPr>
              <a:t>答え: 1594323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20000" y="10728000"/>
            <a:ext cx="12240000" cy="936000"/>
          </a:xfrm>
          <a:prstGeom prst="rect">
            <a:avLst/>
          </a:prstGeom>
          <a:solidFill>
            <a:srgbClr val="F3FAFE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28000" y="10782000"/>
            <a:ext cx="12024000" cy="82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0">
                <a:solidFill>
                  <a:srgbClr val="000000"/>
                </a:solidFill>
              </a:rPr>
              <a:t>乗算回数: O(log n)。素朴な n 回から大幅削減
Python の pow(a, b, m) は 3 引数で自動的に高速べき乗を使用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