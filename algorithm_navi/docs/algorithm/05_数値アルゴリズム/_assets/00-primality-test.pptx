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52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20210400" cy="93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素数判定 — 試し割り O(√n)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1368000"/>
            <a:ext cx="1008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4000" y="1368000"/>
            <a:ext cx="9792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試し割り法の手順</a:t>
            </a:r>
          </a:p>
        </p:txBody>
      </p:sp>
      <p:sp>
        <p:nvSpPr>
          <p:cNvPr id="6" name="Oval 5"/>
          <p:cNvSpPr/>
          <p:nvPr/>
        </p:nvSpPr>
        <p:spPr>
          <a:xfrm>
            <a:off x="954000" y="2286000"/>
            <a:ext cx="612000" cy="612000"/>
          </a:xfrm>
          <a:prstGeom prst="ellipse">
            <a:avLst/>
          </a:prstGeom>
          <a:solidFill>
            <a:srgbClr val="013CA6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4000" y="2362500"/>
            <a:ext cx="612000" cy="459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872000" y="2160000"/>
            <a:ext cx="5040000" cy="1007999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80000" y="2160000"/>
            <a:ext cx="4860000" cy="1007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000000"/>
                </a:solidFill>
              </a:rPr>
              <a:t>n=2 か？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08000" y="2340000"/>
            <a:ext cx="3240000" cy="648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08000" y="2340000"/>
            <a:ext cx="3240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→ 素数</a:t>
            </a:r>
          </a:p>
        </p:txBody>
      </p:sp>
      <p:sp>
        <p:nvSpPr>
          <p:cNvPr id="12" name="Oval 11"/>
          <p:cNvSpPr/>
          <p:nvPr/>
        </p:nvSpPr>
        <p:spPr>
          <a:xfrm>
            <a:off x="954000" y="4374000"/>
            <a:ext cx="612000" cy="612000"/>
          </a:xfrm>
          <a:prstGeom prst="ellipse">
            <a:avLst/>
          </a:prstGeom>
          <a:solidFill>
            <a:srgbClr val="013CA6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4000" y="4450500"/>
            <a:ext cx="612000" cy="459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72000" y="4248000"/>
            <a:ext cx="5040000" cy="1007999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80000" y="4248000"/>
            <a:ext cx="4860000" cy="1007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000000"/>
                </a:solidFill>
              </a:rPr>
              <a:t>n が偶数か？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08000" y="4428000"/>
            <a:ext cx="3240000" cy="64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08000" y="4428000"/>
            <a:ext cx="3240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→ 素数でない</a:t>
            </a:r>
          </a:p>
        </p:txBody>
      </p:sp>
      <p:sp>
        <p:nvSpPr>
          <p:cNvPr id="18" name="Oval 17"/>
          <p:cNvSpPr/>
          <p:nvPr/>
        </p:nvSpPr>
        <p:spPr>
          <a:xfrm>
            <a:off x="954000" y="6462000"/>
            <a:ext cx="612000" cy="612000"/>
          </a:xfrm>
          <a:prstGeom prst="ellipse">
            <a:avLst/>
          </a:prstGeom>
          <a:solidFill>
            <a:srgbClr val="013CA6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4000" y="6538500"/>
            <a:ext cx="612000" cy="459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72000" y="6336000"/>
            <a:ext cx="5040000" cy="1007999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80000" y="6336000"/>
            <a:ext cx="4860000" cy="1007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000000"/>
                </a:solidFill>
              </a:rPr>
              <a:t>i=3 から √n まで
（奇数のみ）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08000" y="6516000"/>
            <a:ext cx="3240000" cy="648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08000" y="6516000"/>
            <a:ext cx="3240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n%i==0 → 素数でない</a:t>
            </a:r>
          </a:p>
        </p:txBody>
      </p:sp>
      <p:sp>
        <p:nvSpPr>
          <p:cNvPr id="24" name="Oval 23"/>
          <p:cNvSpPr/>
          <p:nvPr/>
        </p:nvSpPr>
        <p:spPr>
          <a:xfrm>
            <a:off x="954000" y="8550000"/>
            <a:ext cx="612000" cy="612000"/>
          </a:xfrm>
          <a:prstGeom prst="ellipse">
            <a:avLst/>
          </a:prstGeom>
          <a:solidFill>
            <a:srgbClr val="013CA6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4000" y="8626500"/>
            <a:ext cx="612000" cy="459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72000" y="8424000"/>
            <a:ext cx="5040000" cy="1007999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80000" y="8424000"/>
            <a:ext cx="4860000" cy="1007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000000"/>
                </a:solidFill>
              </a:rPr>
              <a:t>ループ完了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08000" y="8604000"/>
            <a:ext cx="3240000" cy="648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08000" y="8604000"/>
            <a:ext cx="3240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→ 素数！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880000" y="1368000"/>
            <a:ext cx="864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024000" y="1368000"/>
            <a:ext cx="8352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具体例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240000" y="2160000"/>
            <a:ext cx="792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013CA6"/>
                </a:solidFill>
              </a:rPr>
              <a:t>n = 29  （√29 ≈ 5.38）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240000" y="2880000"/>
            <a:ext cx="1620000" cy="54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240000" y="2880000"/>
            <a:ext cx="162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</a:rPr>
              <a:t>÷2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240000" y="3528000"/>
            <a:ext cx="1620000" cy="54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240000" y="3528000"/>
            <a:ext cx="162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000000"/>
                </a:solidFill>
              </a:rPr>
              <a:t>29%2=1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780000" y="4176000"/>
            <a:ext cx="54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0000"/>
                </a:solidFill>
              </a:rPr>
              <a:t>✗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4220000" y="2880000"/>
            <a:ext cx="1620000" cy="54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220000" y="2880000"/>
            <a:ext cx="162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</a:rPr>
              <a:t>÷3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4220000" y="3528000"/>
            <a:ext cx="1620000" cy="54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4220000" y="3528000"/>
            <a:ext cx="162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000000"/>
                </a:solidFill>
              </a:rPr>
              <a:t>29%3=2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760000" y="4176000"/>
            <a:ext cx="54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0000"/>
                </a:solidFill>
              </a:rPr>
              <a:t>✗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6200000" y="2880000"/>
            <a:ext cx="1620000" cy="54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6200000" y="2880000"/>
            <a:ext cx="162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</a:rPr>
              <a:t>÷4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6200000" y="3528000"/>
            <a:ext cx="1620000" cy="54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6200000" y="3528000"/>
            <a:ext cx="162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000000"/>
                </a:solidFill>
              </a:rPr>
              <a:t>29%4=1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6740000" y="4176000"/>
            <a:ext cx="54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0000"/>
                </a:solidFill>
              </a:rPr>
              <a:t>✗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180000" y="2880000"/>
            <a:ext cx="1620000" cy="54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8180000" y="2880000"/>
            <a:ext cx="162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</a:rPr>
              <a:t>÷5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180000" y="3528000"/>
            <a:ext cx="1620000" cy="54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8180000" y="3528000"/>
            <a:ext cx="162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000000"/>
                </a:solidFill>
              </a:rPr>
              <a:t>29%5=4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8720000" y="4176000"/>
            <a:ext cx="54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0000"/>
                </a:solidFill>
              </a:rPr>
              <a:t>✗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240000" y="4752000"/>
            <a:ext cx="792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0B050"/>
                </a:solidFill>
              </a:rPr>
              <a:t>→ 素数！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240000" y="5580000"/>
            <a:ext cx="792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013CA6"/>
                </a:solidFill>
              </a:rPr>
              <a:t>n = 21  （√21 ≈ 4.58）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2240000" y="6300000"/>
            <a:ext cx="1620000" cy="54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2240000" y="6300000"/>
            <a:ext cx="162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</a:rPr>
              <a:t>÷2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2240000" y="6948000"/>
            <a:ext cx="1620000" cy="54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2240000" y="6948000"/>
            <a:ext cx="162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000000"/>
                </a:solidFill>
              </a:rPr>
              <a:t>21%2=1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780000" y="7596000"/>
            <a:ext cx="54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0000"/>
                </a:solidFill>
              </a:rPr>
              <a:t>✗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4220000" y="6300000"/>
            <a:ext cx="1620000" cy="54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4220000" y="6300000"/>
            <a:ext cx="162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</a:rPr>
              <a:t>÷3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4220000" y="6948000"/>
            <a:ext cx="1620000" cy="54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4220000" y="6948000"/>
            <a:ext cx="162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000000"/>
                </a:solidFill>
              </a:rPr>
              <a:t>21%3=0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760000" y="7596000"/>
            <a:ext cx="54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00B050"/>
                </a:solidFill>
              </a:rPr>
              <a:t>✓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240000" y="8280000"/>
            <a:ext cx="792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0000"/>
                </a:solidFill>
              </a:rPr>
              <a:t>→ 素数でない（3×7=21）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1880000" y="9180000"/>
            <a:ext cx="864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2024000" y="9180000"/>
            <a:ext cx="8352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手法の比較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1880000" y="9900000"/>
            <a:ext cx="3960000" cy="648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1880000" y="9900000"/>
            <a:ext cx="3960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</a:rPr>
              <a:t>試し割り O(√n)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6020000" y="9900000"/>
            <a:ext cx="1800000" cy="64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6020000" y="9900000"/>
            <a:ext cx="1800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000000"/>
                </a:solidFill>
              </a:rPr>
              <a:t>中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000000" y="9900000"/>
            <a:ext cx="2880000" cy="64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8000000" y="9900000"/>
            <a:ext cx="2880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000000"/>
                </a:solidFill>
              </a:rPr>
              <a:t>単体判定・実装シンプル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1880000" y="10620000"/>
            <a:ext cx="3960000" cy="648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1880000" y="10620000"/>
            <a:ext cx="3960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</a:rPr>
              <a:t>Miller-Rabin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6020000" y="10620000"/>
            <a:ext cx="1800000" cy="64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6020000" y="10620000"/>
            <a:ext cx="1800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000000"/>
                </a:solidFill>
              </a:rPr>
              <a:t>非常に大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000000" y="10620000"/>
            <a:ext cx="2880000" cy="64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8000000" y="10620000"/>
            <a:ext cx="2880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000000"/>
                </a:solidFill>
              </a:rPr>
              <a:t>確率的・暗号用途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20000" y="10620000"/>
            <a:ext cx="10080000" cy="1007999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28000" y="10674000"/>
            <a:ext cx="9864000" cy="89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000000"/>
                </a:solidFill>
              </a:rPr>
              <a:t>i² &lt;= n まで試す（i*i は毎回計算せず isqrt(n) を先に計算すると速い）
偶数を最初に除外し、奇数のみ試すと定数倍高速化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