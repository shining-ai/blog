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"/>
            <a:ext cx="20210400" cy="93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線分交差判定 — 外積の符号だけで O(1) 判定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368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4000" y="1368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判定の原理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900000" y="2088000"/>
            <a:ext cx="19440000" cy="115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088000"/>
            <a:ext cx="19080000" cy="115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13CA6"/>
                </a:solidFill>
              </a:rPr>
              <a:t>AB ∩ CD が交差する  ⟺  「A と B が直線 CD の両側」  かつ  「C と D が直線 AB の両側」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420000"/>
            <a:ext cx="93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420000"/>
            <a:ext cx="90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CASE 1: 交差あり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340000" y="3420000"/>
            <a:ext cx="5760000" cy="576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40000" y="3420000"/>
            <a:ext cx="5760000" cy="5760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196000" y="9036000"/>
            <a:ext cx="288000" cy="288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8000" y="8892000"/>
            <a:ext cx="36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14" name="Oval 13"/>
          <p:cNvSpPr/>
          <p:nvPr/>
        </p:nvSpPr>
        <p:spPr>
          <a:xfrm>
            <a:off x="7956000" y="3276000"/>
            <a:ext cx="288000" cy="288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8000" y="3132000"/>
            <a:ext cx="36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2196000" y="3276000"/>
            <a:ext cx="288000" cy="288000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8000" y="3132000"/>
            <a:ext cx="36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7956000" y="9036000"/>
            <a:ext cx="288000" cy="288000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8000" y="8892000"/>
            <a:ext cx="36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20" name="Oval 19"/>
          <p:cNvSpPr/>
          <p:nvPr/>
        </p:nvSpPr>
        <p:spPr>
          <a:xfrm>
            <a:off x="5022000" y="6102000"/>
            <a:ext cx="396000" cy="396000"/>
          </a:xfrm>
          <a:prstGeom prst="ellipse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4000" y="5976000"/>
            <a:ext cx="108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A81A"/>
                </a:solidFill>
              </a:rPr>
              <a:t>交点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000" y="4140000"/>
            <a:ext cx="86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cross(CD, CA) × cross(CD, CB) &lt;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4932000"/>
            <a:ext cx="86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B050"/>
                </a:solidFill>
              </a:rPr>
              <a:t>  → A, B は CD の両側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000" y="5724000"/>
            <a:ext cx="86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cross(AB, AC) × cross(AB, AD) &lt;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0000" y="6516000"/>
            <a:ext cx="86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B050"/>
                </a:solidFill>
              </a:rPr>
              <a:t>  → C, D は AB の両側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0000" y="7308000"/>
            <a:ext cx="86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B050"/>
                </a:solidFill>
              </a:rPr>
              <a:t>→ 交差！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00" y="3420000"/>
            <a:ext cx="936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44000" y="3420000"/>
            <a:ext cx="907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CASE 2: 交差なし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2240000" y="3420000"/>
            <a:ext cx="2880000" cy="4320000"/>
          </a:xfrm>
          <a:prstGeom prst="line">
            <a:avLst/>
          </a:prstGeom>
          <a:ln w="381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6560000" y="4860000"/>
            <a:ext cx="2880000" cy="432000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2096000" y="7596000"/>
            <a:ext cx="288000" cy="288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8000" y="7452000"/>
            <a:ext cx="36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A</a:t>
            </a:r>
          </a:p>
        </p:txBody>
      </p:sp>
      <p:sp>
        <p:nvSpPr>
          <p:cNvPr id="33" name="Oval 32"/>
          <p:cNvSpPr/>
          <p:nvPr/>
        </p:nvSpPr>
        <p:spPr>
          <a:xfrm>
            <a:off x="14976000" y="3276000"/>
            <a:ext cx="288000" cy="288000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228000" y="3132000"/>
            <a:ext cx="36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13CA6"/>
                </a:solidFill>
              </a:rPr>
              <a:t>B</a:t>
            </a:r>
          </a:p>
        </p:txBody>
      </p:sp>
      <p:sp>
        <p:nvSpPr>
          <p:cNvPr id="35" name="Oval 34"/>
          <p:cNvSpPr/>
          <p:nvPr/>
        </p:nvSpPr>
        <p:spPr>
          <a:xfrm>
            <a:off x="16416000" y="9036000"/>
            <a:ext cx="288000" cy="288000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668000" y="8892000"/>
            <a:ext cx="36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37" name="Oval 36"/>
          <p:cNvSpPr/>
          <p:nvPr/>
        </p:nvSpPr>
        <p:spPr>
          <a:xfrm>
            <a:off x="19296000" y="4716000"/>
            <a:ext cx="288000" cy="288000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548000" y="4572000"/>
            <a:ext cx="36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60000" y="4140000"/>
            <a:ext cx="86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>cross(CD, CA) × cross(CD, CB) &gt; 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60000" y="4932000"/>
            <a:ext cx="86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FF0000"/>
                </a:solidFill>
              </a:rPr>
              <a:t>  → A, B は CD の同じ側 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60000" y="5724000"/>
            <a:ext cx="86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60000" y="6516000"/>
            <a:ext cx="864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0000"/>
                </a:solidFill>
              </a:rPr>
              <a:t>→ 交差しない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000" y="9540000"/>
            <a:ext cx="198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4000" y="9540000"/>
            <a:ext cx="19512000" cy="6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特殊ケース: 端点が線分上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800000" y="10080000"/>
            <a:ext cx="2520000" cy="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060000" y="8820000"/>
            <a:ext cx="0" cy="252000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674001" y="9954001"/>
            <a:ext cx="251998" cy="251998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194001" y="9954001"/>
            <a:ext cx="251998" cy="251998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934001" y="11214001"/>
            <a:ext cx="251998" cy="251998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934001" y="8694001"/>
            <a:ext cx="251998" cy="251998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0000" y="107280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T字（端点が線分上）交差判定: True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1520000" y="10080000"/>
            <a:ext cx="5040000" cy="0"/>
          </a:xfrm>
          <a:prstGeom prst="line">
            <a:avLst/>
          </a:prstGeom>
          <a:ln w="3175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4040000" y="10080000"/>
            <a:ext cx="2520000" cy="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1394001" y="9954001"/>
            <a:ext cx="251998" cy="251998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6434001" y="9954001"/>
            <a:ext cx="251998" cy="251998"/>
          </a:xfrm>
          <a:prstGeom prst="ellipse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914001" y="9954001"/>
            <a:ext cx="251998" cy="251998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6434001" y="9954001"/>
            <a:ext cx="251998" cy="251998"/>
          </a:xfrm>
          <a:prstGeom prst="ellipse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620000" y="10728000"/>
            <a:ext cx="936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808080"/>
                </a:solidFill>
              </a:rPr>
              <a:t>共線・重複区間: True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0000" y="10980000"/>
            <a:ext cx="19800000" cy="72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8000" y="11034000"/>
            <a:ext cx="19584000" cy="61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00000"/>
                </a:solidFill>
              </a:rPr>
              <a:t>外積の除算ゼロ問題なし。整数座標なら完全に正確
端点が相手の線分上に乗る場合は on_segment() で追加チェック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