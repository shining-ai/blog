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BDE4FC"/>
    <a:srgbClr val="013C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グループ化 25"/>
          <p:cNvGrpSpPr/>
          <p:nvPr/>
        </p:nvGrpSpPr>
        <p:grpSpPr>
          <a:xfrm>
            <a:off x="4112040" y="2669612"/>
            <a:ext cx="13066321" cy="6633700"/>
            <a:chOff x="4112040" y="3643900"/>
            <a:chExt cx="13066321" cy="6633700"/>
          </a:xfrm>
        </p:grpSpPr>
        <p:sp>
          <p:nvSpPr>
            <p:cNvPr id="6" name="TextBox 5"/>
            <p:cNvSpPr txBox="1"/>
            <p:nvPr/>
          </p:nvSpPr>
          <p:spPr>
            <a:xfrm>
              <a:off x="4112040" y="3643900"/>
              <a:ext cx="1306632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200" b="1" dirty="0">
                  <a:solidFill>
                    <a:srgbClr val="013CA6"/>
                  </a:solidFill>
                </a:rPr>
                <a:t>集合 {0, 2, 3}  →  各要素番号に対応するビットを 1 </a:t>
              </a:r>
              <a:r>
                <a:rPr sz="3200" b="1" dirty="0" smtClean="0">
                  <a:solidFill>
                    <a:srgbClr val="013CA6"/>
                  </a:solidFill>
                </a:rPr>
                <a:t>にする</a:t>
              </a:r>
              <a:endParaRPr sz="3200" b="1" dirty="0">
                <a:solidFill>
                  <a:srgbClr val="013CA6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345200" y="4999200"/>
              <a:ext cx="2412000" cy="90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 4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345200" y="5899200"/>
              <a:ext cx="2412000" cy="900000"/>
            </a:xfrm>
            <a:prstGeom prst="rect">
              <a:avLst/>
            </a:prstGeom>
            <a:solidFill>
              <a:srgbClr val="EEEEEE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865200" y="4999200"/>
              <a:ext cx="2412000" cy="90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rgbClr val="FFFFFF"/>
                  </a:solidFill>
                </a:rPr>
                <a:t>bit 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865200" y="5899200"/>
              <a:ext cx="2412000" cy="90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385200" y="4999200"/>
              <a:ext cx="2412000" cy="90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rgbClr val="FFFFFF"/>
                  </a:solidFill>
                </a:rPr>
                <a:t>bit 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385200" y="5899200"/>
              <a:ext cx="2412000" cy="90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905200" y="4999200"/>
              <a:ext cx="2412000" cy="90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 1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1905200" y="5899200"/>
              <a:ext cx="2412000" cy="900000"/>
            </a:xfrm>
            <a:prstGeom prst="rect">
              <a:avLst/>
            </a:prstGeom>
            <a:solidFill>
              <a:srgbClr val="EEEEEE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4425200" y="4999200"/>
              <a:ext cx="2412000" cy="90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rgbClr val="FFFFFF"/>
                  </a:solidFill>
                </a:rPr>
                <a:t>bit 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4425200" y="5899200"/>
              <a:ext cx="2412000" cy="90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345200" y="7231200"/>
              <a:ext cx="12600000" cy="108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dirty="0">
                  <a:solidFill>
                    <a:srgbClr val="013CA6"/>
                  </a:solidFill>
                </a:rPr>
                <a:t>0b01101  （= 13 ）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482432" y="9377600"/>
              <a:ext cx="12325536" cy="900000"/>
            </a:xfrm>
            <a:prstGeom prst="rect">
              <a:avLst/>
            </a:prstGeom>
            <a:solidFill>
              <a:srgbClr val="F3FAFE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ja-JP" altLang="en-US" sz="3600" b="1" dirty="0" smtClean="0">
                  <a:solidFill>
                    <a:srgbClr val="013CA6"/>
                  </a:solidFill>
                </a:rPr>
                <a:t>集</a:t>
              </a:r>
              <a:r>
                <a:rPr lang="ja-JP" altLang="en-US" sz="3600" b="1" dirty="0">
                  <a:solidFill>
                    <a:srgbClr val="013CA6"/>
                  </a:solidFill>
                </a:rPr>
                <a:t>合を整数 </a:t>
              </a:r>
              <a:r>
                <a:rPr lang="en-US" altLang="ja-JP" sz="3600" b="1" dirty="0">
                  <a:solidFill>
                    <a:srgbClr val="013CA6"/>
                  </a:solidFill>
                </a:rPr>
                <a:t>1 </a:t>
              </a:r>
              <a:r>
                <a:rPr lang="ja-JP" altLang="en-US" sz="3600" b="1" dirty="0">
                  <a:solidFill>
                    <a:srgbClr val="013CA6"/>
                  </a:solidFill>
                </a:rPr>
                <a:t>つで管理でき</a:t>
              </a:r>
              <a:r>
                <a:rPr lang="ja-JP" altLang="en-US" sz="3600" b="1" dirty="0" smtClean="0">
                  <a:solidFill>
                    <a:srgbClr val="013CA6"/>
                  </a:solidFill>
                </a:rPr>
                <a:t>る</a:t>
              </a:r>
              <a:endParaRPr lang="ja-JP" altLang="en-US" sz="3600" b="1" dirty="0">
                <a:solidFill>
                  <a:srgbClr val="013CA6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16988389" y="1305301"/>
            <a:ext cx="162568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0" dirty="0"/>
              <a:t>{1, 2, 4}</a:t>
            </a:r>
          </a:p>
        </p:txBody>
      </p:sp>
      <p:grpSp>
        <p:nvGrpSpPr>
          <p:cNvPr id="84" name="グループ化 83"/>
          <p:cNvGrpSpPr/>
          <p:nvPr/>
        </p:nvGrpSpPr>
        <p:grpSpPr>
          <a:xfrm>
            <a:off x="4397731" y="952300"/>
            <a:ext cx="11628000" cy="1260000"/>
            <a:chOff x="2880000" y="2565200"/>
            <a:chExt cx="11628000" cy="1260000"/>
          </a:xfrm>
        </p:grpSpPr>
        <p:sp>
          <p:nvSpPr>
            <p:cNvPr id="85" name="Rectangle 16"/>
            <p:cNvSpPr/>
            <p:nvPr/>
          </p:nvSpPr>
          <p:spPr>
            <a:xfrm>
              <a:off x="2880000" y="256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bit4</a:t>
              </a:r>
            </a:p>
          </p:txBody>
        </p:sp>
        <p:sp>
          <p:nvSpPr>
            <p:cNvPr id="86" name="Rectangle 17"/>
            <p:cNvSpPr/>
            <p:nvPr/>
          </p:nvSpPr>
          <p:spPr>
            <a:xfrm>
              <a:off x="2880000" y="3195200"/>
              <a:ext cx="2268000" cy="63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7" name="Rectangle 18"/>
            <p:cNvSpPr/>
            <p:nvPr/>
          </p:nvSpPr>
          <p:spPr>
            <a:xfrm>
              <a:off x="5220000" y="256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bit3</a:t>
              </a:r>
            </a:p>
          </p:txBody>
        </p:sp>
        <p:sp>
          <p:nvSpPr>
            <p:cNvPr id="88" name="Rectangle 19"/>
            <p:cNvSpPr/>
            <p:nvPr/>
          </p:nvSpPr>
          <p:spPr>
            <a:xfrm>
              <a:off x="5220000" y="3195200"/>
              <a:ext cx="2268000" cy="630000"/>
            </a:xfrm>
            <a:prstGeom prst="rect">
              <a:avLst/>
            </a:prstGeom>
            <a:solidFill>
              <a:srgbClr val="EEEEEE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9" name="Rectangle 20"/>
            <p:cNvSpPr/>
            <p:nvPr/>
          </p:nvSpPr>
          <p:spPr>
            <a:xfrm>
              <a:off x="7560000" y="256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bit2</a:t>
              </a:r>
            </a:p>
          </p:txBody>
        </p:sp>
        <p:sp>
          <p:nvSpPr>
            <p:cNvPr id="90" name="Rectangle 21"/>
            <p:cNvSpPr/>
            <p:nvPr/>
          </p:nvSpPr>
          <p:spPr>
            <a:xfrm>
              <a:off x="7560000" y="3195200"/>
              <a:ext cx="2268000" cy="63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1" name="Rectangle 22"/>
            <p:cNvSpPr/>
            <p:nvPr/>
          </p:nvSpPr>
          <p:spPr>
            <a:xfrm>
              <a:off x="9900000" y="256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bit1</a:t>
              </a:r>
            </a:p>
          </p:txBody>
        </p:sp>
        <p:sp>
          <p:nvSpPr>
            <p:cNvPr id="92" name="Rectangle 23"/>
            <p:cNvSpPr/>
            <p:nvPr/>
          </p:nvSpPr>
          <p:spPr>
            <a:xfrm>
              <a:off x="9900000" y="3195200"/>
              <a:ext cx="2268000" cy="63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3" name="Rectangle 24"/>
            <p:cNvSpPr/>
            <p:nvPr/>
          </p:nvSpPr>
          <p:spPr>
            <a:xfrm>
              <a:off x="12240000" y="256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bit0</a:t>
              </a:r>
            </a:p>
          </p:txBody>
        </p:sp>
        <p:sp>
          <p:nvSpPr>
            <p:cNvPr id="94" name="Rectangle 25"/>
            <p:cNvSpPr/>
            <p:nvPr/>
          </p:nvSpPr>
          <p:spPr>
            <a:xfrm>
              <a:off x="12240000" y="3195200"/>
              <a:ext cx="2268000" cy="630000"/>
            </a:xfrm>
            <a:prstGeom prst="rect">
              <a:avLst/>
            </a:prstGeom>
            <a:solidFill>
              <a:srgbClr val="EEEEEE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675889" y="1259135"/>
            <a:ext cx="923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013CA6"/>
                </a:solidFill>
              </a:rPr>
              <a:t>A </a:t>
            </a:r>
          </a:p>
        </p:txBody>
      </p:sp>
      <p:grpSp>
        <p:nvGrpSpPr>
          <p:cNvPr id="74" name="グループ化 73"/>
          <p:cNvGrpSpPr/>
          <p:nvPr/>
        </p:nvGrpSpPr>
        <p:grpSpPr>
          <a:xfrm>
            <a:off x="4397731" y="2659700"/>
            <a:ext cx="11628000" cy="1260000"/>
            <a:chOff x="2880000" y="945200"/>
            <a:chExt cx="11628000" cy="1260000"/>
          </a:xfrm>
        </p:grpSpPr>
        <p:sp>
          <p:nvSpPr>
            <p:cNvPr id="6" name="Rectangle 5"/>
            <p:cNvSpPr/>
            <p:nvPr/>
          </p:nvSpPr>
          <p:spPr>
            <a:xfrm>
              <a:off x="2880000" y="94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bit4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880000" y="1575200"/>
              <a:ext cx="2268000" cy="630000"/>
            </a:xfrm>
            <a:prstGeom prst="rect">
              <a:avLst/>
            </a:prstGeom>
            <a:solidFill>
              <a:srgbClr val="EEEEEE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220000" y="94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20000" y="1575200"/>
              <a:ext cx="2268000" cy="63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560000" y="94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560000" y="1575200"/>
              <a:ext cx="2268000" cy="63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900000" y="94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900000" y="1575200"/>
              <a:ext cx="2268000" cy="630000"/>
            </a:xfrm>
            <a:prstGeom prst="rect">
              <a:avLst/>
            </a:prstGeom>
            <a:solidFill>
              <a:srgbClr val="EEEEEE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240000" y="94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240000" y="1575200"/>
              <a:ext cx="2268000" cy="63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6988389" y="3012701"/>
            <a:ext cx="162568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0" dirty="0"/>
              <a:t>{0, 2, 3}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5889" y="2966535"/>
            <a:ext cx="923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013CA6"/>
                </a:solidFill>
              </a:rPr>
              <a:t>B 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0000" y="4365200"/>
            <a:ext cx="1985040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グループ化 81"/>
          <p:cNvGrpSpPr/>
          <p:nvPr/>
        </p:nvGrpSpPr>
        <p:grpSpPr>
          <a:xfrm>
            <a:off x="1960531" y="5093731"/>
            <a:ext cx="17244701" cy="1260000"/>
            <a:chOff x="1960531" y="5093731"/>
            <a:chExt cx="17244701" cy="1260000"/>
          </a:xfrm>
        </p:grpSpPr>
        <p:sp>
          <p:nvSpPr>
            <p:cNvPr id="32" name="TextBox 31"/>
            <p:cNvSpPr txBox="1"/>
            <p:nvPr/>
          </p:nvSpPr>
          <p:spPr>
            <a:xfrm>
              <a:off x="1960531" y="5215900"/>
              <a:ext cx="1980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200" b="1" dirty="0">
                  <a:solidFill>
                    <a:srgbClr val="013CA6"/>
                  </a:solidFill>
                </a:rPr>
                <a:t>和集合</a:t>
              </a:r>
              <a:r>
                <a:rPr sz="2800" dirty="0"/>
                <a:t/>
              </a:r>
              <a:br>
                <a:rPr sz="2800" dirty="0"/>
              </a:br>
              <a:r>
                <a:rPr sz="2800" dirty="0"/>
                <a:t>A </a:t>
              </a:r>
              <a:r>
                <a:rPr lang="en-US" sz="2800" dirty="0"/>
                <a:t>|</a:t>
              </a:r>
              <a:r>
                <a:rPr sz="2800" dirty="0" smtClean="0"/>
                <a:t> </a:t>
              </a:r>
              <a:r>
                <a:rPr sz="2800" dirty="0"/>
                <a:t>B</a:t>
              </a:r>
            </a:p>
          </p:txBody>
        </p:sp>
        <p:grpSp>
          <p:nvGrpSpPr>
            <p:cNvPr id="78" name="グループ化 77"/>
            <p:cNvGrpSpPr/>
            <p:nvPr/>
          </p:nvGrpSpPr>
          <p:grpSpPr>
            <a:xfrm>
              <a:off x="4397731" y="5093731"/>
              <a:ext cx="11628000" cy="1260000"/>
              <a:chOff x="5040000" y="5093500"/>
              <a:chExt cx="11628000" cy="1260000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5040000" y="509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bit4</a:t>
                </a: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5040000" y="572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7380000" y="509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bit3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7380000" y="572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9720000" y="509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bit2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9720000" y="572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12060000" y="509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bit1</a:t>
                </a: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12060000" y="572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14400000" y="509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bit0</a:t>
                </a:r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14400000" y="572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16988389" y="5446732"/>
              <a:ext cx="221684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000" dirty="0"/>
                <a:t>{0</a:t>
              </a:r>
              <a:r>
                <a:rPr sz="3000" dirty="0" smtClean="0"/>
                <a:t>,</a:t>
              </a:r>
              <a:r>
                <a:rPr lang="en-US" sz="3000" dirty="0" smtClean="0"/>
                <a:t> </a:t>
              </a:r>
              <a:r>
                <a:rPr sz="3000" dirty="0" smtClean="0"/>
                <a:t>1,</a:t>
              </a:r>
              <a:r>
                <a:rPr lang="en-US" sz="3000" dirty="0" smtClean="0"/>
                <a:t> </a:t>
              </a:r>
              <a:r>
                <a:rPr sz="3000" dirty="0" smtClean="0"/>
                <a:t>2,</a:t>
              </a:r>
              <a:r>
                <a:rPr lang="en-US" sz="3000" dirty="0" smtClean="0"/>
                <a:t> </a:t>
              </a:r>
              <a:r>
                <a:rPr sz="3000" dirty="0" smtClean="0"/>
                <a:t>3,</a:t>
              </a:r>
              <a:r>
                <a:rPr lang="en-US" sz="3000" dirty="0" smtClean="0"/>
                <a:t> </a:t>
              </a:r>
              <a:r>
                <a:rPr sz="3000" dirty="0" smtClean="0"/>
                <a:t>4</a:t>
              </a:r>
              <a:r>
                <a:rPr sz="3000" dirty="0"/>
                <a:t>}</a:t>
              </a:r>
            </a:p>
          </p:txBody>
        </p:sp>
      </p:grpSp>
      <p:grpSp>
        <p:nvGrpSpPr>
          <p:cNvPr id="81" name="グループ化 80"/>
          <p:cNvGrpSpPr/>
          <p:nvPr/>
        </p:nvGrpSpPr>
        <p:grpSpPr>
          <a:xfrm>
            <a:off x="1960531" y="7462516"/>
            <a:ext cx="17244701" cy="1260000"/>
            <a:chOff x="1960531" y="7455579"/>
            <a:chExt cx="17244701" cy="1260000"/>
          </a:xfrm>
        </p:grpSpPr>
        <p:sp>
          <p:nvSpPr>
            <p:cNvPr id="46" name="TextBox 45"/>
            <p:cNvSpPr txBox="1"/>
            <p:nvPr/>
          </p:nvSpPr>
          <p:spPr>
            <a:xfrm>
              <a:off x="1960531" y="7577748"/>
              <a:ext cx="1980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200" b="1" dirty="0">
                  <a:solidFill>
                    <a:srgbClr val="013CA6"/>
                  </a:solidFill>
                </a:rPr>
                <a:t>積集合</a:t>
              </a:r>
              <a:r>
                <a:rPr sz="2800" dirty="0"/>
                <a:t/>
              </a:r>
              <a:br>
                <a:rPr sz="2800" dirty="0"/>
              </a:br>
              <a:r>
                <a:rPr sz="2800" dirty="0"/>
                <a:t>A </a:t>
              </a:r>
              <a:r>
                <a:rPr lang="en-US" sz="2800" dirty="0"/>
                <a:t>&amp;</a:t>
              </a:r>
              <a:r>
                <a:rPr sz="2800" dirty="0" smtClean="0"/>
                <a:t> </a:t>
              </a:r>
              <a:r>
                <a:rPr sz="2800" dirty="0"/>
                <a:t>B</a:t>
              </a:r>
            </a:p>
          </p:txBody>
        </p:sp>
        <p:grpSp>
          <p:nvGrpSpPr>
            <p:cNvPr id="79" name="グループ化 78"/>
            <p:cNvGrpSpPr/>
            <p:nvPr/>
          </p:nvGrpSpPr>
          <p:grpSpPr>
            <a:xfrm>
              <a:off x="4397731" y="7455579"/>
              <a:ext cx="11628000" cy="1260000"/>
              <a:chOff x="5040000" y="7253500"/>
              <a:chExt cx="11628000" cy="1260000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5040000" y="725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chemeClr val="bg1"/>
                    </a:solidFill>
                  </a:rPr>
                  <a:t>bit4</a:t>
                </a: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5040000" y="7883500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666666"/>
                    </a:solidFill>
                  </a:rPr>
                  <a:t>0</a:t>
                </a:r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7380000" y="725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chemeClr val="bg1"/>
                    </a:solidFill>
                  </a:rPr>
                  <a:t>bit3</a:t>
                </a:r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7380000" y="7883500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666666"/>
                    </a:solidFill>
                  </a:rPr>
                  <a:t>0</a:t>
                </a:r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9720000" y="725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bit2</a:t>
                </a: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9720000" y="788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12060000" y="725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chemeClr val="bg1"/>
                    </a:solidFill>
                  </a:rPr>
                  <a:t>bit1</a:t>
                </a: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12060000" y="7883500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666666"/>
                    </a:solidFill>
                  </a:rPr>
                  <a:t>0</a:t>
                </a:r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14400000" y="725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chemeClr val="bg1"/>
                    </a:solidFill>
                  </a:rPr>
                  <a:t>bit0</a:t>
                </a:r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14400000" y="7883500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666666"/>
                    </a:solidFill>
                  </a:rPr>
                  <a:t>0</a:t>
                </a:r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16988389" y="7808580"/>
              <a:ext cx="221684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000" dirty="0"/>
                <a:t>{2}</a:t>
              </a:r>
            </a:p>
          </p:txBody>
        </p:sp>
      </p:grpSp>
      <p:grpSp>
        <p:nvGrpSpPr>
          <p:cNvPr id="83" name="グループ化 82"/>
          <p:cNvGrpSpPr/>
          <p:nvPr/>
        </p:nvGrpSpPr>
        <p:grpSpPr>
          <a:xfrm>
            <a:off x="1960531" y="9831300"/>
            <a:ext cx="17244701" cy="1260000"/>
            <a:chOff x="1960531" y="9831300"/>
            <a:chExt cx="17244701" cy="1260000"/>
          </a:xfrm>
        </p:grpSpPr>
        <p:sp>
          <p:nvSpPr>
            <p:cNvPr id="60" name="TextBox 59"/>
            <p:cNvSpPr txBox="1"/>
            <p:nvPr/>
          </p:nvSpPr>
          <p:spPr>
            <a:xfrm>
              <a:off x="1960531" y="9953469"/>
              <a:ext cx="1980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200" b="1" dirty="0">
                  <a:solidFill>
                    <a:srgbClr val="013CA6"/>
                  </a:solidFill>
                </a:rPr>
                <a:t>対称差</a:t>
              </a:r>
              <a:r>
                <a:rPr sz="2800" dirty="0"/>
                <a:t/>
              </a:r>
              <a:br>
                <a:rPr sz="2800" dirty="0"/>
              </a:br>
              <a:r>
                <a:rPr sz="2800" dirty="0"/>
                <a:t>A </a:t>
              </a:r>
              <a:r>
                <a:rPr lang="en-US" sz="2800" dirty="0"/>
                <a:t>^</a:t>
              </a:r>
              <a:r>
                <a:rPr sz="2800" dirty="0" smtClean="0"/>
                <a:t> </a:t>
              </a:r>
              <a:r>
                <a:rPr sz="2800" dirty="0"/>
                <a:t>B</a:t>
              </a:r>
            </a:p>
          </p:txBody>
        </p:sp>
        <p:grpSp>
          <p:nvGrpSpPr>
            <p:cNvPr id="80" name="グループ化 79"/>
            <p:cNvGrpSpPr/>
            <p:nvPr/>
          </p:nvGrpSpPr>
          <p:grpSpPr>
            <a:xfrm>
              <a:off x="4397731" y="9831300"/>
              <a:ext cx="11628000" cy="1260000"/>
              <a:chOff x="5040000" y="9413500"/>
              <a:chExt cx="11628000" cy="1260000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5040000" y="941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bit4</a:t>
                </a: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5040000" y="1004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7380000" y="941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bit3</a:t>
                </a: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7380000" y="1004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9720000" y="941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chemeClr val="bg1"/>
                    </a:solidFill>
                  </a:rPr>
                  <a:t>bit2</a:t>
                </a: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9720000" y="10043500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666666"/>
                    </a:solidFill>
                  </a:rPr>
                  <a:t>0</a:t>
                </a: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12060000" y="941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bit1</a:t>
                </a: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12060000" y="1004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14400000" y="941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bit0</a:t>
                </a: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14400000" y="1004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71" name="TextBox 70"/>
            <p:cNvSpPr txBox="1"/>
            <p:nvPr/>
          </p:nvSpPr>
          <p:spPr>
            <a:xfrm>
              <a:off x="16988389" y="10184301"/>
              <a:ext cx="221684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000" dirty="0"/>
                <a:t>{0</a:t>
              </a:r>
              <a:r>
                <a:rPr sz="3000" dirty="0" smtClean="0"/>
                <a:t>,</a:t>
              </a:r>
              <a:r>
                <a:rPr lang="en-US" sz="3000" dirty="0" smtClean="0"/>
                <a:t> </a:t>
              </a:r>
              <a:r>
                <a:rPr sz="3000" dirty="0" smtClean="0"/>
                <a:t>1,</a:t>
              </a:r>
              <a:r>
                <a:rPr lang="en-US" sz="3000" dirty="0" smtClean="0"/>
                <a:t> </a:t>
              </a:r>
              <a:r>
                <a:rPr sz="3000" dirty="0" smtClean="0"/>
                <a:t>3,</a:t>
              </a:r>
              <a:r>
                <a:rPr lang="en-US" sz="3000" dirty="0" smtClean="0"/>
                <a:t> </a:t>
              </a:r>
              <a:r>
                <a:rPr sz="3000" dirty="0" smtClean="0"/>
                <a:t>4</a:t>
              </a:r>
              <a:r>
                <a:rPr sz="3000" dirty="0"/>
                <a:t>}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50"/>
          <p:cNvSpPr/>
          <p:nvPr/>
        </p:nvSpPr>
        <p:spPr>
          <a:xfrm>
            <a:off x="3188251" y="2397967"/>
            <a:ext cx="14913899" cy="752726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3600" dirty="0" smtClean="0">
                <a:solidFill>
                  <a:srgbClr val="013CA6"/>
                </a:solidFill>
              </a:rPr>
              <a:t>Python</a:t>
            </a:r>
            <a:r>
              <a:rPr lang="ja-JP" altLang="en-US" sz="3600" dirty="0" smtClean="0">
                <a:solidFill>
                  <a:srgbClr val="013CA6"/>
                </a:solidFill>
              </a:rPr>
              <a:t>では</a:t>
            </a:r>
            <a:r>
              <a:rPr lang="en-US" altLang="ja-JP" sz="3600" dirty="0" smtClean="0">
                <a:solidFill>
                  <a:srgbClr val="013CA6"/>
                </a:solidFill>
              </a:rPr>
              <a:t>bit</a:t>
            </a:r>
            <a:r>
              <a:rPr lang="ja-JP" altLang="en-US" sz="3600" dirty="0" smtClean="0">
                <a:solidFill>
                  <a:srgbClr val="013CA6"/>
                </a:solidFill>
              </a:rPr>
              <a:t>固定ではないので、左へ無限に伸びる整数として扱われる</a:t>
            </a:r>
            <a:endParaRPr sz="3600" dirty="0">
              <a:solidFill>
                <a:srgbClr val="013CA6"/>
              </a:solidFill>
            </a:endParaRPr>
          </a:p>
        </p:txBody>
      </p:sp>
      <p:grpSp>
        <p:nvGrpSpPr>
          <p:cNvPr id="20" name="グループ化 19"/>
          <p:cNvGrpSpPr/>
          <p:nvPr/>
        </p:nvGrpSpPr>
        <p:grpSpPr>
          <a:xfrm>
            <a:off x="563531" y="5828872"/>
            <a:ext cx="20601669" cy="1260000"/>
            <a:chOff x="563531" y="5893831"/>
            <a:chExt cx="20601669" cy="1260000"/>
          </a:xfrm>
        </p:grpSpPr>
        <p:sp>
          <p:nvSpPr>
            <p:cNvPr id="32" name="TextBox 31"/>
            <p:cNvSpPr txBox="1"/>
            <p:nvPr/>
          </p:nvSpPr>
          <p:spPr>
            <a:xfrm>
              <a:off x="563531" y="6231444"/>
              <a:ext cx="1980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dirty="0" smtClean="0">
                  <a:solidFill>
                    <a:srgbClr val="013CA6"/>
                  </a:solidFill>
                </a:rPr>
                <a:t>~A</a:t>
              </a:r>
              <a:endParaRPr sz="28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8482820" y="6246832"/>
              <a:ext cx="268238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000" dirty="0"/>
                <a:t>{0</a:t>
              </a:r>
              <a:r>
                <a:rPr sz="3000" dirty="0" smtClean="0"/>
                <a:t>,</a:t>
              </a:r>
              <a:r>
                <a:rPr lang="en-US" sz="3000" dirty="0" smtClean="0"/>
                <a:t> </a:t>
              </a:r>
              <a:r>
                <a:rPr sz="3000" dirty="0" smtClean="0"/>
                <a:t>3,</a:t>
              </a:r>
              <a:r>
                <a:rPr lang="en-US" sz="3000" dirty="0" smtClean="0"/>
                <a:t> </a:t>
              </a:r>
              <a:r>
                <a:rPr lang="en-US" altLang="ja-JP" sz="3000" b="1" dirty="0">
                  <a:solidFill>
                    <a:schemeClr val="accent6"/>
                  </a:solidFill>
                </a:rPr>
                <a:t>5</a:t>
              </a:r>
              <a:r>
                <a:rPr lang="en-US" altLang="ja-JP" sz="3000" dirty="0" smtClean="0"/>
                <a:t>, </a:t>
              </a:r>
              <a:r>
                <a:rPr lang="en-US" altLang="ja-JP" sz="3000" b="1" dirty="0" smtClean="0">
                  <a:solidFill>
                    <a:schemeClr val="accent6"/>
                  </a:solidFill>
                </a:rPr>
                <a:t>6 </a:t>
              </a:r>
              <a:r>
                <a:rPr lang="ja-JP" altLang="en-US" sz="3000" b="1" dirty="0" smtClean="0">
                  <a:solidFill>
                    <a:schemeClr val="accent6"/>
                  </a:solidFill>
                </a:rPr>
                <a:t>・・・</a:t>
              </a:r>
              <a:r>
                <a:rPr sz="3000" dirty="0" smtClean="0"/>
                <a:t>}</a:t>
              </a:r>
              <a:endParaRPr lang="en-US" sz="3000" dirty="0" smtClean="0"/>
            </a:p>
          </p:txBody>
        </p:sp>
        <p:grpSp>
          <p:nvGrpSpPr>
            <p:cNvPr id="2" name="グループ化 1"/>
            <p:cNvGrpSpPr/>
            <p:nvPr/>
          </p:nvGrpSpPr>
          <p:grpSpPr>
            <a:xfrm>
              <a:off x="2455266" y="5893831"/>
              <a:ext cx="15767565" cy="1260000"/>
              <a:chOff x="2836266" y="5843031"/>
              <a:chExt cx="15767565" cy="1260000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697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bit4</a:t>
                </a: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697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931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bit3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931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1165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bit2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1165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 smtClean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1399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bit1</a:t>
                </a: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1399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 smtClean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1633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bit0</a:t>
                </a:r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1633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73" name="Rectangle 32"/>
              <p:cNvSpPr/>
              <p:nvPr/>
            </p:nvSpPr>
            <p:spPr>
              <a:xfrm>
                <a:off x="53286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 smtClean="0">
                    <a:solidFill>
                      <a:srgbClr val="FFFFFF"/>
                    </a:solidFill>
                  </a:rPr>
                  <a:t>5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5" name="Rectangle 33"/>
              <p:cNvSpPr/>
              <p:nvPr/>
            </p:nvSpPr>
            <p:spPr>
              <a:xfrm>
                <a:off x="53286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bg1"/>
                    </a:solidFill>
                  </a:rPr>
                  <a:t>1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Rectangle 32"/>
              <p:cNvSpPr/>
              <p:nvPr/>
            </p:nvSpPr>
            <p:spPr>
              <a:xfrm>
                <a:off x="37030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>
                    <a:solidFill>
                      <a:srgbClr val="FFFFFF"/>
                    </a:solidFill>
                  </a:rPr>
                  <a:t>6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7" name="Rectangle 33"/>
              <p:cNvSpPr/>
              <p:nvPr/>
            </p:nvSpPr>
            <p:spPr>
              <a:xfrm>
                <a:off x="37030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bg1"/>
                    </a:solidFill>
                  </a:rPr>
                  <a:t>1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TextBox 56"/>
              <p:cNvSpPr txBox="1"/>
              <p:nvPr/>
            </p:nvSpPr>
            <p:spPr>
              <a:xfrm>
                <a:off x="2836266" y="6202382"/>
                <a:ext cx="85468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3000" dirty="0"/>
                  <a:t>・・・</a:t>
                </a:r>
                <a:endParaRPr sz="3000" dirty="0"/>
              </a:p>
            </p:txBody>
          </p:sp>
        </p:grpSp>
      </p:grpSp>
      <p:grpSp>
        <p:nvGrpSpPr>
          <p:cNvPr id="21" name="グループ化 20"/>
          <p:cNvGrpSpPr/>
          <p:nvPr/>
        </p:nvGrpSpPr>
        <p:grpSpPr>
          <a:xfrm>
            <a:off x="550196" y="7834013"/>
            <a:ext cx="20601669" cy="1353276"/>
            <a:chOff x="550196" y="7913131"/>
            <a:chExt cx="20601669" cy="1353276"/>
          </a:xfrm>
        </p:grpSpPr>
        <p:sp>
          <p:nvSpPr>
            <p:cNvPr id="114" name="TextBox 31"/>
            <p:cNvSpPr txBox="1"/>
            <p:nvPr/>
          </p:nvSpPr>
          <p:spPr>
            <a:xfrm>
              <a:off x="550196" y="8250744"/>
              <a:ext cx="1980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dirty="0" smtClean="0">
                  <a:solidFill>
                    <a:srgbClr val="013CA6"/>
                  </a:solidFill>
                </a:rPr>
                <a:t>mask</a:t>
              </a:r>
            </a:p>
            <a:p>
              <a:pPr algn="ctr"/>
              <a:r>
                <a:rPr lang="en-US" sz="2800" dirty="0" smtClean="0"/>
                <a:t>(1 &lt;&lt; n) - 1</a:t>
              </a:r>
              <a:endParaRPr sz="2800" dirty="0"/>
            </a:p>
          </p:txBody>
        </p:sp>
        <p:sp>
          <p:nvSpPr>
            <p:cNvPr id="115" name="TextBox 42"/>
            <p:cNvSpPr txBox="1"/>
            <p:nvPr/>
          </p:nvSpPr>
          <p:spPr>
            <a:xfrm>
              <a:off x="18469485" y="8266132"/>
              <a:ext cx="268238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000" dirty="0"/>
                <a:t>{0</a:t>
              </a:r>
              <a:r>
                <a:rPr sz="3000" dirty="0" smtClean="0"/>
                <a:t>,</a:t>
              </a:r>
              <a:r>
                <a:rPr lang="en-US" sz="3000" dirty="0" smtClean="0"/>
                <a:t> 1, 2, </a:t>
              </a:r>
              <a:r>
                <a:rPr sz="3000" dirty="0" smtClean="0"/>
                <a:t>3,</a:t>
              </a:r>
              <a:r>
                <a:rPr lang="en-US" sz="3000" dirty="0" smtClean="0"/>
                <a:t> 4</a:t>
              </a:r>
              <a:r>
                <a:rPr sz="3000" dirty="0" smtClean="0"/>
                <a:t>}</a:t>
              </a:r>
              <a:endParaRPr lang="en-US" sz="3000" dirty="0" smtClean="0"/>
            </a:p>
          </p:txBody>
        </p:sp>
        <p:grpSp>
          <p:nvGrpSpPr>
            <p:cNvPr id="116" name="グループ化 115"/>
            <p:cNvGrpSpPr/>
            <p:nvPr/>
          </p:nvGrpSpPr>
          <p:grpSpPr>
            <a:xfrm>
              <a:off x="2441931" y="7913131"/>
              <a:ext cx="15767565" cy="1260000"/>
              <a:chOff x="2836266" y="5843031"/>
              <a:chExt cx="15767565" cy="1260000"/>
            </a:xfrm>
          </p:grpSpPr>
          <p:sp>
            <p:nvSpPr>
              <p:cNvPr id="117" name="Rectangle 32"/>
              <p:cNvSpPr/>
              <p:nvPr/>
            </p:nvSpPr>
            <p:spPr>
              <a:xfrm>
                <a:off x="697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bit4</a:t>
                </a:r>
              </a:p>
            </p:txBody>
          </p:sp>
          <p:sp>
            <p:nvSpPr>
              <p:cNvPr id="118" name="Rectangle 33"/>
              <p:cNvSpPr/>
              <p:nvPr/>
            </p:nvSpPr>
            <p:spPr>
              <a:xfrm>
                <a:off x="697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Rectangle 34"/>
              <p:cNvSpPr/>
              <p:nvPr/>
            </p:nvSpPr>
            <p:spPr>
              <a:xfrm>
                <a:off x="931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bit3</a:t>
                </a:r>
              </a:p>
            </p:txBody>
          </p:sp>
          <p:sp>
            <p:nvSpPr>
              <p:cNvPr id="120" name="Rectangle 35"/>
              <p:cNvSpPr/>
              <p:nvPr/>
            </p:nvSpPr>
            <p:spPr>
              <a:xfrm>
                <a:off x="931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1" name="Rectangle 36"/>
              <p:cNvSpPr/>
              <p:nvPr/>
            </p:nvSpPr>
            <p:spPr>
              <a:xfrm>
                <a:off x="1165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bit2</a:t>
                </a:r>
              </a:p>
            </p:txBody>
          </p:sp>
          <p:sp>
            <p:nvSpPr>
              <p:cNvPr id="122" name="Rectangle 37"/>
              <p:cNvSpPr/>
              <p:nvPr/>
            </p:nvSpPr>
            <p:spPr>
              <a:xfrm>
                <a:off x="1165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Rectangle 38"/>
              <p:cNvSpPr/>
              <p:nvPr/>
            </p:nvSpPr>
            <p:spPr>
              <a:xfrm>
                <a:off x="1399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bit1</a:t>
                </a:r>
              </a:p>
            </p:txBody>
          </p:sp>
          <p:sp>
            <p:nvSpPr>
              <p:cNvPr id="124" name="Rectangle 39"/>
              <p:cNvSpPr/>
              <p:nvPr/>
            </p:nvSpPr>
            <p:spPr>
              <a:xfrm>
                <a:off x="1399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Rectangle 40"/>
              <p:cNvSpPr/>
              <p:nvPr/>
            </p:nvSpPr>
            <p:spPr>
              <a:xfrm>
                <a:off x="1633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bit0</a:t>
                </a:r>
              </a:p>
            </p:txBody>
          </p:sp>
          <p:sp>
            <p:nvSpPr>
              <p:cNvPr id="126" name="Rectangle 41"/>
              <p:cNvSpPr/>
              <p:nvPr/>
            </p:nvSpPr>
            <p:spPr>
              <a:xfrm>
                <a:off x="1633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7" name="Rectangle 32"/>
              <p:cNvSpPr/>
              <p:nvPr/>
            </p:nvSpPr>
            <p:spPr>
              <a:xfrm>
                <a:off x="53286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 smtClean="0">
                    <a:solidFill>
                      <a:srgbClr val="FFFFFF"/>
                    </a:solidFill>
                  </a:rPr>
                  <a:t>5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28" name="Rectangle 33"/>
              <p:cNvSpPr/>
              <p:nvPr/>
            </p:nvSpPr>
            <p:spPr>
              <a:xfrm>
                <a:off x="53286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bg1"/>
                    </a:solidFill>
                  </a:rPr>
                  <a:t>0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Rectangle 32"/>
              <p:cNvSpPr/>
              <p:nvPr/>
            </p:nvSpPr>
            <p:spPr>
              <a:xfrm>
                <a:off x="37030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>
                    <a:solidFill>
                      <a:srgbClr val="FFFFFF"/>
                    </a:solidFill>
                  </a:rPr>
                  <a:t>6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30" name="Rectangle 33"/>
              <p:cNvSpPr/>
              <p:nvPr/>
            </p:nvSpPr>
            <p:spPr>
              <a:xfrm>
                <a:off x="37030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bg1"/>
                    </a:solidFill>
                  </a:rPr>
                  <a:t>0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1" name="TextBox 56"/>
              <p:cNvSpPr txBox="1"/>
              <p:nvPr/>
            </p:nvSpPr>
            <p:spPr>
              <a:xfrm>
                <a:off x="2836266" y="6202382"/>
                <a:ext cx="85468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3000" dirty="0"/>
                  <a:t>・・・</a:t>
                </a:r>
                <a:endParaRPr sz="3000" dirty="0"/>
              </a:p>
            </p:txBody>
          </p:sp>
        </p:grpSp>
      </p:grpSp>
      <p:grpSp>
        <p:nvGrpSpPr>
          <p:cNvPr id="22" name="グループ化 21"/>
          <p:cNvGrpSpPr/>
          <p:nvPr/>
        </p:nvGrpSpPr>
        <p:grpSpPr>
          <a:xfrm>
            <a:off x="550196" y="9932431"/>
            <a:ext cx="20601669" cy="1260000"/>
            <a:chOff x="550196" y="9932431"/>
            <a:chExt cx="20601669" cy="1260000"/>
          </a:xfrm>
        </p:grpSpPr>
        <p:sp>
          <p:nvSpPr>
            <p:cNvPr id="132" name="TextBox 31"/>
            <p:cNvSpPr txBox="1"/>
            <p:nvPr/>
          </p:nvSpPr>
          <p:spPr>
            <a:xfrm>
              <a:off x="550196" y="10054600"/>
              <a:ext cx="1980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3200" b="1" dirty="0">
                  <a:solidFill>
                    <a:srgbClr val="013CA6"/>
                  </a:solidFill>
                </a:rPr>
                <a:t>補</a:t>
              </a:r>
              <a:r>
                <a:rPr sz="3200" b="1" dirty="0" smtClean="0">
                  <a:solidFill>
                    <a:srgbClr val="013CA6"/>
                  </a:solidFill>
                </a:rPr>
                <a:t>集合</a:t>
              </a:r>
              <a:r>
                <a:rPr sz="2800" dirty="0"/>
                <a:t/>
              </a:r>
              <a:br>
                <a:rPr sz="2800" dirty="0"/>
              </a:br>
              <a:r>
                <a:rPr lang="ja-JP" altLang="en-US" sz="2800" dirty="0" smtClean="0"/>
                <a:t>～</a:t>
              </a:r>
              <a:r>
                <a:rPr lang="en-US" altLang="ja-JP" sz="2800" dirty="0" smtClean="0"/>
                <a:t>A &amp; mask</a:t>
              </a:r>
              <a:endParaRPr sz="2800" dirty="0"/>
            </a:p>
          </p:txBody>
        </p:sp>
        <p:sp>
          <p:nvSpPr>
            <p:cNvPr id="133" name="TextBox 42"/>
            <p:cNvSpPr txBox="1"/>
            <p:nvPr/>
          </p:nvSpPr>
          <p:spPr>
            <a:xfrm>
              <a:off x="18469485" y="10285432"/>
              <a:ext cx="268238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000" dirty="0"/>
                <a:t>{0</a:t>
              </a:r>
              <a:r>
                <a:rPr sz="3000" dirty="0" smtClean="0"/>
                <a:t>,</a:t>
              </a:r>
              <a:r>
                <a:rPr lang="en-US" sz="3000" dirty="0" smtClean="0"/>
                <a:t> </a:t>
              </a:r>
              <a:r>
                <a:rPr sz="3000" dirty="0" smtClean="0"/>
                <a:t>3}</a:t>
              </a:r>
              <a:endParaRPr lang="en-US" sz="3000" dirty="0" smtClean="0"/>
            </a:p>
          </p:txBody>
        </p:sp>
        <p:grpSp>
          <p:nvGrpSpPr>
            <p:cNvPr id="134" name="グループ化 133"/>
            <p:cNvGrpSpPr/>
            <p:nvPr/>
          </p:nvGrpSpPr>
          <p:grpSpPr>
            <a:xfrm>
              <a:off x="2441931" y="9932431"/>
              <a:ext cx="15767565" cy="1260000"/>
              <a:chOff x="2836266" y="5843031"/>
              <a:chExt cx="15767565" cy="1260000"/>
            </a:xfrm>
          </p:grpSpPr>
          <p:sp>
            <p:nvSpPr>
              <p:cNvPr id="135" name="Rectangle 32"/>
              <p:cNvSpPr/>
              <p:nvPr/>
            </p:nvSpPr>
            <p:spPr>
              <a:xfrm>
                <a:off x="697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bit4</a:t>
                </a:r>
              </a:p>
            </p:txBody>
          </p:sp>
          <p:sp>
            <p:nvSpPr>
              <p:cNvPr id="136" name="Rectangle 33"/>
              <p:cNvSpPr/>
              <p:nvPr/>
            </p:nvSpPr>
            <p:spPr>
              <a:xfrm>
                <a:off x="697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7" name="Rectangle 34"/>
              <p:cNvSpPr/>
              <p:nvPr/>
            </p:nvSpPr>
            <p:spPr>
              <a:xfrm>
                <a:off x="931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bit3</a:t>
                </a:r>
              </a:p>
            </p:txBody>
          </p:sp>
          <p:sp>
            <p:nvSpPr>
              <p:cNvPr id="138" name="Rectangle 35"/>
              <p:cNvSpPr/>
              <p:nvPr/>
            </p:nvSpPr>
            <p:spPr>
              <a:xfrm>
                <a:off x="931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39" name="Rectangle 36"/>
              <p:cNvSpPr/>
              <p:nvPr/>
            </p:nvSpPr>
            <p:spPr>
              <a:xfrm>
                <a:off x="1165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bit2</a:t>
                </a:r>
              </a:p>
            </p:txBody>
          </p:sp>
          <p:sp>
            <p:nvSpPr>
              <p:cNvPr id="140" name="Rectangle 37"/>
              <p:cNvSpPr/>
              <p:nvPr/>
            </p:nvSpPr>
            <p:spPr>
              <a:xfrm>
                <a:off x="1165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 smtClean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Rectangle 38"/>
              <p:cNvSpPr/>
              <p:nvPr/>
            </p:nvSpPr>
            <p:spPr>
              <a:xfrm>
                <a:off x="1399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bit1</a:t>
                </a:r>
              </a:p>
            </p:txBody>
          </p:sp>
          <p:sp>
            <p:nvSpPr>
              <p:cNvPr id="142" name="Rectangle 39"/>
              <p:cNvSpPr/>
              <p:nvPr/>
            </p:nvSpPr>
            <p:spPr>
              <a:xfrm>
                <a:off x="1399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 smtClean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3" name="Rectangle 40"/>
              <p:cNvSpPr/>
              <p:nvPr/>
            </p:nvSpPr>
            <p:spPr>
              <a:xfrm>
                <a:off x="1633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bit0</a:t>
                </a:r>
              </a:p>
            </p:txBody>
          </p:sp>
          <p:sp>
            <p:nvSpPr>
              <p:cNvPr id="144" name="Rectangle 41"/>
              <p:cNvSpPr/>
              <p:nvPr/>
            </p:nvSpPr>
            <p:spPr>
              <a:xfrm>
                <a:off x="1633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45" name="Rectangle 32"/>
              <p:cNvSpPr/>
              <p:nvPr/>
            </p:nvSpPr>
            <p:spPr>
              <a:xfrm>
                <a:off x="53286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 smtClean="0">
                    <a:solidFill>
                      <a:srgbClr val="FFFFFF"/>
                    </a:solidFill>
                  </a:rPr>
                  <a:t>5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46" name="Rectangle 33"/>
              <p:cNvSpPr/>
              <p:nvPr/>
            </p:nvSpPr>
            <p:spPr>
              <a:xfrm>
                <a:off x="53286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bg1"/>
                    </a:solidFill>
                  </a:rPr>
                  <a:t>0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7" name="Rectangle 32"/>
              <p:cNvSpPr/>
              <p:nvPr/>
            </p:nvSpPr>
            <p:spPr>
              <a:xfrm>
                <a:off x="37030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>
                    <a:solidFill>
                      <a:srgbClr val="FFFFFF"/>
                    </a:solidFill>
                  </a:rPr>
                  <a:t>6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48" name="Rectangle 33"/>
              <p:cNvSpPr/>
              <p:nvPr/>
            </p:nvSpPr>
            <p:spPr>
              <a:xfrm>
                <a:off x="37030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bg1"/>
                    </a:solidFill>
                  </a:rPr>
                  <a:t>0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9" name="TextBox 56"/>
              <p:cNvSpPr txBox="1"/>
              <p:nvPr/>
            </p:nvSpPr>
            <p:spPr>
              <a:xfrm>
                <a:off x="2836266" y="6202382"/>
                <a:ext cx="85468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3000" dirty="0"/>
                  <a:t>・・・</a:t>
                </a:r>
                <a:endParaRPr sz="3000" dirty="0"/>
              </a:p>
            </p:txBody>
          </p:sp>
        </p:grpSp>
      </p:grpSp>
      <p:sp>
        <p:nvSpPr>
          <p:cNvPr id="150" name="TextBox 5"/>
          <p:cNvSpPr txBox="1"/>
          <p:nvPr/>
        </p:nvSpPr>
        <p:spPr>
          <a:xfrm>
            <a:off x="4112040" y="548712"/>
            <a:ext cx="130663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013CA6"/>
                </a:solidFill>
              </a:rPr>
              <a:t>Python</a:t>
            </a:r>
            <a:r>
              <a:rPr lang="ja-JP" altLang="en-US" sz="4800" b="1" dirty="0" smtClean="0">
                <a:solidFill>
                  <a:srgbClr val="013CA6"/>
                </a:solidFill>
              </a:rPr>
              <a:t>における補</a:t>
            </a:r>
            <a:r>
              <a:rPr sz="4800" b="1" dirty="0" smtClean="0">
                <a:solidFill>
                  <a:srgbClr val="013CA6"/>
                </a:solidFill>
              </a:rPr>
              <a:t>集合</a:t>
            </a:r>
            <a:endParaRPr sz="4800" b="1" dirty="0">
              <a:solidFill>
                <a:srgbClr val="013CA6"/>
              </a:solidFill>
            </a:endParaRPr>
          </a:p>
        </p:txBody>
      </p:sp>
      <p:grpSp>
        <p:nvGrpSpPr>
          <p:cNvPr id="19" name="グループ化 18"/>
          <p:cNvGrpSpPr/>
          <p:nvPr/>
        </p:nvGrpSpPr>
        <p:grpSpPr>
          <a:xfrm>
            <a:off x="563531" y="3823731"/>
            <a:ext cx="20601669" cy="1260000"/>
            <a:chOff x="563531" y="4052331"/>
            <a:chExt cx="20601669" cy="1260000"/>
          </a:xfrm>
        </p:grpSpPr>
        <p:sp>
          <p:nvSpPr>
            <p:cNvPr id="151" name="TextBox 31"/>
            <p:cNvSpPr txBox="1"/>
            <p:nvPr/>
          </p:nvSpPr>
          <p:spPr>
            <a:xfrm>
              <a:off x="563531" y="4389944"/>
              <a:ext cx="1980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dirty="0" smtClean="0">
                  <a:solidFill>
                    <a:srgbClr val="013CA6"/>
                  </a:solidFill>
                </a:rPr>
                <a:t>A</a:t>
              </a:r>
              <a:endParaRPr sz="2800" dirty="0"/>
            </a:p>
          </p:txBody>
        </p:sp>
        <p:sp>
          <p:nvSpPr>
            <p:cNvPr id="152" name="TextBox 42"/>
            <p:cNvSpPr txBox="1"/>
            <p:nvPr/>
          </p:nvSpPr>
          <p:spPr>
            <a:xfrm>
              <a:off x="18482820" y="4405332"/>
              <a:ext cx="268238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000" dirty="0" smtClean="0"/>
                <a:t>{</a:t>
              </a:r>
              <a:r>
                <a:rPr lang="en-US" sz="3000" dirty="0" smtClean="0"/>
                <a:t>1</a:t>
              </a:r>
              <a:r>
                <a:rPr sz="3000" dirty="0" smtClean="0"/>
                <a:t>,</a:t>
              </a:r>
              <a:r>
                <a:rPr lang="en-US" sz="3000" dirty="0" smtClean="0"/>
                <a:t> </a:t>
              </a:r>
              <a:r>
                <a:rPr lang="en-US" sz="3000" dirty="0"/>
                <a:t>2</a:t>
              </a:r>
              <a:r>
                <a:rPr sz="3000" dirty="0" smtClean="0"/>
                <a:t>,</a:t>
              </a:r>
              <a:r>
                <a:rPr lang="en-US" sz="3000" dirty="0" smtClean="0"/>
                <a:t> 4</a:t>
              </a:r>
              <a:r>
                <a:rPr sz="3000" dirty="0" smtClean="0"/>
                <a:t>}</a:t>
              </a:r>
              <a:endParaRPr lang="en-US" sz="3000" dirty="0" smtClean="0"/>
            </a:p>
          </p:txBody>
        </p:sp>
        <p:grpSp>
          <p:nvGrpSpPr>
            <p:cNvPr id="153" name="グループ化 152"/>
            <p:cNvGrpSpPr/>
            <p:nvPr/>
          </p:nvGrpSpPr>
          <p:grpSpPr>
            <a:xfrm>
              <a:off x="2455266" y="4052331"/>
              <a:ext cx="15767565" cy="1260000"/>
              <a:chOff x="2836266" y="5843031"/>
              <a:chExt cx="15767565" cy="1260000"/>
            </a:xfrm>
          </p:grpSpPr>
          <p:sp>
            <p:nvSpPr>
              <p:cNvPr id="154" name="Rectangle 32"/>
              <p:cNvSpPr/>
              <p:nvPr/>
            </p:nvSpPr>
            <p:spPr>
              <a:xfrm>
                <a:off x="697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bit4</a:t>
                </a:r>
              </a:p>
            </p:txBody>
          </p:sp>
          <p:sp>
            <p:nvSpPr>
              <p:cNvPr id="155" name="Rectangle 33"/>
              <p:cNvSpPr/>
              <p:nvPr/>
            </p:nvSpPr>
            <p:spPr>
              <a:xfrm>
                <a:off x="697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6" name="Rectangle 34"/>
              <p:cNvSpPr/>
              <p:nvPr/>
            </p:nvSpPr>
            <p:spPr>
              <a:xfrm>
                <a:off x="931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bit3</a:t>
                </a:r>
              </a:p>
            </p:txBody>
          </p:sp>
          <p:sp>
            <p:nvSpPr>
              <p:cNvPr id="157" name="Rectangle 35"/>
              <p:cNvSpPr/>
              <p:nvPr/>
            </p:nvSpPr>
            <p:spPr>
              <a:xfrm>
                <a:off x="931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Rectangle 36"/>
              <p:cNvSpPr/>
              <p:nvPr/>
            </p:nvSpPr>
            <p:spPr>
              <a:xfrm>
                <a:off x="1165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bit2</a:t>
                </a:r>
              </a:p>
            </p:txBody>
          </p:sp>
          <p:sp>
            <p:nvSpPr>
              <p:cNvPr id="159" name="Rectangle 37"/>
              <p:cNvSpPr/>
              <p:nvPr/>
            </p:nvSpPr>
            <p:spPr>
              <a:xfrm>
                <a:off x="1165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Rectangle 38"/>
              <p:cNvSpPr/>
              <p:nvPr/>
            </p:nvSpPr>
            <p:spPr>
              <a:xfrm>
                <a:off x="1399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bit1</a:t>
                </a:r>
              </a:p>
            </p:txBody>
          </p:sp>
          <p:sp>
            <p:nvSpPr>
              <p:cNvPr id="161" name="Rectangle 39"/>
              <p:cNvSpPr/>
              <p:nvPr/>
            </p:nvSpPr>
            <p:spPr>
              <a:xfrm>
                <a:off x="1399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 smtClean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Rectangle 40"/>
              <p:cNvSpPr/>
              <p:nvPr/>
            </p:nvSpPr>
            <p:spPr>
              <a:xfrm>
                <a:off x="1633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bit0</a:t>
                </a:r>
              </a:p>
            </p:txBody>
          </p:sp>
          <p:sp>
            <p:nvSpPr>
              <p:cNvPr id="163" name="Rectangle 41"/>
              <p:cNvSpPr/>
              <p:nvPr/>
            </p:nvSpPr>
            <p:spPr>
              <a:xfrm>
                <a:off x="1633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Rectangle 32"/>
              <p:cNvSpPr/>
              <p:nvPr/>
            </p:nvSpPr>
            <p:spPr>
              <a:xfrm>
                <a:off x="53286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 smtClean="0">
                    <a:solidFill>
                      <a:srgbClr val="FFFFFF"/>
                    </a:solidFill>
                  </a:rPr>
                  <a:t>5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65" name="Rectangle 33"/>
              <p:cNvSpPr/>
              <p:nvPr/>
            </p:nvSpPr>
            <p:spPr>
              <a:xfrm>
                <a:off x="53286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bg1"/>
                    </a:solidFill>
                  </a:rPr>
                  <a:t>0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32"/>
              <p:cNvSpPr/>
              <p:nvPr/>
            </p:nvSpPr>
            <p:spPr>
              <a:xfrm>
                <a:off x="37030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>
                    <a:solidFill>
                      <a:srgbClr val="FFFFFF"/>
                    </a:solidFill>
                  </a:rPr>
                  <a:t>6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67" name="Rectangle 33"/>
              <p:cNvSpPr/>
              <p:nvPr/>
            </p:nvSpPr>
            <p:spPr>
              <a:xfrm>
                <a:off x="37030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bg1"/>
                    </a:solidFill>
                  </a:rPr>
                  <a:t>0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TextBox 56"/>
              <p:cNvSpPr txBox="1"/>
              <p:nvPr/>
            </p:nvSpPr>
            <p:spPr>
              <a:xfrm>
                <a:off x="2836266" y="6202382"/>
                <a:ext cx="85468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3000" dirty="0"/>
                  <a:t>・・・</a:t>
                </a:r>
                <a:endParaRPr sz="30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868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216000"/>
            <a:ext cx="19080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ビット DP：部分集合を整数で管理する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340000"/>
            <a:ext cx="198504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000" y="2412000"/>
            <a:ext cx="19130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13CA6"/>
                </a:solidFill>
              </a:rPr>
              <a:t>訪問済み頂点の集合を整数 1 つ（ビットマスク）で表現し、2^n 個の状態を配列インデックスに使う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671999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13CA6"/>
                </a:solidFill>
              </a:rPr>
              <a:t>n = 3 の場合の全部分集合 ( 2^3 = 8 個 )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4608000"/>
            <a:ext cx="19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000" y="4644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0b000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148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0" y="4608000"/>
            <a:ext cx="19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52000" y="4644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0b001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2000" y="5148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{0}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0000" y="4608000"/>
            <a:ext cx="19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12000" y="4644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0b010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2000" y="5148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{1}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0" y="4608000"/>
            <a:ext cx="19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72000" y="4644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0b011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2000" y="5148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{0,1}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5940000"/>
            <a:ext cx="19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000" y="5976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0b100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6480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{2}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0" y="5940000"/>
            <a:ext cx="19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52000" y="5976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0b101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2000" y="6480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{0,2}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40000" y="5940000"/>
            <a:ext cx="19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12000" y="5976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0b110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2000" y="6480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{1,2}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0" y="5940000"/>
            <a:ext cx="1980000" cy="1152000"/>
          </a:xfrm>
          <a:prstGeom prst="rect">
            <a:avLst/>
          </a:prstGeom>
          <a:solidFill>
            <a:srgbClr val="EBA81A"/>
          </a:solidFill>
          <a:ln w="254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72000" y="5976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0b111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2000" y="6480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{0,1,2}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60000" y="3671999"/>
            <a:ext cx="97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13CA6"/>
                </a:solidFill>
              </a:rPr>
              <a:t>ビット DP の状態遷移（TSP例）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60000" y="4860000"/>
            <a:ext cx="36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60000" y="5040000"/>
            <a:ext cx="3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dp[S][v]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31999" y="4860000"/>
            <a:ext cx="5760000" cy="126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940000" y="4932000"/>
            <a:ext cx="5580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</a:rPr>
              <a:t>集合 S を訪問済みで</a:t>
            </a:r>
            <a:r>
              <a:t/>
            </a:r>
            <a:br/>
            <a:r>
              <a:t>頂点 v にいるときの最小コスト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160000" y="6408000"/>
            <a:ext cx="36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160000" y="6588000"/>
            <a:ext cx="3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S | (1&lt;&lt;u)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831999" y="6408000"/>
            <a:ext cx="5760000" cy="126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4940000" y="6480000"/>
            <a:ext cx="5580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</a:rPr>
              <a:t>頂点 u を集合 S に追加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160000" y="7956000"/>
            <a:ext cx="36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160000" y="8136000"/>
            <a:ext cx="3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(S &gt;&gt; u) &amp;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831999" y="7956000"/>
            <a:ext cx="5760000" cy="126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940000" y="8028000"/>
            <a:ext cx="5580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</a:rPr>
              <a:t>頂点 u が訪問済みか確認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160000" y="9504000"/>
            <a:ext cx="36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160000" y="9684000"/>
            <a:ext cx="3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(1&lt;&lt;n) - 1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831999" y="9504000"/>
            <a:ext cx="5760000" cy="126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940000" y="9576000"/>
            <a:ext cx="5580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</a:rPr>
              <a:t>全頂点訪問済み状態</a:t>
            </a:r>
            <a:r>
              <a:t/>
            </a:r>
            <a:br/>
            <a:r>
              <a:t>（全ビット 1）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160000" y="10980000"/>
            <a:ext cx="9720000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340000" y="11016000"/>
            <a:ext cx="936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計算量: O(2^n × n)  ／  n ≤ 20 程度まで実用的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0000" y="10980000"/>
            <a:ext cx="19850400" cy="82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80000" y="11052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 dirty="0">
                <a:solidFill>
                  <a:srgbClr val="013CA6"/>
                </a:solidFill>
              </a:rPr>
              <a:t>ポイント：部分集合 2^n 個すべてを配列インデックスとして使える ／ 集合演算が O(1) で処理できる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406</Words>
  <Application>Microsoft Office PowerPoint</Application>
  <PresentationFormat>ユーザー設定</PresentationFormat>
  <Paragraphs>174</Paragraphs>
  <Slides>4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41</cp:revision>
  <dcterms:created xsi:type="dcterms:W3CDTF">2013-01-27T09:14:16Z</dcterms:created>
  <dcterms:modified xsi:type="dcterms:W3CDTF">2026-05-17T15:49:37Z</dcterms:modified>
</cp:coreProperties>
</file>