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JPEG 圧縮パイプライン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268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圧縮の流れ（ロッシー / 非可逆）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2988000"/>
            <a:ext cx="2340000" cy="198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RGB入力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0" y="3690000"/>
            <a:ext cx="288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0000" y="2988000"/>
            <a:ext cx="23400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YCbCr変換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0" y="3690000"/>
            <a:ext cx="288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0000" y="2988000"/>
            <a:ext cx="2340000" cy="1980000"/>
          </a:xfrm>
          <a:prstGeom prst="rect">
            <a:avLst/>
          </a:prstGeom>
          <a:solidFill>
            <a:srgbClr val="1A5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クロマ
サブサンプリング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3690000"/>
            <a:ext cx="288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60000" y="2988000"/>
            <a:ext cx="2340000" cy="19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8×8
ブロック分割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0" y="3690000"/>
            <a:ext cx="288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80000" y="2988000"/>
            <a:ext cx="2340000" cy="19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DCT
（周波数変換）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20000" y="3690000"/>
            <a:ext cx="288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0" y="2988000"/>
            <a:ext cx="2340000" cy="1980000"/>
          </a:xfrm>
          <a:prstGeom prst="rect">
            <a:avLst/>
          </a:prstGeom>
          <a:solidFill>
            <a:srgbClr val="FF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量子化
（高周波削減）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40000" y="3690000"/>
            <a:ext cx="288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20000" y="2988000"/>
            <a:ext cx="2340000" cy="1980000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ハフマン
符号化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60000" y="3690000"/>
            <a:ext cx="288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540000" y="2988000"/>
            <a:ext cx="2340000" cy="198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JPEG
出力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5400000"/>
            <a:ext cx="18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DCT（離散コサイン変換）のポイント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000" y="6048000"/>
            <a:ext cx="19800000" cy="1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1A1A1A"/>
                </a:solidFill>
              </a:rPr>
              <a:t>8×8ピクセルブロック  →  低周波（形状）+ 高周波（細部）  →  高周波を量子化テーブルで丸め込み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7668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量子化テーブル（輝度・品質50%相当）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20000" y="7668000"/>
            <a:ext cx="64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4400"/>
                </a:solidFill>
              </a:rPr>
              <a:t>大きい値 = 多くの情報損失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000" y="8280000"/>
            <a:ext cx="2268000" cy="827999"/>
          </a:xfrm>
          <a:prstGeom prst="rect">
            <a:avLst/>
          </a:prstGeom>
          <a:solidFill>
            <a:srgbClr val="0DB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0" y="8280000"/>
            <a:ext cx="2268000" cy="827999"/>
          </a:xfrm>
          <a:prstGeom prst="rect">
            <a:avLst/>
          </a:prstGeom>
          <a:solidFill>
            <a:srgbClr val="02C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80000" y="8280000"/>
            <a:ext cx="2268000" cy="827999"/>
          </a:xfrm>
          <a:prstGeom prst="rect">
            <a:avLst/>
          </a:prstGeom>
          <a:solidFill>
            <a:srgbClr val="00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8280000"/>
            <a:ext cx="2268000" cy="827999"/>
          </a:xfrm>
          <a:prstGeom prst="rect">
            <a:avLst/>
          </a:prstGeom>
          <a:solidFill>
            <a:srgbClr val="0DB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60000" y="8280000"/>
            <a:ext cx="2268000" cy="827999"/>
          </a:xfrm>
          <a:prstGeom prst="rect">
            <a:avLst/>
          </a:prstGeom>
          <a:solidFill>
            <a:srgbClr val="20A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600000" y="8280000"/>
            <a:ext cx="2268000" cy="827999"/>
          </a:xfrm>
          <a:prstGeom prst="rect">
            <a:avLst/>
          </a:prstGeom>
          <a:solidFill>
            <a:srgbClr val="45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940000" y="8280000"/>
            <a:ext cx="2268000" cy="827999"/>
          </a:xfrm>
          <a:prstGeom prst="rect">
            <a:avLst/>
          </a:prstGeom>
          <a:solidFill>
            <a:srgbClr val="5F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280000" y="8280000"/>
            <a:ext cx="2268000" cy="827999"/>
          </a:xfrm>
          <a:prstGeom prst="rect">
            <a:avLst/>
          </a:prstGeom>
          <a:solidFill>
            <a:srgbClr val="766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61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" y="9180000"/>
            <a:ext cx="2268000" cy="827999"/>
          </a:xfrm>
          <a:prstGeom prst="rect">
            <a:avLst/>
          </a:prstGeom>
          <a:solidFill>
            <a:srgbClr val="04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0" y="9180000"/>
            <a:ext cx="2268000" cy="827999"/>
          </a:xfrm>
          <a:prstGeom prst="rect">
            <a:avLst/>
          </a:prstGeom>
          <a:solidFill>
            <a:srgbClr val="04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80000" y="9180000"/>
            <a:ext cx="2268000" cy="827999"/>
          </a:xfrm>
          <a:prstGeom prst="rect">
            <a:avLst/>
          </a:prstGeom>
          <a:solidFill>
            <a:srgbClr val="09C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0000" y="9180000"/>
            <a:ext cx="2268000" cy="827999"/>
          </a:xfrm>
          <a:prstGeom prst="rect">
            <a:avLst/>
          </a:prstGeom>
          <a:solidFill>
            <a:srgbClr val="14B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60000" y="9180000"/>
            <a:ext cx="2268000" cy="827999"/>
          </a:xfrm>
          <a:prstGeom prst="rect">
            <a:avLst/>
          </a:prstGeom>
          <a:solidFill>
            <a:srgbClr val="25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600000" y="9180000"/>
            <a:ext cx="2268000" cy="827999"/>
          </a:xfrm>
          <a:prstGeom prst="rect">
            <a:avLst/>
          </a:prstGeom>
          <a:solidFill>
            <a:srgbClr val="6F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940000" y="9180000"/>
            <a:ext cx="2268000" cy="827999"/>
          </a:xfrm>
          <a:prstGeom prst="rect">
            <a:avLst/>
          </a:prstGeom>
          <a:solidFill>
            <a:srgbClr val="736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280000" y="9180000"/>
            <a:ext cx="2268000" cy="827999"/>
          </a:xfrm>
          <a:prstGeom prst="rect">
            <a:avLst/>
          </a:prstGeom>
          <a:solidFill>
            <a:srgbClr val="687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000" y="10080000"/>
            <a:ext cx="2268000" cy="827999"/>
          </a:xfrm>
          <a:prstGeom prst="rect">
            <a:avLst/>
          </a:prstGeom>
          <a:solidFill>
            <a:srgbClr val="09C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0000" y="10080000"/>
            <a:ext cx="2268000" cy="827999"/>
          </a:xfrm>
          <a:prstGeom prst="rect">
            <a:avLst/>
          </a:prstGeom>
          <a:solidFill>
            <a:srgbClr val="06C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80000" y="10080000"/>
            <a:ext cx="2268000" cy="827999"/>
          </a:xfrm>
          <a:prstGeom prst="rect">
            <a:avLst/>
          </a:prstGeom>
          <a:solidFill>
            <a:srgbClr val="0DB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20000" y="10080000"/>
            <a:ext cx="2268000" cy="827999"/>
          </a:xfrm>
          <a:prstGeom prst="rect">
            <a:avLst/>
          </a:prstGeom>
          <a:solidFill>
            <a:srgbClr val="20A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60000" y="10080000"/>
            <a:ext cx="2268000" cy="827999"/>
          </a:xfrm>
          <a:prstGeom prst="rect">
            <a:avLst/>
          </a:prstGeom>
          <a:solidFill>
            <a:srgbClr val="45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600000" y="10080000"/>
            <a:ext cx="2268000" cy="827999"/>
          </a:xfrm>
          <a:prstGeom prst="rect">
            <a:avLst/>
          </a:prstGeom>
          <a:solidFill>
            <a:srgbClr val="6C7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940000" y="10080000"/>
            <a:ext cx="2268000" cy="827999"/>
          </a:xfrm>
          <a:prstGeom prst="rect">
            <a:avLst/>
          </a:prstGeom>
          <a:solidFill>
            <a:srgbClr val="88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69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280000" y="10080000"/>
            <a:ext cx="2268000" cy="827999"/>
          </a:xfrm>
          <a:prstGeom prst="rect">
            <a:avLst/>
          </a:prstGeom>
          <a:solidFill>
            <a:srgbClr val="6A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000" y="10980000"/>
            <a:ext cx="2268000" cy="827999"/>
          </a:xfrm>
          <a:prstGeom prst="rect">
            <a:avLst/>
          </a:prstGeom>
          <a:solidFill>
            <a:srgbClr val="09C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0000" y="10980000"/>
            <a:ext cx="2268000" cy="827999"/>
          </a:xfrm>
          <a:prstGeom prst="rect">
            <a:avLst/>
          </a:prstGeom>
          <a:solidFill>
            <a:srgbClr val="10B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80000" y="10980000"/>
            <a:ext cx="2268000" cy="827999"/>
          </a:xfrm>
          <a:prstGeom prst="rect">
            <a:avLst/>
          </a:prstGeom>
          <a:solidFill>
            <a:srgbClr val="1BB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20000" y="10980000"/>
            <a:ext cx="2268000" cy="827999"/>
          </a:xfrm>
          <a:prstGeom prst="rect">
            <a:avLst/>
          </a:prstGeom>
          <a:solidFill>
            <a:srgbClr val="2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60000" y="10980000"/>
            <a:ext cx="2268000" cy="827999"/>
          </a:xfrm>
          <a:prstGeom prst="rect">
            <a:avLst/>
          </a:prstGeom>
          <a:solidFill>
            <a:srgbClr val="5F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600000" y="10980000"/>
            <a:ext cx="2268000" cy="827999"/>
          </a:xfrm>
          <a:prstGeom prst="rect">
            <a:avLst/>
          </a:prstGeom>
          <a:solidFill>
            <a:srgbClr val="B2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87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940000" y="10980000"/>
            <a:ext cx="2268000" cy="827999"/>
          </a:xfrm>
          <a:prstGeom prst="rect">
            <a:avLst/>
          </a:prstGeom>
          <a:solidFill>
            <a:srgbClr val="A2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280000" y="10980000"/>
            <a:ext cx="2268000" cy="827999"/>
          </a:xfrm>
          <a:prstGeom prst="rect">
            <a:avLst/>
          </a:prstGeom>
          <a:solidFill>
            <a:srgbClr val="786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62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0000" y="12167999"/>
            <a:ext cx="144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品質と圧縮率のトレードオフ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0000" y="12707999"/>
            <a:ext cx="2880000" cy="1007999"/>
          </a:xfrm>
          <a:prstGeom prst="rect">
            <a:avLst/>
          </a:prstGeom>
          <a:solidFill>
            <a:srgbClr val="FF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品質10%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88000" y="12707999"/>
            <a:ext cx="342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FF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最高圧縮・劣化大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60000" y="12707999"/>
            <a:ext cx="2880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品質50%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48000" y="12707999"/>
            <a:ext cx="342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バランス良好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220000" y="12707999"/>
            <a:ext cx="288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品質95%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208000" y="12707999"/>
            <a:ext cx="342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高画質・大ファイル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