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20000" y="540000"/>
            <a:ext cx="198000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CUDAスレッド階層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268000"/>
            <a:ext cx="144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13CA6"/>
                </a:solidFill>
              </a:rPr>
              <a:t>Grid → Block → Thread の3階層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2988000"/>
            <a:ext cx="18720000" cy="7920000"/>
          </a:xfrm>
          <a:prstGeom prst="rect">
            <a:avLst/>
          </a:prstGeom>
          <a:solidFill>
            <a:srgbClr val="F3FAFE"/>
          </a:solidFill>
          <a:ln w="381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60000" y="3168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13CA6"/>
                </a:solidFill>
              </a:rPr>
              <a:t>Grid（1カーネル呼び出し）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1260000" y="3780000"/>
            <a:ext cx="4140000" cy="6480000"/>
          </a:xfrm>
          <a:prstGeom prst="rect">
            <a:avLst/>
          </a:prstGeom>
          <a:solidFill>
            <a:srgbClr val="013CA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68000" y="3888000"/>
            <a:ext cx="36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Block (0,0)</a:t>
            </a:r>
          </a:p>
        </p:txBody>
      </p:sp>
      <p:sp>
        <p:nvSpPr>
          <p:cNvPr id="8" name="Rectangle 7"/>
          <p:cNvSpPr/>
          <p:nvPr/>
        </p:nvSpPr>
        <p:spPr>
          <a:xfrm>
            <a:off x="1440000" y="4500000"/>
            <a:ext cx="1152000" cy="136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T0</a:t>
            </a:r>
          </a:p>
        </p:txBody>
      </p:sp>
      <p:sp>
        <p:nvSpPr>
          <p:cNvPr id="9" name="Rectangle 8"/>
          <p:cNvSpPr/>
          <p:nvPr/>
        </p:nvSpPr>
        <p:spPr>
          <a:xfrm>
            <a:off x="2736000" y="4500000"/>
            <a:ext cx="1152000" cy="136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T1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31999" y="4500000"/>
            <a:ext cx="1152000" cy="136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T2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40000" y="6120000"/>
            <a:ext cx="1152000" cy="136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T3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36000" y="6120000"/>
            <a:ext cx="1152000" cy="136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T4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31999" y="6120000"/>
            <a:ext cx="1152000" cy="136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3CA6"/>
                </a:solidFill>
              </a:rPr>
              <a:t>T5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000" y="3780000"/>
            <a:ext cx="4140000" cy="6480000"/>
          </a:xfrm>
          <a:prstGeom prst="rect">
            <a:avLst/>
          </a:prstGeom>
          <a:solidFill>
            <a:srgbClr val="1A52C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68000" y="3888000"/>
            <a:ext cx="36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Block (1,0)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0000" y="4500000"/>
            <a:ext cx="1152000" cy="136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A52C0"/>
                </a:solidFill>
              </a:rPr>
              <a:t>T0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36000" y="4500000"/>
            <a:ext cx="1152000" cy="136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A52C0"/>
                </a:solidFill>
              </a:rPr>
              <a:t>T1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32000" y="4500000"/>
            <a:ext cx="1152000" cy="136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A52C0"/>
                </a:solidFill>
              </a:rPr>
              <a:t>T2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0000" y="6120000"/>
            <a:ext cx="1152000" cy="136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A52C0"/>
                </a:solidFill>
              </a:rPr>
              <a:t>T3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36000" y="6120000"/>
            <a:ext cx="1152000" cy="136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A52C0"/>
                </a:solidFill>
              </a:rPr>
              <a:t>T4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32000" y="6120000"/>
            <a:ext cx="1152000" cy="136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2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1A52C0"/>
                </a:solidFill>
              </a:rPr>
              <a:t>T5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60000" y="3780000"/>
            <a:ext cx="4140000" cy="6480000"/>
          </a:xfrm>
          <a:prstGeom prst="rect">
            <a:avLst/>
          </a:prstGeom>
          <a:solidFill>
            <a:srgbClr val="012A7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68000" y="3888000"/>
            <a:ext cx="36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Block (2,0)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40000" y="4500000"/>
            <a:ext cx="1152000" cy="136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2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2A70"/>
                </a:solidFill>
              </a:rPr>
              <a:t>T0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736000" y="4500000"/>
            <a:ext cx="1152000" cy="136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2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2A70"/>
                </a:solidFill>
              </a:rPr>
              <a:t>T1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032000" y="4500000"/>
            <a:ext cx="1152000" cy="136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2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2A70"/>
                </a:solidFill>
              </a:rPr>
              <a:t>T2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40000" y="6120000"/>
            <a:ext cx="1152000" cy="136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2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2A70"/>
                </a:solidFill>
              </a:rPr>
              <a:t>T3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736000" y="6120000"/>
            <a:ext cx="1152000" cy="136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2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2A70"/>
                </a:solidFill>
              </a:rPr>
              <a:t>T4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032000" y="6120000"/>
            <a:ext cx="1152000" cy="1368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12A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012A70"/>
                </a:solidFill>
              </a:rPr>
              <a:t>T5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760000" y="3780000"/>
            <a:ext cx="4140000" cy="6480000"/>
          </a:xfrm>
          <a:prstGeom prst="rect">
            <a:avLst/>
          </a:prstGeom>
          <a:solidFill>
            <a:srgbClr val="EBA81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867999" y="3888000"/>
            <a:ext cx="36000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Block (3,0)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940000" y="4500000"/>
            <a:ext cx="1152000" cy="1368000"/>
          </a:xfrm>
          <a:prstGeom prst="rect">
            <a:avLst/>
          </a:prstGeom>
          <a:solidFill>
            <a:srgbClr val="FFF0CC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EBA81A"/>
                </a:solidFill>
              </a:rPr>
              <a:t>T0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236000" y="4500000"/>
            <a:ext cx="1152000" cy="1368000"/>
          </a:xfrm>
          <a:prstGeom prst="rect">
            <a:avLst/>
          </a:prstGeom>
          <a:solidFill>
            <a:srgbClr val="FFF0CC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EBA81A"/>
                </a:solidFill>
              </a:rPr>
              <a:t>T1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532000" y="4500000"/>
            <a:ext cx="1152000" cy="1368000"/>
          </a:xfrm>
          <a:prstGeom prst="rect">
            <a:avLst/>
          </a:prstGeom>
          <a:solidFill>
            <a:srgbClr val="FFF0CC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EBA81A"/>
                </a:solidFill>
              </a:rPr>
              <a:t>T2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940000" y="6120000"/>
            <a:ext cx="1152000" cy="1368000"/>
          </a:xfrm>
          <a:prstGeom prst="rect">
            <a:avLst/>
          </a:prstGeom>
          <a:solidFill>
            <a:srgbClr val="FFF0CC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EBA81A"/>
                </a:solidFill>
              </a:rPr>
              <a:t>T3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236000" y="6120000"/>
            <a:ext cx="1152000" cy="1368000"/>
          </a:xfrm>
          <a:prstGeom prst="rect">
            <a:avLst/>
          </a:prstGeom>
          <a:solidFill>
            <a:srgbClr val="FFF0CC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EBA81A"/>
                </a:solidFill>
              </a:rPr>
              <a:t>T4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532000" y="6120000"/>
            <a:ext cx="1152000" cy="1368000"/>
          </a:xfrm>
          <a:prstGeom prst="rect">
            <a:avLst/>
          </a:prstGeom>
          <a:solidFill>
            <a:srgbClr val="FFF0CC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EBA81A"/>
                </a:solidFill>
              </a:rPr>
              <a:t>T5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000" y="11268000"/>
            <a:ext cx="19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</a:rPr>
              <a:t>スレッドID = blockIdx.x × blockDim.x + threadIdx.x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000" y="11807999"/>
            <a:ext cx="1980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13CA6"/>
                </a:solidFill>
              </a:rPr>
              <a:t>推奨ブロックサイズ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000" y="12347999"/>
            <a:ext cx="2520000" cy="108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32の倍数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8000" y="12347999"/>
            <a:ext cx="3600000" cy="1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Warp境界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60000" y="12347999"/>
            <a:ext cx="2520000" cy="108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128〜256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88000" y="12347999"/>
            <a:ext cx="3600000" cy="1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推奨スレッド数/ブロック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220000" y="12347999"/>
            <a:ext cx="2520000" cy="108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400" b="1">
                <a:solidFill>
                  <a:srgbClr val="FFFFFF"/>
                </a:solidFill>
              </a:rPr>
              <a:t>最大1024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6848000" y="12347999"/>
            <a:ext cx="3600000" cy="108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0">
                <a:solidFill>
                  <a:srgbClr val="1A1A1A"/>
                </a:solidFill>
              </a:rPr>
              <a:t>スレッド数/ブロック上限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0000" y="13500000"/>
            <a:ext cx="19800000" cy="900000"/>
          </a:xfrm>
          <a:prstGeom prst="rect">
            <a:avLst/>
          </a:prstGeom>
          <a:solidFill>
            <a:srgbClr val="F3FAFE"/>
          </a:solidFill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0">
                <a:solidFill>
                  <a:srgbClr val="1A1A1A"/>
                </a:solidFill>
              </a:rPr>
              <a:t>合体メモリアクセス: 同Warp内スレッドが連続アドレスを使うと転送1回でまとまる → 高効率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