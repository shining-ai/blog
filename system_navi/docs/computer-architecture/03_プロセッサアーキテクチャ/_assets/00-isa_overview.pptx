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540000"/>
            <a:ext cx="198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命令セットアーキテクチャ (ISA)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268000"/>
            <a:ext cx="19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ISA = ソフトウェアとハードウェアの境界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0" y="2988000"/>
            <a:ext cx="10800000" cy="1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0">
                <a:solidFill>
                  <a:srgbClr val="013CA6"/>
                </a:solidFill>
              </a:rPr>
              <a:t>アプリケーション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0000" y="4122000"/>
            <a:ext cx="10800000" cy="108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0">
                <a:solidFill>
                  <a:srgbClr val="013CA6"/>
                </a:solidFill>
              </a:rPr>
              <a:t>コンパイラ / 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0" y="5256000"/>
            <a:ext cx="10800000" cy="108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ISA（命令セット）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0" y="6390000"/>
            <a:ext cx="1080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0">
                <a:solidFill>
                  <a:srgbClr val="FFFFFF"/>
                </a:solidFill>
              </a:rPr>
              <a:t>マイクロアーキテクチャ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0" y="7524000"/>
            <a:ext cx="10800000" cy="1080000"/>
          </a:xfrm>
          <a:prstGeom prst="rect">
            <a:avLst/>
          </a:prstGeom>
          <a:solidFill>
            <a:srgbClr val="012A70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0">
                <a:solidFill>
                  <a:srgbClr val="FFFFFF"/>
                </a:solidFill>
              </a:rPr>
              <a:t>ハードウェア（トランジスタ）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60000" y="5940000"/>
            <a:ext cx="792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EBA81A"/>
                </a:solidFill>
              </a:rPr>
              <a:t>←  同じISAを異なるマイクロアーキテクチャで実装可能（互換性）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792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RISC vs CISC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" y="8568000"/>
            <a:ext cx="432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特徴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28000" y="8568000"/>
            <a:ext cx="576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RISC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96000" y="8568000"/>
            <a:ext cx="576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CISC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000" y="9576000"/>
            <a:ext cx="432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命令数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0" y="9576000"/>
            <a:ext cx="576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少ない（数十〜百）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96000" y="9576000"/>
            <a:ext cx="576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多い（数百〜千）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000" y="10584000"/>
            <a:ext cx="4320000" cy="93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命令長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8000" y="10584000"/>
            <a:ext cx="5760000" cy="93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固定長（32bit）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96000" y="10584000"/>
            <a:ext cx="5760000" cy="93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可変長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000" y="11592000"/>
            <a:ext cx="432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代表例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0" y="11592000"/>
            <a:ext cx="576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ARM, RISC-V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196000" y="11592000"/>
            <a:ext cx="576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x86, x86-64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000" y="12600000"/>
            <a:ext cx="4320000" cy="93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パイプライン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28000" y="12600000"/>
            <a:ext cx="5760000" cy="93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効率的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96000" y="12600000"/>
            <a:ext cx="5760000" cy="93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複雑（デコード）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60000" y="7920000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x86-64 主要レジスタ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960000" y="8568000"/>
            <a:ext cx="288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rax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947999" y="8568000"/>
            <a:ext cx="468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戻り値・汎用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960000" y="9720000"/>
            <a:ext cx="288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rdi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947999" y="9720000"/>
            <a:ext cx="468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第1引数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960000" y="10872000"/>
            <a:ext cx="288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rsp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947999" y="10872000"/>
            <a:ext cx="468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スタックポインタ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960000" y="12024000"/>
            <a:ext cx="288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rbp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947999" y="12024000"/>
            <a:ext cx="468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フレームポインタ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960000" y="13176000"/>
            <a:ext cx="288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rip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947999" y="13176000"/>
            <a:ext cx="468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命令ポインタ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