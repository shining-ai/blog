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360000"/>
            <a:ext cx="198000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FFFFF"/>
                </a:solidFill>
              </a:rPr>
              <a:t>RISC-V 入門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980000"/>
            <a:ext cx="90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RISC-V の特徴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2880000"/>
            <a:ext cx="3600000" cy="827999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オープン標準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00000" y="2880000"/>
            <a:ext cx="468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ロイヤリティフリーのISA仕様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3816000"/>
            <a:ext cx="3600000" cy="827999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モジュラー設計</a:t>
            </a:r>
          </a:p>
        </p:txBody>
      </p:sp>
      <p:sp>
        <p:nvSpPr>
          <p:cNvPr id="8" name="Rectangle 7"/>
          <p:cNvSpPr/>
          <p:nvPr/>
        </p:nvSpPr>
        <p:spPr>
          <a:xfrm>
            <a:off x="4500000" y="3816000"/>
            <a:ext cx="468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RV32I基本 + M/A/F/D/C拡張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4752000"/>
            <a:ext cx="3600000" cy="827999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シンプル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0000" y="4752000"/>
            <a:ext cx="468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~50命令の基本セット(RV32I)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000" y="5688000"/>
            <a:ext cx="3600000" cy="827999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32本レジスタ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0000" y="5688000"/>
            <a:ext cx="468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x0(zero)〜x31の汎用レジスタ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00000" y="1980000"/>
            <a:ext cx="972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命令形式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00000" y="2880000"/>
            <a:ext cx="2160000" cy="827999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140000" y="2880000"/>
            <a:ext cx="684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レジスタ演算: add/sub/and/or/xor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00000" y="3816000"/>
            <a:ext cx="2160000" cy="827999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140000" y="3816000"/>
            <a:ext cx="684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即値/ロード: addi/lw/jalr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800000" y="4752000"/>
            <a:ext cx="2160000" cy="827999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140000" y="4752000"/>
            <a:ext cx="684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ストア: sw/sh/sb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00000" y="5688000"/>
            <a:ext cx="2160000" cy="827999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140000" y="5688000"/>
            <a:ext cx="684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条件分岐: beq/bne/blt/bge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00000" y="6623999"/>
            <a:ext cx="2160000" cy="827999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140000" y="6623999"/>
            <a:ext cx="684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上位即値: lui/auipc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800000" y="7560000"/>
            <a:ext cx="2160000" cy="827999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J型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140000" y="7560000"/>
            <a:ext cx="684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無条件ジャンプ: jal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0000" y="7200000"/>
            <a:ext cx="19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主なレジスタ (ABI名)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0000" y="8100000"/>
            <a:ext cx="648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13CA6"/>
                </a:solidFill>
              </a:rPr>
              <a:t>x0/zero: 常に0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80000" y="8100000"/>
            <a:ext cx="648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13CA6"/>
                </a:solidFill>
              </a:rPr>
              <a:t>x1/ra: 戻りアドレス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040000" y="8100000"/>
            <a:ext cx="648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13CA6"/>
                </a:solidFill>
              </a:rPr>
              <a:t>x2/sp: スタックポインタ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0000" y="9000000"/>
            <a:ext cx="648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13CA6"/>
                </a:solidFill>
              </a:rPr>
              <a:t>x10-x17/a0-a7: 引数/戻り値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80000" y="9000000"/>
            <a:ext cx="648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13CA6"/>
                </a:solidFill>
              </a:rPr>
              <a:t>x5-x7/t0-t2: 一時レジスタ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040000" y="9000000"/>
            <a:ext cx="648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13CA6"/>
                </a:solidFill>
              </a:rPr>
              <a:t>x8-x9/s0-s1: callee-saved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